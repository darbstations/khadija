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النمو +17.5٪ محسوب على 25 محطة بتغطية كاملة 212 يوماً — الإجمالي الخام مضلِّل لأن عدد المحطات المغطاة ارتفع من 39 إلى 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51460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880360"/>
            <a:ext cx="110276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31920"/>
            <a:ext cx="11027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خمس شرائح سوقية · مستهدف لكل محطة ووردية وعامل · حملات مرتبطة بحالة كل محطة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502920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212080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المصادر: كاش إن وناتج (١٠٫٩٦ مليون عملية)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 اليوم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417320"/>
            <a:ext cx="2633472" cy="1572768"/>
          </a:xfrm>
          <a:prstGeom prst="roundRect">
            <a:avLst>
              <a:gd name="adj" fmla="val 290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41732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052560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 ، ٥٥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417320"/>
            <a:ext cx="2633472" cy="1572768"/>
          </a:xfrm>
          <a:prstGeom prst="roundRect">
            <a:avLst>
              <a:gd name="adj" fmla="val 290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417320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٢٧٧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254496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مليون زيارة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417320"/>
            <a:ext cx="2633472" cy="1572768"/>
          </a:xfrm>
          <a:prstGeom prst="roundRect">
            <a:avLst>
              <a:gd name="adj" fmla="val 290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417320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3456432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417320"/>
            <a:ext cx="2633472" cy="1572768"/>
          </a:xfrm>
          <a:prstGeom prst="roundRect">
            <a:avLst>
              <a:gd name="adj" fmla="val 290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417320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58368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فرصة سنوية من رفع السلة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3246120"/>
            <a:ext cx="11027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 مطلوبة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66928" y="3703320"/>
            <a:ext cx="11027664" cy="694944"/>
          </a:xfrm>
          <a:prstGeom prst="roundRect">
            <a:avLst>
              <a:gd name="adj" fmla="val 5263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703320"/>
            <a:ext cx="50292" cy="69494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84962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852928" y="3767328"/>
            <a:ext cx="8147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التقسيم والمستهدف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852928" y="4069080"/>
            <a:ext cx="8147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 · معيار لتر/زيارة داخل كل شريحة ، ٣٩ محطة دون معيارها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8770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١٠٤٬٨٣٧ لتر/يوم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489704"/>
            <a:ext cx="11027664" cy="694944"/>
          </a:xfrm>
          <a:prstGeom prst="roundRect">
            <a:avLst>
              <a:gd name="adj" fmla="val 526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489704"/>
            <a:ext cx="50292" cy="69494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6360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852928" y="4553712"/>
            <a:ext cx="8147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852928" y="4855464"/>
            <a:ext cx="8147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 — ١٨٣ مليون ريال بلا هوية عميل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663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٢٩٪ من المبيعات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5276088"/>
            <a:ext cx="11027664" cy="694944"/>
          </a:xfrm>
          <a:prstGeom prst="roundRect">
            <a:avLst>
              <a:gd name="adj" fmla="val 526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5276088"/>
            <a:ext cx="50292" cy="69494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4223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852928" y="5340096"/>
            <a:ext cx="81473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تمويل الحملات من المعلن لا من هامش الوقود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852928" y="5641848"/>
            <a:ext cx="8147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بهامش ١١٫٣ هللة/لتر لا تسترد كلفتها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4498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شرط الاعتماد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48" name="Text 46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الأرقام من بيانات نقاط البيع الفعلية من ١ يناير إلى ٣١ يوليو ٢٠٢٦، لا من تقديرات.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194560"/>
            <a:ext cx="54864" cy="219456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0753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753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 · الاتجاه الحقيقي · من يشتري منّا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 · ٩٬٠٥٨ يوم-محطة مغطّى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6837152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079448" y="1463040"/>
            <a:ext cx="232463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28303" y="1463040"/>
            <a:ext cx="205114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1463040"/>
            <a:ext cx="2461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القراءة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1847088"/>
            <a:ext cx="6837152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9448" y="1847088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المبيعات (شامل الضريبة)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28303" y="1847088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٦٢٦٬٤٧٧٬٧٣٤ ريال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1847088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١٫٩٦٨ ريال/لتر صافي الضريبة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2249424"/>
            <a:ext cx="6837152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9448" y="2249424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8303" y="2249424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٢٧٦٬٧٨٢٬٧٠٢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249424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٣٠٬٥٥٧ لتر يومياً للشبكة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2651760"/>
            <a:ext cx="6837152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9448" y="2651760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الزيارات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28303" y="2651760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١٠٬٩٥٦٬٢٧٧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2651760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١٬٢١٠ زيارة يومياً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054096"/>
            <a:ext cx="6837152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9448" y="3054096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الفاتورة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28303" y="3054096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 ريال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3054096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 لكل زيارة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3456432"/>
            <a:ext cx="6837152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9448" y="3456432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المحطات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28303" y="3456432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3456432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 ، ٢٥ محطة بسجل كامل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3858768"/>
            <a:ext cx="6837152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448" y="3858768"/>
            <a:ext cx="2324632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البيانات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028303" y="3858768"/>
            <a:ext cx="205114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١٠٬٩٥٩٬٧٧٧ عملية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3858768"/>
            <a:ext cx="2461375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١٩٣ ملفاً · مستبعَد ٠٫٠٣٪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624633" y="1463040"/>
            <a:ext cx="39699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324205" y="1828800"/>
            <a:ext cx="12703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624633" y="2121408"/>
            <a:ext cx="3969959" cy="146304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9" name="Shape 37"/>
          <p:cNvSpPr/>
          <p:nvPr/>
        </p:nvSpPr>
        <p:spPr>
          <a:xfrm>
            <a:off x="9855750" y="2121408"/>
            <a:ext cx="1738842" cy="1463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7624633" y="1828800"/>
            <a:ext cx="2540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الزيارات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324205" y="2395728"/>
            <a:ext cx="12703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7624633" y="2688336"/>
            <a:ext cx="3969959" cy="146304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3" name="Shape 41"/>
          <p:cNvSpPr/>
          <p:nvPr/>
        </p:nvSpPr>
        <p:spPr>
          <a:xfrm>
            <a:off x="10109827" y="2688336"/>
            <a:ext cx="1484765" cy="1463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4" name="Text 42"/>
          <p:cNvSpPr/>
          <p:nvPr/>
        </p:nvSpPr>
        <p:spPr>
          <a:xfrm>
            <a:off x="7624633" y="2395728"/>
            <a:ext cx="2540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الزيارات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324205" y="2962656"/>
            <a:ext cx="12703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624633" y="3255264"/>
            <a:ext cx="3969959" cy="146304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7" name="Shape 45"/>
          <p:cNvSpPr/>
          <p:nvPr/>
        </p:nvSpPr>
        <p:spPr>
          <a:xfrm>
            <a:off x="10848240" y="3255264"/>
            <a:ext cx="746352" cy="146304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8" name="Text 46"/>
          <p:cNvSpPr/>
          <p:nvPr/>
        </p:nvSpPr>
        <p:spPr>
          <a:xfrm>
            <a:off x="7624633" y="2962656"/>
            <a:ext cx="2540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الزيارات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324205" y="3529584"/>
            <a:ext cx="12703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٩٨ وكيروسين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7624633" y="3822192"/>
            <a:ext cx="3969959" cy="146304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51" name="Shape 49"/>
          <p:cNvSpPr/>
          <p:nvPr/>
        </p:nvSpPr>
        <p:spPr>
          <a:xfrm>
            <a:off x="11593401" y="3822192"/>
            <a:ext cx="1191" cy="1463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2" name="Text 50"/>
          <p:cNvSpPr/>
          <p:nvPr/>
        </p:nvSpPr>
        <p:spPr>
          <a:xfrm>
            <a:off x="7624633" y="3529584"/>
            <a:ext cx="2540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 من الإيراد · ٠٫٠٪ من الزيارات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624633" y="4206240"/>
            <a:ext cx="3969959" cy="960120"/>
          </a:xfrm>
          <a:prstGeom prst="roundRect">
            <a:avLst>
              <a:gd name="adj" fmla="val 3810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2649" y="4315968"/>
            <a:ext cx="3713927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٨٫٥٪ من الزيارات و١٨٫٨٪ من الإيراد — فاتورته ١٢٦ ريالاً، ٢٫٨ ضعف المتوسط. هذا عميل مختلف تماماً وتُبنى له خطة مستقلة.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56" name="Text 54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محطات (MK029 · MK072 · RY075) لتراتها ناقصة في المصدر فاستُبعدت من كل حساب لتر.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عدد المحطات المغطّاة ارتفع من ٣٩ إلى ٥٥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49808" y="1307592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يومياً · قاعدة ثابتة من ٢٥ محطة بتغطية كاملة ٢١٢ يوماً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00771" y="3947757"/>
            <a:ext cx="586042" cy="85284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6463611" y="3636861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63611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55543" y="4087935"/>
            <a:ext cx="586042" cy="712665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3" name="Text 11"/>
          <p:cNvSpPr/>
          <p:nvPr/>
        </p:nvSpPr>
        <p:spPr>
          <a:xfrm>
            <a:off x="5518383" y="3777039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518383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10315" y="3607043"/>
            <a:ext cx="586042" cy="119355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3155" y="3296147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3155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65086" y="3904536"/>
            <a:ext cx="586042" cy="896064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27926" y="3593640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27926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819858" y="3054446"/>
            <a:ext cx="586042" cy="174615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2" name="Text 20"/>
          <p:cNvSpPr/>
          <p:nvPr/>
        </p:nvSpPr>
        <p:spPr>
          <a:xfrm>
            <a:off x="2682698" y="2743550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682698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874630" y="2657868"/>
            <a:ext cx="586042" cy="214273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5" name="Text 23"/>
          <p:cNvSpPr/>
          <p:nvPr/>
        </p:nvSpPr>
        <p:spPr>
          <a:xfrm>
            <a:off x="1737470" y="2346972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737470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29401" y="2177184"/>
            <a:ext cx="586042" cy="262341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8" name="Text 26"/>
          <p:cNvSpPr/>
          <p:nvPr/>
        </p:nvSpPr>
        <p:spPr>
          <a:xfrm>
            <a:off x="792241" y="1866288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92241" y="4855464"/>
            <a:ext cx="8603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49808" y="4800600"/>
            <a:ext cx="6616598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1" name="Shape 29"/>
          <p:cNvSpPr/>
          <p:nvPr/>
        </p:nvSpPr>
        <p:spPr>
          <a:xfrm>
            <a:off x="7624633" y="1481328"/>
            <a:ext cx="3969959" cy="1481328"/>
          </a:xfrm>
          <a:prstGeom prst="roundRect">
            <a:avLst>
              <a:gd name="adj" fmla="val 3086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24633" y="1481328"/>
            <a:ext cx="396995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7697785" y="1645920"/>
            <a:ext cx="38236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7716073" y="2267712"/>
            <a:ext cx="3787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16073" y="2560320"/>
            <a:ext cx="37870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624633" y="3063240"/>
            <a:ext cx="3969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لكن مكة تسير عكس الشبكة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630473" y="3456432"/>
            <a:ext cx="296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624633" y="345643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−٧٢٫٧٪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630473" y="3840480"/>
            <a:ext cx="296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 درويش MK023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624633" y="38404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−١٨٫٥٪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30473" y="4224528"/>
            <a:ext cx="296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كورنيش جيزان JA069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624633" y="422452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−٩٫٢٪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630473" y="4608576"/>
            <a:ext cx="296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كورنيش الخبر EP051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624633" y="46085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+٤٨٫١٪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630473" y="4992624"/>
            <a:ext cx="296411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الكر النازل MK084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7624633" y="49926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+٣٣٫٢٪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624633" y="5440680"/>
            <a:ext cx="3969959" cy="548640"/>
          </a:xfrm>
          <a:prstGeom prst="roundRect">
            <a:avLst>
              <a:gd name="adj" fmla="val 6667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34361" y="5541264"/>
            <a:ext cx="37505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محطات هابطة ، ٨ مستقرة ، ٩ نامية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50" name="Text 48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 الثابتة تعزل أثر دخول محطات جديدة على التقارير — وهي القراءة الوحيدة الصالحة للاتجاه.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السوق — من يشتري منّا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مختلفون داخل نفس المحطة، لكل منهم خطة مختلفة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463040"/>
            <a:ext cx="2619756" cy="2743200"/>
          </a:xfrm>
          <a:prstGeom prst="roundRect">
            <a:avLst>
              <a:gd name="adj" fmla="val 1745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463040"/>
            <a:ext cx="2619756" cy="5029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517904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2103120"/>
            <a:ext cx="2436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الزيارات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450592"/>
            <a:ext cx="2436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066276" y="2889504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الفاتورة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3200400"/>
            <a:ext cx="24003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 — هنا يعمل رفع السلة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463040"/>
            <a:ext cx="2619756" cy="2743200"/>
          </a:xfrm>
          <a:prstGeom prst="roundRect">
            <a:avLst>
              <a:gd name="adj" fmla="val 1745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463040"/>
            <a:ext cx="2619756" cy="5029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517904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2103120"/>
            <a:ext cx="2436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 من الزيارات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450592"/>
            <a:ext cx="2436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263640" y="2889504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الفاتورة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3200400"/>
            <a:ext cx="24003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 — قناة الخدمات المضافة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463040"/>
            <a:ext cx="2619756" cy="2743200"/>
          </a:xfrm>
          <a:prstGeom prst="roundRect">
            <a:avLst>
              <a:gd name="adj" fmla="val 1745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463040"/>
            <a:ext cx="2619756" cy="5029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517904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2103120"/>
            <a:ext cx="2436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 من الزيارات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450592"/>
            <a:ext cx="2436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3461004" y="2889504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الفاتورة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3200400"/>
            <a:ext cx="24003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— يُدار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463040"/>
            <a:ext cx="2619756" cy="2743200"/>
          </a:xfrm>
          <a:prstGeom prst="roundRect">
            <a:avLst>
              <a:gd name="adj" fmla="val 1745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463040"/>
            <a:ext cx="2619756" cy="5029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517904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2103120"/>
            <a:ext cx="2436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 من الزيارات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450592"/>
            <a:ext cx="2436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 إلى ١٧٢ ريال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658368" y="2889504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الفاتورة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3200400"/>
            <a:ext cx="24003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وبترو — أعلى فاتورة وأقل حصة، فرصة نمو صافية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4407408"/>
            <a:ext cx="11027664" cy="1417320"/>
          </a:xfrm>
          <a:prstGeom prst="roundRect">
            <a:avLst>
              <a:gd name="adj" fmla="val 322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517136"/>
            <a:ext cx="106619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الثغرة التي تسبق كل خطة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864608"/>
            <a:ext cx="106619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٣٦٫١٪ من الإيراد (٢٢٦ مليون ريال) مسجّل «وسيلة دفع غير محددة» — و١٨ محطة لا تسجّلها إطلاقاً بإيراد ١٨٣ مليون ريال. أي حملة ولاء أو استهداف عميل تُبنى على بيانات ناقصة بثلثها. التفعيل يسبق الإنفاق.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40" name="Text 38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 نفسها: ٣١٨ ريالاً و٨ عمليات في سبعة أشهر — قناة غير مفعّلة عملياً.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194560"/>
            <a:ext cx="54864" cy="219456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0753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753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 تُحدَّد من سلوك العميل لا من الجغرافيا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 — والقاعدة التي تصنّف بها أي محطة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البيانات: حصة الديزل ثم الدفع المؤسسي ثم الحجم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19889" y="1463040"/>
            <a:ext cx="187470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514356" y="1463040"/>
            <a:ext cx="22055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2420" y="1463040"/>
            <a:ext cx="77193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29377" y="14630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لتر/يوم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36887" y="1463040"/>
            <a:ext cx="99249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34121" y="14630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51908" y="14630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669694" y="14630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14630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847088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19889" y="1847088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514356" y="1847088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742420" y="1847088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529377" y="1847088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٦٦٥٬٣٣٢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36887" y="1847088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٤٤٫١٪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434121" y="1847088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551908" y="1847088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٤٣٫١٪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669694" y="1847088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٦٫٧٪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1847088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2249424"/>
            <a:ext cx="11027664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19889" y="2249424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مراكز الأساطيل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514356" y="2249424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١٠٪ فأكثر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742420" y="2249424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529377" y="2249424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٩١٬٢٧٢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36887" y="2249424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٦٫٠٪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434121" y="2249424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551908" y="2249424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١٥٫٤٪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669694" y="2249424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٢٢٫٩٪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66928" y="2249424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2651760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719889" y="2651760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514356" y="2651760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بنزين، ٢٥ ألف لتر/يوم فأكثر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742420" y="2651760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529377" y="2651760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٤٨٣٬٥٣٨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36887" y="2651760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٣٢٫٠٪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3434121" y="2651760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2551908" y="2651760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1669694" y="2651760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٢٫٣٪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566928" y="2651760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27664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19889" y="3054096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متوسطة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514356" y="3054096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بنزين، من ١٢ إلى ٢٥ ألف لتر/يوم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6742420" y="3054096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529377" y="3054096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٢٠٩٬٨٢٤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4536887" y="3054096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١٣٫٩٪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3434121" y="3054096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2551908" y="3054096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١٠٫٦٪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669694" y="3054096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٥٫٤٪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66928" y="3054096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٤٩٫٢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566928" y="3456432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19889" y="3456432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7514356" y="3456432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أقل من ١٢ ألف لتر/يوم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6742420" y="3456432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529377" y="3456432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٥٩٬٦١٥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4536887" y="3456432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٣٫٩٪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3434121" y="3456432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2551908" y="3456432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٨٫٣٪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1669694" y="3456432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١٫٨٪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566928" y="3456432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٥٠٫٢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858768"/>
            <a:ext cx="11027664" cy="402336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719889" y="3858768"/>
            <a:ext cx="18747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7514356" y="3858768"/>
            <a:ext cx="220553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6742420" y="3858768"/>
            <a:ext cx="77193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5529377" y="3858768"/>
            <a:ext cx="121304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١٬٥٠٩٬٥٨٢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4536887" y="3858768"/>
            <a:ext cx="99249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50" dirty="0"/>
          </a:p>
        </p:txBody>
      </p:sp>
      <p:sp>
        <p:nvSpPr>
          <p:cNvPr id="74" name="Text 72"/>
          <p:cNvSpPr/>
          <p:nvPr/>
        </p:nvSpPr>
        <p:spPr>
          <a:xfrm>
            <a:off x="3434121" y="3858768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2551908" y="3858768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1669694" y="3858768"/>
            <a:ext cx="88221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٥٫٤٪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566928" y="3858768"/>
            <a:ext cx="1102766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566928" y="4389120"/>
            <a:ext cx="110276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 العميل في كل شريحة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9491472" y="4718304"/>
            <a:ext cx="2103120" cy="1188720"/>
          </a:xfrm>
          <a:prstGeom prst="roundRect">
            <a:avLst>
              <a:gd name="adj" fmla="val 307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491472" y="4718304"/>
            <a:ext cx="2103120" cy="365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1" name="Text 79"/>
          <p:cNvSpPr/>
          <p:nvPr/>
        </p:nvSpPr>
        <p:spPr>
          <a:xfrm>
            <a:off x="9564624" y="4800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9582912" y="5102352"/>
            <a:ext cx="1920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شاحنات وأساطيل عابرة · سلة كبيرة · ذروة نهارية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7260336" y="4718304"/>
            <a:ext cx="2103120" cy="1188720"/>
          </a:xfrm>
          <a:prstGeom prst="roundRect">
            <a:avLst>
              <a:gd name="adj" fmla="val 307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260336" y="4718304"/>
            <a:ext cx="2103120" cy="365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5" name="Text 83"/>
          <p:cNvSpPr/>
          <p:nvPr/>
        </p:nvSpPr>
        <p:spPr>
          <a:xfrm>
            <a:off x="7333488" y="4800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مراكز الأساطيل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7351776" y="5102352"/>
            <a:ext cx="1920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عملاء متعاقدون · بطاقات وتطبيقات · تكرار عالٍ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029200" y="4718304"/>
            <a:ext cx="2103120" cy="1188720"/>
          </a:xfrm>
          <a:prstGeom prst="roundRect">
            <a:avLst>
              <a:gd name="adj" fmla="val 307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29200" y="4718304"/>
            <a:ext cx="2103120" cy="365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9" name="Text 87"/>
          <p:cNvSpPr/>
          <p:nvPr/>
        </p:nvSpPr>
        <p:spPr>
          <a:xfrm>
            <a:off x="5102352" y="4800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5120640" y="5102352"/>
            <a:ext cx="1920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المدينة · تردد عالٍ وسلة صغيرة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798064" y="4718304"/>
            <a:ext cx="2103120" cy="1188720"/>
          </a:xfrm>
          <a:prstGeom prst="roundRect">
            <a:avLst>
              <a:gd name="adj" fmla="val 307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98064" y="4718304"/>
            <a:ext cx="2103120" cy="365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3" name="Text 91"/>
          <p:cNvSpPr/>
          <p:nvPr/>
        </p:nvSpPr>
        <p:spPr>
          <a:xfrm>
            <a:off x="2871216" y="4800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متوسطة</a:t>
            </a:r>
            <a:endParaRPr lang="en-US" sz="1200" dirty="0"/>
          </a:p>
        </p:txBody>
      </p:sp>
      <p:sp>
        <p:nvSpPr>
          <p:cNvPr id="94" name="Text 92"/>
          <p:cNvSpPr/>
          <p:nvPr/>
        </p:nvSpPr>
        <p:spPr>
          <a:xfrm>
            <a:off x="2889504" y="5102352"/>
            <a:ext cx="1920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أحياء سكنية · نمو بالتردد لا بالسلة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566928" y="4718304"/>
            <a:ext cx="2103120" cy="1188720"/>
          </a:xfrm>
          <a:prstGeom prst="roundRect">
            <a:avLst>
              <a:gd name="adj" fmla="val 3077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66928" y="4718304"/>
            <a:ext cx="2103120" cy="365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7" name="Text 95"/>
          <p:cNvSpPr/>
          <p:nvPr/>
        </p:nvSpPr>
        <p:spPr>
          <a:xfrm>
            <a:off x="640080" y="48006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658368" y="5102352"/>
            <a:ext cx="1920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طلب محدود · الأولوية ضبط التكلفة</a:t>
            </a:r>
            <a:endParaRPr lang="en-US" sz="1050" dirty="0"/>
          </a:p>
        </p:txBody>
      </p:sp>
      <p:sp>
        <p:nvSpPr>
          <p:cNvPr id="99" name="Shape 97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00" name="Text 98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 محطة من ٥٥ دخلت التقسيم — الثلاث المستبعدة لتراتها ناقصة في المصدر.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— القمة والقاع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وأدنى المحطات بالمبيعات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371600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682496"/>
            <a:ext cx="5348417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990067" y="1682496"/>
            <a:ext cx="160452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455225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682496"/>
            <a:ext cx="1016199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797216" y="1682496"/>
            <a:ext cx="64181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لتر/يوم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682496"/>
            <a:ext cx="48135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20665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90067" y="20665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455225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20665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797216" y="20665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١٣٠٬٢١٣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20665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4094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90067" y="24094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455225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4094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97216" y="24094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٩٤٬٨١٣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4094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7523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90067" y="27523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455225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7523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797216" y="27523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٨٥٬٧٩١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7523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30952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990067" y="30952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455225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30952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797216" y="30952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٨٥٬٥٣٣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30952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4381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990067" y="34381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455225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4381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797216" y="34381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٥٨٬٩٦٨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4381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7810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990067" y="37810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455225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7810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797216" y="37810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٤٧٬٥٨٤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7810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41239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990067" y="41239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455225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41239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797216" y="41239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٤٥٬٦٩٠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41239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4668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990067" y="44668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455225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4668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797216" y="44668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٤٣٬٩٢٤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4668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371600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682496"/>
            <a:ext cx="5348417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10820" y="1682496"/>
            <a:ext cx="160452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775978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682496"/>
            <a:ext cx="1016199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17969" y="1682496"/>
            <a:ext cx="64181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لتر/يوم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زيارة/يوم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682496"/>
            <a:ext cx="48135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682496"/>
            <a:ext cx="53484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الفاتورة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20665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10820" y="20665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775978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20665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17969" y="20665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٦٬١٦٦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20665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20665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4094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10820" y="24094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775978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4094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17969" y="24094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٦٬٣٧٣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4094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4094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7523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10820" y="27523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775978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7523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17969" y="27523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٦٬٦٩٦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7523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7523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30952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10820" y="30952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775978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30952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17969" y="30952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٧٬٠٩٥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30952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30952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4381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10820" y="34381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775978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4381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17969" y="34381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٧٬٨٦٧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4381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4381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7810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10820" y="37810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775978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7810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17969" y="37810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٨٬٨٧٥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7810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7810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4123944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10820" y="41239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775978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41239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مراكز الأساطيل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17969" y="41239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٩٬٣٧١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41239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41239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466844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10820" y="4466844"/>
            <a:ext cx="1604525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775978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466844"/>
            <a:ext cx="101619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17969" y="4466844"/>
            <a:ext cx="64181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٩٬٧٥٢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466844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466844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983480"/>
            <a:ext cx="5348417" cy="960120"/>
          </a:xfrm>
          <a:prstGeom prst="roundRect">
            <a:avLst>
              <a:gd name="adj" fmla="val 381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5065776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358384"/>
            <a:ext cx="509238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حجم الشبكة. وMK007 وحدها ١٣٠ ألف لتر يومياً — ٤٫٤ أضعاف متوسط المحطة.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983480"/>
            <a:ext cx="5348417" cy="960120"/>
          </a:xfrm>
          <a:prstGeom prst="roundRect">
            <a:avLst>
              <a:gd name="adj" fmla="val 381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5065776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 بالضرورة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358384"/>
            <a:ext cx="509238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١٢ ألف لتر/يوم لا تصنع سوى ٣٫٩٪ من الحجم. الأولوية فيها ضبط التكلفة والتأجير لا الحملات.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194560"/>
            <a:ext cx="54864" cy="219456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0753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753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نخسر بالقرب لا بالخدمة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الموقف التنافسي — مسح ميداني على خمسة مواقع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تقييمات خرائط جوجل ومسافات فعلية ،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29266" y="1463040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55787" y="1463040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554755" y="1463040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 درب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135352" y="1463040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15950" y="1463040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14917" y="1463040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77146" y="1463040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1463040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29266" y="1847088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55787" y="1847088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54755" y="1847088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35352" y="1847088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15950" y="1847088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14917" y="1847088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77146" y="1847088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847088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2231136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29266" y="2231136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55787" y="2231136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54755" y="2231136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35352" y="2231136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15950" y="2231136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14917" y="2231136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77146" y="2231136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2231136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61518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29266" y="2615184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55787" y="2615184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54755" y="2615184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5352" y="2615184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15950" y="2615184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14917" y="2615184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77146" y="2615184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615184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99923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29266" y="2999232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55787" y="2999232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554755" y="2999232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35352" y="2999232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15950" y="2999232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14917" y="2999232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77146" y="2999232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999232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38328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29266" y="3383280"/>
            <a:ext cx="19653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55787" y="3383280"/>
            <a:ext cx="87347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554755" y="3383280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35352" y="3383280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15950" y="3383280"/>
            <a:ext cx="141940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14917" y="3383280"/>
            <a:ext cx="120103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77146" y="3383280"/>
            <a:ext cx="16377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383280"/>
            <a:ext cx="13102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913632"/>
            <a:ext cx="3553968" cy="1316736"/>
          </a:xfrm>
          <a:prstGeom prst="roundRect">
            <a:avLst>
              <a:gd name="adj" fmla="val 3472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4005072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4315968"/>
            <a:ext cx="32979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لنا مقابل ٣٫٦ إلى ٤٫١ للمنافسين. و٥٧٪ من المنافسين المرصودين دون أربع نجوم.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913632"/>
            <a:ext cx="3553968" cy="1316736"/>
          </a:xfrm>
          <a:prstGeom prst="roundRect">
            <a:avLst>
              <a:gd name="adj" fmla="val 3472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4005072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4315968"/>
            <a:ext cx="32979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 و٤٨٨ في الشرائع — الاعتراض قبل الوصول.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913632"/>
            <a:ext cx="3553968" cy="1316736"/>
          </a:xfrm>
          <a:prstGeom prst="roundRect">
            <a:avLst>
              <a:gd name="adj" fmla="val 3472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4005072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4315968"/>
            <a:ext cx="32979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مرصوداً — ٣٨٪ محلياً مقابل ١٨٫٩٥٪ وطنياً. تركيز مقصود على مكة.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321808"/>
            <a:ext cx="11027664" cy="566928"/>
          </a:xfrm>
          <a:prstGeom prst="roundRect">
            <a:avLst>
              <a:gd name="adj" fmla="val 6452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413248"/>
            <a:ext cx="106619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النتيجة التشغيلية: لا تُبنى خطة على تحسين الخدمة — الخدمة أفضل أصلاً. تُبنى على الاعتراض: لافتة، مدخل، سرعة، وإبراز التقييم حيث يقرر السائق قبل ٥٠٠ متر.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تشرح كل شيء — المعيصم MK002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تقييم · أقرب منافس · أسوأ انهيار في الشبكة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يومياً — MK002 المعيصم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6649" y="1952320"/>
            <a:ext cx="529328" cy="261968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5890345" y="1659712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٤٤٬٣٦٠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890345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54436" y="3526313"/>
            <a:ext cx="529328" cy="1045687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3" name="Text 11"/>
          <p:cNvSpPr/>
          <p:nvPr/>
        </p:nvSpPr>
        <p:spPr>
          <a:xfrm>
            <a:off x="5008132" y="3233705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١٧٬٧٠٧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08132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72223" y="3642829"/>
            <a:ext cx="529328" cy="929171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6" name="Text 14"/>
          <p:cNvSpPr/>
          <p:nvPr/>
        </p:nvSpPr>
        <p:spPr>
          <a:xfrm>
            <a:off x="4125919" y="3350221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١٥٬٧٣٤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25919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90010" y="3717002"/>
            <a:ext cx="529328" cy="85499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9" name="Text 17"/>
          <p:cNvSpPr/>
          <p:nvPr/>
        </p:nvSpPr>
        <p:spPr>
          <a:xfrm>
            <a:off x="3243706" y="3424394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١٤٬٤٧٨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43706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07797" y="4008674"/>
            <a:ext cx="529328" cy="56332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2" name="Text 20"/>
          <p:cNvSpPr/>
          <p:nvPr/>
        </p:nvSpPr>
        <p:spPr>
          <a:xfrm>
            <a:off x="2361493" y="3716066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٩٬٥٣٩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361493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625584" y="3819108"/>
            <a:ext cx="529328" cy="75289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1479280" y="352650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١٢٬٧٤٩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479280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3371" y="3862631"/>
            <a:ext cx="529328" cy="709369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8" name="Text 26"/>
          <p:cNvSpPr/>
          <p:nvPr/>
        </p:nvSpPr>
        <p:spPr>
          <a:xfrm>
            <a:off x="597067" y="3570023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١٢٬٠١٢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97067" y="4617720"/>
            <a:ext cx="82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572000"/>
            <a:ext cx="617549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1" name="Shape 29"/>
          <p:cNvSpPr/>
          <p:nvPr/>
        </p:nvSpPr>
        <p:spPr>
          <a:xfrm>
            <a:off x="11553444" y="1572768"/>
            <a:ext cx="41148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2" name="Text 30"/>
          <p:cNvSpPr/>
          <p:nvPr/>
        </p:nvSpPr>
        <p:spPr>
          <a:xfrm>
            <a:off x="7183526" y="1572768"/>
            <a:ext cx="42647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التقييم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83526" y="1828800"/>
            <a:ext cx="42647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 مقابل ٣٫٧★ للمنافسين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11553444" y="2176272"/>
            <a:ext cx="41148" cy="512064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5" name="Text 33"/>
          <p:cNvSpPr/>
          <p:nvPr/>
        </p:nvSpPr>
        <p:spPr>
          <a:xfrm>
            <a:off x="7183526" y="2176272"/>
            <a:ext cx="42647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83526" y="2432304"/>
            <a:ext cx="42647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متراً — الأقرب في الشبكة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1553444" y="2779776"/>
            <a:ext cx="41148" cy="512064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8" name="Text 36"/>
          <p:cNvSpPr/>
          <p:nvPr/>
        </p:nvSpPr>
        <p:spPr>
          <a:xfrm>
            <a:off x="7183526" y="2779776"/>
            <a:ext cx="42647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83526" y="3035808"/>
            <a:ext cx="42647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محطة، كثافة مرتفعة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11553444" y="3383280"/>
            <a:ext cx="41148" cy="512064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7183526" y="3383280"/>
            <a:ext cx="42647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الانهيار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83526" y="3639312"/>
            <a:ext cx="42647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−٧٢٫٧٪ من يناير إلى يوليو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11553444" y="3986784"/>
            <a:ext cx="41148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4" name="Text 42"/>
          <p:cNvSpPr/>
          <p:nvPr/>
        </p:nvSpPr>
        <p:spPr>
          <a:xfrm>
            <a:off x="7183526" y="3986784"/>
            <a:ext cx="42647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183526" y="4242816"/>
            <a:ext cx="42647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 — لا فاقد ولا خلل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183526" y="4709160"/>
            <a:ext cx="4411066" cy="1143000"/>
          </a:xfrm>
          <a:prstGeom prst="roundRect">
            <a:avLst>
              <a:gd name="adj" fmla="val 400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1542" y="4809744"/>
            <a:ext cx="41550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التشخيص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311542" y="5102352"/>
            <a:ext cx="415503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مشكلة تشغيل ولا فاقد ولا خدمة. محطة اعترضت الطريق على ١٨١ متراً. العلاج اعتراضي: لافتة ومدخل وعرض على المسار — لا تدريب ولا تحسين خدمة.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50" name="Text 48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نفس النمط في MK019 الشرائع (−٥٤٪ · أقرب منافس ٤٨٨ م) — الحالة ليست فردية.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المنفذ الثاني — الوحدات التأجيرية داخل المحطة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=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417320"/>
            <a:ext cx="2633472" cy="1463040"/>
          </a:xfrm>
          <a:prstGeom prst="roundRect">
            <a:avLst>
              <a:gd name="adj" fmla="val 31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417320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052560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417320"/>
            <a:ext cx="2633472" cy="1463040"/>
          </a:xfrm>
          <a:prstGeom prst="roundRect">
            <a:avLst>
              <a:gd name="adj" fmla="val 31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41732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254496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٣٧٫٠٪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417320"/>
            <a:ext cx="2633472" cy="1463040"/>
          </a:xfrm>
          <a:prstGeom prst="roundRect">
            <a:avLst>
              <a:gd name="adj" fmla="val 31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417320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3456432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417320"/>
            <a:ext cx="2633472" cy="1463040"/>
          </a:xfrm>
          <a:prstGeom prst="roundRect">
            <a:avLst>
              <a:gd name="adj" fmla="val 3125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417320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581912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٢٥٫١٪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58368" y="220370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496312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6616598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9" name="Text 27"/>
          <p:cNvSpPr/>
          <p:nvPr/>
        </p:nvSpPr>
        <p:spPr>
          <a:xfrm>
            <a:off x="5066215" y="3154680"/>
            <a:ext cx="211731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404555" y="315468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12065" y="3154680"/>
            <a:ext cx="99249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84239" y="3154680"/>
            <a:ext cx="7278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56414" y="3154680"/>
            <a:ext cx="7278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مؤجرة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28588" y="3154680"/>
            <a:ext cx="72782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66928" y="315468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" y="3538728"/>
            <a:ext cx="6616598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66215" y="3538728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404555" y="3538728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412065" y="353872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684239" y="353872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956414" y="353872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228588" y="353872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3538728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3867912"/>
            <a:ext cx="6616598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66215" y="3867912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404555" y="3867912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412065" y="3867912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2684239" y="3867912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956414" y="3867912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228588" y="3867912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3867912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197096"/>
            <a:ext cx="6616598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66215" y="4197096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404555" y="4197096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412065" y="4197096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2684239" y="4197096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1956414" y="4197096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228588" y="4197096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66928" y="4197096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66928" y="4526280"/>
            <a:ext cx="6616598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66215" y="4526280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404555" y="4526280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3412065" y="4526280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2684239" y="4526280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1956414" y="4526280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1228588" y="4526280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66928" y="4526280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566928" y="4855464"/>
            <a:ext cx="6616598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066215" y="4855464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الله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404555" y="4855464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3412065" y="4855464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2684239" y="4855464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1956414" y="4855464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228588" y="4855464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566928" y="4855464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٤٫٩٪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66928" y="5184648"/>
            <a:ext cx="6616598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066215" y="5184648"/>
            <a:ext cx="2117311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القنفذة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404555" y="5184648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MK044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3412065" y="5184648"/>
            <a:ext cx="99249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2684239" y="518464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1956414" y="518464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1228588" y="5184648"/>
            <a:ext cx="727826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566928" y="5184648"/>
            <a:ext cx="661660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٤١٫٥٪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566928" y="2852928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ست فرص تأجير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7514356" y="2852928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الشغور فعلاً</a:t>
            </a:r>
            <a:endParaRPr lang="en-US" sz="1300" dirty="0"/>
          </a:p>
        </p:txBody>
      </p:sp>
      <p:sp>
        <p:nvSpPr>
          <p:cNvPr id="86" name="Text 84"/>
          <p:cNvSpPr/>
          <p:nvPr/>
        </p:nvSpPr>
        <p:spPr>
          <a:xfrm>
            <a:off x="7514356" y="3154680"/>
            <a:ext cx="408023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 المحطات المفتوحة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 وحدة في ٤٣ محطة تحت التنفيذ — التأجير المسبق هو الفرصة الأكبر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 وحدة في الامتياز ومحلاته ٥ مؤجرة من ١٤٦ (٣٪)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السجل لا يحمل قيمة إيجارية — لا يمكن تسعير الفرصة بالريال منه وحده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88" name="Text 86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مرتبطة بالوقود: مستأجر نشط يولّد زيارات، والزيارة تولّد لتراً — وهذا أساس حملات المستأجرين.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194560"/>
            <a:ext cx="54864" cy="219456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0753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753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مستهدف لكل محطة ثم لكل وردية ثم لكل عامل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منهج المستهدف — لماذا اللتر لكل زيارة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نستهدف نمواً مطلقاً، بل إغلاق فجوة مثبتة داخل الشريحة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6947428" cy="822960"/>
          </a:xfrm>
          <a:prstGeom prst="roundRect">
            <a:avLst>
              <a:gd name="adj" fmla="val 4444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5988" y="1664208"/>
            <a:ext cx="420624" cy="420624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5988" y="170078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94944" y="1554480"/>
            <a:ext cx="60787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= زيارات × لتر لكل زيارة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94944" y="1847088"/>
            <a:ext cx="60787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الزيارات تحكمها الجغرافيا والمنافسة — بطيئة التغيّر. اللتر لكل زيارة يحكمه سلوك العامل والعرض — يتحرك خلال أسابيع.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2395728"/>
            <a:ext cx="6947428" cy="822960"/>
          </a:xfrm>
          <a:prstGeom prst="roundRect">
            <a:avLst>
              <a:gd name="adj" fmla="val 4444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5988" y="2596896"/>
            <a:ext cx="420624" cy="420624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855988" y="2633472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4944" y="2487168"/>
            <a:ext cx="60787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المعيار من داخل الشريحة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94944" y="2779776"/>
            <a:ext cx="60787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الربيع الأعلى للتر/زيارة بين محطات نفس الشريحة. محطة طريق لا تُقاس بمحطة حي.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328416"/>
            <a:ext cx="6947428" cy="822960"/>
          </a:xfrm>
          <a:prstGeom prst="roundRect">
            <a:avLst>
              <a:gd name="adj" fmla="val 4444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5988" y="3529584"/>
            <a:ext cx="420624" cy="420624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20" name="Text 18"/>
          <p:cNvSpPr/>
          <p:nvPr/>
        </p:nvSpPr>
        <p:spPr>
          <a:xfrm>
            <a:off x="6855988" y="3566160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4944" y="3419856"/>
            <a:ext cx="60787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٦ أشهر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94944" y="3712464"/>
            <a:ext cx="60787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الوصول للمعيار دفعة واحدة. الفارق مثبت أن غيرنا حقّقه في نفس الظروف.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4261104"/>
            <a:ext cx="6947428" cy="822960"/>
          </a:xfrm>
          <a:prstGeom prst="roundRect">
            <a:avLst>
              <a:gd name="adj" fmla="val 4444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5988" y="4462272"/>
            <a:ext cx="420624" cy="420624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25" name="Text 23"/>
          <p:cNvSpPr/>
          <p:nvPr/>
        </p:nvSpPr>
        <p:spPr>
          <a:xfrm>
            <a:off x="6855988" y="4498848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4944" y="4352544"/>
            <a:ext cx="60787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بهامش الشبكة الفعلي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94944" y="4645152"/>
            <a:ext cx="60787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١١٫٣ هللة لكل لتر — من قائمة دخل يوليو للشبكة المشغّلة، لا افتراض.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845186" y="1463040"/>
            <a:ext cx="3749406" cy="3657600"/>
          </a:xfrm>
          <a:prstGeom prst="roundRect">
            <a:avLst>
              <a:gd name="adj" fmla="val 1250"/>
            </a:avLst>
          </a:prstGeom>
          <a:solidFill>
            <a:srgbClr val="55565A"/>
          </a:solidFill>
          <a:ln/>
        </p:spPr>
      </p:sp>
      <p:sp>
        <p:nvSpPr>
          <p:cNvPr id="29" name="Text 27"/>
          <p:cNvSpPr/>
          <p:nvPr/>
        </p:nvSpPr>
        <p:spPr>
          <a:xfrm>
            <a:off x="7991490" y="1600200"/>
            <a:ext cx="34567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النتيجة على الشبكة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991490" y="2057400"/>
            <a:ext cx="34567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C9C4B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 اليوم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91490" y="2276856"/>
            <a:ext cx="34567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١٬٥٠٩٬٥٨٢ لتر/يوم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991490" y="2624328"/>
            <a:ext cx="34567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C9C4B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 دون معيارها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991490" y="2843784"/>
            <a:ext cx="34567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 من ٥٢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991490" y="3191256"/>
            <a:ext cx="34567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C9C4B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 المستهدف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991490" y="3410712"/>
            <a:ext cx="34567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+١٠٤٬٨٣٧ لتر/يوم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991490" y="3758184"/>
            <a:ext cx="34567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C9C4B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الرفع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91490" y="3977640"/>
            <a:ext cx="34567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+٦٫٩٪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991490" y="4325112"/>
            <a:ext cx="34567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C9C4B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991490" y="4544568"/>
            <a:ext cx="34567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٤٬٣٢٧٬٨١٠ ريال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 محسوب محطة بمحطة ثم جُمع — لا نسبة مسقطة على الشبكة.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معيار لتر/زيارة داخل كل شريحة · والرفع المطلوب خلال 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473887" y="1463040"/>
            <a:ext cx="212070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19570" y="1463040"/>
            <a:ext cx="954317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35077" y="1463040"/>
            <a:ext cx="148449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 اليوم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868690" y="1463040"/>
            <a:ext cx="11663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المعيار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96267" y="1463040"/>
            <a:ext cx="127242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المعيار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17809" y="1463040"/>
            <a:ext cx="137845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 لتر/يوم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63492" y="1463040"/>
            <a:ext cx="954317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1463040"/>
            <a:ext cx="169656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1847088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3887" y="1847088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19570" y="1847088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035077" y="1847088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868690" y="1847088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6267" y="1847088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17809" y="1847088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+٥١٬٧٨٣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263492" y="1847088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+٧٫٨٪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66928" y="1847088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٢٬١٣٧٬٦٦١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2267712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73887" y="2267712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مراكز الأساطيل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19570" y="2267712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035077" y="2267712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868690" y="2267712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٢٦٫٧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596267" y="2267712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217809" y="2267712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+٥٬٣١١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263492" y="2267712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+٥٫٨٪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2267712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٢١٩٬٢٢٩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2688336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73887" y="2688336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519570" y="2688336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035077" y="2688336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868690" y="2688336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96267" y="2688336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217809" y="2688336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+٣٠٬٥٨٦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263492" y="2688336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+٦٫٣٪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66928" y="2688336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١٬٢٦٢٬٦١٧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3108960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73887" y="3108960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متوسطة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8519570" y="3108960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035077" y="3108960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868690" y="3108960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٢٤٫٩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4596267" y="3108960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3217809" y="3108960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+١٤٬٦٢٦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2263492" y="3108960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+٧٫٠٪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566928" y="3108960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٦٠٣٬٧٩٥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66928" y="352958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473887" y="3529584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8519570" y="3529584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7035077" y="3529584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5868690" y="3529584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4596267" y="3529584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3217809" y="3529584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+٢٬٥٣٢</a:t>
            </a:r>
            <a:endParaRPr lang="en-US" sz="1150" dirty="0"/>
          </a:p>
        </p:txBody>
      </p:sp>
      <p:sp>
        <p:nvSpPr>
          <p:cNvPr id="60" name="Text 58"/>
          <p:cNvSpPr/>
          <p:nvPr/>
        </p:nvSpPr>
        <p:spPr>
          <a:xfrm>
            <a:off x="2263492" y="3529584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+٤٫٢٪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566928" y="3529584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١٠٤٬٥٠٨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566928" y="3950208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473887" y="3950208"/>
            <a:ext cx="212070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8519570" y="3950208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7035077" y="3950208"/>
            <a:ext cx="148449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868690" y="3950208"/>
            <a:ext cx="116638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4596267" y="3950208"/>
            <a:ext cx="127242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3217809" y="3950208"/>
            <a:ext cx="13784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+١٠٤٬٨٣٧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2263492" y="3950208"/>
            <a:ext cx="954317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+٦٫٩٪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566928" y="3950208"/>
            <a:ext cx="169656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٤٬٣٢٧٬٨١٠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4617720"/>
            <a:ext cx="11027664" cy="1207008"/>
          </a:xfrm>
          <a:prstGeom prst="roundRect">
            <a:avLst>
              <a:gd name="adj" fmla="val 3788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49808" y="4718304"/>
            <a:ext cx="10661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تُقرأ</a:t>
            </a:r>
            <a:endParaRPr lang="en-US" sz="1350" dirty="0"/>
          </a:p>
        </p:txBody>
      </p:sp>
      <p:sp>
        <p:nvSpPr>
          <p:cNvPr id="73" name="Text 71"/>
          <p:cNvSpPr/>
          <p:nvPr/>
        </p:nvSpPr>
        <p:spPr>
          <a:xfrm>
            <a:off x="749808" y="5029200"/>
            <a:ext cx="10661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 تحمل نصف الفرصة (+٥١٬٧٨٣ لتراً يومياً) لأن سلتها الكبيرة تجعل كل نقطة تحسّن أثمن · الحضرية الكبرى تليها بحجمها لا بفجوتها · أما المحلية الصغيرة فقيمتها ١٠٤ آلاف ريال سنوياً — لا تستحق حملة، وخطتها ضبط التكلفة والتأجير.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كل شريحة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شريحة محرّك واحد وفعل تجاري واحد وحملة واحدة — لا خطة عامة للشبكة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4630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65740" y="1463040"/>
            <a:ext cx="187470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434121" y="1463040"/>
            <a:ext cx="4631619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1463040"/>
            <a:ext cx="286719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الحملة الأنسب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1847088"/>
            <a:ext cx="11027664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40442" y="1847088"/>
            <a:ext cx="1654150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65740" y="1847088"/>
            <a:ext cx="187470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سلة التعبئة والتعاقد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34121" y="1847088"/>
            <a:ext cx="4631619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بأسعار متدرجة · خدمات الشاحنات (إطارات وزيوت واستراحة) · ممر تعبئة سريع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1847088"/>
            <a:ext cx="286719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 عند ٥٠ لتراً فأكثر · كوبون استراحة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505456"/>
            <a:ext cx="11027664" cy="65836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40442" y="2505456"/>
            <a:ext cx="1654150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مراكز الأساطيل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65740" y="2505456"/>
            <a:ext cx="187470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تعميق الحساب المؤسسي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34121" y="2505456"/>
            <a:ext cx="4631619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لكل عميل · حدود ائتمان · تقرير استهلاك شهري للعميل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2505456"/>
            <a:ext cx="286719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تسجيل أسطول: خصم خدمات للمركبة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3163824"/>
            <a:ext cx="11027664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40442" y="3163824"/>
            <a:ext cx="1654150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065740" y="3163824"/>
            <a:ext cx="187470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اللتر لكل زيارة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34121" y="3163824"/>
            <a:ext cx="4631619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توجيه الممتاز ٩٥ · تعبئة كاملة بدل جزئية · ربط المتجر والمغسلة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3163824"/>
            <a:ext cx="286719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 عند ٣٠ لتراً فأكثر · باقة غسيل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822192"/>
            <a:ext cx="11027664" cy="65836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40442" y="3822192"/>
            <a:ext cx="1654150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متوسطة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65740" y="3822192"/>
            <a:ext cx="187470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التردد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34121" y="3822192"/>
            <a:ext cx="4631619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حملة حي · شراكات مع مستأجري المحطة · ساعات ذروة مدعّمة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3822192"/>
            <a:ext cx="286719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بطاقة الحي: الزيارة الخامسة غسيل مجاني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480560"/>
            <a:ext cx="11027664" cy="65836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40442" y="4480560"/>
            <a:ext cx="1654150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محلية صغيرة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65740" y="4480560"/>
            <a:ext cx="187470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434121" y="4480560"/>
            <a:ext cx="4631619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على الطلب · تأجير الوحدات الشاغرة · لا إنفاق تسويقي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4480560"/>
            <a:ext cx="2867193" cy="65836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فعالية مجتمعية واحدة كل ربع بتمويل مورّد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6928" y="5166360"/>
            <a:ext cx="11027664" cy="1143000"/>
          </a:xfrm>
          <a:prstGeom prst="roundRect">
            <a:avLst>
              <a:gd name="adj" fmla="val 4000"/>
            </a:avLst>
          </a:prstGeom>
          <a:solidFill>
            <a:srgbClr val="55565A"/>
          </a:solidFill>
          <a:ln/>
        </p:spPr>
      </p:sp>
      <p:sp>
        <p:nvSpPr>
          <p:cNvPr id="39" name="Text 37"/>
          <p:cNvSpPr/>
          <p:nvPr/>
        </p:nvSpPr>
        <p:spPr>
          <a:xfrm>
            <a:off x="749808" y="5266944"/>
            <a:ext cx="10661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 التي تحكم كل ما سبق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49808" y="557784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العميل يحدد الخطة لا الجغرافيا. محطتان متجاورتان في مكة قد تنتميان لشريحتين مختلفتين إن كانت إحداهما على مسار الشاحنات والأخرى داخل حي سكني — فتُدار كل واحدة بأدوات مختلفة تماماً.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١٤ فرصة — بالمحطة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بحجم الرفع اليومي · وهي قائمة الأولوية التنفيذية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1732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36409" y="1417320"/>
            <a:ext cx="195818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14973" y="1417320"/>
            <a:ext cx="72143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72101" y="1417320"/>
            <a:ext cx="144287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44540" y="1417320"/>
            <a:ext cx="92756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20042" y="1417320"/>
            <a:ext cx="82449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المعيار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92481" y="1417320"/>
            <a:ext cx="92756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61859" y="1417320"/>
            <a:ext cx="103062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الرفع/يوم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28174" y="1417320"/>
            <a:ext cx="113368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6928" y="1417320"/>
            <a:ext cx="206124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" y="1801368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36409" y="1801368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14973" y="1801368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472101" y="1801368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44540" y="180136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720042" y="1801368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92481" y="180136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٣٣٫٧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761859" y="1801368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+١٣٬٤٣٤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28174" y="1801368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٥٥٤٬٥٦٥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1801368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 · ديزل مرتفع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928" y="2084832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36409" y="2084832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14973" y="2084832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72101" y="2084832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44540" y="208483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20042" y="2084832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92481" y="208483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٢٩٫٩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761859" y="2084832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+٧٬٦٤٥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28174" y="2084832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٣١٥٬٦٠٦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6928" y="2084832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 · ديزل مرتفع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" y="2368296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36409" y="2368296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914973" y="2368296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472101" y="2368296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44540" y="236829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720042" y="2368296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92481" y="236829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٣٢٫٣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761859" y="2368296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+٦٬٩٣٩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628174" y="2368296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٢٨٦٬٤٦٩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6928" y="2368296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المعيار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66928" y="2651760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636409" y="2651760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914973" y="2651760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472101" y="2651760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544540" y="265176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720042" y="2651760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792481" y="265176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٣٠٫١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761859" y="2651760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+٦٬٢٧٩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628174" y="2651760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٢٥٩٬٢١٧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66928" y="2651760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 · ديزل مرتفع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66928" y="2935224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36409" y="2935224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914973" y="2935224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472101" y="2935224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متوسطة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544540" y="2935224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720042" y="2935224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792481" y="2935224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761859" y="2935224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+٥٬٤٢٣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2628174" y="2935224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٢٢٣٬٨٧٩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566928" y="2935224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66928" y="3218688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636409" y="3218688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8914973" y="3218688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7472101" y="3218688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544540" y="321868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720042" y="3218688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4792481" y="321868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٢١٫٨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3761859" y="3218688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+٥٬٢١٣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2628174" y="3218688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٢١٥٬١٨٥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66928" y="3218688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566928" y="3502152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36409" y="3502152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8914973" y="3502152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7472101" y="3502152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6544540" y="350215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720042" y="3502152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792481" y="350215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3761859" y="3502152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+٤٬٩٨٥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628174" y="3502152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٢٠٥٬٧٨١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66928" y="3502152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المعيار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66928" y="3785616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636409" y="3785616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8914973" y="3785616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7472101" y="3785616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6544540" y="378561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5720042" y="3785616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4792481" y="378561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761859" y="3785616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+٤٬٧٠٤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628174" y="3785616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١٩٤٬١٩٨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66928" y="3785616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سلة دون المعيار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4069080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36409" y="4069080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الجنوب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8914973" y="4069080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7472101" y="4069080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6544540" y="406908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5720042" y="4069080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4792481" y="406908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3761859" y="4069080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+٤٬٦٤١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2628174" y="4069080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١٩١٬٥٧٩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566928" y="4069080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 · ديزل مرتفع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566928" y="4352544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636409" y="4352544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8914973" y="4352544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7472101" y="4352544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544540" y="4352544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720042" y="4352544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792481" y="4352544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٣٣٫٩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761859" y="4352544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+٤٬٢٧٢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628174" y="4352544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١٧٦٬٣٧٠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 · ديزل مرتفع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566928" y="4636008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636409" y="4636008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8914973" y="4636008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472101" y="4636008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544540" y="463600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5720042" y="4636008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4792481" y="4636008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3761859" y="4636008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+٤٬٢٠٧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2628174" y="4636008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١٧٣٬٦٦٨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566928" y="4636008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المعيار</a:t>
            </a:r>
            <a:endParaRPr lang="en-US" sz="950" dirty="0"/>
          </a:p>
        </p:txBody>
      </p:sp>
      <p:sp>
        <p:nvSpPr>
          <p:cNvPr id="128" name="Shape 126"/>
          <p:cNvSpPr/>
          <p:nvPr/>
        </p:nvSpPr>
        <p:spPr>
          <a:xfrm>
            <a:off x="566928" y="4919472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636409" y="4919472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30" name="Text 128"/>
          <p:cNvSpPr/>
          <p:nvPr/>
        </p:nvSpPr>
        <p:spPr>
          <a:xfrm>
            <a:off x="8914973" y="4919472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7472101" y="4919472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6544540" y="491947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5720042" y="4919472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4792481" y="4919472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٢١٫٩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3761859" y="4919472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+٣٬٧١١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2628174" y="4919472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١٥٣٬٢١٤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566928" y="4919472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المعيار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5202936"/>
            <a:ext cx="11027664" cy="2834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9636409" y="5202936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1000" dirty="0"/>
          </a:p>
        </p:txBody>
      </p:sp>
      <p:sp>
        <p:nvSpPr>
          <p:cNvPr id="140" name="Text 138"/>
          <p:cNvSpPr/>
          <p:nvPr/>
        </p:nvSpPr>
        <p:spPr>
          <a:xfrm>
            <a:off x="8914973" y="5202936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1000" dirty="0"/>
          </a:p>
        </p:txBody>
      </p:sp>
      <p:sp>
        <p:nvSpPr>
          <p:cNvPr id="141" name="Text 139"/>
          <p:cNvSpPr/>
          <p:nvPr/>
        </p:nvSpPr>
        <p:spPr>
          <a:xfrm>
            <a:off x="7472101" y="5202936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 كبرى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6544540" y="520293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5720042" y="5202936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٢٦٫٠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4792481" y="5202936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٢٣٫٦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3761859" y="5202936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+٣٬٢٣٤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2628174" y="5202936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١٣٣٬٥٠٢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566928" y="5202936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المعيار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566928" y="5486400"/>
            <a:ext cx="11027664" cy="2834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9636409" y="5486400"/>
            <a:ext cx="195818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بطحاء قريش 1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8914973" y="5486400"/>
            <a:ext cx="72143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MK022</a:t>
            </a:r>
            <a:endParaRPr lang="en-US" sz="1000" dirty="0"/>
          </a:p>
        </p:txBody>
      </p:sp>
      <p:sp>
        <p:nvSpPr>
          <p:cNvPr id="151" name="Text 149"/>
          <p:cNvSpPr/>
          <p:nvPr/>
        </p:nvSpPr>
        <p:spPr>
          <a:xfrm>
            <a:off x="7472101" y="5486400"/>
            <a:ext cx="1442872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محاور الطريق</a:t>
            </a:r>
            <a:endParaRPr lang="en-US" sz="1000" dirty="0"/>
          </a:p>
        </p:txBody>
      </p:sp>
      <p:sp>
        <p:nvSpPr>
          <p:cNvPr id="152" name="Text 150"/>
          <p:cNvSpPr/>
          <p:nvPr/>
        </p:nvSpPr>
        <p:spPr>
          <a:xfrm>
            <a:off x="6544540" y="548640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٣٠٫٥</a:t>
            </a:r>
            <a:endParaRPr lang="en-US" sz="1000" dirty="0"/>
          </a:p>
        </p:txBody>
      </p:sp>
      <p:sp>
        <p:nvSpPr>
          <p:cNvPr id="153" name="Text 151"/>
          <p:cNvSpPr/>
          <p:nvPr/>
        </p:nvSpPr>
        <p:spPr>
          <a:xfrm>
            <a:off x="5720042" y="5486400"/>
            <a:ext cx="824498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٣٨٫٤</a:t>
            </a:r>
            <a:endParaRPr lang="en-US" sz="1000" dirty="0"/>
          </a:p>
        </p:txBody>
      </p:sp>
      <p:sp>
        <p:nvSpPr>
          <p:cNvPr id="154" name="Text 152"/>
          <p:cNvSpPr/>
          <p:nvPr/>
        </p:nvSpPr>
        <p:spPr>
          <a:xfrm>
            <a:off x="4792481" y="5486400"/>
            <a:ext cx="927561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٣٣٫٧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3761859" y="5486400"/>
            <a:ext cx="1030623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+٢٬٥٦٧</a:t>
            </a:r>
            <a:endParaRPr lang="en-US" sz="1000" dirty="0"/>
          </a:p>
        </p:txBody>
      </p:sp>
      <p:sp>
        <p:nvSpPr>
          <p:cNvPr id="156" name="Text 154"/>
          <p:cNvSpPr/>
          <p:nvPr/>
        </p:nvSpPr>
        <p:spPr>
          <a:xfrm>
            <a:off x="2628174" y="5486400"/>
            <a:ext cx="1133685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١٠٥٬٩٨٠</a:t>
            </a:r>
            <a:endParaRPr lang="en-US" sz="1000" dirty="0"/>
          </a:p>
        </p:txBody>
      </p:sp>
      <p:sp>
        <p:nvSpPr>
          <p:cNvPr id="157" name="Text 155"/>
          <p:cNvSpPr/>
          <p:nvPr/>
        </p:nvSpPr>
        <p:spPr>
          <a:xfrm>
            <a:off x="566928" y="5486400"/>
            <a:ext cx="2061246" cy="2834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المعيار</a:t>
            </a:r>
            <a:endParaRPr lang="en-US" sz="950" dirty="0"/>
          </a:p>
        </p:txBody>
      </p:sp>
      <p:sp>
        <p:nvSpPr>
          <p:cNvPr id="158" name="Shape 156"/>
          <p:cNvSpPr/>
          <p:nvPr/>
        </p:nvSpPr>
        <p:spPr>
          <a:xfrm>
            <a:off x="566928" y="5870448"/>
            <a:ext cx="11027664" cy="475488"/>
          </a:xfrm>
          <a:prstGeom prst="roundRect">
            <a:avLst>
              <a:gd name="adj" fmla="val 769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13232" y="5943600"/>
            <a:ext cx="107350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الأربع عشرة محطة تحمل ٧٣٫٧٪ من الفرصة كلها — فالجهد يبدأ منها لا من الشبكة دفعة واحدة.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والوحدة «معاملة» في الطبقتين الأوليين، والريال في الثالثة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33502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كيف يُشتقّ الرقم — العمرة الجديدة MK007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993392"/>
            <a:ext cx="2395728" cy="749808"/>
          </a:xfrm>
          <a:prstGeom prst="roundRect">
            <a:avLst>
              <a:gd name="adj" fmla="val 6098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2066544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9198864" y="245973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2002536"/>
            <a:ext cx="310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609344"/>
            <a:ext cx="2395728" cy="749808"/>
          </a:xfrm>
          <a:prstGeom prst="roundRect">
            <a:avLst>
              <a:gd name="adj" fmla="val 6098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66420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 ٦ص – ٦م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8653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 معاملة ÷ ١١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176272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١٩٠ معاملة للعامل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92240" y="2432304"/>
            <a:ext cx="2395728" cy="749808"/>
          </a:xfrm>
          <a:prstGeom prst="roundRect">
            <a:avLst>
              <a:gd name="adj" fmla="val 6098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4871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٦م – ٦ص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68833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 معاملة ÷ ٩ عمال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999232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٢٤٢ معاملة للعامل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181344" y="2002536"/>
            <a:ext cx="310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2002536"/>
            <a:ext cx="2395728" cy="749808"/>
          </a:xfrm>
          <a:prstGeom prst="roundRect">
            <a:avLst>
              <a:gd name="adj" fmla="val 6098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20574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الورديتين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258568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٥١٪ من الطلب · ٤٥٪ من الطاقم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569464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 يخدم +٢٧٪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474720" y="2002536"/>
            <a:ext cx="3108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2002536"/>
            <a:ext cx="2395728" cy="749808"/>
          </a:xfrm>
          <a:prstGeom prst="roundRect">
            <a:avLst>
              <a:gd name="adj" fmla="val 6098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20574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 فعلاً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258568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وردية المساء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569464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 معاملة تُستردّ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32552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الأرقام — كلها بالمعاملة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529584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9988622" y="3529584"/>
            <a:ext cx="160597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132104" y="3529584"/>
            <a:ext cx="8565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47328" y="3529584"/>
            <a:ext cx="128477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المحطة/يوم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776681" y="3529584"/>
            <a:ext cx="1070647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صباحاً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06034" y="3529584"/>
            <a:ext cx="1070647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منها مساءً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742451" y="3529584"/>
            <a:ext cx="96358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عمال ص / م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71804" y="3529584"/>
            <a:ext cx="1070647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الصباحي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601157" y="3529584"/>
            <a:ext cx="1070647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عبء المسائي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744640" y="3529584"/>
            <a:ext cx="85651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66928" y="3529584"/>
            <a:ext cx="117771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اليومي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3913632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88622" y="3913632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132104" y="3913632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847328" y="3913632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776681" y="391363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06034" y="391363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742451" y="3913632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/ 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671804" y="391363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١٩٠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2601157" y="3913632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744640" y="3913632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+٢٧٪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66928" y="3913632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66928" y="4219956"/>
            <a:ext cx="11027664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988622" y="4219956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9132104" y="4219956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7847328" y="4219956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١٬٢٦٩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776681" y="421995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٥٦٧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706034" y="421995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٧٠٢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742451" y="4219956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/ ٣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3671804" y="421995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601157" y="4219956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٢٣٤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744640" y="4219956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+٢٤٪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4219956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4526280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988622" y="4526280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9132104" y="4526280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847328" y="4526280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٨٦٥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776681" y="452628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٤٢٩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706034" y="452628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٤٣٦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4742451" y="4526280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3671804" y="452628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٢١٤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2601157" y="4526280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٢١٨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744640" y="4526280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+٢٪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566928" y="4526280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66928" y="4832604"/>
            <a:ext cx="11027664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988622" y="4832604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 درويش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9132104" y="4832604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7847328" y="4832604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٧٩٠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6776681" y="483260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٣٥٧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5706034" y="483260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٤٣٤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742451" y="4832604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671804" y="483260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2601157" y="4832604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٢١٧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1744640" y="4832604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+٢٢٪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66928" y="4832604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66928" y="5138928"/>
            <a:ext cx="11027664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988622" y="5138928"/>
            <a:ext cx="1605970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132104" y="5138928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7847328" y="5138928"/>
            <a:ext cx="128477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٤٤٣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6776681" y="513892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١٩٤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5706034" y="513892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٢٤٨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4742451" y="5138928"/>
            <a:ext cx="96358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/ ٢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3671804" y="513892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2601157" y="5138928"/>
            <a:ext cx="107064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١٢٤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1744640" y="5138928"/>
            <a:ext cx="856518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+٢٨٪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5138928"/>
            <a:ext cx="1177712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8040624" y="5541264"/>
            <a:ext cx="3553968" cy="804672"/>
          </a:xfrm>
          <a:prstGeom prst="roundRect">
            <a:avLst>
              <a:gd name="adj" fmla="val 568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40624" y="554126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0" name="Text 98"/>
          <p:cNvSpPr/>
          <p:nvPr/>
        </p:nvSpPr>
        <p:spPr>
          <a:xfrm>
            <a:off x="8973312" y="5614416"/>
            <a:ext cx="2529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01" name="Shape 99"/>
          <p:cNvSpPr/>
          <p:nvPr/>
        </p:nvSpPr>
        <p:spPr>
          <a:xfrm>
            <a:off x="8132064" y="562356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2" name="Text 100"/>
          <p:cNvSpPr/>
          <p:nvPr/>
        </p:nvSpPr>
        <p:spPr>
          <a:xfrm>
            <a:off x="8132064" y="562356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8132064" y="5870448"/>
            <a:ext cx="3371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مستهدف: العامل لا يصنع المعاملة.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303776" y="5541264"/>
            <a:ext cx="3553968" cy="804672"/>
          </a:xfrm>
          <a:prstGeom prst="roundRect">
            <a:avLst>
              <a:gd name="adj" fmla="val 568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03776" y="554126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6" name="Text 104"/>
          <p:cNvSpPr/>
          <p:nvPr/>
        </p:nvSpPr>
        <p:spPr>
          <a:xfrm>
            <a:off x="5236464" y="5614416"/>
            <a:ext cx="2529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07" name="Shape 105"/>
          <p:cNvSpPr/>
          <p:nvPr/>
        </p:nvSpPr>
        <p:spPr>
          <a:xfrm>
            <a:off x="4395216" y="562356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08" name="Text 106"/>
          <p:cNvSpPr/>
          <p:nvPr/>
        </p:nvSpPr>
        <p:spPr>
          <a:xfrm>
            <a:off x="4395216" y="562356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4395216" y="5870448"/>
            <a:ext cx="3371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 مقارنة بشريحتها. هذا وحده ما يُطالَب به.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5541264"/>
            <a:ext cx="3553968" cy="804672"/>
          </a:xfrm>
          <a:prstGeom prst="roundRect">
            <a:avLst>
              <a:gd name="adj" fmla="val 5682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66928" y="5541264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2" name="Text 110"/>
          <p:cNvSpPr/>
          <p:nvPr/>
        </p:nvSpPr>
        <p:spPr>
          <a:xfrm>
            <a:off x="1499616" y="5614416"/>
            <a:ext cx="2529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13" name="Shape 111"/>
          <p:cNvSpPr/>
          <p:nvPr/>
        </p:nvSpPr>
        <p:spPr>
          <a:xfrm>
            <a:off x="658368" y="562356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8368" y="562356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658368" y="5870448"/>
            <a:ext cx="3371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الإضافية × هامش المحطة × نسبة، ببوابة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 — معتمد ومطبَّق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يُدفع من هامش اللتر الإضافي،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63040"/>
            <a:ext cx="6065215" cy="603504"/>
          </a:xfrm>
          <a:prstGeom prst="roundRect">
            <a:avLst>
              <a:gd name="adj" fmla="val 6061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508760"/>
            <a:ext cx="57726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773936"/>
            <a:ext cx="577260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065215" cy="603504"/>
          </a:xfrm>
          <a:prstGeom prst="roundRect">
            <a:avLst>
              <a:gd name="adj" fmla="val 6061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221992"/>
            <a:ext cx="57726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487168"/>
            <a:ext cx="577260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هللة/لتر الفعلي لكل محطة — ١٠٫١٥ إلى ١٣٫١١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889504"/>
            <a:ext cx="6065215" cy="603504"/>
          </a:xfrm>
          <a:prstGeom prst="roundRect">
            <a:avLst>
              <a:gd name="adj" fmla="val 6061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935224"/>
            <a:ext cx="57726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3200400"/>
            <a:ext cx="577260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602736"/>
            <a:ext cx="6065215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648456"/>
            <a:ext cx="57726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913632"/>
            <a:ext cx="577260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 مهما بلغ الإنتاج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15968"/>
            <a:ext cx="6065215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361688"/>
            <a:ext cx="57726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626864"/>
            <a:ext cx="577260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شهري لكل عامل — معتمد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962973" y="1463040"/>
            <a:ext cx="46316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السقف والبوابات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62973" y="1810512"/>
            <a:ext cx="4631619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يُحتسب لكل عامل بينما الشركة تجني الصافي — بلا سقف تجاوزت نسبة الحافز إلى الهامش ٤٥٪ في المحاكاة مقابل ١٥٪ المعتمدة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 تمنع شراء الحجم على حساب الخدمة — وخدمتنا هي ميزتنا الوحيدة على المنافس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المحطة: لا حافز في محطة صافيها سالب مهما بلغ إنتاج الفرد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الحاكم في اللوحة: الحافز ÷ الهامش الإضافي — يُراجَع شهرياً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962973" y="4526280"/>
            <a:ext cx="4631619" cy="1325880"/>
          </a:xfrm>
          <a:prstGeom prst="roundRect">
            <a:avLst>
              <a:gd name="adj" fmla="val 3448"/>
            </a:avLst>
          </a:prstGeom>
          <a:solidFill>
            <a:srgbClr val="55565A"/>
          </a:solidFill>
          <a:ln/>
        </p:spPr>
      </p:sp>
      <p:sp>
        <p:nvSpPr>
          <p:cNvPr id="26" name="Text 24"/>
          <p:cNvSpPr/>
          <p:nvPr/>
        </p:nvSpPr>
        <p:spPr>
          <a:xfrm>
            <a:off x="7109277" y="4626864"/>
            <a:ext cx="43390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الملف جاهز ومسلَّم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09277" y="4956048"/>
            <a:ext cx="4339011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«نموذج العامل» — ورقة إدخال تفاعلية تحتسب الأساس والحافز لكل عامل، ونسخة ويب على الجوال. تحتاج فقط جدول عمالة كل محطة لتعميمها.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194560"/>
            <a:ext cx="54864" cy="219456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148840"/>
            <a:ext cx="107533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753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حملة عامة — كل حملة تُطلق بحالة مرصودة في محطة بعينها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حملات المستأجرين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يولّد زيارة، والزيارة تولّد لتراً — القناتان تُداران معاً لا منفصلتين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417320"/>
            <a:ext cx="2633472" cy="3200400"/>
          </a:xfrm>
          <a:prstGeom prst="roundRect">
            <a:avLst>
              <a:gd name="adj" fmla="val 1736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417320"/>
            <a:ext cx="2633472" cy="54864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8132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مساحة مقابل نسبة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052560" y="2084832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شاغراً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281160" y="2560320"/>
            <a:ext cx="199339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3" name="Text 11"/>
          <p:cNvSpPr/>
          <p:nvPr/>
        </p:nvSpPr>
        <p:spPr>
          <a:xfrm>
            <a:off x="9070848" y="2670048"/>
            <a:ext cx="241401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بدل إيجار ثابت مرتفع يعطّل الوحدة: إيجار أساسي منخفض + نسبة من المبيعات. يقلّل حاجز الدخول ويربط دخلنا بنجاح المستأجر.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63056" y="1417320"/>
            <a:ext cx="2633472" cy="3200400"/>
          </a:xfrm>
          <a:prstGeom prst="roundRect">
            <a:avLst>
              <a:gd name="adj" fmla="val 1736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417320"/>
            <a:ext cx="2633472" cy="54864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16" name="Text 14"/>
          <p:cNvSpPr/>
          <p:nvPr/>
        </p:nvSpPr>
        <p:spPr>
          <a:xfrm>
            <a:off x="6236208" y="148132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المسبق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54496" y="2084832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 وحدة في ٤٣ محطة تحت التنفيذ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83096" y="2560320"/>
            <a:ext cx="199339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9" name="Text 17"/>
          <p:cNvSpPr/>
          <p:nvPr/>
        </p:nvSpPr>
        <p:spPr>
          <a:xfrm>
            <a:off x="6272784" y="2670048"/>
            <a:ext cx="241401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 يبدأ قبل الافتتاح بثلاثة أشهر بباقة «مستأجر مؤسِّس»: أفضلية موقع + إعفاء أول شهرين. الوحدة تفتح مؤجَّرة لا شاغرة.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64992" y="1417320"/>
            <a:ext cx="2633472" cy="3200400"/>
          </a:xfrm>
          <a:prstGeom prst="roundRect">
            <a:avLst>
              <a:gd name="adj" fmla="val 1736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4992" y="1417320"/>
            <a:ext cx="2633472" cy="54864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2" name="Text 20"/>
          <p:cNvSpPr/>
          <p:nvPr/>
        </p:nvSpPr>
        <p:spPr>
          <a:xfrm>
            <a:off x="3438144" y="148132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الكوبون المتبادل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56432" y="2084832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محطة بمستأجر نشط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85032" y="2560320"/>
            <a:ext cx="199339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0" y="2670048"/>
            <a:ext cx="241401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تبلغ العتبة تعطي كوبون المستأجر · وفاتورة المستأجر تعطي خصم غسيل. حركة تتبادل بين القناتين بلا كلفة نقدية.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417320"/>
            <a:ext cx="2633472" cy="3200400"/>
          </a:xfrm>
          <a:prstGeom prst="roundRect">
            <a:avLst>
              <a:gd name="adj" fmla="val 1736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1417320"/>
            <a:ext cx="2633472" cy="54864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1481328"/>
            <a:ext cx="2487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شبكة الوسطاء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8368" y="2084832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وتحت التنفيذ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86968" y="2560320"/>
            <a:ext cx="199339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1" name="Text 29"/>
          <p:cNvSpPr/>
          <p:nvPr/>
        </p:nvSpPr>
        <p:spPr>
          <a:xfrm>
            <a:off x="676656" y="2670048"/>
            <a:ext cx="241401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للوسيط المحلي على العقد المُوقَّع لا على العرض. تُوجَّه للامتياز حيث إشغال المحلات ٣٪ فقط، لا للمحطات العاملة حيث الإشغال ٧٩٪.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4800600"/>
            <a:ext cx="11027664" cy="1051560"/>
          </a:xfrm>
          <a:prstGeom prst="roundRect">
            <a:avLst>
              <a:gd name="adj" fmla="val 4348"/>
            </a:avLst>
          </a:prstGeom>
          <a:solidFill>
            <a:srgbClr val="FCE7C8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4901184"/>
            <a:ext cx="10661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ينقص لتسعير هذه الحملات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49808" y="5212080"/>
            <a:ext cx="106619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الوحدات يحمل الأعداد لا القيم الإيجارية. لا يمكن قول «الفرصة تساوي كذا مليوناً» قبل جدول إيجارات لكل نوع وحدة ومدينة. المطلوب: جدول الإيجار الحالي والمستهدف لكل نوع — ثم تُسعَّر الـ٦٨٩ وحدة والـ٥٧٢ محلاً خلال أسبوع.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هدايا علب المناديل — التصميم واقتصادياته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المكافأة يجب أن تسترد كلفتها من اللتر الإضافي، وإلا فهي إنفاق لا 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371600"/>
            <a:ext cx="48521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الحساب الحاكم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1691640"/>
            <a:ext cx="4852172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4157535" y="1691640"/>
            <a:ext cx="126156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13710" y="1691640"/>
            <a:ext cx="184382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الإضافية للتعادل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1691640"/>
            <a:ext cx="174678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الرفع الواقعي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075688"/>
            <a:ext cx="4852172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57535" y="2075688"/>
            <a:ext cx="126156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 ريال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13710" y="2075688"/>
            <a:ext cx="184382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١٧٫٧ لتر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2075688"/>
            <a:ext cx="174678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٨٫٩ ضعفاً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2423160"/>
            <a:ext cx="4852172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57535" y="2423160"/>
            <a:ext cx="126156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 ريال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13710" y="2423160"/>
            <a:ext cx="184382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 لتر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2423160"/>
            <a:ext cx="174678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١١٫١ ضعفاً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2770632"/>
            <a:ext cx="4852172" cy="34747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57535" y="2770632"/>
            <a:ext cx="126156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 ريال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13710" y="2770632"/>
            <a:ext cx="184382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٢٦٫٥ لتر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2770632"/>
            <a:ext cx="174678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١٣٫٣ ضعفاً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118104"/>
            <a:ext cx="4852172" cy="34747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57535" y="3118104"/>
            <a:ext cx="126156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٣٫٥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313710" y="3118104"/>
            <a:ext cx="1843825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 لتر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3118104"/>
            <a:ext cx="1746782" cy="34747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١٥٫٥ ضعفاً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84448"/>
            <a:ext cx="4852172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" y="3685032"/>
            <a:ext cx="45961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الصريحة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4944" y="3977640"/>
            <a:ext cx="45961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 المستهدف للسلة +١٫٢ إلى +٣٫١ لتر لكل زيارة. عند هامش ١١٫٣ هللة لا تسترد علبة بريالين كلفتها إلا بـ١٧٫٧ لتراً إضافياً — أي تسعة إلى خمسة عشر ضعف الرفع الواقعي. الهدية الممولة من هامش الوقود تخسر.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749930" y="1371600"/>
            <a:ext cx="584466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التصميم المعتمد — العلبة تموّل نفسها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749930" y="1691640"/>
            <a:ext cx="5844662" cy="932688"/>
          </a:xfrm>
          <a:prstGeom prst="roundRect">
            <a:avLst>
              <a:gd name="adj" fmla="val 3922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045952" y="1947672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35" name="Text 33"/>
          <p:cNvSpPr/>
          <p:nvPr/>
        </p:nvSpPr>
        <p:spPr>
          <a:xfrm>
            <a:off x="11045952" y="1984248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77946" y="1783080"/>
            <a:ext cx="50948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877946" y="2057400"/>
            <a:ext cx="509485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تُطبع بعلامة معلن — مستأجر أو مورّد زيوت أو تأمين أو اتصالات. الكلفة تنتقل للمعلن وتتحول لدخل.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749930" y="2734056"/>
            <a:ext cx="5844662" cy="932688"/>
          </a:xfrm>
          <a:prstGeom prst="roundRect">
            <a:avLst>
              <a:gd name="adj" fmla="val 392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45952" y="29900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11045952" y="30266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877946" y="2825496"/>
            <a:ext cx="50948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توزيع مشروط لا عام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877946" y="3099816"/>
            <a:ext cx="509485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تُعطى لكل زيارة: فقط في ٣٩ محطة دون معيارها، وفقط عند بلوغ عتبة الشريحة: ٥٠ لتراً في محاور الطريق و٣٠ لتراً في الحضرية.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749930" y="3776472"/>
            <a:ext cx="5844662" cy="932688"/>
          </a:xfrm>
          <a:prstGeom prst="roundRect">
            <a:avLst>
              <a:gd name="adj" fmla="val 392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045952" y="4032504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11045952" y="4069080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877946" y="3867912"/>
            <a:ext cx="50948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يومي لكل محطة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877946" y="4142232"/>
            <a:ext cx="509485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محدد يومياً يمنع الانفلات ويجعل الهدية محدودة — والندرة نفسها محرّك سلوك.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749930" y="4818888"/>
            <a:ext cx="5844662" cy="932688"/>
          </a:xfrm>
          <a:prstGeom prst="roundRect">
            <a:avLst>
              <a:gd name="adj" fmla="val 392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045952" y="5074920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11045952" y="511149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877946" y="4910328"/>
            <a:ext cx="50948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القياس أسبوعي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5877946" y="5184648"/>
            <a:ext cx="509485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 قبل وبعد في نفس المحطة. لا تمديد لحملة لم ترفع السلة خلال ٤ أسابيع.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66928" y="5989320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54" name="Text 52"/>
          <p:cNvSpPr/>
          <p:nvPr/>
        </p:nvSpPr>
        <p:spPr>
          <a:xfrm>
            <a:off x="566928" y="6035040"/>
            <a:ext cx="11027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 الحملة: عرض سعر طباعة العلبة، وسعر المساحة الإعلانية عليها. عندها تُحسم جدواها برقم لا برأي.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 — الحالة تختار الفعل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حالة تُرصد آلياً من بيانات المحطة، ولكل حالة فعل واحد محدد ومالك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17320"/>
            <a:ext cx="11027664" cy="384048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067419" y="1417320"/>
            <a:ext cx="252717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 في البيانات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9989" y="1417320"/>
            <a:ext cx="229743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45386" y="1417320"/>
            <a:ext cx="482460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" y="1417320"/>
            <a:ext cx="137845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1801368"/>
            <a:ext cx="11027664" cy="402336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67419" y="1801368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69989" y="1801368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45386" y="1801368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فوري · معايرة عدادات · مطابقة إشعارات الاستلام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6928" y="1801368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203704"/>
            <a:ext cx="11027664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67419" y="2203704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انهيار حجم يتجاوز ٢٠٪ في ٧ أشهر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9989" y="2203704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حملة استرجاع موجّهة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45386" y="2203704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المنافس الأقرب · عرض سعري/خدمي ٦ أسابيع · قياس أسبوعي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2203704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استرجاع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606040"/>
            <a:ext cx="11027664" cy="402336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67419" y="2606040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9989" y="2606040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45386" y="2606040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إعداد نقاط البيع · تدريب الوردية · مؤشر تسجيل في حافز العامل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2606040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008376"/>
            <a:ext cx="11027664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67419" y="3008376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لتر/زيارة دون معيار الشريحة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69989" y="3008376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حملة رفع السلة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45386" y="3008376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 عند العتبة · نص موحّد للعامل · لوحة عتبة عند المضخة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3008376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410712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67419" y="3410712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69989" y="3410712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945386" y="3410712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عرض تعاقد بسعر متدرج · تسجيل في التطبيق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6928" y="3410712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6928" y="3813048"/>
            <a:ext cx="11027664" cy="40233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67419" y="3813048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 دون ٥٠٠ متر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9989" y="3813048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تفوق خدمي معلن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945386" y="3813048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سرعة تعبئة مضمونة · نظافة دورات المياه · إبراز التقييم على الخرائط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813048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تنافس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4215384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67419" y="4215384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769989" y="4215384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يوم مفتوح للمستأجرين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945386" y="4215384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مساحة مقابل نسبة · وسيط محلي · باقة افتتاح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6928" y="4215384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4617720"/>
            <a:ext cx="11027664" cy="402336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67419" y="4617720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769989" y="4617720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945386" y="4617720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للتحميلات · ناقل بديل مؤهّل · دراسة خزان إضافي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66928" y="4617720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5020056"/>
            <a:ext cx="11027664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67419" y="5020056"/>
            <a:ext cx="252717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تحت التنفيذ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769989" y="5020056"/>
            <a:ext cx="2297430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 مسبق قبل الافتتاح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945386" y="5020056"/>
            <a:ext cx="4824603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تسويق الوحدات من الشهر −٣ · باقة مستأجر مؤسِّس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66928" y="5020056"/>
            <a:ext cx="1378458" cy="40233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66928" y="5532120"/>
            <a:ext cx="11027664" cy="777240"/>
          </a:xfrm>
          <a:prstGeom prst="roundRect">
            <a:avLst>
              <a:gd name="adj" fmla="val 4706"/>
            </a:avLst>
          </a:prstGeom>
          <a:solidFill>
            <a:srgbClr val="55565A"/>
          </a:solidFill>
          <a:ln/>
        </p:spPr>
      </p:sp>
      <p:sp>
        <p:nvSpPr>
          <p:cNvPr id="59" name="Text 57"/>
          <p:cNvSpPr/>
          <p:nvPr/>
        </p:nvSpPr>
        <p:spPr>
          <a:xfrm>
            <a:off x="749808" y="5650992"/>
            <a:ext cx="10661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الأولوية: الرقابة والبيانات قبل الحملة. محطة عليها فجوة مطابقة أو لا تسجّل وسيلة الدفع لا تدخل أي حملة قبل إقفال حالتها — وإلا أنفقنا على قياس لا نثق به.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— لا تبدأ الثانية قبل إقفال بوابة الأولى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417320"/>
            <a:ext cx="3541776" cy="361188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417320"/>
            <a:ext cx="3541776" cy="74980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463040"/>
            <a:ext cx="3358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773936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331720"/>
            <a:ext cx="3285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 — جرد ومعايرة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وسيلة الدفع في ١٨ محطة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لكل محطة ووردية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لكل نوع وحدة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09872" y="1417320"/>
            <a:ext cx="3541776" cy="361188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417320"/>
            <a:ext cx="3541776" cy="7498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463040"/>
            <a:ext cx="3358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773936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331720"/>
            <a:ext cx="3285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١٤ محطة فقط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تجريبية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المعلن على العلبة — تعاقد أول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يوم مفتوح للمستأجرين في أعلى ٣ شواغر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1417320"/>
            <a:ext cx="3541776" cy="361188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417320"/>
            <a:ext cx="3541776" cy="74980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463040"/>
            <a:ext cx="3358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773936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331720"/>
            <a:ext cx="3285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رفع السلة ٤ أسابيع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المسبق في تحت التنفيذ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الاعتراض في المعيصم والشرائع</a:t>
            </a:r>
            <a:endParaRPr lang="en-US" sz="1150" dirty="0"/>
          </a:p>
          <a:p>
            <a:pPr algn="r"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57800"/>
            <a:ext cx="11027664" cy="841248"/>
          </a:xfrm>
          <a:prstGeom prst="roundRect">
            <a:avLst>
              <a:gd name="adj" fmla="val 4348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5376672"/>
            <a:ext cx="10661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الموجة الثانية: لا حملة في محطة لم تُقفل حالتها الرقابية والبياناتية.   ·   بوابة الثالثة: لا تعميم لآلية لم ترفع لتر/زيارة قياساً بأربعة أسابيع سابقة في نفس المحطة.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101132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1132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— تُقرأ في صفحة واحدة كل 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2529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19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46304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4630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5727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84708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لكل زيارة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بالشريحة مقابل معيارها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46304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4630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5727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84708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الرفع المتحقق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لتر/يوم مقابل +١٠٤٬٨٣٧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46304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463040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5727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84708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تسجيل وسيلة الدفع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46304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463040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5727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84708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المشتريات/المبيعات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88036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880360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99008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32644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052560" y="36667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88036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88036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99008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32644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254496" y="36667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بالفئة — مشغّلة وتحت تنفيذ وامتياز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88036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88036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99008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32644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الأساطيل الرقمية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456432" y="36667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١٫٩٪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880360"/>
            <a:ext cx="2633472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880360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99008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32644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58368" y="36667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4434840"/>
            <a:ext cx="110276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 لإكمال الخطة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1558016" y="48371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80060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800600"/>
            <a:ext cx="9198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كل محطة ووردية — لتعميم مستهدف العامل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522122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51846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5184648"/>
            <a:ext cx="9198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الحالي والمستهدف لكل نوع وحدة — لتسعير ٦٨٩ وحدة و٥٧٢ محلاً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60527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568696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568696"/>
            <a:ext cx="9198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المحطة الفعلي لكل محطة — الحافز يُحتسب عليه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98932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952744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952744"/>
            <a:ext cx="9198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عرض طباعة علبة المناديل وسعر مساحتها الإعلانية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51460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880360"/>
            <a:ext cx="110276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31920"/>
            <a:ext cx="110276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التقسيم والمستهدف · إقفال ثغرة البيانات قبل أي إنفاق · تمويل الحملات من المعلن لا من هامش الوقود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502920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212080"/>
            <a:ext cx="110276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المحسوبة: ٤٬٣٢٧٬٨١٠ ريال سنوياً من رفع اللتر لكل زيارة في ٣٩ محطة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2026-08-25T19:31:37Z</dcterms:created>
  <dcterms:modified xsi:type="dcterms:W3CDTF">2026-08-25T19:31:37Z</dcterms:modified>
</cp:coreProperties>
</file>