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أغسطس ٢٠٢٦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تحليل المنافذ وخطة المبيعات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 محطة · ٥٥١ MLPA · خمس شرائح · مستهدف لكل محطة ووردية · باقات تأجير وحملات تُطلقها حالة مرصودة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كاش إن وناتج ١٠٫٩٦ مليون معاملة · أوامر التحميل · قائمة الدخل يوليو ٢٠٢٦ · سجل الوحدات · مسح المنافسين الميداني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الخلاصة التنفيذية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تقوله البيانات — وما نطلب إقراره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61872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مبيعات ٧ أشهر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61872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 حقيقي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ثابتة ٢٥ محطة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92608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قرارات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291840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BEEE0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544300" y="3291840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1" name="Text 29"/>
          <p:cNvSpPr/>
          <p:nvPr/>
        </p:nvSpPr>
        <p:spPr>
          <a:xfrm>
            <a:off x="11027664" y="34472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2670048" y="3364992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بمسارين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670048" y="3666744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ثم السلة — لا نطلب من العميل أن يعبّي أكثر مما يحتاج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6656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٣٬١٨٥ ألف ر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66928" y="4096512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544300" y="4096512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11027664" y="425196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2670048" y="4169664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إقفال ثغرة البيانات قبل الإنفاق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670048" y="4471416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لا تسجّل وسيلة الدفع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656" y="42793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١٨٣ مليون ر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66928" y="4901184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544300" y="4901184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3" name="Text 41"/>
          <p:cNvSpPr/>
          <p:nvPr/>
        </p:nvSpPr>
        <p:spPr>
          <a:xfrm>
            <a:off x="11027664" y="505663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2670048" y="4974336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تسعير المنتجات الثلاثة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2670048" y="5276088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إيجارات · مسح أسعار · جرد أسطح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76656" y="508406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نقاط بيع فعلية من ١ يناير إلى ٣١ يوليو ٢٠٢٦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الأول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أين نقف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· الاتجاه · قيمة اللتر · من يشتري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بالأرقام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 يناير إلى ٣١ يوليو ٢٠٢٦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50610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6102" y="1243584"/>
            <a:ext cx="2088490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57925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59754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59754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شامل الضريبة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71309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1309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7344461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62749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62749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36515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36515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0" name="Text 18"/>
          <p:cNvSpPr/>
          <p:nvPr/>
        </p:nvSpPr>
        <p:spPr>
          <a:xfrm>
            <a:off x="5109667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27955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معاملة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7955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٢٥٫٦ لتراً لكل واحدة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0172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01722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5" name="Text 23"/>
          <p:cNvSpPr/>
          <p:nvPr/>
        </p:nvSpPr>
        <p:spPr>
          <a:xfrm>
            <a:off x="287487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89316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9316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58368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٨٣٪ تغطية زمنية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8346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مزيج الوقود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127565" y="3200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66928" y="3493008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36" name="Shape 34"/>
          <p:cNvSpPr/>
          <p:nvPr/>
        </p:nvSpPr>
        <p:spPr>
          <a:xfrm>
            <a:off x="4161505" y="3493008"/>
            <a:ext cx="2801468" cy="1828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3200400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٤٣٫٨٪ من الإيراد · ٥٥٫٥٪ من المعاملات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127565" y="38770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0" name="Shape 38"/>
          <p:cNvSpPr/>
          <p:nvPr/>
        </p:nvSpPr>
        <p:spPr>
          <a:xfrm>
            <a:off x="4570852" y="4169664"/>
            <a:ext cx="2392121" cy="18288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41" name="Text 39"/>
          <p:cNvSpPr/>
          <p:nvPr/>
        </p:nvSpPr>
        <p:spPr>
          <a:xfrm>
            <a:off x="566928" y="3877056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٣٧٫٤٪ من الإيراد · ٣٦٫٠٪ من المعاملات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27565" y="45537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66928" y="4846320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4" name="Shape 42"/>
          <p:cNvSpPr/>
          <p:nvPr/>
        </p:nvSpPr>
        <p:spPr>
          <a:xfrm>
            <a:off x="5760517" y="4846320"/>
            <a:ext cx="1202456" cy="18288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566928" y="4553712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 من الإيراد · ٨٫٥٪ من المعاملات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845186" y="3163824"/>
            <a:ext cx="3749406" cy="2011680"/>
          </a:xfrm>
          <a:prstGeom prst="roundRect">
            <a:avLst>
              <a:gd name="adj" fmla="val 2273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91490" y="3273552"/>
            <a:ext cx="345679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عميل مختلف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0177272" y="37033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7991490" y="37216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المعاملات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177272" y="41605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991490" y="41788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الإيراد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177272" y="46177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 ريالاً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7991490" y="46360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 — ٢٫٨ ضعف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محطات لتراتها ناقصة في المصدر فاستُبعدت من حسابات اللتر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الاتجاه الحقيقي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قاعدة ثابتة من ٢٥ محطة بتغطية كاملة ٢١٢ يوماً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12924" y="3853252"/>
            <a:ext cx="605576" cy="82847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6475764" y="357893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٦٣٣٬٢٩٦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7576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36188" y="3989425"/>
            <a:ext cx="605576" cy="69230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499028" y="3715105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٦٢٤٬٥٣٦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9902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فبراير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59452" y="3522272"/>
            <a:ext cx="605576" cy="115945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4522292" y="324795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٦٥٤٬٥٨٨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22292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مارس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82716" y="3811266"/>
            <a:ext cx="605576" cy="870462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8" name="Text 16"/>
          <p:cNvSpPr/>
          <p:nvPr/>
        </p:nvSpPr>
        <p:spPr>
          <a:xfrm>
            <a:off x="3545556" y="3536946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٦٣٥٬٩٩٧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45556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أبريل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05980" y="2985464"/>
            <a:ext cx="605576" cy="1696264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1" name="Text 19"/>
          <p:cNvSpPr/>
          <p:nvPr/>
        </p:nvSpPr>
        <p:spPr>
          <a:xfrm>
            <a:off x="2568820" y="2711144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٦٨٩٬١٢١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68820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مايو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729244" y="2600217"/>
            <a:ext cx="605576" cy="2081511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4" name="Text 22"/>
          <p:cNvSpPr/>
          <p:nvPr/>
        </p:nvSpPr>
        <p:spPr>
          <a:xfrm>
            <a:off x="1592084" y="232589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٧١٣٬٩٠٤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9208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يونيو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52508" y="2133267"/>
            <a:ext cx="605576" cy="2548461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27" name="Text 25"/>
          <p:cNvSpPr/>
          <p:nvPr/>
        </p:nvSpPr>
        <p:spPr>
          <a:xfrm>
            <a:off x="615348" y="185894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٧٤٣٬٩٤٣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534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يوليو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681728"/>
            <a:ext cx="6837152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1261872"/>
            <a:ext cx="6837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55463" y="1280160"/>
            <a:ext cx="3639129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955463" y="1280160"/>
            <a:ext cx="3639129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3" name="Text 31"/>
          <p:cNvSpPr/>
          <p:nvPr/>
        </p:nvSpPr>
        <p:spPr>
          <a:xfrm>
            <a:off x="8028615" y="1426464"/>
            <a:ext cx="3492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8046903" y="2011680"/>
            <a:ext cx="345624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 ← يوليو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046903" y="2286000"/>
            <a:ext cx="34562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نفس المحطات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955463" y="2852928"/>
            <a:ext cx="36391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ومحطتان تسيران عكسها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955463" y="3200400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65191" y="3236976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0680192" y="323697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065191" y="3511296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٧–٨ فبراير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55463" y="3877056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65191" y="3913632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الشرايع MK019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680192" y="3913632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−٥٢٪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065191" y="4187952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٤–٥ فبراير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955463" y="4626864"/>
            <a:ext cx="3639129" cy="731520"/>
          </a:xfrm>
          <a:prstGeom prst="roundRect">
            <a:avLst>
              <a:gd name="adj" fmla="val 5000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65191" y="4718304"/>
            <a:ext cx="34196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 هابطة · ٨ مستقرة · ٩ نامية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065191" y="5010912"/>
            <a:ext cx="34196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٢١ محطة بتغطية كاملة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الخام مضلِّل — المحطات المغطّاة ارتفعت من ٣٩ إلى ٥٥ خلال الفترة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اللتر الواحد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سعر المضخة إلى الصافي — وما تحتمله الحملة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25296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71016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العتبة بالريال والربح بالهللة — والصرف بينهما سعرُ المضخة  ·  فهامش لتر البنزين ١٢٫٦٦ هللة ولتر الديزل ٤٫٤٧، والفاتورة الواحدة لا تُساوي نفسها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9202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بخمسين ريالاً — العتبة المعتمدة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21284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8204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9367852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المضخة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307500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الضريبة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141112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بـ٥٠ ريالاً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080760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لكل لتر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914372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مساهمة التعبئة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747985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بعد تشغيل المحطة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793668" y="221284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733316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المساهمة بعد الهدية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الهدية من المساهمة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66928" y="257860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428204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367852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٢٫١٩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307500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141112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٢٢٫٨٢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080760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١٢٫٦٦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914372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٢٫٨٩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747985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٠٫٨٠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793668" y="257860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733316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٢٫٢٧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٢١٪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2944368"/>
            <a:ext cx="11027664" cy="36576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428204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367852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٢٫٣٤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307500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٢٫٠٣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141112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٢١٫٣٧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080760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١٢٫٦٦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914372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٢٫٧١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3747985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٠٫٧٥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793668" y="294436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1733316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٢٫٠٩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66928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٢٣٪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66928" y="331012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428204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9367852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١٫٨٠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8307500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١٫٥٦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7141112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٢٧٫٨٤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080760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٤٫٤٧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914372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١٫٢٤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3747985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؜-١٫٣٠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2793668" y="331012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1733316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566928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٥٠٪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566928" y="3675888"/>
            <a:ext cx="11027664" cy="365760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428204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المرجّح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9367852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٢٫٢٠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307500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7141112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٢٢٫٧٢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6080760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١١٫٤٤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4914372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٢٫٦٨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3747985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٠٫٦٠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2793668" y="367588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1733316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٢٫٠٦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66928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٢٣٪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8040624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132064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٢٫٨٩ مقابل ١٫٢٤</a:t>
            </a:r>
            <a:endParaRPr lang="en-US" sz="2100" dirty="0"/>
          </a:p>
        </p:txBody>
      </p:sp>
      <p:sp>
        <p:nvSpPr>
          <p:cNvPr id="68" name="Text 66"/>
          <p:cNvSpPr/>
          <p:nvPr/>
        </p:nvSpPr>
        <p:spPr>
          <a:xfrm>
            <a:off x="8132064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مساهمة فاتورة الخمسين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8132064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 مقابل ديزل — الفاتورة نفسها والفارق ١٣٢٪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4303776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95216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 لتر بنزين</a:t>
            </a:r>
            <a:endParaRPr lang="en-US" sz="2100" dirty="0"/>
          </a:p>
        </p:txBody>
      </p:sp>
      <p:sp>
        <p:nvSpPr>
          <p:cNvPr id="72" name="Text 70"/>
          <p:cNvSpPr/>
          <p:nvPr/>
        </p:nvSpPr>
        <p:spPr>
          <a:xfrm>
            <a:off x="4395216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4395216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ومن الديزل ١٣٫٩ لتراً — ثلاثة أضعاف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566928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8368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٥٠٪</a:t>
            </a:r>
            <a:endParaRPr lang="en-US" sz="2100" dirty="0"/>
          </a:p>
        </p:txBody>
      </p:sp>
      <p:sp>
        <p:nvSpPr>
          <p:cNvPr id="76" name="Text 74"/>
          <p:cNvSpPr/>
          <p:nvPr/>
        </p:nvSpPr>
        <p:spPr>
          <a:xfrm>
            <a:off x="658368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الهدية من فاتورة ديزل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658368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مقابل ٢١٪ من فاتورة بنزين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المنتجين من انحدار ١٩ محطة على حصة ديزلها (R²=٠٫٥٦) ويسنده هيكل عمولتنا ٣ هللات بنزين و١٫٥ ديزل · وأقصى حصة ديزل مرصودة ٤٣٪ فرقم الديزل استقراء لا قياس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تكلفة اللتر الواحد — لا قيمته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نُخرجه من جيبنا لنبيع لتراً · قائمة الدخل يناير–يوليو ٢٠٢٦ · ١٤١ محطة و٦٦١٫٥ مليون لتر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أربع طبقات — وواحدة فقط بيدنا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756648" y="1481328"/>
            <a:ext cx="183794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408822" y="1481328"/>
            <a:ext cx="13478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ألف ريال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183526" y="1481328"/>
            <a:ext cx="12252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هللة/لتر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58230" y="1481328"/>
            <a:ext cx="12252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التكلفة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66928" y="1481328"/>
            <a:ext cx="539130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يملك قرارها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1847088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56648" y="1847088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شراء الوقود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408822" y="1847088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١٬١٣٣٬٩٠٦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183526" y="1847088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١٧١٫٤١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58230" y="1847088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٩٦٪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66928" y="1847088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ندفعه لأرامكو — لا نملك فيه قراراً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" y="2130552"/>
            <a:ext cx="11027664" cy="28346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56648" y="2130552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تشغيل المحطة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08822" y="2130552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٢٨٬٥٨٥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183526" y="2130552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٤٫٣٢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58230" y="2130552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٢٪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2130552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أجور ومرافق وصيانة — هنا وحدها تُضبط التكلفة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2414016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6648" y="2414016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بيع وتسويق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08822" y="2414016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٢٬٣٨٩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83526" y="2414016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٠٫٣٦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958230" y="2414016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66928" y="2414016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محمّل من المركز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66928" y="2697480"/>
            <a:ext cx="11027664" cy="2834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756648" y="2697480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عمومية وإدارية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408822" y="2697480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١١٬٦٨٤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183526" y="2697480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١٫٧٧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958230" y="2697480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١٪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66928" y="2697480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محمّل من المركز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2980944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756648" y="2980944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فوائد القروض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08822" y="2980944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٣٬٠٤٤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183526" y="2980944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٠٫٤٦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958230" y="2980944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٠٪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6928" y="2980944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محمّل من المركز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66928" y="3264408"/>
            <a:ext cx="11027664" cy="28346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56648" y="3264408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إجمالي التكلفة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08822" y="3264408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183526" y="3264408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١٧٨٫٣٢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958230" y="3264408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١٠٠٪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6928" y="3264408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مقابل سعر بيع محقَّق ١٧٧٫٤١ هللة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8040624" y="3511296"/>
            <a:ext cx="3553968" cy="1024128"/>
          </a:xfrm>
          <a:prstGeom prst="roundRect">
            <a:avLst>
              <a:gd name="adj" fmla="val 4464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132064" y="3584448"/>
            <a:ext cx="3371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١٧١٫٤١ هللة</a:t>
            </a:r>
            <a:endParaRPr lang="en-US" sz="1900" dirty="0"/>
          </a:p>
        </p:txBody>
      </p:sp>
      <p:sp>
        <p:nvSpPr>
          <p:cNvPr id="53" name="Text 51"/>
          <p:cNvSpPr/>
          <p:nvPr/>
        </p:nvSpPr>
        <p:spPr>
          <a:xfrm>
            <a:off x="8132064" y="3941064"/>
            <a:ext cx="3371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شراء اللتر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132064" y="418795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٩٦٪ من التكلفة — بلا قرار لنا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303776" y="3511296"/>
            <a:ext cx="3553968" cy="1024128"/>
          </a:xfrm>
          <a:prstGeom prst="roundRect">
            <a:avLst>
              <a:gd name="adj" fmla="val 4464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395216" y="3584448"/>
            <a:ext cx="3371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٤٫٣٢ هللة</a:t>
            </a:r>
            <a:endParaRPr lang="en-US" sz="1900" dirty="0"/>
          </a:p>
        </p:txBody>
      </p:sp>
      <p:sp>
        <p:nvSpPr>
          <p:cNvPr id="57" name="Text 55"/>
          <p:cNvSpPr/>
          <p:nvPr/>
        </p:nvSpPr>
        <p:spPr>
          <a:xfrm>
            <a:off x="4395216" y="3941064"/>
            <a:ext cx="3371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تشغيل المحطة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395216" y="418795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الوحيدة التي تُضبط — والأجور ٧٤٪ منها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66928" y="3511296"/>
            <a:ext cx="3553968" cy="1024128"/>
          </a:xfrm>
          <a:prstGeom prst="roundRect">
            <a:avLst>
              <a:gd name="adj" fmla="val 4464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8368" y="3584448"/>
            <a:ext cx="3371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؜-٠٫٨٤ هللة</a:t>
            </a:r>
            <a:endParaRPr lang="en-US" sz="1900" dirty="0"/>
          </a:p>
        </p:txBody>
      </p:sp>
      <p:sp>
        <p:nvSpPr>
          <p:cNvPr id="61" name="Text 59"/>
          <p:cNvSpPr/>
          <p:nvPr/>
        </p:nvSpPr>
        <p:spPr>
          <a:xfrm>
            <a:off x="658368" y="3941064"/>
            <a:ext cx="3371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اللتر — خسارة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658368" y="418795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التكلفة ١٧٨٫٣٢ والبيع ١٧٧٫٤١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566928" y="4608576"/>
            <a:ext cx="5734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والخسارة ليست موزَّعة — نموذج واحد يحملها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566928" y="4882896"/>
            <a:ext cx="5734385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65" name="Text 63"/>
          <p:cNvSpPr/>
          <p:nvPr/>
        </p:nvSpPr>
        <p:spPr>
          <a:xfrm>
            <a:off x="5154436" y="4882896"/>
            <a:ext cx="114687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النموذج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4523654" y="4882896"/>
            <a:ext cx="63078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3835528" y="4882896"/>
            <a:ext cx="6881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 لتر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3090058" y="4882896"/>
            <a:ext cx="7454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الهامش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2287244" y="4882896"/>
            <a:ext cx="80281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التشغيل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1541773" y="4882896"/>
            <a:ext cx="7454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المحمّل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566928" y="4882896"/>
            <a:ext cx="97484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الصافي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66928" y="5248656"/>
            <a:ext cx="5734385" cy="23774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154436" y="5248656"/>
            <a:ext cx="1146877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استثماري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4523654" y="5248656"/>
            <a:ext cx="63078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3835528" y="5248656"/>
            <a:ext cx="688126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٩١٫٨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3090058" y="5248656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١١٫٧٣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2287244" y="5248656"/>
            <a:ext cx="802814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١١٫٠٨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1541773" y="5248656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٤٫٦٦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566928" y="5248656"/>
            <a:ext cx="97484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+٢٫٩٧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566928" y="5486400"/>
            <a:ext cx="5734385" cy="23774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154436" y="5486400"/>
            <a:ext cx="1146877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إيجاري</a:t>
            </a:r>
            <a:endParaRPr lang="en-US" sz="950" dirty="0"/>
          </a:p>
        </p:txBody>
      </p:sp>
      <p:sp>
        <p:nvSpPr>
          <p:cNvPr id="82" name="Text 80"/>
          <p:cNvSpPr/>
          <p:nvPr/>
        </p:nvSpPr>
        <p:spPr>
          <a:xfrm>
            <a:off x="4523654" y="5486400"/>
            <a:ext cx="63078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</a:t>
            </a:r>
            <a:endParaRPr lang="en-US" sz="950" dirty="0"/>
          </a:p>
        </p:txBody>
      </p:sp>
      <p:sp>
        <p:nvSpPr>
          <p:cNvPr id="83" name="Text 81"/>
          <p:cNvSpPr/>
          <p:nvPr/>
        </p:nvSpPr>
        <p:spPr>
          <a:xfrm>
            <a:off x="3835528" y="5486400"/>
            <a:ext cx="688126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٧٧٫٧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3090058" y="5486400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١١٫٣١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2287244" y="5486400"/>
            <a:ext cx="802814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٥٫٦٣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1541773" y="5486400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٥٫٥١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566928" y="5486400"/>
            <a:ext cx="97484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−٩٫٠٦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566928" y="5724144"/>
            <a:ext cx="5734385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154436" y="5724144"/>
            <a:ext cx="1146877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تشغيلي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4523654" y="5724144"/>
            <a:ext cx="63078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</a:t>
            </a:r>
            <a:endParaRPr lang="en-US" sz="950" dirty="0"/>
          </a:p>
        </p:txBody>
      </p:sp>
      <p:sp>
        <p:nvSpPr>
          <p:cNvPr id="91" name="Text 89"/>
          <p:cNvSpPr/>
          <p:nvPr/>
        </p:nvSpPr>
        <p:spPr>
          <a:xfrm>
            <a:off x="3835528" y="5724144"/>
            <a:ext cx="688126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١٤١٫٢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3090058" y="5724144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١١٫٣٢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2287244" y="5724144"/>
            <a:ext cx="802814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٩٫٨٤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1541773" y="5724144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٣٫٦٤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566928" y="5724144"/>
            <a:ext cx="97484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−١٫٣٢</a:t>
            </a:r>
            <a:endParaRPr lang="en-US" sz="950" dirty="0"/>
          </a:p>
        </p:txBody>
      </p:sp>
      <p:sp>
        <p:nvSpPr>
          <p:cNvPr id="96" name="Shape 94"/>
          <p:cNvSpPr/>
          <p:nvPr/>
        </p:nvSpPr>
        <p:spPr>
          <a:xfrm>
            <a:off x="566928" y="5961888"/>
            <a:ext cx="5734385" cy="23774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154436" y="5961888"/>
            <a:ext cx="1146877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950" dirty="0"/>
          </a:p>
        </p:txBody>
      </p:sp>
      <p:sp>
        <p:nvSpPr>
          <p:cNvPr id="98" name="Text 96"/>
          <p:cNvSpPr/>
          <p:nvPr/>
        </p:nvSpPr>
        <p:spPr>
          <a:xfrm>
            <a:off x="4523654" y="5961888"/>
            <a:ext cx="63078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3835528" y="5961888"/>
            <a:ext cx="688126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٣٥٠٫٨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3090058" y="5961888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١٫١٨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2287244" y="5961888"/>
            <a:ext cx="802814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٠٫٠٤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1541773" y="5961888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٠٫٩٨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566928" y="5961888"/>
            <a:ext cx="97484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+٠٫١٧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6632143" y="4608576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③ وداخل التشغيل: العمالة — ومداها ٣٫٤ أضعاف</a:t>
            </a:r>
            <a:endParaRPr lang="en-US" sz="1250" dirty="0"/>
          </a:p>
        </p:txBody>
      </p:sp>
      <p:sp>
        <p:nvSpPr>
          <p:cNvPr id="105" name="Shape 103"/>
          <p:cNvSpPr/>
          <p:nvPr/>
        </p:nvSpPr>
        <p:spPr>
          <a:xfrm>
            <a:off x="6632143" y="4882896"/>
            <a:ext cx="4962449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6" name="Text 104"/>
          <p:cNvSpPr/>
          <p:nvPr/>
        </p:nvSpPr>
        <p:spPr>
          <a:xfrm>
            <a:off x="9907359" y="4882896"/>
            <a:ext cx="16872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850" dirty="0"/>
          </a:p>
        </p:txBody>
      </p:sp>
      <p:sp>
        <p:nvSpPr>
          <p:cNvPr id="107" name="Text 105"/>
          <p:cNvSpPr/>
          <p:nvPr/>
        </p:nvSpPr>
        <p:spPr>
          <a:xfrm>
            <a:off x="8914870" y="4882896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هللة/لتر</a:t>
            </a:r>
            <a:endParaRPr lang="en-US" sz="850" dirty="0"/>
          </a:p>
        </p:txBody>
      </p:sp>
      <p:sp>
        <p:nvSpPr>
          <p:cNvPr id="108" name="Text 106"/>
          <p:cNvSpPr/>
          <p:nvPr/>
        </p:nvSpPr>
        <p:spPr>
          <a:xfrm>
            <a:off x="8120878" y="4882896"/>
            <a:ext cx="79399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عمّال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6632143" y="4882896"/>
            <a:ext cx="148873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للعامل</a:t>
            </a:r>
            <a:endParaRPr lang="en-US" sz="850" dirty="0"/>
          </a:p>
        </p:txBody>
      </p:sp>
      <p:sp>
        <p:nvSpPr>
          <p:cNvPr id="110" name="Shape 108"/>
          <p:cNvSpPr/>
          <p:nvPr/>
        </p:nvSpPr>
        <p:spPr>
          <a:xfrm>
            <a:off x="6632143" y="5248656"/>
            <a:ext cx="4962449" cy="23774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907359" y="5248656"/>
            <a:ext cx="1687233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حائل العريفي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8914870" y="5248656"/>
            <a:ext cx="99249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٨٫٧٩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8120878" y="5248656"/>
            <a:ext cx="79399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950" dirty="0"/>
          </a:p>
        </p:txBody>
      </p:sp>
      <p:sp>
        <p:nvSpPr>
          <p:cNvPr id="114" name="Text 112"/>
          <p:cNvSpPr/>
          <p:nvPr/>
        </p:nvSpPr>
        <p:spPr>
          <a:xfrm>
            <a:off x="6632143" y="5248656"/>
            <a:ext cx="148873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٣٩٬٨١٤</a:t>
            </a:r>
            <a:endParaRPr lang="en-US" sz="950" dirty="0"/>
          </a:p>
        </p:txBody>
      </p:sp>
      <p:sp>
        <p:nvSpPr>
          <p:cNvPr id="115" name="Shape 113"/>
          <p:cNvSpPr/>
          <p:nvPr/>
        </p:nvSpPr>
        <p:spPr>
          <a:xfrm>
            <a:off x="6632143" y="5486400"/>
            <a:ext cx="4962449" cy="23774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9907359" y="5486400"/>
            <a:ext cx="1687233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المودة الروابي</a:t>
            </a:r>
            <a:endParaRPr lang="en-US" sz="950" dirty="0"/>
          </a:p>
        </p:txBody>
      </p:sp>
      <p:sp>
        <p:nvSpPr>
          <p:cNvPr id="117" name="Text 115"/>
          <p:cNvSpPr/>
          <p:nvPr/>
        </p:nvSpPr>
        <p:spPr>
          <a:xfrm>
            <a:off x="8914870" y="5486400"/>
            <a:ext cx="99249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٦٫١٠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8120878" y="5486400"/>
            <a:ext cx="79399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950" dirty="0"/>
          </a:p>
        </p:txBody>
      </p:sp>
      <p:sp>
        <p:nvSpPr>
          <p:cNvPr id="119" name="Text 117"/>
          <p:cNvSpPr/>
          <p:nvPr/>
        </p:nvSpPr>
        <p:spPr>
          <a:xfrm>
            <a:off x="6632143" y="5486400"/>
            <a:ext cx="148873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٥٧٬٣٦٤</a:t>
            </a:r>
            <a:endParaRPr lang="en-US" sz="950" dirty="0"/>
          </a:p>
        </p:txBody>
      </p:sp>
      <p:sp>
        <p:nvSpPr>
          <p:cNvPr id="120" name="Shape 118"/>
          <p:cNvSpPr/>
          <p:nvPr/>
        </p:nvSpPr>
        <p:spPr>
          <a:xfrm>
            <a:off x="6632143" y="5724144"/>
            <a:ext cx="4962449" cy="23774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9907359" y="5724144"/>
            <a:ext cx="1687233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122" name="Text 120"/>
          <p:cNvSpPr/>
          <p:nvPr/>
        </p:nvSpPr>
        <p:spPr>
          <a:xfrm>
            <a:off x="8914870" y="5724144"/>
            <a:ext cx="99249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٢٫٥٦</a:t>
            </a:r>
            <a:endParaRPr lang="en-US" sz="950" dirty="0"/>
          </a:p>
        </p:txBody>
      </p:sp>
      <p:sp>
        <p:nvSpPr>
          <p:cNvPr id="123" name="Text 121"/>
          <p:cNvSpPr/>
          <p:nvPr/>
        </p:nvSpPr>
        <p:spPr>
          <a:xfrm>
            <a:off x="8120878" y="5724144"/>
            <a:ext cx="79399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</a:t>
            </a:r>
            <a:endParaRPr lang="en-US" sz="950" dirty="0"/>
          </a:p>
        </p:txBody>
      </p:sp>
      <p:sp>
        <p:nvSpPr>
          <p:cNvPr id="124" name="Text 122"/>
          <p:cNvSpPr/>
          <p:nvPr/>
        </p:nvSpPr>
        <p:spPr>
          <a:xfrm>
            <a:off x="6632143" y="5724144"/>
            <a:ext cx="148873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١٣٦٬٦٠٤</a:t>
            </a:r>
            <a:endParaRPr lang="en-US" sz="950" dirty="0"/>
          </a:p>
        </p:txBody>
      </p:sp>
      <p:sp>
        <p:nvSpPr>
          <p:cNvPr id="125" name="Shape 123"/>
          <p:cNvSpPr/>
          <p:nvPr/>
        </p:nvSpPr>
        <p:spPr>
          <a:xfrm>
            <a:off x="6632143" y="5961888"/>
            <a:ext cx="4962449" cy="23774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907359" y="5961888"/>
            <a:ext cx="1687233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الجمعية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8914870" y="5961888"/>
            <a:ext cx="99249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٢٫٥٥</a:t>
            </a:r>
            <a:endParaRPr lang="en-US" sz="950" dirty="0"/>
          </a:p>
        </p:txBody>
      </p:sp>
      <p:sp>
        <p:nvSpPr>
          <p:cNvPr id="128" name="Text 126"/>
          <p:cNvSpPr/>
          <p:nvPr/>
        </p:nvSpPr>
        <p:spPr>
          <a:xfrm>
            <a:off x="8120878" y="5961888"/>
            <a:ext cx="79399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950" dirty="0"/>
          </a:p>
        </p:txBody>
      </p:sp>
      <p:sp>
        <p:nvSpPr>
          <p:cNvPr id="129" name="Text 127"/>
          <p:cNvSpPr/>
          <p:nvPr/>
        </p:nvSpPr>
        <p:spPr>
          <a:xfrm>
            <a:off x="6632143" y="5961888"/>
            <a:ext cx="148873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١٣٧٬١٤٤</a:t>
            </a:r>
            <a:endParaRPr lang="en-US" sz="950" dirty="0"/>
          </a:p>
        </p:txBody>
      </p:sp>
      <p:sp>
        <p:nvSpPr>
          <p:cNvPr id="130" name="Text 128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⚠ الأجور في التقرير = عدد العمّال × ٣٬٥٠٠ ريالاً للربع بلا استثناء واحد في ٢١ محطة — أي ١٬١٦٧ ريالاً شهرياً للعامل. هذا معدَّل معياري لا كشف رواتب فعلي، فتكلفة العمالة الحقيقية أعلى، وكل رقم تحتها يتحرّك معها.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أين تُخسر المحطة — ليس على الوقود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خاسرة بـ٣٬٦٩١ ألف ريال · من تقرير المالية يوليو ٢٠٢٦ (ص١١)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07008"/>
            <a:ext cx="2633472" cy="1335024"/>
          </a:xfrm>
          <a:prstGeom prst="roundRect">
            <a:avLst>
              <a:gd name="adj" fmla="val 3425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07008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5331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38528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خاسرة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12848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١٨٩ قائمة دخل محطة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07008"/>
            <a:ext cx="2633472" cy="1335024"/>
          </a:xfrm>
          <a:prstGeom prst="roundRect">
            <a:avLst>
              <a:gd name="adj" fmla="val 3425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07008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5331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38528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منها إيجاري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12848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تحمل ٦٨٪ من الخسارة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07008"/>
            <a:ext cx="2633472" cy="1335024"/>
          </a:xfrm>
          <a:prstGeom prst="roundRect">
            <a:avLst>
              <a:gd name="adj" fmla="val 3425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07008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5331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٦٫٠٦٪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38528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وقود الخاسرة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12848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وسيط — والرابحة ٥٫٩٤٪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07008"/>
            <a:ext cx="2633472" cy="1335024"/>
          </a:xfrm>
          <a:prstGeom prst="roundRect">
            <a:avLst>
              <a:gd name="adj" fmla="val 3425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07008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5331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٣٬٦٩١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38528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ألف ريال خسارة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12848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ومنها ٢٬٤٩٦ من الإيجاري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4320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هامش الوقود لا يفرّق بين رابحة وخاسرة — فالخسارة ليست فيه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054096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9168506" y="3054096"/>
            <a:ext cx="242608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المجموعة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286293" y="3054096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962973" y="3054096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وسيط هامش الوقود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19100" y="3054096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المدى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095780" y="3054096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الدخل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66928" y="3054096"/>
            <a:ext cx="35288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الشاهد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" y="3419856"/>
            <a:ext cx="11027664" cy="457200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68506" y="3419856"/>
            <a:ext cx="2426086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عشر محطات ربحاً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286293" y="3419856"/>
            <a:ext cx="882213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962973" y="3419856"/>
            <a:ext cx="1323320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٥٫٩٤٪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419100" y="3419856"/>
            <a:ext cx="1543873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٤٫١٦٪ إلى ٦٫٩١٪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095780" y="3419856"/>
            <a:ext cx="1323320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+١٢٬٢٨٢ ألف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66928" y="3419856"/>
            <a:ext cx="3528852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 MK003 وحدها ٥٬٠٥٢ ألفاً بهامش صافٍ ١٢٫٥٢٪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6928" y="3877056"/>
            <a:ext cx="11027664" cy="457200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68506" y="3877056"/>
            <a:ext cx="2426086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المحطات الخاسرة — محطاتنا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286293" y="3877056"/>
            <a:ext cx="882213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962973" y="3877056"/>
            <a:ext cx="1323320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٦٫٠٦٪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419100" y="3877056"/>
            <a:ext cx="1543873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٣٫٩٧٪ إلى ٦٫٦٨٪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095780" y="3877056"/>
            <a:ext cx="1323320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−٢٬٥٧٧ ألف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877056"/>
            <a:ext cx="3528852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عشر من اثنتي عشرة هامشها فوق ٥٪ — وكلها تخسر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66928" y="44805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بل في عقد الإيجار — والتقرير يقولها صراحةً</a:t>
            </a:r>
            <a:endParaRPr lang="en-US" sz="1350" dirty="0"/>
          </a:p>
        </p:txBody>
      </p:sp>
      <p:sp>
        <p:nvSpPr>
          <p:cNvPr id="51" name="Shape 49"/>
          <p:cNvSpPr/>
          <p:nvPr/>
        </p:nvSpPr>
        <p:spPr>
          <a:xfrm>
            <a:off x="6190488" y="4791456"/>
            <a:ext cx="5404104" cy="1261872"/>
          </a:xfrm>
          <a:prstGeom prst="roundRect">
            <a:avLst>
              <a:gd name="adj" fmla="val 3623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36792" y="486460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النموذج الإيجاري — الحساب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6373368" y="5175504"/>
            <a:ext cx="324246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الدخل الإيجاري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857232" y="517550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+١٠٬٨٣٤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373368" y="5390388"/>
            <a:ext cx="324246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إهلاك حق الاستخدام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9857232" y="53903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−٨٬٨٧٤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373368" y="5605272"/>
            <a:ext cx="324246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تكلفة التمويل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9857232" y="560527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−٨٬١٦٥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373368" y="5820156"/>
            <a:ext cx="324246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مساهمة الإيجار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9857232" y="582015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−٧٬١٤١ ألف ريال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566928" y="4791456"/>
            <a:ext cx="5404104" cy="1261872"/>
          </a:xfrm>
          <a:prstGeom prst="roundRect">
            <a:avLst>
              <a:gd name="adj" fmla="val 3623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3232" y="486460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وما يترتّب على ذلك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713232" y="5175504"/>
            <a:ext cx="51114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محطةٌ هامش وقودها ٦٫٦٨٪ وتخسر ١٫٨٠٪ لا تحتاج حملة ولا لتراً إضافياً — تحتاج إعادة تفاوض على عقدها أو خروجاً منه. وكل ريال يُنفق عليها تسويقياً يُنفق على مشكلة ليست تسويقية.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 شاهدٌ مزدوج: هامشه ٦٫٦٨٪ — الأعلى بين الخاسرة — وصافيه −١٫٨٠٪ · وقد شخّصناه تغييرَ مدخلٍ لا منافسة، فالحجم لا يكفي ثوابته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ربحية محطات التشغيل — الربع الثاني ٢٠٢٦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 محطة في ٦ مناطق · مقيس لا مقدَّر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50610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6102" y="1243584"/>
            <a:ext cx="2088490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57925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٩٧٫٠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59754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مبيعات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59754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+٨٫٥٪ عن الربع الأول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71309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1309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7344461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٥٦٫٤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62749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لتر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62749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+٧٫٤٪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36515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36515" y="1243584"/>
            <a:ext cx="2088490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5109667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٣٫٤٢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27955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صافي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7955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بكلفة التقرير — وبكلفة القائمة يصير سالباً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0172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01722" y="1243584"/>
            <a:ext cx="2088490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287487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٣٫٢٧٪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89316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صافي الربح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9316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أساسٍ يُنقص كلفة العمالة الثلثين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1243584"/>
            <a:ext cx="2088490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٥٠٨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58368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عاملاً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 · ربح العامل +٦٫٧٪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79806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وهذا التقرير لا يصلح مرجعاً للكلفة — قائمة الدخل تقول غير ذلك للمحطات نفسها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66928" y="3108960"/>
            <a:ext cx="749881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5" name="Text 33"/>
          <p:cNvSpPr/>
          <p:nvPr/>
        </p:nvSpPr>
        <p:spPr>
          <a:xfrm>
            <a:off x="6565977" y="3108960"/>
            <a:ext cx="149976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البند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516144" y="3108960"/>
            <a:ext cx="104983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تقرير الربع الثاني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541298" y="3108960"/>
            <a:ext cx="97484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 الدخل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566453" y="3108960"/>
            <a:ext cx="97484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66928" y="3108960"/>
            <a:ext cx="299952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66928" y="3474720"/>
            <a:ext cx="7498812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65977" y="3474720"/>
            <a:ext cx="1499762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المساهمة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516144" y="3474720"/>
            <a:ext cx="1049834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١١٫٠٩ هللة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541298" y="3474720"/>
            <a:ext cx="97484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١١٫٤٤ هللة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3566453" y="3474720"/>
            <a:ext cx="97484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+٠٫٣٥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66928" y="3474720"/>
            <a:ext cx="299952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متقاربان — لا خلاف على الهامش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66928" y="3931920"/>
            <a:ext cx="7498812" cy="457200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65977" y="3931920"/>
            <a:ext cx="1499762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مصاريف تشغيل المحطة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516144" y="3931920"/>
            <a:ext cx="1049834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٤٫٨٦ هللة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541298" y="3931920"/>
            <a:ext cx="97484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٩٫١٥ هللة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3566453" y="3931920"/>
            <a:ext cx="97484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٢٫٠٢ ضعفاً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66928" y="3931920"/>
            <a:ext cx="299952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التقرير يسعّر الأجر ٣٬٥٠٠ ر «للربع» — وهو أجر شهري طُبِّق مرة بدل ثلاث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66928" y="4389120"/>
            <a:ext cx="7498812" cy="4572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65977" y="4389120"/>
            <a:ext cx="1499762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الصافي بعد التشغيل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5516144" y="4389120"/>
            <a:ext cx="1049834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٦٫٢٣ هللة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4541298" y="4389120"/>
            <a:ext cx="97484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٢٫٢٨ هللة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3566453" y="4389120"/>
            <a:ext cx="97484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٢٫٧ ضعفاً تفاؤلاً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566928" y="4389120"/>
            <a:ext cx="299952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والقائمة المالية هي المرجع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8396569" y="3108960"/>
            <a:ext cx="3198023" cy="1682496"/>
          </a:xfrm>
          <a:prstGeom prst="roundRect">
            <a:avLst>
              <a:gd name="adj" fmla="val 2717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524585" y="3200400"/>
            <a:ext cx="294199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ويبقى صالحاً لشيء واحد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8524585" y="3511296"/>
            <a:ext cx="2941991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المقارنة النسبية بين المحطات: كلفة العمالة لكل لتر تمتد من ٢٫٥٥ هللة في الجمعية إلى ٨٫٧٩ في حائل العريفي — ٣٫٤ أضعاف. الترتيب صحيح وإن كان المستوى ناقصاً.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566928" y="502920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62" name="Text 60"/>
          <p:cNvSpPr/>
          <p:nvPr/>
        </p:nvSpPr>
        <p:spPr>
          <a:xfrm>
            <a:off x="749808" y="507492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أساس مماثل (٢٤ محطة) النمو +١٫٠٪ فقط — و+١١٨٫٥ ألف من الجديدتين «القسوم» و«مدخل محايل»</a:t>
            </a:r>
            <a:endParaRPr lang="en-US" sz="1250" dirty="0"/>
          </a:p>
        </p:txBody>
      </p:sp>
      <p:sp>
        <p:nvSpPr>
          <p:cNvPr id="63" name="Text 61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 محطة تحسّنت بـ+٣٠٩٫٨ ألف و١١ تراجعت بـ−٢٧٦٫٧ ألف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هيكل العمولة — أكبر رقم في الخطة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يحتاج حملة ولا لتراً إضافياً · تفاوض عقود فقط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8947953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العقد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463" y="1243584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21867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الربع الثاني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77994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درب الفعلية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23844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بالعمولة المعيارية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00524" y="1243584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الفجوة ربعياً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الفجوة سنوياً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47953" y="1609344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ثابتة من الصافي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955463" y="1609344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21867" y="1609344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77994" y="1609344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٢٧٦٬٤٧٦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23844" y="1609344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٦١٠٬٠٧٠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00524" y="1609344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؜-٣٣٣٬٥٩٤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1609344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؜-١٬٣٣٤٬٣٧٧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47953" y="2029968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دون المعياري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955463" y="2029968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21867" y="2029968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١٠٫١م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77994" y="2029968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٢٠١٬٦٤٦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323844" y="2029968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٢٧٣٬٤٩١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000524" y="2029968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؜-٧١٬٨٤٥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2029968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؜-٢٨٧٬٣٧٨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47953" y="2450592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معيارية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955463" y="2450592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21867" y="2450592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١٨٫٦م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77994" y="2450592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٤٨٩٬٦٥٤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323844" y="2450592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٤٩٠٬٩٧٩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000524" y="2450592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؜-١٬٣٢٥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66928" y="2450592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؜-٥٬٣٠٠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947953" y="2871216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أعلى من المعياري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955463" y="2871216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21867" y="2871216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٤٫٧م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977994" y="2871216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٢٤٠٬٦٩٤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323844" y="2871216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١١٧٬١٤٨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2000524" y="2871216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+١٢٣٬٥٤٦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66928" y="2871216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+٤٩٤٬١٨٢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47953" y="3291840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7955463" y="3291840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521867" y="3291840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٥٦٫٤م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977994" y="3291840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١٬٢٠٨٬٤٧٠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3323844" y="3291840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١٬٤٩١٬٦٨٨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2000524" y="3291840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؜-٢٨٣٬٢١٨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" y="3291840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؜-١٬١٣٢٬٨٧٢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66928" y="380390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 تخسر النسبة الثابتة — الدليل من محطة واحدة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8040624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168640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بريدة القصيم</a:t>
            </a:r>
            <a:endParaRPr lang="en-US" sz="1350" dirty="0"/>
          </a:p>
        </p:txBody>
      </p:sp>
      <p:sp>
        <p:nvSpPr>
          <p:cNvPr id="59" name="Text 57"/>
          <p:cNvSpPr/>
          <p:nvPr/>
        </p:nvSpPr>
        <p:spPr>
          <a:xfrm>
            <a:off x="8168640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النسبة الثابتة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168640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الكميات +٣٫٤٪ · وحصة درب −٥٥٪. المصاريف قفزت ٤١٪ وأبرزها الكهرباء من ٣٬٨٠٠ إلى ٢٣٬٥٠٠ — فدفعنا فاتورة المالك.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303776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431792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حائل العريفي</a:t>
            </a:r>
            <a:endParaRPr lang="en-US" sz="1350" dirty="0"/>
          </a:p>
        </p:txBody>
      </p:sp>
      <p:sp>
        <p:nvSpPr>
          <p:cNvPr id="63" name="Text 61"/>
          <p:cNvSpPr/>
          <p:nvPr/>
        </p:nvSpPr>
        <p:spPr>
          <a:xfrm>
            <a:off x="4431792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العمولة المعيارية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431792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العمولة ٢٠٬٤١١ تتجاوز الربح التشغيلي ٦٬٥٢١ — فصافي المالك سالب في الربعين. عقد غير مستدام.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566928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94944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الذكرى الخالدة</a:t>
            </a:r>
            <a:endParaRPr lang="en-US" sz="1350" dirty="0"/>
          </a:p>
        </p:txBody>
      </p:sp>
      <p:sp>
        <p:nvSpPr>
          <p:cNvPr id="67" name="Text 65"/>
          <p:cNvSpPr/>
          <p:nvPr/>
        </p:nvSpPr>
        <p:spPr>
          <a:xfrm>
            <a:off x="694944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٠٫٠١٥ / ٠٫٠٠٥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94944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نصف المعياري على ٣٫٨٦ مليون لتر — أكبر محطة بأدنى عمولة في الشبكة. ٢١٩٬٤٨٥ ريالاً سنوياً.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566928" y="550468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70" name="Text 68"/>
          <p:cNvSpPr/>
          <p:nvPr/>
        </p:nvSpPr>
        <p:spPr>
          <a:xfrm>
            <a:off x="749808" y="555040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درب الحقيقية ١٬٢٠٨٬٤٧٠ ريالاً (٣٥٫٤٪) لا ٩٦٧٬٧٧٧ (٢٨٫٣٪) — لأن عمولة ثلاث محطات مقيَّدة تحت «نسبة المالك»</a:t>
            </a:r>
            <a:endParaRPr lang="en-US" sz="1250" dirty="0"/>
          </a:p>
        </p:txBody>
      </p:sp>
      <p:sp>
        <p:nvSpPr>
          <p:cNvPr id="71" name="Text 6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المقارنة بالعمولة المعيارية ٠٫٠٣ بنزين و٠٫٠١٥ ديزل · وحصص الديزل من بيانات نقاط البيع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يشتري منّا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أربعة عملاء داخل نفس المحطة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74836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74836" y="1243584"/>
            <a:ext cx="2619756" cy="493776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47988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066276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٥٥٫٥٪ من المعاملات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066276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٤٥٫١ ريالاً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066276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084564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الأكبر عدداً والأصغر سلة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243584"/>
            <a:ext cx="2619756" cy="493776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7" name="Text 15"/>
          <p:cNvSpPr/>
          <p:nvPr/>
        </p:nvSpPr>
        <p:spPr>
          <a:xfrm>
            <a:off x="6245352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63640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٣٦٫٠٪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63640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٥٩٫٥ ريالاً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263640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81928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قدرة إنفاق أعلى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69564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69564" y="1243584"/>
            <a:ext cx="2619756" cy="49377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3442716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الديزل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461004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461004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١٢٦٫٣ ريالاً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461004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79292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١٩٪ من الإيراد — بالتعاقد لا بالحملة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1243584"/>
            <a:ext cx="2619756" cy="493776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رقمية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58368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٠٫٧٪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58368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١٤٩–١٧٢ ريالاً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58368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76656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فاتورة وأقل حصة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931920"/>
            <a:ext cx="11027664" cy="1188720"/>
          </a:xfrm>
          <a:prstGeom prst="roundRect">
            <a:avLst>
              <a:gd name="adj" fmla="val 384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9808" y="4041648"/>
            <a:ext cx="106619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 من الإيراد بلا هوية عميل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49808" y="4389120"/>
            <a:ext cx="106619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٢٢٦ مليون ريال «وسيلة دفع غير محددة» · ١٨ محطة لا تسجّلها إطلاقاً بإيراد ١٨٣ مليوناً · التفعيل يسبق الإنفاق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محفظة كاش إن: ٣١٨ ريالاً و٨ عمليات في سبعة أشهر — قناة غير مفعّلة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الشركات — خطة التعاقد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محطة قائمة صيد · وعملتان للدفع: هللة أو خدمة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 مليون ريال ديزل يُشترى نقداً أو بالبطاقة — ٤٥٫٢ مليون لتر بلا تعاقد · هامشها ٥٬١٦٩٬٠٦٠ ريال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883664"/>
            <a:ext cx="61754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قائمة الصيد — أعلى ١٠ محطات ديزلاً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176272"/>
            <a:ext cx="617549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198547" y="2176272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45370" y="2176272"/>
            <a:ext cx="65317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4674" y="2176272"/>
            <a:ext cx="8906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060877" y="2176272"/>
            <a:ext cx="59379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حصته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288940" y="2176272"/>
            <a:ext cx="77193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تطبيقات الأسطول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576383" y="2176272"/>
            <a:ext cx="71255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خدمة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2176272"/>
            <a:ext cx="100945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العملة الممكنة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2542032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98547" y="2542032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45370" y="2542032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4674" y="2542032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٥٩٬٨٢٦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60877" y="2542032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٧٠٪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88940" y="2542032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٣٫٤٪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76383" y="2542032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2542032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2848356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98547" y="2848356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45370" y="2848356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4674" y="2848356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٤٢٬٨٧٩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060877" y="2848356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288940" y="2848356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٢٫٨٪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576383" y="2848356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2848356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154680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98547" y="3154680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45370" y="3154680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654674" y="3154680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٣٤٬١١٤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060877" y="3154680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288940" y="3154680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٤٫٣٪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576383" y="3154680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6928" y="3154680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3461004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98547" y="3461004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45370" y="3461004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654674" y="3461004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٢٢٬١٢٩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060877" y="3461004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2288940" y="3461004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٥٫٦٪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576383" y="3461004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6928" y="3461004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66928" y="3767328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98547" y="3767328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545370" y="3767328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654674" y="3767328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١٩٬٥٢٧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3060877" y="3767328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2288940" y="3767328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١٫٣٪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1576383" y="3767328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66928" y="3767328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66928" y="4073652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98547" y="4073652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545370" y="4073652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654674" y="4073652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١٥٬٥١٣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060877" y="4073652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2288940" y="4073652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576383" y="4073652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566928" y="4073652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66928" y="4379976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98547" y="4379976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خليص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45370" y="4379976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MK014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3654674" y="4379976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١٤٬٩٩٤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060877" y="4379976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٦٣٪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288940" y="4379976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٢٦٫٥٪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1576383" y="4379976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566928" y="4379976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566928" y="4686300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198547" y="4686300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السيل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4545370" y="4686300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MK054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3654674" y="4686300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١٣٬١٥٩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3060877" y="4686300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2288940" y="4686300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١٫٧٪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1576383" y="4686300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66928" y="4686300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66928" y="4992624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198547" y="4992624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4545370" y="4992624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3654674" y="4992624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١٢٬٤٣٨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3060877" y="4992624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٣٨٪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2288940" y="4992624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1576383" y="4992624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992624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5298948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198547" y="5298948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4545370" y="5298948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3654674" y="5298948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٩٬٠٤٩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3060877" y="5298948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2288940" y="5298948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٠٫٦٪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1576383" y="5298948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566928" y="5298948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073250" y="1883664"/>
            <a:ext cx="45213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بأي عملة ندفع</a:t>
            </a:r>
            <a:endParaRPr lang="en-US" sz="1350" dirty="0"/>
          </a:p>
        </p:txBody>
      </p:sp>
      <p:sp>
        <p:nvSpPr>
          <p:cNvPr id="100" name="Shape 98"/>
          <p:cNvSpPr/>
          <p:nvPr/>
        </p:nvSpPr>
        <p:spPr>
          <a:xfrm>
            <a:off x="7073250" y="2176272"/>
            <a:ext cx="452134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1" name="Text 99"/>
          <p:cNvSpPr/>
          <p:nvPr/>
        </p:nvSpPr>
        <p:spPr>
          <a:xfrm>
            <a:off x="10057336" y="2176272"/>
            <a:ext cx="153725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الخصم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8429652" y="2176272"/>
            <a:ext cx="1627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يبقى من الصافي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7073250" y="2176272"/>
            <a:ext cx="13564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نتنازل عنه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7073250" y="2542032"/>
            <a:ext cx="4521342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057336" y="2542032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 هللة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8429652" y="2542032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١٠٫٤٤ هللة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7073250" y="2542032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٩٪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7073250" y="2852928"/>
            <a:ext cx="4521342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057336" y="2852928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هللة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8429652" y="2852928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٩٫٤٤ هللة</a:t>
            </a:r>
            <a:endParaRPr lang="en-US" sz="1050" dirty="0"/>
          </a:p>
        </p:txBody>
      </p:sp>
      <p:sp>
        <p:nvSpPr>
          <p:cNvPr id="111" name="Text 109"/>
          <p:cNvSpPr/>
          <p:nvPr/>
        </p:nvSpPr>
        <p:spPr>
          <a:xfrm>
            <a:off x="7073250" y="2852928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١٧٪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7073250" y="3163824"/>
            <a:ext cx="4521342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0057336" y="3163824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هللة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8429652" y="3163824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٨٫٤٤ هللة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7073250" y="3163824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٢٦٪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7073250" y="3474720"/>
            <a:ext cx="4521342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0057336" y="3474720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هللة</a:t>
            </a:r>
            <a:endParaRPr lang="en-US" sz="1050" dirty="0"/>
          </a:p>
        </p:txBody>
      </p:sp>
      <p:sp>
        <p:nvSpPr>
          <p:cNvPr id="118" name="Text 116"/>
          <p:cNvSpPr/>
          <p:nvPr/>
        </p:nvSpPr>
        <p:spPr>
          <a:xfrm>
            <a:off x="8429652" y="3474720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٦٫٤٤ هللة</a:t>
            </a:r>
            <a:endParaRPr lang="en-US" sz="1050" dirty="0"/>
          </a:p>
        </p:txBody>
      </p:sp>
      <p:sp>
        <p:nvSpPr>
          <p:cNvPr id="119" name="Text 117"/>
          <p:cNvSpPr/>
          <p:nvPr/>
        </p:nvSpPr>
        <p:spPr>
          <a:xfrm>
            <a:off x="7073250" y="3474720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050" dirty="0"/>
          </a:p>
        </p:txBody>
      </p:sp>
      <p:sp>
        <p:nvSpPr>
          <p:cNvPr id="120" name="Text 118"/>
          <p:cNvSpPr/>
          <p:nvPr/>
        </p:nvSpPr>
        <p:spPr>
          <a:xfrm>
            <a:off x="7073250" y="3785616"/>
            <a:ext cx="452134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أسطول نموذجي: ٢٠ شاحنة · ١٦٬٠٠٠ لتر شهرياً · صافيه لنا ١٬١٣٦ ريالاً</a:t>
            </a:r>
            <a:endParaRPr lang="en-US" sz="1050" dirty="0"/>
          </a:p>
        </p:txBody>
      </p:sp>
      <p:sp>
        <p:nvSpPr>
          <p:cNvPr id="121" name="Shape 119"/>
          <p:cNvSpPr/>
          <p:nvPr/>
        </p:nvSpPr>
        <p:spPr>
          <a:xfrm>
            <a:off x="9416217" y="4078224"/>
            <a:ext cx="2178375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9489369" y="4142232"/>
            <a:ext cx="2032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٢ هللة</a:t>
            </a:r>
            <a:endParaRPr lang="en-US" sz="1300" dirty="0"/>
          </a:p>
        </p:txBody>
      </p:sp>
      <p:sp>
        <p:nvSpPr>
          <p:cNvPr id="123" name="Text 121"/>
          <p:cNvSpPr/>
          <p:nvPr/>
        </p:nvSpPr>
        <p:spPr>
          <a:xfrm>
            <a:off x="9489369" y="4443984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كلفتها علينا</a:t>
            </a:r>
            <a:endParaRPr lang="en-US" sz="900" dirty="0"/>
          </a:p>
        </p:txBody>
      </p:sp>
      <p:sp>
        <p:nvSpPr>
          <p:cNvPr id="124" name="Text 122"/>
          <p:cNvSpPr/>
          <p:nvPr/>
        </p:nvSpPr>
        <p:spPr>
          <a:xfrm>
            <a:off x="9489369" y="4581144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 ر</a:t>
            </a:r>
            <a:endParaRPr lang="en-US" sz="1200" dirty="0"/>
          </a:p>
        </p:txBody>
      </p:sp>
      <p:sp>
        <p:nvSpPr>
          <p:cNvPr id="125" name="Text 123"/>
          <p:cNvSpPr/>
          <p:nvPr/>
        </p:nvSpPr>
        <p:spPr>
          <a:xfrm>
            <a:off x="9489369" y="4773168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للعميل</a:t>
            </a:r>
            <a:endParaRPr lang="en-US" sz="900" dirty="0"/>
          </a:p>
        </p:txBody>
      </p:sp>
      <p:sp>
        <p:nvSpPr>
          <p:cNvPr id="126" name="Text 124"/>
          <p:cNvSpPr/>
          <p:nvPr/>
        </p:nvSpPr>
        <p:spPr>
          <a:xfrm>
            <a:off x="9489369" y="4910328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 ر</a:t>
            </a:r>
            <a:endParaRPr lang="en-US" sz="1200" dirty="0"/>
          </a:p>
        </p:txBody>
      </p:sp>
      <p:sp>
        <p:nvSpPr>
          <p:cNvPr id="127" name="Text 125"/>
          <p:cNvSpPr/>
          <p:nvPr/>
        </p:nvSpPr>
        <p:spPr>
          <a:xfrm>
            <a:off x="9489369" y="5102352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ريال ننفقه</a:t>
            </a:r>
            <a:endParaRPr lang="en-US" sz="900" dirty="0"/>
          </a:p>
        </p:txBody>
      </p:sp>
      <p:sp>
        <p:nvSpPr>
          <p:cNvPr id="128" name="Text 126"/>
          <p:cNvSpPr/>
          <p:nvPr/>
        </p:nvSpPr>
        <p:spPr>
          <a:xfrm>
            <a:off x="9489369" y="5239512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١٫٠٠ ر قيمة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7073250" y="4078224"/>
            <a:ext cx="2178375" cy="1389888"/>
          </a:xfrm>
          <a:prstGeom prst="roundRect">
            <a:avLst>
              <a:gd name="adj" fmla="val 3289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7146402" y="4142232"/>
            <a:ext cx="2032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 غسلة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7146402" y="4443984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كلفتها علينا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7146402" y="4581144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٣٠٠ ر</a:t>
            </a:r>
            <a:endParaRPr lang="en-US" sz="1200" dirty="0"/>
          </a:p>
        </p:txBody>
      </p:sp>
      <p:sp>
        <p:nvSpPr>
          <p:cNvPr id="133" name="Text 131"/>
          <p:cNvSpPr/>
          <p:nvPr/>
        </p:nvSpPr>
        <p:spPr>
          <a:xfrm>
            <a:off x="7146402" y="4773168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للعميل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7146402" y="4910328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٥٦٠ ر</a:t>
            </a:r>
            <a:endParaRPr lang="en-US" sz="1200" dirty="0"/>
          </a:p>
        </p:txBody>
      </p:sp>
      <p:sp>
        <p:nvSpPr>
          <p:cNvPr id="135" name="Text 133"/>
          <p:cNvSpPr/>
          <p:nvPr/>
        </p:nvSpPr>
        <p:spPr>
          <a:xfrm>
            <a:off x="7146402" y="5102352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ريال ننفقه</a:t>
            </a:r>
            <a:endParaRPr lang="en-US" sz="900" dirty="0"/>
          </a:p>
        </p:txBody>
      </p:sp>
      <p:sp>
        <p:nvSpPr>
          <p:cNvPr id="136" name="Text 134"/>
          <p:cNvSpPr/>
          <p:nvPr/>
        </p:nvSpPr>
        <p:spPr>
          <a:xfrm>
            <a:off x="7146402" y="5239512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١٫٨٧ ر قيمة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566928" y="557784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138" name="Text 136"/>
          <p:cNvSpPr/>
          <p:nvPr/>
        </p:nvSpPr>
        <p:spPr>
          <a:xfrm>
            <a:off x="749808" y="562356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تعطي ١٫٨٧ ريال قيمة لكل ريال ننفقه — وتملأ وحدات الخدمة الشاغرة · لكن ٣ من أعلى ١٠ محطات ديزلاً بلا وحدة خدمة أصلاً</a:t>
            </a:r>
            <a:endParaRPr lang="en-US" sz="1250" dirty="0"/>
          </a:p>
        </p:txBody>
      </p:sp>
      <p:sp>
        <p:nvSpPr>
          <p:cNvPr id="139" name="Text 1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غسلة بكلفة ١٥ ريالاً تعادل ٢١١ لتراً من الصافي — فالسقف غسلة لكل ألف لتر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الثاني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منتجات — ولكلٍّ مسيطر مختلف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 حسب المنتج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يسيطر على كل منتج — وأين لا نعرف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65740" y="1243584"/>
            <a:ext cx="18747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حجمنا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21867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موقعنا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8827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المسيطر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10801" y="1243584"/>
            <a:ext cx="29774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نعرفه عنه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حالة المسح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1609344"/>
            <a:ext cx="11027664" cy="5120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40442" y="1609344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أفراد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65740" y="1609344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٥٠٨٫٨ مليون ريال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21867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٨١٪ من مبيعاتنا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88270" y="1609344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10801" y="1609344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 من جوار محطاتنا · تقييمه ٣٫٧٧★ مقابل ٤٫٨٦ لنا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ميداني — مكتمل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2121408"/>
            <a:ext cx="11027664" cy="5120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940442" y="2121408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شركات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65740" y="2121408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١١٧٫٥ مليون ريال ديزل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21867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المنصّات ٣٫٠٪ من المسجَّل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88270" y="2121408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سيارة وبترو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110801" y="2121408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١١٫٩٦ مليون ريال بفاتورة ١٥٦٫٥٠ — ثلاثة أضعاف النقدي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القناة مقيسة — بلا حصص سوق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2633472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40442" y="2633472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عقارات وتأجير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065740" y="2633472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 وحدة مؤجَّرة من ١٬٧٣٣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21867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٣٧٪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88270" y="2633472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بديل المستأجر في الحي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110801" y="2633472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المحل ٢٥٪ إشغالاً · وما لا بديل له ٤٤٪ فأعلى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بنيوي — ينقصه جدول إيجارات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145536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40442" y="3145536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إكسسوارات سيارات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065740" y="3145536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21867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88270" y="3145536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مستأجرونا أنفسهم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110801" y="3145536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 مغسلة و١٩٢ محلاً تبيع على أرضنا بإيجار لا هامش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66928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بنيوي — ينقصه مسح أسعار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6928" y="3657600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40442" y="3657600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مساحات إعلانية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065740" y="3657600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21867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088270" y="3657600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مشغّلو الإعلان الخارجي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2110801" y="3657600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١٫٥٧ مليون معاملة شهرياً جمهورٌ لا يُباع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بنيوي — ينقصه جرد وسعر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040624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32064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من ٥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8132064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منتجات تعمل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132064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الوقود بشقّيه — والباقي لم يبدأ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303776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95216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من ٥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4395216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عُرِف مُسيطرها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395216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لكلٍّ منافس مختلف ومقياس مختلف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66928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8368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58368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بلا سعر سوق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58368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نعرف من هو — ولا نعرف بكم يبيع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المسيطر في المنتجات الثلاثة استُنتج من بياناتنا لا من مسحٍ خارجي — والناقص سعره لا هويّته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— الموقف الميداني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مواقع · ٤٠ منافساً مرصوداً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609612" y="1243584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27399" y="1243584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624633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191037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المنافس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5744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منافسون داخل ٥ كم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44397" y="1243584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890248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هو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1243584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الكثافة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1609344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9612" y="1609344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الشرائع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727399" y="1609344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MK019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624633" y="1609344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91037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7440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44397" y="1609344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٤٨٨ 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890248" y="1609344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1609344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1993392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9612" y="1993392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727399" y="1993392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624633" y="1993392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191037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7440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544397" y="1993392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٢٬٤٥٠ م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890248" y="1993392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نوفل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6928" y="1993392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متوسطة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2377440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09612" y="2377440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الفردوس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727399" y="2377440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624633" y="2377440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91037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757440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544397" y="2377440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٤١١ م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90248" y="2377440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377440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2761488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09612" y="2761488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727399" y="2761488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624633" y="2761488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191037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٤٫٠★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757440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544397" y="2761488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٢٬١٩٤ م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890248" y="2761488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المملكة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2761488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منخفضة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66928" y="3145536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609612" y="3145536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727399" y="3145536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624633" y="3145536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191037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٣٫٧★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57440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544397" y="3145536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١٨١ م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890248" y="3145536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المعيصم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3145536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040624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168640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نتفوّق في كل موقع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8168640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و٤٫٩ نجمة مقابل ٣٫٦ إلى ٤٫١ · و٥٧٪ من المنافسين دون أربع نجوم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4303776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431792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ونخسر بالمسافة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4431792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 على ١٨١ متراً في المعيصم و٤١١ في الفردوس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566928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5F2ED"/>
          </a:solidFill>
          <a:ln w="15240">
            <a:solidFill>
              <a:srgbClr val="3E6E8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4944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 هو المنافس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694944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 من ٤٠ موقعاً — ٣٨٪ محلياً مقابل ١٨٫٩٥٪ وطنياً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566928" y="507492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2" name="Text 70"/>
          <p:cNvSpPr/>
          <p:nvPr/>
        </p:nvSpPr>
        <p:spPr>
          <a:xfrm>
            <a:off x="749808" y="512064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أفضل أصلاً — فالخطة اعتراضية: لافتة ومدخل وسرعة وإبراز التقييم قبل نقطة القرار بخمسمئة متر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— من حولنا، وهل يفسّر نتيجتنا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 منافساً مرصوداً من ٧٩ داخل ٥ كم · خرائط جوجل يوليو ٢٠٢٦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5734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من يحيط بنا فعلاً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5734385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5039749" y="1481328"/>
            <a:ext cx="126156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العلامة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966" y="1481328"/>
            <a:ext cx="63078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مرات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720840" y="1481328"/>
            <a:ext cx="6881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الحصة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918026" y="1481328"/>
            <a:ext cx="80281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057868" y="1481328"/>
            <a:ext cx="8601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وسيط المسافة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312398" y="1481328"/>
            <a:ext cx="7454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تقييمها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66928" y="1481328"/>
            <a:ext cx="7454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وسيط المراجعات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1847088"/>
            <a:ext cx="5734385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39749" y="1847088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408966" y="1847088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720840" y="1847088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918026" y="1847088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٤١١ م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057868" y="1847088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١٬٥١٧ م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312398" y="184708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٣٫٧٧★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184708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2157984"/>
            <a:ext cx="5734385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39749" y="2157984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مستقلة/أخرى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408966" y="2157984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720840" y="2157984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918026" y="2157984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١٨١ 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057868" y="2157984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١٬٩٦٧ م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312398" y="2157984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٣٫٨٨★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2157984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٢٦٨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2468880"/>
            <a:ext cx="5734385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39749" y="2468880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بتروجين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408966" y="2468880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720840" y="2468880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918026" y="2468880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٩٢٣ م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057868" y="2468880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١٬١٦٥ م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312398" y="2468880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٣٫٤٠★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66928" y="2468880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2779776"/>
            <a:ext cx="5734385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39749" y="2779776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ساسكو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408966" y="2779776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3720840" y="2779776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2918026" y="2779776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١٬٧٠١ م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2057868" y="2779776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١٬٨٠٦ م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1312398" y="2779776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٤٫٠٠★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66928" y="2779776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3090672"/>
            <a:ext cx="5734385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39749" y="3090672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أومكو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408966" y="3090672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720840" y="3090672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2918026" y="3090672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١٬٧٥٥ م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2057868" y="3090672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٢٬١١٦ م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1312398" y="3090672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٣٫٢٠★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566928" y="3090672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١٠٨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566928" y="3401568"/>
            <a:ext cx="5734385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039749" y="3401568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نفط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4408966" y="3401568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3720840" y="3401568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٥٪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2918026" y="3401568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٦٩٥ م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2057868" y="3401568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١٬٠٣٨ م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1312398" y="340156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٣٫٠٠★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566928" y="340156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6632143" y="1188720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وميزتنا ثابتة — والنتيجة ليست</a:t>
            </a:r>
            <a:endParaRPr lang="en-US" sz="1350" dirty="0"/>
          </a:p>
        </p:txBody>
      </p:sp>
      <p:sp>
        <p:nvSpPr>
          <p:cNvPr id="66" name="Shape 64"/>
          <p:cNvSpPr/>
          <p:nvPr/>
        </p:nvSpPr>
        <p:spPr>
          <a:xfrm>
            <a:off x="6632143" y="1481328"/>
            <a:ext cx="4962449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67" name="Text 65"/>
          <p:cNvSpPr/>
          <p:nvPr/>
        </p:nvSpPr>
        <p:spPr>
          <a:xfrm>
            <a:off x="10304355" y="1481328"/>
            <a:ext cx="129023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الموقع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9659237" y="1481328"/>
            <a:ext cx="6451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نحن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9063743" y="1481328"/>
            <a:ext cx="59549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هم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8369000" y="1481328"/>
            <a:ext cx="6947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7723882" y="1481328"/>
            <a:ext cx="6451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عددهم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632143" y="1481328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نمونا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632143" y="1847088"/>
            <a:ext cx="4962449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304355" y="1847088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الشرائع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9659237" y="1847088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9063743" y="1847088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369000" y="1847088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+١٫٣٠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7723882" y="1847088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6632143" y="1847088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−٢٥٪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6632143" y="2157984"/>
            <a:ext cx="4962449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304355" y="2157984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9659237" y="2157984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9063743" y="2157984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٤٫١★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8369000" y="2157984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+٠٫٨٠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7723882" y="2157984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6632143" y="2157984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+٧٪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6632143" y="2468880"/>
            <a:ext cx="4962449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0304355" y="2468880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الفردوس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9659237" y="2468880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9063743" y="2468880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8369000" y="2468880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+١٫٣٠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7723882" y="2468880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6632143" y="2468880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−١٢٪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6632143" y="2779776"/>
            <a:ext cx="4962449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10304355" y="2779776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9659237" y="2779776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9063743" y="2779776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٤٫٠★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8369000" y="2779776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+٠٫٨٠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7723882" y="2779776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6632143" y="2779776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−٢٢٪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6632143" y="3090672"/>
            <a:ext cx="4962449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0304355" y="3090672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9659237" y="3090672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9063743" y="3090672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٣٫٧★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8369000" y="3090672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+١٫١٠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7723882" y="3090672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6632143" y="3090672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−٥٣٪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6632143" y="3401568"/>
            <a:ext cx="4962449" cy="1060704"/>
          </a:xfrm>
          <a:prstGeom prst="roundRect">
            <a:avLst>
              <a:gd name="adj" fmla="val 4310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778447" y="3511296"/>
            <a:ext cx="4669841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ميزتنا ١٫١٥ نجمة على المواقع الخمسة جميعاً، والنمو يمتد من ٧٪ إلى −٥٣٪. الثابت لا يفسّر المتغيّر — فالمنافس ليس ما يحرّك أرقامنا.</a:t>
            </a:r>
            <a:endParaRPr lang="en-US" sz="1150" dirty="0"/>
          </a:p>
        </p:txBody>
      </p:sp>
      <p:sp>
        <p:nvSpPr>
          <p:cNvPr id="110" name="Text 108"/>
          <p:cNvSpPr/>
          <p:nvPr/>
        </p:nvSpPr>
        <p:spPr>
          <a:xfrm>
            <a:off x="566928" y="457200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③ وحين يكون السعر منظَّماً تُحسم المنافسة بالخدمة — وشكاوانا تقول أين نقف</a:t>
            </a:r>
            <a:endParaRPr lang="en-US" sz="1350" dirty="0"/>
          </a:p>
        </p:txBody>
      </p:sp>
      <p:sp>
        <p:nvSpPr>
          <p:cNvPr id="111" name="Shape 109"/>
          <p:cNvSpPr/>
          <p:nvPr/>
        </p:nvSpPr>
        <p:spPr>
          <a:xfrm>
            <a:off x="9506102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9579254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</a:t>
            </a:r>
            <a:endParaRPr lang="en-US" sz="1900" dirty="0"/>
          </a:p>
        </p:txBody>
      </p:sp>
      <p:sp>
        <p:nvSpPr>
          <p:cNvPr id="113" name="Text 111"/>
          <p:cNvSpPr/>
          <p:nvPr/>
        </p:nvSpPr>
        <p:spPr>
          <a:xfrm>
            <a:off x="9579254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سلوك</a:t>
            </a:r>
            <a:endParaRPr lang="en-US" sz="1100" dirty="0"/>
          </a:p>
        </p:txBody>
      </p:sp>
      <p:sp>
        <p:nvSpPr>
          <p:cNvPr id="114" name="Shape 112"/>
          <p:cNvSpPr/>
          <p:nvPr/>
        </p:nvSpPr>
        <p:spPr>
          <a:xfrm>
            <a:off x="7271309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7344461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</a:t>
            </a:r>
            <a:endParaRPr lang="en-US" sz="1900" dirty="0"/>
          </a:p>
        </p:txBody>
      </p:sp>
      <p:sp>
        <p:nvSpPr>
          <p:cNvPr id="116" name="Text 114"/>
          <p:cNvSpPr/>
          <p:nvPr/>
        </p:nvSpPr>
        <p:spPr>
          <a:xfrm>
            <a:off x="7344461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سرعة</a:t>
            </a:r>
            <a:endParaRPr lang="en-US" sz="1100" dirty="0"/>
          </a:p>
        </p:txBody>
      </p:sp>
      <p:sp>
        <p:nvSpPr>
          <p:cNvPr id="117" name="Shape 115"/>
          <p:cNvSpPr/>
          <p:nvPr/>
        </p:nvSpPr>
        <p:spPr>
          <a:xfrm>
            <a:off x="5036515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109667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900" dirty="0"/>
          </a:p>
        </p:txBody>
      </p:sp>
      <p:sp>
        <p:nvSpPr>
          <p:cNvPr id="119" name="Text 117"/>
          <p:cNvSpPr/>
          <p:nvPr/>
        </p:nvSpPr>
        <p:spPr>
          <a:xfrm>
            <a:off x="5109667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ثقة</a:t>
            </a:r>
            <a:endParaRPr lang="en-US" sz="1100" dirty="0"/>
          </a:p>
        </p:txBody>
      </p:sp>
      <p:sp>
        <p:nvSpPr>
          <p:cNvPr id="120" name="Shape 118"/>
          <p:cNvSpPr/>
          <p:nvPr/>
        </p:nvSpPr>
        <p:spPr>
          <a:xfrm>
            <a:off x="2801722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2874874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900" dirty="0"/>
          </a:p>
        </p:txBody>
      </p:sp>
      <p:sp>
        <p:nvSpPr>
          <p:cNvPr id="122" name="Text 120"/>
          <p:cNvSpPr/>
          <p:nvPr/>
        </p:nvSpPr>
        <p:spPr>
          <a:xfrm>
            <a:off x="2874874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رفض خدمة</a:t>
            </a:r>
            <a:endParaRPr lang="en-US" sz="1100" dirty="0"/>
          </a:p>
        </p:txBody>
      </p:sp>
      <p:sp>
        <p:nvSpPr>
          <p:cNvPr id="123" name="Shape 121"/>
          <p:cNvSpPr/>
          <p:nvPr/>
        </p:nvSpPr>
        <p:spPr>
          <a:xfrm>
            <a:off x="566928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40080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900" dirty="0"/>
          </a:p>
        </p:txBody>
      </p:sp>
      <p:sp>
        <p:nvSpPr>
          <p:cNvPr id="125" name="Text 123"/>
          <p:cNvSpPr/>
          <p:nvPr/>
        </p:nvSpPr>
        <p:spPr>
          <a:xfrm>
            <a:off x="640080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خطأ تعبئة</a:t>
            </a:r>
            <a:endParaRPr lang="en-US" sz="1100" dirty="0"/>
          </a:p>
        </p:txBody>
      </p:sp>
      <p:sp>
        <p:nvSpPr>
          <p:cNvPr id="126" name="Text 12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١٠٣ شكوى — ٦٦٪ منها خدمة لا سعر (و٣٥ بلا تصنيف) · فالخطة اعتراضية: مدخل ولافتة وسرعة، لا مطاردة سعر لا نملكه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الشركات — المنافس منصّة لا محطة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يملك حساب الأسطول يملك تعبئته · تصنيف بحجم السلة لا بالاسم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قنوات الدفع — والسلة هي التي تفضح القناة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778271" y="1481328"/>
            <a:ext cx="181632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القناة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091687" y="1481328"/>
            <a:ext cx="168658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الإيراد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924052" y="1481328"/>
            <a:ext cx="116763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الحصة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367205" y="1481328"/>
            <a:ext cx="15568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069833" y="1481328"/>
            <a:ext cx="129737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الفاتورة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2986" y="1481328"/>
            <a:ext cx="15568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66928" y="1481328"/>
            <a:ext cx="19460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يملكها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1847088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78271" y="1847088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مسجَّلة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91687" y="1847088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٢٢٦٬٣١٢٬١٧٨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24052" y="1847088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٣٦٫١٪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367205" y="184708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٤٬٠٧٢٬١٨١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069833" y="1847088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٥٥٫٥٨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512986" y="184708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1847088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مجهولة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2148840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778271" y="2148840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نقدي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91687" y="2148840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١٨٤٬٥٥٨٬٦١٥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924052" y="2148840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٢٩٫٥٪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367205" y="214884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٣٬٥٥٤٬٤٤٥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069833" y="2148840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٥١٫٩٢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512986" y="214884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2148840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قناتنا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2450592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778271" y="2450592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شبكة (مدى)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091687" y="2450592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١٧٩٬٢٣٦٬٣٠٣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924052" y="2450592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٢٨٫٦٪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367205" y="2450592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٢٬٨٠٥٬٣١٤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069833" y="2450592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٦٣٫٨٩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2512986" y="2450592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66928" y="2450592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قناتنا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2752344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78271" y="2752344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جهاز خارجي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091687" y="2752344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٢٤٬٤٠٥٬٦٥٥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924052" y="2752344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٣٫٩٪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367205" y="2752344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٤٤٧٬٧٦٤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069833" y="2752344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٥٤٫٥١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512986" y="2752344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66928" y="2752344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جهاز نقاط بيع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3054096"/>
            <a:ext cx="11027664" cy="30175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778271" y="3054096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تطبيق سيارة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091687" y="3054096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٧٬٧٥١٬١٧٣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924052" y="3054096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١٫٢٪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367205" y="3054096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٥١٬٩٢٦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4069833" y="3054096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١٤٩٫٢٧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2512986" y="3054096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أسطول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566928" y="3054096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منصّة خارجية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566928" y="3355848"/>
            <a:ext cx="11027664" cy="30175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78271" y="3355848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تطبيق بترو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8091687" y="3355848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٤٬٢٠٥٬٤٨٣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6924052" y="3355848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٠٫٧٪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367205" y="335584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٢٤٬٤٧٣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4069833" y="3355848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١٧١٫٨٤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2512986" y="335584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أسطول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566928" y="3355848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منصّة خارجية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566928" y="3657600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778271" y="3657600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بطاقة ذكية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091687" y="3657600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٨٬٠٠٩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6924052" y="3657600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5367205" y="365760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١٦٦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4069833" y="3657600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٤٨٫٢٤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2512986" y="365760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566928" y="3657600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جهاز نقاط بيع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8040624" y="3986784"/>
            <a:ext cx="3553968" cy="1060704"/>
          </a:xfrm>
          <a:prstGeom prst="roundRect">
            <a:avLst>
              <a:gd name="adj" fmla="val 4310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132064" y="4069080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١٥٦٫٥٠ ريالاً</a:t>
            </a:r>
            <a:endParaRPr lang="en-US" sz="1900" dirty="0"/>
          </a:p>
        </p:txBody>
      </p:sp>
      <p:sp>
        <p:nvSpPr>
          <p:cNvPr id="75" name="Text 73"/>
          <p:cNvSpPr/>
          <p:nvPr/>
        </p:nvSpPr>
        <p:spPr>
          <a:xfrm>
            <a:off x="8132064" y="4443984"/>
            <a:ext cx="3371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فاتورة المنصّة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8132064" y="4700016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أضعاف النقدي ٥١٫٩٢ — هذه تعبئة أسطول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303776" y="3986784"/>
            <a:ext cx="3553968" cy="1060704"/>
          </a:xfrm>
          <a:prstGeom prst="roundRect">
            <a:avLst>
              <a:gd name="adj" fmla="val 4310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395216" y="4069080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٣٫٠٪</a:t>
            </a:r>
            <a:endParaRPr lang="en-US" sz="1900" dirty="0"/>
          </a:p>
        </p:txBody>
      </p:sp>
      <p:sp>
        <p:nvSpPr>
          <p:cNvPr id="79" name="Text 77"/>
          <p:cNvSpPr/>
          <p:nvPr/>
        </p:nvSpPr>
        <p:spPr>
          <a:xfrm>
            <a:off x="4395216" y="4443984"/>
            <a:ext cx="3371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المنصّات من المسجَّل</a:t>
            </a:r>
            <a:endParaRPr lang="en-US" sz="1150" dirty="0"/>
          </a:p>
        </p:txBody>
      </p:sp>
      <p:sp>
        <p:nvSpPr>
          <p:cNvPr id="80" name="Text 78"/>
          <p:cNvSpPr/>
          <p:nvPr/>
        </p:nvSpPr>
        <p:spPr>
          <a:xfrm>
            <a:off x="4395216" y="4700016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١١٬٩٥٦٬٦٥٦ ريالاً عبر سيارة وبترو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566928" y="3986784"/>
            <a:ext cx="3553968" cy="1060704"/>
          </a:xfrm>
          <a:prstGeom prst="roundRect">
            <a:avLst>
              <a:gd name="adj" fmla="val 4310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8368" y="4069080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 معاملات</a:t>
            </a:r>
            <a:endParaRPr lang="en-US" sz="1900" dirty="0"/>
          </a:p>
        </p:txBody>
      </p:sp>
      <p:sp>
        <p:nvSpPr>
          <p:cNvPr id="83" name="Text 81"/>
          <p:cNvSpPr/>
          <p:nvPr/>
        </p:nvSpPr>
        <p:spPr>
          <a:xfrm>
            <a:off x="658368" y="4443984"/>
            <a:ext cx="3371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محفظة كاش إن</a:t>
            </a:r>
            <a:endParaRPr lang="en-US" sz="1150" dirty="0"/>
          </a:p>
        </p:txBody>
      </p:sp>
      <p:sp>
        <p:nvSpPr>
          <p:cNvPr id="84" name="Text 82"/>
          <p:cNvSpPr/>
          <p:nvPr/>
        </p:nvSpPr>
        <p:spPr>
          <a:xfrm>
            <a:off x="658368" y="4700016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٣١٨ ريالاً — لا موقع لنا في القناة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566928" y="51206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قائمة الصيد — ديزل ثقيل بلا أي علاقة رقمية: ٧ محطات · ٢٥٬٨٤٢٬٠٧١ ريالاً · ١٤٬٣٩١٬٢٠٥ لتراً</a:t>
            </a:r>
            <a:endParaRPr lang="en-US" sz="1250" dirty="0"/>
          </a:p>
        </p:txBody>
      </p:sp>
      <p:sp>
        <p:nvSpPr>
          <p:cNvPr id="86" name="Shape 84"/>
          <p:cNvSpPr/>
          <p:nvPr/>
        </p:nvSpPr>
        <p:spPr>
          <a:xfrm>
            <a:off x="10113264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168128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10168128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 م ريال</a:t>
            </a:r>
            <a:endParaRPr lang="en-US" sz="1250" dirty="0"/>
          </a:p>
        </p:txBody>
      </p:sp>
      <p:sp>
        <p:nvSpPr>
          <p:cNvPr id="89" name="Text 87"/>
          <p:cNvSpPr/>
          <p:nvPr/>
        </p:nvSpPr>
        <p:spPr>
          <a:xfrm>
            <a:off x="10168128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8522208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577072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8577072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 م ريال</a:t>
            </a:r>
            <a:endParaRPr lang="en-US" sz="1250" dirty="0"/>
          </a:p>
        </p:txBody>
      </p:sp>
      <p:sp>
        <p:nvSpPr>
          <p:cNvPr id="93" name="Text 91"/>
          <p:cNvSpPr/>
          <p:nvPr/>
        </p:nvSpPr>
        <p:spPr>
          <a:xfrm>
            <a:off x="8577072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6931152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986016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6986016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٣٫٥ م ريال</a:t>
            </a:r>
            <a:endParaRPr lang="en-US" sz="1250" dirty="0"/>
          </a:p>
        </p:txBody>
      </p:sp>
      <p:sp>
        <p:nvSpPr>
          <p:cNvPr id="97" name="Text 95"/>
          <p:cNvSpPr/>
          <p:nvPr/>
        </p:nvSpPr>
        <p:spPr>
          <a:xfrm>
            <a:off x="6986016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5340096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394960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بطحاء قريش 1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5394960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 م ريال</a:t>
            </a:r>
            <a:endParaRPr lang="en-US" sz="1250" dirty="0"/>
          </a:p>
        </p:txBody>
      </p:sp>
      <p:sp>
        <p:nvSpPr>
          <p:cNvPr id="101" name="Text 99"/>
          <p:cNvSpPr/>
          <p:nvPr/>
        </p:nvSpPr>
        <p:spPr>
          <a:xfrm>
            <a:off x="5394960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MK022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3749040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803904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السيل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3803904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 م ريال</a:t>
            </a:r>
            <a:endParaRPr lang="en-US" sz="1250" dirty="0"/>
          </a:p>
        </p:txBody>
      </p:sp>
      <p:sp>
        <p:nvSpPr>
          <p:cNvPr id="105" name="Text 103"/>
          <p:cNvSpPr/>
          <p:nvPr/>
        </p:nvSpPr>
        <p:spPr>
          <a:xfrm>
            <a:off x="3803904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MK054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2157984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212848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العزيزية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2212848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٣٫١ م ريال</a:t>
            </a:r>
            <a:endParaRPr lang="en-US" sz="1250" dirty="0"/>
          </a:p>
        </p:txBody>
      </p:sp>
      <p:sp>
        <p:nvSpPr>
          <p:cNvPr id="109" name="Text 107"/>
          <p:cNvSpPr/>
          <p:nvPr/>
        </p:nvSpPr>
        <p:spPr>
          <a:xfrm>
            <a:off x="2212848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MK072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566928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1792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621792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 م ريال</a:t>
            </a:r>
            <a:endParaRPr lang="en-US" sz="1250" dirty="0"/>
          </a:p>
        </p:txBody>
      </p:sp>
      <p:sp>
        <p:nvSpPr>
          <p:cNvPr id="113" name="Text 111"/>
          <p:cNvSpPr/>
          <p:nvPr/>
        </p:nvSpPr>
        <p:spPr>
          <a:xfrm>
            <a:off x="621792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 والتأجير — بديل المستأجر هو المنافس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١٬٧٣٣ وحدة في ١٨٦ محطة · إشغال ٣٧٫٠٪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لكل نوع وحدة بديلٌ مختلف — والإشغال يقيس قوّته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10271272" y="1481328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الوحدة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278783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العدد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86293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مؤجَّر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293803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080760" y="1481328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الإشغال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1481328"/>
            <a:ext cx="551383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بديل المستأجر خارج المحطة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1847088"/>
            <a:ext cx="11027664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71272" y="1847088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أسواق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278783" y="184708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١١٠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86293" y="184708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293803" y="184708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080760" y="1847088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٥٠٫٩٪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1847088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بقالة الحي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2194560"/>
            <a:ext cx="11027664" cy="34747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71272" y="2194560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أكشاك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278783" y="2194560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٤١٥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86293" y="2194560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٢٠١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293803" y="2194560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٢١٤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080760" y="2194560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٤٨٫٤٪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2194560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عربة أو كشك في ساحة تجارية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2542032"/>
            <a:ext cx="11027664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271272" y="2542032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سيّاقة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278783" y="2542032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١٥٥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86293" y="2542032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293803" y="2542032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080760" y="2542032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٤٤٫٥٪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66928" y="2542032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بديل: نافذة السيّاقة تحتاج مسار سيارات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66928" y="2889504"/>
            <a:ext cx="11027664" cy="34747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271272" y="2889504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مغاسل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278783" y="2889504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٢٦٦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286293" y="2889504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293803" y="2889504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080760" y="2889504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٤٤٫٠٪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889504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مغسلة حي مستقلة — لكن بلا حركة مرور مضمونة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66928" y="3236976"/>
            <a:ext cx="11027664" cy="34747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271272" y="3236976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أخرى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278783" y="3236976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286293" y="3236976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293803" y="3236976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080760" y="3236976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٢٦٫١٪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66928" y="3236976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—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566928" y="3584448"/>
            <a:ext cx="11027664" cy="34747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271272" y="3584448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محلات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278783" y="358444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٧٦٤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286293" y="358444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١٩٢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293803" y="358444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٥٧٢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080760" y="3584448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٢٥٫١٪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66928" y="3584448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 على شارع الحي — أوفر إيجاراً وأقرب للسكن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6190488" y="4041648"/>
            <a:ext cx="5404104" cy="1225296"/>
          </a:xfrm>
          <a:prstGeom prst="roundRect">
            <a:avLst>
              <a:gd name="adj" fmla="val 373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36792" y="4142232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المحل وحده يخسر أمام بديله</a:t>
            </a:r>
            <a:endParaRPr lang="en-US" sz="1350" dirty="0"/>
          </a:p>
        </p:txBody>
      </p:sp>
      <p:sp>
        <p:nvSpPr>
          <p:cNvPr id="60" name="Text 58"/>
          <p:cNvSpPr/>
          <p:nvPr/>
        </p:nvSpPr>
        <p:spPr>
          <a:xfrm>
            <a:off x="6336792" y="4462272"/>
            <a:ext cx="511149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المحل ٢٥٫١٪ إشغالاً و٥٧٢ شاغراً — لأن جاره في الحي أرخص وأقرب للسكن. أمّا أسواق والسيّاقة والمغسلة فبلا بديل داخل الساحة، وإشغالها ٥٠٫٩٪ فأعلى. البيع يبدأ من هنا لا من المحل.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566928" y="4041648"/>
            <a:ext cx="5404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والمنافس الحقيقي داخلي — لا أحد يبيع</a:t>
            </a:r>
            <a:endParaRPr lang="en-US" sz="1350" dirty="0"/>
          </a:p>
        </p:txBody>
      </p:sp>
      <p:sp>
        <p:nvSpPr>
          <p:cNvPr id="62" name="Shape 60"/>
          <p:cNvSpPr/>
          <p:nvPr/>
        </p:nvSpPr>
        <p:spPr>
          <a:xfrm>
            <a:off x="566928" y="4370832"/>
            <a:ext cx="5404104" cy="310896"/>
          </a:xfrm>
          <a:prstGeom prst="roundRect">
            <a:avLst>
              <a:gd name="adj" fmla="val 8824"/>
            </a:avLst>
          </a:prstGeom>
          <a:solidFill>
            <a:srgbClr val="D6E9E1"/>
          </a:solidFill>
          <a:ln/>
        </p:spPr>
      </p:sp>
      <p:sp>
        <p:nvSpPr>
          <p:cNvPr id="63" name="Text 61"/>
          <p:cNvSpPr/>
          <p:nvPr/>
        </p:nvSpPr>
        <p:spPr>
          <a:xfrm>
            <a:off x="694944" y="4370832"/>
            <a:ext cx="18373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2512405" y="4370832"/>
            <a:ext cx="226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٦٣٥ وحدة · ١٣١ شاغرة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056632" y="4370832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٧٨٫٩٪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566928" y="4736592"/>
            <a:ext cx="5404104" cy="310896"/>
          </a:xfrm>
          <a:prstGeom prst="roundRect">
            <a:avLst>
              <a:gd name="adj" fmla="val 8824"/>
            </a:avLst>
          </a:prstGeom>
          <a:solidFill>
            <a:srgbClr val="F2DAD4"/>
          </a:solidFill>
          <a:ln/>
        </p:spPr>
      </p:sp>
      <p:sp>
        <p:nvSpPr>
          <p:cNvPr id="67" name="Text 65"/>
          <p:cNvSpPr/>
          <p:nvPr/>
        </p:nvSpPr>
        <p:spPr>
          <a:xfrm>
            <a:off x="694944" y="4736592"/>
            <a:ext cx="18373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2512405" y="4736592"/>
            <a:ext cx="226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٧٩٠ وحدة · ٦٨٩ شاغرة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5056632" y="4736592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١٢٫٨٪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566928" y="5102352"/>
            <a:ext cx="5404104" cy="310896"/>
          </a:xfrm>
          <a:prstGeom prst="roundRect">
            <a:avLst>
              <a:gd name="adj" fmla="val 8824"/>
            </a:avLst>
          </a:prstGeom>
          <a:solidFill>
            <a:srgbClr val="F2DAD4"/>
          </a:solidFill>
          <a:ln/>
        </p:spPr>
      </p:sp>
      <p:sp>
        <p:nvSpPr>
          <p:cNvPr id="71" name="Text 69"/>
          <p:cNvSpPr/>
          <p:nvPr/>
        </p:nvSpPr>
        <p:spPr>
          <a:xfrm>
            <a:off x="694944" y="5102352"/>
            <a:ext cx="18373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2512405" y="5102352"/>
            <a:ext cx="226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٣٠٨ وحدة · ٢٦٩ شاغرة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5056632" y="5102352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١٢٫٧٪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566928" y="555955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75" name="Text 73"/>
          <p:cNvSpPr/>
          <p:nvPr/>
        </p:nvSpPr>
        <p:spPr>
          <a:xfrm>
            <a:off x="749808" y="560527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٧٨٫٩٪ إشغالاً والامتياز ١٢٫٧٪ — الفارق ليس سوقاً بل غياب مالكٍ للبيع · وهذا ما تعالجه الباقات لا خفض الإيجار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ورقة اكتتاب الوحدة — الإيجار من دفتر المستأجر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الوحدة وصولٌ إلى تيّار حركة · وقيمتها ما يحوّله المستأجر منه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أربعة مُدخَلات لدفتره — واثنان عندنا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947404" y="1499616"/>
            <a:ext cx="2647188" cy="969264"/>
          </a:xfrm>
          <a:prstGeom prst="roundRect">
            <a:avLst>
              <a:gd name="adj" fmla="val 4717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38844" y="1572768"/>
            <a:ext cx="24643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 عندنا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038844" y="1810512"/>
            <a:ext cx="2464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المارّة بالوحدة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038844" y="2103120"/>
            <a:ext cx="2464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زيارة/يوم لكل محطة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53912" y="1499616"/>
            <a:ext cx="2647188" cy="969264"/>
          </a:xfrm>
          <a:prstGeom prst="roundRect">
            <a:avLst>
              <a:gd name="adj" fmla="val 4717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1572768"/>
            <a:ext cx="24643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 عندنا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245352" y="1810512"/>
            <a:ext cx="2464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ساعات الذروة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45352" y="2103120"/>
            <a:ext cx="2464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منحنى ٢٤ ساعة لكل محطة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360420" y="1499616"/>
            <a:ext cx="2647188" cy="969264"/>
          </a:xfrm>
          <a:prstGeom prst="roundRect">
            <a:avLst>
              <a:gd name="adj" fmla="val 4717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51860" y="1572768"/>
            <a:ext cx="24643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 ينقصنا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451860" y="1810512"/>
            <a:ext cx="2464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تحويل الشكل من التيّار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51860" y="2103120"/>
            <a:ext cx="2464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صيغة — مطعم · مقهى · مغسلة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6928" y="1499616"/>
            <a:ext cx="2647188" cy="969264"/>
          </a:xfrm>
          <a:prstGeom prst="roundRect">
            <a:avLst>
              <a:gd name="adj" fmla="val 4717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1572768"/>
            <a:ext cx="24643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 ينقصنا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58368" y="1810512"/>
            <a:ext cx="2464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المستأجر وهامشه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2103120"/>
            <a:ext cx="2464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مبيعات المستأجرين شهرياً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66928" y="2596896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والمُدخَل الأول وحده يفرز الشغور — ٢٣ محطة · المدى ٤٣ ضعفاً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66928" y="2907792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7" name="Text 25"/>
          <p:cNvSpPr/>
          <p:nvPr/>
        </p:nvSpPr>
        <p:spPr>
          <a:xfrm>
            <a:off x="9609612" y="2907792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727399" y="2907792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514356" y="2907792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521867" y="2907792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وحداتها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529377" y="2907792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الشاغرة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426610" y="2907792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زيارة/يوم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103291" y="2907792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وحدة شاغرة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66928" y="2907792"/>
            <a:ext cx="25363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القراءة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66928" y="3273552"/>
            <a:ext cx="11027664" cy="29260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09612" y="3273552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الحليس(طريق الجنوب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727399" y="3273552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514356" y="3273552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521867" y="3273552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529377" y="3273552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426610" y="3273552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١٬٨٣٦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103291" y="3273552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٩١٨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66928" y="3273552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موجودة — سعّرها منها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66928" y="3566160"/>
            <a:ext cx="11027664" cy="29260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09612" y="3566160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727399" y="3566160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514356" y="3566160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6521867" y="3566160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5529377" y="3566160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426610" y="3566160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٨٦٥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3103291" y="3566160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٨٦٥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66928" y="3566160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موجودة — سعّرها منها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66928" y="3858768"/>
            <a:ext cx="11027664" cy="29260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609612" y="3858768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 العمرة الج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8727399" y="3858768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7514356" y="3858768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521867" y="3858768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5529377" y="3858768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4426610" y="3858768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3103291" y="3858768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٤٧٣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66928" y="3858768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موجودة — سعّرها منها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566928" y="4151376"/>
            <a:ext cx="11027664" cy="29260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609612" y="4151376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جعرانة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8727399" y="4151376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7514356" y="4151376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6521867" y="4151376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529377" y="4151376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4426610" y="4151376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١٬١٢٣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3103291" y="4151376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٣٧٤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66928" y="4151376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موجودة — سعّرها منها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566928" y="4443984"/>
            <a:ext cx="11027664" cy="29260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609612" y="4443984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طريق السيل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8727399" y="4443984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MK054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7514356" y="4443984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6521867" y="4443984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5529377" y="4443984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4426610" y="4443984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٧٣٧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3103291" y="4443984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566928" y="4443984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يُصلحها خفض إيجار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566928" y="4736592"/>
            <a:ext cx="11027664" cy="29260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609612" y="4736592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المودة - الروابي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8727399" y="4736592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JA056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7514356" y="4736592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6521867" y="4736592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5529377" y="4736592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4426610" y="4736592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٢٨٦</a:t>
            </a:r>
            <a:endParaRPr lang="en-US" sz="1050" dirty="0"/>
          </a:p>
        </p:txBody>
      </p:sp>
      <p:sp>
        <p:nvSpPr>
          <p:cNvPr id="87" name="Text 85"/>
          <p:cNvSpPr/>
          <p:nvPr/>
        </p:nvSpPr>
        <p:spPr>
          <a:xfrm>
            <a:off x="3103291" y="4736592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566928" y="4736592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يُصلحها خفض إيجار</a:t>
            </a:r>
            <a:endParaRPr lang="en-US" sz="1050" dirty="0"/>
          </a:p>
        </p:txBody>
      </p:sp>
      <p:sp>
        <p:nvSpPr>
          <p:cNvPr id="89" name="Shape 87"/>
          <p:cNvSpPr/>
          <p:nvPr/>
        </p:nvSpPr>
        <p:spPr>
          <a:xfrm>
            <a:off x="566928" y="5029200"/>
            <a:ext cx="11027664" cy="29260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609612" y="5029200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8727399" y="5029200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7514356" y="5029200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6521867" y="5029200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5529377" y="5029200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4426610" y="5029200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٢٧٥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3103291" y="5029200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566928" y="5029200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يُصلحها خفض إيجار</a:t>
            </a:r>
            <a:endParaRPr lang="en-US" sz="1050" dirty="0"/>
          </a:p>
        </p:txBody>
      </p:sp>
      <p:sp>
        <p:nvSpPr>
          <p:cNvPr id="98" name="Shape 96"/>
          <p:cNvSpPr/>
          <p:nvPr/>
        </p:nvSpPr>
        <p:spPr>
          <a:xfrm>
            <a:off x="566928" y="5321808"/>
            <a:ext cx="11027664" cy="29260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609612" y="5321808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السلام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8727399" y="5321808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MD009</a:t>
            </a:r>
            <a:endParaRPr lang="en-US" sz="1050" dirty="0"/>
          </a:p>
        </p:txBody>
      </p:sp>
      <p:sp>
        <p:nvSpPr>
          <p:cNvPr id="101" name="Text 99"/>
          <p:cNvSpPr/>
          <p:nvPr/>
        </p:nvSpPr>
        <p:spPr>
          <a:xfrm>
            <a:off x="7514356" y="5321808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050" dirty="0"/>
          </a:p>
        </p:txBody>
      </p:sp>
      <p:sp>
        <p:nvSpPr>
          <p:cNvPr id="102" name="Text 100"/>
          <p:cNvSpPr/>
          <p:nvPr/>
        </p:nvSpPr>
        <p:spPr>
          <a:xfrm>
            <a:off x="6521867" y="5321808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5529377" y="5321808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4426610" y="5321808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٢٣٣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3103291" y="5321808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566928" y="5321808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يُصلحها خفض إيجار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6190488" y="5596128"/>
            <a:ext cx="5404104" cy="694944"/>
          </a:xfrm>
          <a:prstGeom prst="roundRect">
            <a:avLst>
              <a:gd name="adj" fmla="val 6579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6336792" y="5669280"/>
            <a:ext cx="5111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السيل ١٤ وحدة على ٧٣٧ زيارة — عرضٌ يفوق حركته. هذه ليست مشكلة تأجير بل مشكلة تحجيم.</a:t>
            </a:r>
            <a:endParaRPr lang="en-US" sz="1050" dirty="0"/>
          </a:p>
        </p:txBody>
      </p:sp>
      <p:sp>
        <p:nvSpPr>
          <p:cNvPr id="109" name="Shape 107"/>
          <p:cNvSpPr/>
          <p:nvPr/>
        </p:nvSpPr>
        <p:spPr>
          <a:xfrm>
            <a:off x="566928" y="5596128"/>
            <a:ext cx="5404104" cy="694944"/>
          </a:xfrm>
          <a:prstGeom prst="roundRect">
            <a:avLst>
              <a:gd name="adj" fmla="val 6579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13232" y="5669280"/>
            <a:ext cx="5111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والتغطية ١٣٪ فقط: ١٣٩ من ١٬٠٨٩ وحدة شاغرة نملك مُدخَلها الأول · ٦٨٩ تحت التنفيذ تُكتتب بمحطة نظيرة، و٢٦٩ امتياز تحتاج طلب بيانات.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الإكسسوارات والمساحات — منتجان بلا خط أساس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يُدَّعى مسحٌ لم يُجرَ · وهذا ما نعرفه اليوم بالقياس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190488" y="1188720"/>
            <a:ext cx="5404104" cy="3566160"/>
          </a:xfrm>
          <a:prstGeom prst="roundRect">
            <a:avLst>
              <a:gd name="adj" fmla="val 1538"/>
            </a:avLst>
          </a:prstGeom>
          <a:solidFill>
            <a:srgbClr val="F7F4EF"/>
          </a:solidFill>
          <a:ln w="16510">
            <a:solidFill>
              <a:srgbClr val="F583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90488" y="1188720"/>
            <a:ext cx="5404104" cy="548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6355080" y="1316736"/>
            <a:ext cx="5074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إكسسوارات سيارات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1411712" y="1773936"/>
            <a:ext cx="36576" cy="219456"/>
          </a:xfrm>
          <a:prstGeom prst="rect">
            <a:avLst/>
          </a:prstGeom>
          <a:solidFill>
            <a:srgbClr val="9A3E2C"/>
          </a:solidFill>
          <a:ln/>
        </p:spPr>
      </p:sp>
      <p:sp>
        <p:nvSpPr>
          <p:cNvPr id="12" name="Text 10"/>
          <p:cNvSpPr/>
          <p:nvPr/>
        </p:nvSpPr>
        <p:spPr>
          <a:xfrm>
            <a:off x="6355080" y="1737360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يشغل مكاننا اليوم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2002536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مستأجرونا أنفسهم — ثم أسواق قطع الغيار خارج المحطة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1411712" y="2532888"/>
            <a:ext cx="36576" cy="219456"/>
          </a:xfrm>
          <a:prstGeom prst="rect">
            <a:avLst/>
          </a:prstGeom>
          <a:solidFill>
            <a:srgbClr val="3D3D3D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2496312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الدليل من بياناتنا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55080" y="2761488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 مغسلة و١٩٢ محلاً مؤجَّرة تبيع الخدمة على أرضنا اليوم، ونأخذ إيجاراً لا هامشاً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1411712" y="3291840"/>
            <a:ext cx="36576" cy="21945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3255264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نملكه ولا نبيعه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3520440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 مغسلة و٥٧٢ محلاً شاغرة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1411712" y="4050792"/>
            <a:ext cx="36576" cy="219456"/>
          </a:xfrm>
          <a:prstGeom prst="rect">
            <a:avLst/>
          </a:prstGeom>
          <a:solidFill>
            <a:srgbClr val="1F5E4A"/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4014216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يلزم لإقرار خطة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55080" y="4279392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منتجات وأسعار المنافس في ثلاثة أحياء · وقرار: نبيع أم نؤجّر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1188720"/>
            <a:ext cx="5404104" cy="3566160"/>
          </a:xfrm>
          <a:prstGeom prst="roundRect">
            <a:avLst>
              <a:gd name="adj" fmla="val 1538"/>
            </a:avLst>
          </a:prstGeom>
          <a:solidFill>
            <a:srgbClr val="F7F4EF"/>
          </a:solidFill>
          <a:ln w="16510">
            <a:solidFill>
              <a:srgbClr val="F5831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188720"/>
            <a:ext cx="5404104" cy="548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1316736"/>
            <a:ext cx="5074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مساحات إعلانية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788152" y="1773936"/>
            <a:ext cx="36576" cy="219456"/>
          </a:xfrm>
          <a:prstGeom prst="rect">
            <a:avLst/>
          </a:prstGeom>
          <a:solidFill>
            <a:srgbClr val="9A3E2C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1737360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يشغل مكاننا اليوم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31520" y="2002536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مشغّلو الإعلان الخارجي — والمعلن يشتري منهم لا منّا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788152" y="2532888"/>
            <a:ext cx="36576" cy="219456"/>
          </a:xfrm>
          <a:prstGeom prst="rect">
            <a:avLst/>
          </a:prstGeom>
          <a:solidFill>
            <a:srgbClr val="3D3D3D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2496312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الدليل من بياناتنا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1520" y="2761488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١.٥٧ مليون معاملة شهرياً جمهورٌ لا يُباع، ووجه علبة المناديل أول سطح مسعَّر عندنا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788152" y="3291840"/>
            <a:ext cx="36576" cy="21945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3255264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نملكه ولا نبيعه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1520" y="3520440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واجهات المظلات والمضخات وشاشات نقاط البيع — بلا جرد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788152" y="4050792"/>
            <a:ext cx="36576" cy="219456"/>
          </a:xfrm>
          <a:prstGeom prst="rect">
            <a:avLst/>
          </a:prstGeom>
          <a:solidFill>
            <a:srgbClr val="1F5E4A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4014216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يلزم لإقرار خطة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" y="4279392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الأسطح لكل محطة · وسعر السوق للوجه الواحد شهرياً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" y="490118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المسح المطلوب — أسبوعان لكلٍّ منهما، ويُقفل ثلاثة أخماس الجهل التنافسي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8961120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052560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أحياء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9052560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عيّنة المسح لكل منتج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163056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54496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وأسعار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254496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يبيعه المنافس وبكم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364992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56432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الأسطح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456432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كم وجهاً إعلانياً نملك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66928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8368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الوجه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58368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شهرياً — ليُسعَّر المخزون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 — تغيير مسار لا منافسة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الحدث ٧–٨ فبراير ٢٠٢٦ · ليلة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727875" y="1846233"/>
            <a:ext cx="595494" cy="2542887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5544995" y="1590201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50841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قبل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35385" y="2296237"/>
            <a:ext cx="595494" cy="209288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4552505" y="2040205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٣٥٬٠٩٥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1592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 فبراير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42895" y="2887218"/>
            <a:ext cx="595494" cy="1501902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5" name="Text 13"/>
          <p:cNvSpPr/>
          <p:nvPr/>
        </p:nvSpPr>
        <p:spPr>
          <a:xfrm>
            <a:off x="3560015" y="263118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٢٥٬١٨٥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2343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فبراير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50405" y="3799988"/>
            <a:ext cx="595494" cy="589132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8" name="Text 16"/>
          <p:cNvSpPr/>
          <p:nvPr/>
        </p:nvSpPr>
        <p:spPr>
          <a:xfrm>
            <a:off x="2567525" y="354395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٩٬٨٧٩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53094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 فبراير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757916" y="3802314"/>
            <a:ext cx="595494" cy="586806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1" name="Text 19"/>
          <p:cNvSpPr/>
          <p:nvPr/>
        </p:nvSpPr>
        <p:spPr>
          <a:xfrm>
            <a:off x="1575036" y="3546282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٩٬٨٤٠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53846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فبراير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65426" y="3625020"/>
            <a:ext cx="595494" cy="76410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4" name="Text 22"/>
          <p:cNvSpPr/>
          <p:nvPr/>
        </p:nvSpPr>
        <p:spPr>
          <a:xfrm>
            <a:off x="582546" y="3368988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١٢٬٨١٣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597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بعد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" y="4389120"/>
            <a:ext cx="5954939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1316736"/>
            <a:ext cx="59549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62973" y="1280160"/>
            <a:ext cx="46316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توقيع الوصول لا المنافسة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11553444" y="164592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0" name="Text 28"/>
          <p:cNvSpPr/>
          <p:nvPr/>
        </p:nvSpPr>
        <p:spPr>
          <a:xfrm>
            <a:off x="9248973" y="164592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248973" y="186537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٢٬٠٧٣ ← ٦٠١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962973" y="17373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−٧١٪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1553444" y="219456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8973" y="219456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248973" y="241401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 ← ١٢٬٨١٣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962973" y="22860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11553444" y="274320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8" name="Text 36"/>
          <p:cNvSpPr/>
          <p:nvPr/>
        </p:nvSpPr>
        <p:spPr>
          <a:xfrm>
            <a:off x="9248973" y="274320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 التعبئة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248973" y="296265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 ← ٢١٫٣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62973" y="28346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+٣٫٦٪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1553444" y="329184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2" name="Text 40"/>
          <p:cNvSpPr/>
          <p:nvPr/>
        </p:nvSpPr>
        <p:spPr>
          <a:xfrm>
            <a:off x="9248973" y="329184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248973" y="351129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مقابل ٣٫٧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962973" y="33832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الأعلى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11553444" y="384048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6" name="Text 44"/>
          <p:cNvSpPr/>
          <p:nvPr/>
        </p:nvSpPr>
        <p:spPr>
          <a:xfrm>
            <a:off x="9248973" y="384048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مطابقة المشتريات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9248973" y="405993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+٠٫٧١٪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962973" y="39319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سليمة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6962973" y="4462272"/>
            <a:ext cx="4631619" cy="1005840"/>
          </a:xfrm>
          <a:prstGeom prst="roundRect">
            <a:avLst>
              <a:gd name="adj" fmla="val 4545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109277" y="4572000"/>
            <a:ext cx="4339011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تسقط والتعبئة تثبت — المنافس يسحب العميل الحدّي، والمدخل المغلق يمنع الجميع بالتساوي.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566928" y="56235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52" name="Text 50"/>
          <p:cNvSpPr/>
          <p:nvPr/>
        </p:nvSpPr>
        <p:spPr>
          <a:xfrm>
            <a:off x="749808" y="56692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الخسارة ١٬٢٤٥٬٥٠٣ ريال هامش سنوياً · والشرائع نفس التوقيع في ٤–٥ فبراير بـ٣٩٢٬٩٠٢ · ولا ثالث لهما في ٥٥ محطة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الثالث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تقسيم المحطات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الموقع وفئة الإنتاجية — بمصطلحات القطاع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تصنيفات — من سجلّ الشركة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 · خط سفر · حي · مختلط · نائية — ومتماسكة سلوكياً لا اسماً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10090820" y="1243584"/>
            <a:ext cx="150377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787550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Site Type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083275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التصنيف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81514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57950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77491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٪ الحجم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75227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173467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27120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90820" y="160934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787550" y="160934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حركة مرتفعة داخل المدينة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083275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٨٠٠ زيارة/يوم فأكثر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81514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579503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٢٨٤٫٩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77491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٥٢٪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875227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٢٤٫٥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173467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١٨٪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271203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٥٣٫٢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90820" y="2029968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87550" y="2029968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طريق بين المدن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083275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٣٠٪ فأكثر · سلة كبيرة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81514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579503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١١٦٫١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777491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75227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٣٤٫٦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173467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٣٨٪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271203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٧١٫٩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التعاقد وسلة التعبئة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90820" y="2450592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787550" y="2450592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داخل حي سكني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083275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دون ٨٠٠ زيارة/يوم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81514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579503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٥١٫٤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777491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٩٪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875227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٢٤٫٦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173467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2271203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٥٣٫١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090820" y="2871216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787550" y="2871216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 وطريق معاً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083275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 بين ١٠٪ و٣٠٪ · حركة مرتفعة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381514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579503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٨٨٫٠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77491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١٦٪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875227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٢٦٫٠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173467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١٧٪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2271203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٥٧٫٠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فصل الطلبين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90820" y="3291840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787550" y="3291840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خارج التجمّع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7083275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 MLPA وحركة منخفضة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6381514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5579503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777491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٢٪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3875227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٢٣٫٢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3173467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١٩٪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2271203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٥٠٫٥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090820" y="371246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8787550" y="371246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7083275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6381514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5579503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777491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١٠٠٪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3875227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3173467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٢٠٪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2271203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الإنتاجية — بمقياس MLPA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8040624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040624" y="4352544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88" name="Text 86"/>
          <p:cNvSpPr/>
          <p:nvPr/>
        </p:nvSpPr>
        <p:spPr>
          <a:xfrm>
            <a:off x="10405872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أ</a:t>
            </a:r>
            <a:endParaRPr lang="en-US" sz="1500" dirty="0"/>
          </a:p>
        </p:txBody>
      </p:sp>
      <p:sp>
        <p:nvSpPr>
          <p:cNvPr id="89" name="Text 87"/>
          <p:cNvSpPr/>
          <p:nvPr/>
        </p:nvSpPr>
        <p:spPr>
          <a:xfrm>
            <a:off x="8150352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MLPA فأكثر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8150352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 محطة  ·  ٣٩٢٫٤ MLPA</a:t>
            </a:r>
            <a:endParaRPr lang="en-US" sz="1250" dirty="0"/>
          </a:p>
        </p:txBody>
      </p:sp>
      <p:sp>
        <p:nvSpPr>
          <p:cNvPr id="91" name="Shape 89"/>
          <p:cNvSpPr/>
          <p:nvPr/>
        </p:nvSpPr>
        <p:spPr>
          <a:xfrm>
            <a:off x="4303776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303776" y="4352544"/>
            <a:ext cx="3553968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93" name="Text 91"/>
          <p:cNvSpPr/>
          <p:nvPr/>
        </p:nvSpPr>
        <p:spPr>
          <a:xfrm>
            <a:off x="6669024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ب</a:t>
            </a:r>
            <a:endParaRPr lang="en-US" sz="1500" dirty="0"/>
          </a:p>
        </p:txBody>
      </p:sp>
      <p:sp>
        <p:nvSpPr>
          <p:cNvPr id="94" name="Text 92"/>
          <p:cNvSpPr/>
          <p:nvPr/>
        </p:nvSpPr>
        <p:spPr>
          <a:xfrm>
            <a:off x="4413504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٤٫٥ إلى ٩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4413504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 ·  ١٢٣٫٥ MLPA</a:t>
            </a:r>
            <a:endParaRPr lang="en-US" sz="1250" dirty="0"/>
          </a:p>
        </p:txBody>
      </p:sp>
      <p:sp>
        <p:nvSpPr>
          <p:cNvPr id="96" name="Shape 94"/>
          <p:cNvSpPr/>
          <p:nvPr/>
        </p:nvSpPr>
        <p:spPr>
          <a:xfrm>
            <a:off x="566928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66928" y="4352544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8" name="Text 96"/>
          <p:cNvSpPr/>
          <p:nvPr/>
        </p:nvSpPr>
        <p:spPr>
          <a:xfrm>
            <a:off x="2932176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ج</a:t>
            </a:r>
            <a:endParaRPr lang="en-US" sz="1500" dirty="0"/>
          </a:p>
        </p:txBody>
      </p:sp>
      <p:sp>
        <p:nvSpPr>
          <p:cNvPr id="99" name="Text 97"/>
          <p:cNvSpPr/>
          <p:nvPr/>
        </p:nvSpPr>
        <p:spPr>
          <a:xfrm>
            <a:off x="676656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٤٫٥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676656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محطة  ·  ٣٥٫٢ MLPA</a:t>
            </a:r>
            <a:endParaRPr lang="en-US" sz="1250" dirty="0"/>
          </a:p>
        </p:txBody>
      </p:sp>
      <p:sp>
        <p:nvSpPr>
          <p:cNvPr id="101" name="Text 9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٥٥١ MLPA على ٥٢ محطة — متوسط ١٠٫٦ للمحطة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القمة والقاع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الإنتاجية اليومية · الترتيب يقود توزيع الجهد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246175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٨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6175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10043551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508709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439026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850700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262374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781017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46175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46175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43551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508709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439026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50700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٤٧٫٥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62374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81017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246175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٦٤٫٥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46175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43551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508709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MK003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439026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50700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٣٤٫٦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262374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٣٬٤٩٢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81017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٢٧٫٢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46175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٦١٫٤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46175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43551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508709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439026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850700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٣١٫٣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262374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٢٬٢١٠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781017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٣٨٫٨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246175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٨١٫١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46175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43551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508709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439026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850700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٣١٫٢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62374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١٬٨٧٨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781017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46175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٨٧٫٦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246175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43551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508709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439026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850700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٢١٫٥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262374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١٬٨٣٦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781017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٣٢٫١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246175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٦٨٫٠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246175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43551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9508709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8439026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850700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١٧٫٤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7262374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١٬٦٨٩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6781017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٢٨٫٢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246175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٥٩٫٤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246175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43551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الشيباني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9508709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MK005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8439026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7850700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١٦٫٧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262374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١٬٧٣٤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6781017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٢٦٫٣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246175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٥٩٫٨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246175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43551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9508709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439026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7850700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١٦٫٠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7262374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١٬٩٩٨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6781017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٢٢٫٠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6246175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٤٩٫٦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566928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أدنى ٨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566928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3" name="Text 81"/>
          <p:cNvSpPr/>
          <p:nvPr/>
        </p:nvSpPr>
        <p:spPr>
          <a:xfrm>
            <a:off x="4364304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3829462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2759779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2171453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1583127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1101770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566928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566928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64304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3829462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2759779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2171453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1583127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٢٧٥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1101770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٢٢٫٥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566928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٤٨٫٥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566928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64304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السلام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3829462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MD009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2759779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2171453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1583127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٢٣٣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1101770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٢٧٫٤</a:t>
            </a:r>
            <a:endParaRPr lang="en-US" sz="950" dirty="0"/>
          </a:p>
        </p:txBody>
      </p:sp>
      <p:sp>
        <p:nvSpPr>
          <p:cNvPr id="105" name="Text 103"/>
          <p:cNvSpPr/>
          <p:nvPr/>
        </p:nvSpPr>
        <p:spPr>
          <a:xfrm>
            <a:off x="566928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٥٧٫٥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566928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64304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صناعية صامطة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3829462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JA060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2759779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110" name="Text 108"/>
          <p:cNvSpPr/>
          <p:nvPr/>
        </p:nvSpPr>
        <p:spPr>
          <a:xfrm>
            <a:off x="2171453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٢٫٤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1583127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٤١٠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1101770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١٦٫٣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566928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٣٤٫٩</a:t>
            </a:r>
            <a:endParaRPr lang="en-US" sz="950" dirty="0"/>
          </a:p>
        </p:txBody>
      </p:sp>
      <p:sp>
        <p:nvSpPr>
          <p:cNvPr id="114" name="Shape 112"/>
          <p:cNvSpPr/>
          <p:nvPr/>
        </p:nvSpPr>
        <p:spPr>
          <a:xfrm>
            <a:off x="566928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364304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الروابي - المودة</a:t>
            </a:r>
            <a:endParaRPr lang="en-US" sz="950" dirty="0"/>
          </a:p>
        </p:txBody>
      </p:sp>
      <p:sp>
        <p:nvSpPr>
          <p:cNvPr id="116" name="Text 114"/>
          <p:cNvSpPr/>
          <p:nvPr/>
        </p:nvSpPr>
        <p:spPr>
          <a:xfrm>
            <a:off x="3829462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JA056</a:t>
            </a:r>
            <a:endParaRPr lang="en-US" sz="950" dirty="0"/>
          </a:p>
        </p:txBody>
      </p:sp>
      <p:sp>
        <p:nvSpPr>
          <p:cNvPr id="117" name="Text 115"/>
          <p:cNvSpPr/>
          <p:nvPr/>
        </p:nvSpPr>
        <p:spPr>
          <a:xfrm>
            <a:off x="2759779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2171453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</a:t>
            </a:r>
            <a:endParaRPr lang="en-US" sz="950" dirty="0"/>
          </a:p>
        </p:txBody>
      </p:sp>
      <p:sp>
        <p:nvSpPr>
          <p:cNvPr id="119" name="Text 117"/>
          <p:cNvSpPr/>
          <p:nvPr/>
        </p:nvSpPr>
        <p:spPr>
          <a:xfrm>
            <a:off x="1583127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٢٨٦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1101770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٢٤٫٨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566928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٥٣٫٣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566928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364304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العريفي</a:t>
            </a:r>
            <a:endParaRPr lang="en-US" sz="950" dirty="0"/>
          </a:p>
        </p:txBody>
      </p:sp>
      <p:sp>
        <p:nvSpPr>
          <p:cNvPr id="124" name="Text 122"/>
          <p:cNvSpPr/>
          <p:nvPr/>
        </p:nvSpPr>
        <p:spPr>
          <a:xfrm>
            <a:off x="3829462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HA043</a:t>
            </a:r>
            <a:endParaRPr lang="en-US" sz="950" dirty="0"/>
          </a:p>
        </p:txBody>
      </p:sp>
      <p:sp>
        <p:nvSpPr>
          <p:cNvPr id="125" name="Text 123"/>
          <p:cNvSpPr/>
          <p:nvPr/>
        </p:nvSpPr>
        <p:spPr>
          <a:xfrm>
            <a:off x="2759779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950" dirty="0"/>
          </a:p>
        </p:txBody>
      </p:sp>
      <p:sp>
        <p:nvSpPr>
          <p:cNvPr id="126" name="Text 124"/>
          <p:cNvSpPr/>
          <p:nvPr/>
        </p:nvSpPr>
        <p:spPr>
          <a:xfrm>
            <a:off x="2171453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1583127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٣٢٦</a:t>
            </a:r>
            <a:endParaRPr lang="en-US" sz="950" dirty="0"/>
          </a:p>
        </p:txBody>
      </p:sp>
      <p:sp>
        <p:nvSpPr>
          <p:cNvPr id="128" name="Text 126"/>
          <p:cNvSpPr/>
          <p:nvPr/>
        </p:nvSpPr>
        <p:spPr>
          <a:xfrm>
            <a:off x="1101770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٢٤٫١</a:t>
            </a:r>
            <a:endParaRPr lang="en-US" sz="950" dirty="0"/>
          </a:p>
        </p:txBody>
      </p:sp>
      <p:sp>
        <p:nvSpPr>
          <p:cNvPr id="129" name="Text 127"/>
          <p:cNvSpPr/>
          <p:nvPr/>
        </p:nvSpPr>
        <p:spPr>
          <a:xfrm>
            <a:off x="566928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٥٣٫٧</a:t>
            </a:r>
            <a:endParaRPr lang="en-US" sz="950" dirty="0"/>
          </a:p>
        </p:txBody>
      </p:sp>
      <p:sp>
        <p:nvSpPr>
          <p:cNvPr id="130" name="Shape 128"/>
          <p:cNvSpPr/>
          <p:nvPr/>
        </p:nvSpPr>
        <p:spPr>
          <a:xfrm>
            <a:off x="566928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64304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الكوثر</a:t>
            </a:r>
            <a:endParaRPr lang="en-US" sz="950" dirty="0"/>
          </a:p>
        </p:txBody>
      </p:sp>
      <p:sp>
        <p:nvSpPr>
          <p:cNvPr id="132" name="Text 130"/>
          <p:cNvSpPr/>
          <p:nvPr/>
        </p:nvSpPr>
        <p:spPr>
          <a:xfrm>
            <a:off x="3829462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MK100</a:t>
            </a:r>
            <a:endParaRPr lang="en-US" sz="950" dirty="0"/>
          </a:p>
        </p:txBody>
      </p:sp>
      <p:sp>
        <p:nvSpPr>
          <p:cNvPr id="133" name="Text 131"/>
          <p:cNvSpPr/>
          <p:nvPr/>
        </p:nvSpPr>
        <p:spPr>
          <a:xfrm>
            <a:off x="2759779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2171453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</a:t>
            </a:r>
            <a:endParaRPr lang="en-US" sz="950" dirty="0"/>
          </a:p>
        </p:txBody>
      </p:sp>
      <p:sp>
        <p:nvSpPr>
          <p:cNvPr id="135" name="Text 133"/>
          <p:cNvSpPr/>
          <p:nvPr/>
        </p:nvSpPr>
        <p:spPr>
          <a:xfrm>
            <a:off x="1583127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٣٣٤</a:t>
            </a:r>
            <a:endParaRPr lang="en-US" sz="950" dirty="0"/>
          </a:p>
        </p:txBody>
      </p:sp>
      <p:sp>
        <p:nvSpPr>
          <p:cNvPr id="136" name="Text 134"/>
          <p:cNvSpPr/>
          <p:nvPr/>
        </p:nvSpPr>
        <p:spPr>
          <a:xfrm>
            <a:off x="1101770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٢٦٫٦</a:t>
            </a:r>
            <a:endParaRPr lang="en-US" sz="950" dirty="0"/>
          </a:p>
        </p:txBody>
      </p:sp>
      <p:sp>
        <p:nvSpPr>
          <p:cNvPr id="137" name="Text 135"/>
          <p:cNvSpPr/>
          <p:nvPr/>
        </p:nvSpPr>
        <p:spPr>
          <a:xfrm>
            <a:off x="566928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٥٥٫٣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566928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364304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البيعة</a:t>
            </a:r>
            <a:endParaRPr lang="en-US" sz="950" dirty="0"/>
          </a:p>
        </p:txBody>
      </p:sp>
      <p:sp>
        <p:nvSpPr>
          <p:cNvPr id="140" name="Text 138"/>
          <p:cNvSpPr/>
          <p:nvPr/>
        </p:nvSpPr>
        <p:spPr>
          <a:xfrm>
            <a:off x="3829462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MK099</a:t>
            </a:r>
            <a:endParaRPr lang="en-US" sz="950" dirty="0"/>
          </a:p>
        </p:txBody>
      </p:sp>
      <p:sp>
        <p:nvSpPr>
          <p:cNvPr id="141" name="Text 139"/>
          <p:cNvSpPr/>
          <p:nvPr/>
        </p:nvSpPr>
        <p:spPr>
          <a:xfrm>
            <a:off x="2759779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950" dirty="0"/>
          </a:p>
        </p:txBody>
      </p:sp>
      <p:sp>
        <p:nvSpPr>
          <p:cNvPr id="142" name="Text 140"/>
          <p:cNvSpPr/>
          <p:nvPr/>
        </p:nvSpPr>
        <p:spPr>
          <a:xfrm>
            <a:off x="2171453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</a:t>
            </a:r>
            <a:endParaRPr lang="en-US" sz="950" dirty="0"/>
          </a:p>
        </p:txBody>
      </p:sp>
      <p:sp>
        <p:nvSpPr>
          <p:cNvPr id="143" name="Text 141"/>
          <p:cNvSpPr/>
          <p:nvPr/>
        </p:nvSpPr>
        <p:spPr>
          <a:xfrm>
            <a:off x="1583127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٤٥٦</a:t>
            </a:r>
            <a:endParaRPr lang="en-US" sz="950" dirty="0"/>
          </a:p>
        </p:txBody>
      </p:sp>
      <p:sp>
        <p:nvSpPr>
          <p:cNvPr id="144" name="Text 142"/>
          <p:cNvSpPr/>
          <p:nvPr/>
        </p:nvSpPr>
        <p:spPr>
          <a:xfrm>
            <a:off x="1101770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</a:t>
            </a:r>
            <a:endParaRPr lang="en-US" sz="950" dirty="0"/>
          </a:p>
        </p:txBody>
      </p:sp>
      <p:sp>
        <p:nvSpPr>
          <p:cNvPr id="145" name="Text 143"/>
          <p:cNvSpPr/>
          <p:nvPr/>
        </p:nvSpPr>
        <p:spPr>
          <a:xfrm>
            <a:off x="566928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٤٦٫٥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566928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4364304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ثور - جوهرة الن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3829462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MK323</a:t>
            </a:r>
            <a:endParaRPr lang="en-US" sz="950" dirty="0"/>
          </a:p>
        </p:txBody>
      </p:sp>
      <p:sp>
        <p:nvSpPr>
          <p:cNvPr id="149" name="Text 147"/>
          <p:cNvSpPr/>
          <p:nvPr/>
        </p:nvSpPr>
        <p:spPr>
          <a:xfrm>
            <a:off x="2759779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150" name="Text 148"/>
          <p:cNvSpPr/>
          <p:nvPr/>
        </p:nvSpPr>
        <p:spPr>
          <a:xfrm>
            <a:off x="2171453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</a:t>
            </a:r>
            <a:endParaRPr lang="en-US" sz="950" dirty="0"/>
          </a:p>
        </p:txBody>
      </p:sp>
      <p:sp>
        <p:nvSpPr>
          <p:cNvPr id="151" name="Text 149"/>
          <p:cNvSpPr/>
          <p:nvPr/>
        </p:nvSpPr>
        <p:spPr>
          <a:xfrm>
            <a:off x="1583127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٤٤٢</a:t>
            </a:r>
            <a:endParaRPr lang="en-US" sz="950" dirty="0"/>
          </a:p>
        </p:txBody>
      </p:sp>
      <p:sp>
        <p:nvSpPr>
          <p:cNvPr id="152" name="Text 150"/>
          <p:cNvSpPr/>
          <p:nvPr/>
        </p:nvSpPr>
        <p:spPr>
          <a:xfrm>
            <a:off x="1101770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</a:t>
            </a:r>
            <a:endParaRPr lang="en-US" sz="950" dirty="0"/>
          </a:p>
        </p:txBody>
      </p:sp>
      <p:sp>
        <p:nvSpPr>
          <p:cNvPr id="153" name="Text 151"/>
          <p:cNvSpPr/>
          <p:nvPr/>
        </p:nvSpPr>
        <p:spPr>
          <a:xfrm>
            <a:off x="566928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٤٩٫٩</a:t>
            </a:r>
            <a:endParaRPr lang="en-US" sz="950" dirty="0"/>
          </a:p>
        </p:txBody>
      </p:sp>
      <p:sp>
        <p:nvSpPr>
          <p:cNvPr id="154" name="Shape 152"/>
          <p:cNvSpPr/>
          <p:nvPr/>
        </p:nvSpPr>
        <p:spPr>
          <a:xfrm>
            <a:off x="6246175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D6E9E1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374191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التركّز شديد</a:t>
            </a:r>
            <a:endParaRPr lang="en-US" sz="1250" dirty="0"/>
          </a:p>
        </p:txBody>
      </p:sp>
      <p:sp>
        <p:nvSpPr>
          <p:cNvPr id="156" name="Text 154"/>
          <p:cNvSpPr/>
          <p:nvPr/>
        </p:nvSpPr>
        <p:spPr>
          <a:xfrm>
            <a:off x="6374191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٥ محطات تصنع ٣٠٪ من الحجم · MK007 وحدها ٤٧٫٥ MLPA</a:t>
            </a:r>
            <a:endParaRPr lang="en-US" sz="1100" dirty="0"/>
          </a:p>
        </p:txBody>
      </p:sp>
      <p:sp>
        <p:nvSpPr>
          <p:cNvPr id="157" name="Shape 155"/>
          <p:cNvSpPr/>
          <p:nvPr/>
        </p:nvSpPr>
        <p:spPr>
          <a:xfrm>
            <a:off x="566928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694944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 ليس فشلاً</a:t>
            </a:r>
            <a:endParaRPr lang="en-US" sz="1250" dirty="0"/>
          </a:p>
        </p:txBody>
      </p:sp>
      <p:sp>
        <p:nvSpPr>
          <p:cNvPr id="159" name="Text 157"/>
          <p:cNvSpPr/>
          <p:nvPr/>
        </p:nvSpPr>
        <p:spPr>
          <a:xfrm>
            <a:off x="694944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محطات دون ٤٫٥ MLPA لا تصنع سوى ٣٫٩٪ · أولويتها التكلفة والتأجير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الرابع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خطة المبيعات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 التعبئات أولاً · ثم حجم التعبئة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المنهج — من أين يأتي النمو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 التعبئات يُطلَب · وحجم التعبئة يُفسَّر ولا يُطلَب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الحجم  =  المعاملات  ×  متوسط حجم التعبئة        ←  الأولى تشغيلية، والثانية محكومة بمزيج الوقود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048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90488" y="1874520"/>
            <a:ext cx="5404104" cy="512064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2" name="Text 10"/>
          <p:cNvSpPr/>
          <p:nvPr/>
        </p:nvSpPr>
        <p:spPr>
          <a:xfrm>
            <a:off x="630021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أولاً · عدد التعبئات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0021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٧٦٧ معاملة/يوم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94740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٨٥٣ ألف ريال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5624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6" name="Text 14"/>
          <p:cNvSpPr/>
          <p:nvPr/>
        </p:nvSpPr>
        <p:spPr>
          <a:xfrm>
            <a:off x="633679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نقارن شكل ساعات المحطة بشكل تصنيفها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نحتسب النقص في ساعات ذروتها وحدها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النقص في ساعات الهدوء اختلاف طلب لا فاقد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العلاج: طاقم الذروة وتوفّر المضخات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1874520"/>
            <a:ext cx="5404104" cy="5120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ثانياً · حجم التعبئة الواحدة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665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٥٨٬٨٣٩ لتر/يوم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32384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٢٬٣٣٢ ألف ريال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3268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ثلثا تباين التعبئة مزيج وقود لا سلوك — R² ٠٫٦٦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فالمعيار من البواقي: كم تبيع مقابل ما يفسّره مزيجك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تحت ما يفسّره مزيجها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نغلق ٤٠٪ من الفجوة في ستة أشهر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40624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32064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132064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— الفرصة المؤكَّدة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303776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95216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١١٫٤٤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395216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مساهمة لكل لتر — أساس التقويم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١٬٨٨٠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58368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غير مؤكَّدة — تحتاج جدول عمالة بالساعة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بالتصنيف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بالمسارين · وستة أشهر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864762" y="1243584"/>
            <a:ext cx="172983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107962" y="1243584"/>
            <a:ext cx="75680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243047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78132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المزيج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5103" y="1243584"/>
            <a:ext cx="97302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المتوقَّع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215845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026587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(ر)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837329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 معاملة/يوم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756186" y="1243584"/>
            <a:ext cx="108114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(ر)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64762" y="160934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07962" y="160934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43047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٢٤٫٥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78132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5103" y="160934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15845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+٣٠٬٧٠٨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026587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١٬٢٩٤٬٩٣٨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7329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٤٠١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756186" y="160934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٤٣٨٬٠٨٣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١٬٧٣٣٬٠٢١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64762" y="2029968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107962" y="2029968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43047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٣٤٫٦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78132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٠٫٥٥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5103" y="2029968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215845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+١٢٬٣٣٦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026587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٣٧٢٬٢٥٦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837329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١٥٤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756186" y="2029968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١٩٠٬٧١١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٥٦٢٬٩٦٧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864762" y="2450592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07962" y="2450592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243047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٢٤٫٦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78132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٠٫٥٥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405103" y="2450592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215845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+٦٬٩٤١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026587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٢٩٢٬٥٨٣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2837329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756186" y="2450592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٥٧٬٦٤٢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٣٥٠٬٢٢٥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864762" y="2871216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107962" y="2871216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243047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٢٦٫٠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378132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٠٫٣٩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405103" y="2871216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15845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+٨٬٧٣٠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026587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٣٦٦٬٨٨٢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2837329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١٤١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756186" y="2871216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١٥٧٬٧٣٠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٥٢٤٬٦١٢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864762" y="3291840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9107962" y="3291840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8243047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٢٣٫٢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378132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٠٫٦٥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405103" y="3291840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215845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+١٢٤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4026587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٥٬٠٩٦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2837329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1756186" y="3291840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٩٬١٥٨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١٤٬٢٥٤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64762" y="371246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9107962" y="371246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8243047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7378132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—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6405103" y="371246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5215845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+٥٨٬٨٣٩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026587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٢٬٣٣١٬٧٥٥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2837329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٧٦٧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1756186" y="371246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٨٥٣٬٣٢٤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٣٬١٨٥٬٠٧٩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 التجاري لكل تصنيف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566928" y="4334256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7" name="Text 85"/>
          <p:cNvSpPr/>
          <p:nvPr/>
        </p:nvSpPr>
        <p:spPr>
          <a:xfrm>
            <a:off x="9830166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845186" y="4334256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2331354" y="4334256"/>
            <a:ext cx="551383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المعاملة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4700016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830166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7845186" y="4700016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2331354" y="4700016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توفّر المضخات · سرعة الخدمة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566928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٢٫٧٣ ر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566928" y="5010912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830166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7845186" y="5010912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التعاقد وسلة التعبئة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2331354" y="5010912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عقود ديزل متدرجة · خدمات شاحنات · ممر سريع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566928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٣٫٣٠ ر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566928" y="5321808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830166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7845186" y="5321808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2331354" y="5321808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ساعات العمل · مزيج المستأجرين · سرعة الذروة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566928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٢٫٧١ ر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566928" y="5632704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830166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050" dirty="0"/>
          </a:p>
        </p:txBody>
      </p:sp>
      <p:sp>
        <p:nvSpPr>
          <p:cNvPr id="108" name="Text 106"/>
          <p:cNvSpPr/>
          <p:nvPr/>
        </p:nvSpPr>
        <p:spPr>
          <a:xfrm>
            <a:off x="7845186" y="5632704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فصل الطلبين</a:t>
            </a:r>
            <a:endParaRPr lang="en-US" sz="1050" dirty="0"/>
          </a:p>
        </p:txBody>
      </p:sp>
      <p:sp>
        <p:nvSpPr>
          <p:cNvPr id="109" name="Text 107"/>
          <p:cNvSpPr/>
          <p:nvPr/>
        </p:nvSpPr>
        <p:spPr>
          <a:xfrm>
            <a:off x="2331354" y="5632704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عرض للسكّان وآخر للعابرين · لا رسالة واحدة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566928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٢٫٩٣ ر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66928" y="5943600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9830166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050" dirty="0"/>
          </a:p>
        </p:txBody>
      </p:sp>
      <p:sp>
        <p:nvSpPr>
          <p:cNvPr id="113" name="Text 111"/>
          <p:cNvSpPr/>
          <p:nvPr/>
        </p:nvSpPr>
        <p:spPr>
          <a:xfrm>
            <a:off x="7845186" y="5943600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2331354" y="5943600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العمالة · تأجير الوحدات · لا إنفاق تسويقي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566928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٢٫٥٩ ر</a:t>
            </a:r>
            <a:endParaRPr lang="en-US" sz="1050" dirty="0"/>
          </a:p>
        </p:txBody>
      </p:sp>
      <p:sp>
        <p:nvSpPr>
          <p:cNvPr id="116" name="Text 11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يقيس كم من تباين التعبئة يفسّره مزيج الوقود — كلما ارتفع قلّ ما يملكه التشغيل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١٢ فرصة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مرتّبة بالقيمة السنوية · وهي قائمة الأولوية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790065" y="1243584"/>
            <a:ext cx="180452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088305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85035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98302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080760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المتوقَّع من مزيجها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79000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76736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7447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471706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القيمة السنوية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90477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90065" y="1609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صبيا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088305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JA348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85035" y="1609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83023" y="1609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١٥٫٤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80760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٢٣٫٧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79000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؜-٨٫٣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476736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+٥٬٥٥٤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574473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471706" y="1609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٢٤٣٬٨٩٨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1952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790065" y="1952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088305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785035" y="1952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83023" y="1952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٣٠٫٩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080760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٤٠٫٧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379000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؜-٩٫٨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76736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+٧٬١٢٠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574473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471706" y="1952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٢٣٣٬٦٠٨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6928" y="1952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6928" y="22951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90065" y="22951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الصفا - أحد المسارحة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088305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JA092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85035" y="22951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983023" y="22951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١٩٫٠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080760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٢٢٫٢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379000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؜-٣٫٢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476736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+٤٬٠٦٨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574473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2471706" y="22951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١٨٥٬٨٨٦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66928" y="22951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66928" y="26380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90065" y="26380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الحسينية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088305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MK008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785035" y="26380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983023" y="26380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١٩٫١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080760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٢١٫٥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379000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؜-٢٫٤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4476736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+٢٬٩٤٤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3574473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2471706" y="26380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١٦٨٬٧١٤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26380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· فاقد ذروة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66928" y="29809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790065" y="29809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9088305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785035" y="29809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983023" y="29809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٢٤٫٢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080760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٢٩٫٠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5379000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؜-٤٫٨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4476736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+٣٬٨٢٦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574473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471706" y="29809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١٤٤٬٥٩٨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66928" y="29809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66928" y="33238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90065" y="33238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النور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9088305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MK001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7785035" y="33238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6983023" y="33238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6080760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٢٠٫٨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379000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؜-١٫٥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4476736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+٢٬٨٥٧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3574473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2471706" y="33238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١٣٧٬٠٧٤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566928" y="33238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566928" y="36667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790065" y="36667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الأجاويد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9088305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MK071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785035" y="36667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6983023" y="36667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٢٠٫٠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6080760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٢٥٫٠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379000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؜-٥٫٠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476736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+٢٬٧٨٠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3574473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2471706" y="36667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١٢٥٬٨٥٢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566928" y="36667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566928" y="40096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90065" y="40096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الرصيفة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9088305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MK016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785035" y="40096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6983023" y="40096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6080760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٢٠٫٨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5379000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؜-١٫٥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476736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+٢٬٤٠٩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3574473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2471706" y="40096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١١٦٬٩١٨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566928" y="40096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566928" y="43525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790065" y="43525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</a:t>
            </a:r>
            <a:endParaRPr lang="en-US" sz="1000" dirty="0"/>
          </a:p>
        </p:txBody>
      </p:sp>
      <p:sp>
        <p:nvSpPr>
          <p:cNvPr id="109" name="Text 107"/>
          <p:cNvSpPr/>
          <p:nvPr/>
        </p:nvSpPr>
        <p:spPr>
          <a:xfrm>
            <a:off x="9088305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MK003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7785035" y="43525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00" dirty="0"/>
          </a:p>
        </p:txBody>
      </p:sp>
      <p:sp>
        <p:nvSpPr>
          <p:cNvPr id="111" name="Text 109"/>
          <p:cNvSpPr/>
          <p:nvPr/>
        </p:nvSpPr>
        <p:spPr>
          <a:xfrm>
            <a:off x="6983023" y="43525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٢٧٫٢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080760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٢٤٫٣</a:t>
            </a:r>
            <a:endParaRPr lang="en-US" sz="1000" dirty="0"/>
          </a:p>
        </p:txBody>
      </p:sp>
      <p:sp>
        <p:nvSpPr>
          <p:cNvPr id="113" name="Text 111"/>
          <p:cNvSpPr/>
          <p:nvPr/>
        </p:nvSpPr>
        <p:spPr>
          <a:xfrm>
            <a:off x="5379000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4476736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3574473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</a:t>
            </a:r>
            <a:endParaRPr lang="en-US" sz="1000" dirty="0"/>
          </a:p>
        </p:txBody>
      </p:sp>
      <p:sp>
        <p:nvSpPr>
          <p:cNvPr id="116" name="Text 114"/>
          <p:cNvSpPr/>
          <p:nvPr/>
        </p:nvSpPr>
        <p:spPr>
          <a:xfrm>
            <a:off x="2471706" y="43525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١١٤٬٧٢٦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566928" y="43525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566928" y="46954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9790065" y="46954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ممشى الشوقية</a:t>
            </a:r>
            <a:endParaRPr lang="en-US" sz="1000" dirty="0"/>
          </a:p>
        </p:txBody>
      </p:sp>
      <p:sp>
        <p:nvSpPr>
          <p:cNvPr id="120" name="Text 118"/>
          <p:cNvSpPr/>
          <p:nvPr/>
        </p:nvSpPr>
        <p:spPr>
          <a:xfrm>
            <a:off x="9088305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MK020</a:t>
            </a:r>
            <a:endParaRPr lang="en-US" sz="1000" dirty="0"/>
          </a:p>
        </p:txBody>
      </p:sp>
      <p:sp>
        <p:nvSpPr>
          <p:cNvPr id="121" name="Text 119"/>
          <p:cNvSpPr/>
          <p:nvPr/>
        </p:nvSpPr>
        <p:spPr>
          <a:xfrm>
            <a:off x="7785035" y="46954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122" name="Text 120"/>
          <p:cNvSpPr/>
          <p:nvPr/>
        </p:nvSpPr>
        <p:spPr>
          <a:xfrm>
            <a:off x="6983023" y="46954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١٩٫٢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6080760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٢٠٫٨</a:t>
            </a:r>
            <a:endParaRPr lang="en-US" sz="1000" dirty="0"/>
          </a:p>
        </p:txBody>
      </p:sp>
      <p:sp>
        <p:nvSpPr>
          <p:cNvPr id="124" name="Text 122"/>
          <p:cNvSpPr/>
          <p:nvPr/>
        </p:nvSpPr>
        <p:spPr>
          <a:xfrm>
            <a:off x="5379000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؜-١٫٦</a:t>
            </a:r>
            <a:endParaRPr lang="en-US" sz="1000" dirty="0"/>
          </a:p>
        </p:txBody>
      </p:sp>
      <p:sp>
        <p:nvSpPr>
          <p:cNvPr id="125" name="Text 123"/>
          <p:cNvSpPr/>
          <p:nvPr/>
        </p:nvSpPr>
        <p:spPr>
          <a:xfrm>
            <a:off x="4476736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+٢٬١٤٨</a:t>
            </a:r>
            <a:endParaRPr lang="en-US" sz="1000" dirty="0"/>
          </a:p>
        </p:txBody>
      </p:sp>
      <p:sp>
        <p:nvSpPr>
          <p:cNvPr id="126" name="Text 124"/>
          <p:cNvSpPr/>
          <p:nvPr/>
        </p:nvSpPr>
        <p:spPr>
          <a:xfrm>
            <a:off x="3574473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000" dirty="0"/>
          </a:p>
        </p:txBody>
      </p:sp>
      <p:sp>
        <p:nvSpPr>
          <p:cNvPr id="127" name="Text 125"/>
          <p:cNvSpPr/>
          <p:nvPr/>
        </p:nvSpPr>
        <p:spPr>
          <a:xfrm>
            <a:off x="2471706" y="46954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١١٠٬٠٢٨</a:t>
            </a:r>
            <a:endParaRPr lang="en-US" sz="1000" dirty="0"/>
          </a:p>
        </p:txBody>
      </p:sp>
      <p:sp>
        <p:nvSpPr>
          <p:cNvPr id="128" name="Text 126"/>
          <p:cNvSpPr/>
          <p:nvPr/>
        </p:nvSpPr>
        <p:spPr>
          <a:xfrm>
            <a:off x="566928" y="46954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566928" y="5038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9790065" y="5038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1000" dirty="0"/>
          </a:p>
        </p:txBody>
      </p:sp>
      <p:sp>
        <p:nvSpPr>
          <p:cNvPr id="131" name="Text 129"/>
          <p:cNvSpPr/>
          <p:nvPr/>
        </p:nvSpPr>
        <p:spPr>
          <a:xfrm>
            <a:off x="9088305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1000" dirty="0"/>
          </a:p>
        </p:txBody>
      </p:sp>
      <p:sp>
        <p:nvSpPr>
          <p:cNvPr id="132" name="Text 130"/>
          <p:cNvSpPr/>
          <p:nvPr/>
        </p:nvSpPr>
        <p:spPr>
          <a:xfrm>
            <a:off x="7785035" y="5038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133" name="Text 131"/>
          <p:cNvSpPr/>
          <p:nvPr/>
        </p:nvSpPr>
        <p:spPr>
          <a:xfrm>
            <a:off x="6983023" y="5038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٣٨٫٨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6080760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٢٩٫٣</a:t>
            </a:r>
            <a:endParaRPr lang="en-US" sz="1000" dirty="0"/>
          </a:p>
        </p:txBody>
      </p:sp>
      <p:sp>
        <p:nvSpPr>
          <p:cNvPr id="135" name="Text 133"/>
          <p:cNvSpPr/>
          <p:nvPr/>
        </p:nvSpPr>
        <p:spPr>
          <a:xfrm>
            <a:off x="5379000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٩٫٥</a:t>
            </a:r>
            <a:endParaRPr lang="en-US" sz="1000" dirty="0"/>
          </a:p>
        </p:txBody>
      </p:sp>
      <p:sp>
        <p:nvSpPr>
          <p:cNvPr id="136" name="Text 134"/>
          <p:cNvSpPr/>
          <p:nvPr/>
        </p:nvSpPr>
        <p:spPr>
          <a:xfrm>
            <a:off x="4476736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</a:t>
            </a:r>
            <a:endParaRPr lang="en-US" sz="1000" dirty="0"/>
          </a:p>
        </p:txBody>
      </p:sp>
      <p:sp>
        <p:nvSpPr>
          <p:cNvPr id="137" name="Text 135"/>
          <p:cNvSpPr/>
          <p:nvPr/>
        </p:nvSpPr>
        <p:spPr>
          <a:xfrm>
            <a:off x="3574473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</a:t>
            </a:r>
            <a:endParaRPr lang="en-US" sz="1000" dirty="0"/>
          </a:p>
        </p:txBody>
      </p:sp>
      <p:sp>
        <p:nvSpPr>
          <p:cNvPr id="138" name="Text 136"/>
          <p:cNvSpPr/>
          <p:nvPr/>
        </p:nvSpPr>
        <p:spPr>
          <a:xfrm>
            <a:off x="2471706" y="5038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١٠٧٬٣١٨</a:t>
            </a:r>
            <a:endParaRPr lang="en-US" sz="1000" dirty="0"/>
          </a:p>
        </p:txBody>
      </p:sp>
      <p:sp>
        <p:nvSpPr>
          <p:cNvPr id="139" name="Text 137"/>
          <p:cNvSpPr/>
          <p:nvPr/>
        </p:nvSpPr>
        <p:spPr>
          <a:xfrm>
            <a:off x="566928" y="5038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ديزل مرتفع</a:t>
            </a:r>
            <a:endParaRPr lang="en-US" sz="900" dirty="0"/>
          </a:p>
        </p:txBody>
      </p:sp>
      <p:sp>
        <p:nvSpPr>
          <p:cNvPr id="140" name="Shape 138"/>
          <p:cNvSpPr/>
          <p:nvPr/>
        </p:nvSpPr>
        <p:spPr>
          <a:xfrm>
            <a:off x="566928" y="5381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9790065" y="5381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الرصيفة المسار</a:t>
            </a:r>
            <a:endParaRPr lang="en-US" sz="1000" dirty="0"/>
          </a:p>
        </p:txBody>
      </p:sp>
      <p:sp>
        <p:nvSpPr>
          <p:cNvPr id="142" name="Text 140"/>
          <p:cNvSpPr/>
          <p:nvPr/>
        </p:nvSpPr>
        <p:spPr>
          <a:xfrm>
            <a:off x="9088305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MK018</a:t>
            </a:r>
            <a:endParaRPr lang="en-US" sz="1000" dirty="0"/>
          </a:p>
        </p:txBody>
      </p:sp>
      <p:sp>
        <p:nvSpPr>
          <p:cNvPr id="143" name="Text 141"/>
          <p:cNvSpPr/>
          <p:nvPr/>
        </p:nvSpPr>
        <p:spPr>
          <a:xfrm>
            <a:off x="7785035" y="5381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144" name="Text 142"/>
          <p:cNvSpPr/>
          <p:nvPr/>
        </p:nvSpPr>
        <p:spPr>
          <a:xfrm>
            <a:off x="6983023" y="5381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</a:t>
            </a:r>
            <a:endParaRPr lang="en-US" sz="1000" dirty="0"/>
          </a:p>
        </p:txBody>
      </p:sp>
      <p:sp>
        <p:nvSpPr>
          <p:cNvPr id="145" name="Text 143"/>
          <p:cNvSpPr/>
          <p:nvPr/>
        </p:nvSpPr>
        <p:spPr>
          <a:xfrm>
            <a:off x="6080760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000" dirty="0"/>
          </a:p>
        </p:txBody>
      </p:sp>
      <p:sp>
        <p:nvSpPr>
          <p:cNvPr id="146" name="Text 144"/>
          <p:cNvSpPr/>
          <p:nvPr/>
        </p:nvSpPr>
        <p:spPr>
          <a:xfrm>
            <a:off x="5379000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؜-٣٫٢</a:t>
            </a:r>
            <a:endParaRPr lang="en-US" sz="1000" dirty="0"/>
          </a:p>
        </p:txBody>
      </p:sp>
      <p:sp>
        <p:nvSpPr>
          <p:cNvPr id="147" name="Text 145"/>
          <p:cNvSpPr/>
          <p:nvPr/>
        </p:nvSpPr>
        <p:spPr>
          <a:xfrm>
            <a:off x="4476736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+٢٬٣٢٧</a:t>
            </a:r>
            <a:endParaRPr lang="en-US" sz="1000" dirty="0"/>
          </a:p>
        </p:txBody>
      </p:sp>
      <p:sp>
        <p:nvSpPr>
          <p:cNvPr id="148" name="Text 146"/>
          <p:cNvSpPr/>
          <p:nvPr/>
        </p:nvSpPr>
        <p:spPr>
          <a:xfrm>
            <a:off x="3574473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</a:t>
            </a:r>
            <a:endParaRPr lang="en-US" sz="1000" dirty="0"/>
          </a:p>
        </p:txBody>
      </p:sp>
      <p:sp>
        <p:nvSpPr>
          <p:cNvPr id="149" name="Text 147"/>
          <p:cNvSpPr/>
          <p:nvPr/>
        </p:nvSpPr>
        <p:spPr>
          <a:xfrm>
            <a:off x="2471706" y="5381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١٠٥٬١٣٤</a:t>
            </a:r>
            <a:endParaRPr lang="en-US" sz="1000" dirty="0"/>
          </a:p>
        </p:txBody>
      </p:sp>
      <p:sp>
        <p:nvSpPr>
          <p:cNvPr id="150" name="Text 148"/>
          <p:cNvSpPr/>
          <p:nvPr/>
        </p:nvSpPr>
        <p:spPr>
          <a:xfrm>
            <a:off x="566928" y="5381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566928" y="5779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152" name="Text 150"/>
          <p:cNvSpPr/>
          <p:nvPr/>
        </p:nvSpPr>
        <p:spPr>
          <a:xfrm>
            <a:off x="749808" y="5824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هذه الاثنتا عشرة تحمل ٥٦٪ من الفرصة · والعمرة الجديدة ليست فيها: تعبئتها فوق ما يفسّره مزيجها، وتغطية خزانها ٢٫٥ يوم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مستهدف المحطة إلى مستهدف العامل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طبقات — الوحدة «معاملة» في الأوليين والريال في الثالثة · مقيس من ٣٧٢ عاملاً في ٤٠ محطة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الاشتقاق — العمرة الجديدة MK007 · الوردية ٠٠:٠٠–١١:٥٩ و١٢:٠٠–٢٣:٥٩ بتعريف التقرير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198864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198864" y="195681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98864" y="2322576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 يومياً — كل المحطة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887968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1499616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65392" y="15453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الصباحية ٠٠:٠٠–١١:٥٩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65392" y="1746504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١٬٧٠٣ معاملة ÷ ١١٫٣ عاملاً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65392" y="201168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١٥١ للعامل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2286000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33172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المسائية ١٢:٠٠–٢٣:٥٩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65392" y="2532888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٢٬٥٥٨ معاملة ÷ ١٤٫٧ عاملاً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65392" y="279806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١٧٤ للعامل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81344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85616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58768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 — المساء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858768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طلب ٦٠٪ · عمل ٥٧٪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858768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 +١٥٪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474720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78992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52144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نطلبه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52144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ساعات الذروة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52144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 معاملة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6928" y="2962656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اختلال الطاقم على ٤٠ محطة — الطلب مقابل عرض العمل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66928" y="325526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3" name="Text 31"/>
          <p:cNvSpPr/>
          <p:nvPr/>
        </p:nvSpPr>
        <p:spPr>
          <a:xfrm>
            <a:off x="10191071" y="3255264"/>
            <a:ext cx="140352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489311" y="325526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286293" y="3255264"/>
            <a:ext cx="12030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584532" y="325526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الطاقم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582017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79251" y="325526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من الطلب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76485" y="325526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من العمل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474221" y="325526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الصباحي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571958" y="325526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569443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اختلال العبء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66928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يُنقل للمساء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66928" y="3621024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191071" y="3621024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الطائف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9489311" y="3621024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MK006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8286293" y="3621024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7584532" y="3621024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582017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١٬٦٥٤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5479251" y="3621024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٦٤٪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376485" y="3621024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٥٥٪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474221" y="3621024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٧٨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2571958" y="3621024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١١٣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1569443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+٤٥٪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566928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+١٫٥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66928" y="3922776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191071" y="3922776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9489311" y="3922776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8286293" y="3922776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7584532" y="3922776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6582017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٢٧٤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479251" y="3922776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٦٩٪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4376485" y="3922776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٥٤٪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3474221" y="3922776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2571958" y="3922776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1569443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+٩٤٪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66928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566928" y="4224528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191071" y="4224528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9489311" y="4224528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8286293" y="4224528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7584532" y="4224528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6582017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١٬٨٣٥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5479251" y="4224528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٦٢٪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4376485" y="4224528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٥٠٪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3474221" y="4224528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١٥٤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2571958" y="4224528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٢٥٣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1569443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+٦٤٪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566928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566928" y="4526280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91071" y="4526280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9489311" y="4526280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8286293" y="4526280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7584532" y="4526280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6582017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١٬٩٩٧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5479251" y="4526280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٥٩٪</a:t>
            </a:r>
            <a:endParaRPr lang="en-US" sz="1050" dirty="0"/>
          </a:p>
        </p:txBody>
      </p:sp>
      <p:sp>
        <p:nvSpPr>
          <p:cNvPr id="87" name="Text 85"/>
          <p:cNvSpPr/>
          <p:nvPr/>
        </p:nvSpPr>
        <p:spPr>
          <a:xfrm>
            <a:off x="4376485" y="4526280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٥٠٪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3474221" y="4526280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١٣٦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2571958" y="4526280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١٩٦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1569443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+٤٤٪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566928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566928" y="4828032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191071" y="4828032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الملك خالد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9489311" y="4828032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MK093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8286293" y="4828032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7584532" y="4828032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6582017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٦٨٥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5479251" y="4828032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٦٦٪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4376485" y="4828032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3474221" y="4828032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</a:t>
            </a:r>
            <a:endParaRPr lang="en-US" sz="1050" dirty="0"/>
          </a:p>
        </p:txBody>
      </p:sp>
      <p:sp>
        <p:nvSpPr>
          <p:cNvPr id="101" name="Text 99"/>
          <p:cNvSpPr/>
          <p:nvPr/>
        </p:nvSpPr>
        <p:spPr>
          <a:xfrm>
            <a:off x="2571958" y="4828032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</a:t>
            </a:r>
            <a:endParaRPr lang="en-US" sz="1050" dirty="0"/>
          </a:p>
        </p:txBody>
      </p:sp>
      <p:sp>
        <p:nvSpPr>
          <p:cNvPr id="102" name="Text 100"/>
          <p:cNvSpPr/>
          <p:nvPr/>
        </p:nvSpPr>
        <p:spPr>
          <a:xfrm>
            <a:off x="1569443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+٨٥٪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566928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+١٫٠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566928" y="5175504"/>
            <a:ext cx="11027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٣٧٢ عاملاً في ٤٠ محطة · المساء ٦٠٫٨٪ من المعاملات و٦١٫٢٪ من الإيراد · ١٧٫١ عاملاً يُنقلون من الصباح للمساء بلا توظيف · و١٥ محطة بلا عمود عامل في تصديرها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8040624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40624" y="5431536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132064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55565A"/>
          </a:solidFill>
          <a:ln/>
        </p:spPr>
      </p:sp>
      <p:sp>
        <p:nvSpPr>
          <p:cNvPr id="108" name="Text 106"/>
          <p:cNvSpPr/>
          <p:nvPr/>
        </p:nvSpPr>
        <p:spPr>
          <a:xfrm>
            <a:off x="8132064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8955024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١ · عبء الوردية</a:t>
            </a:r>
            <a:endParaRPr lang="en-US" sz="1150" dirty="0"/>
          </a:p>
        </p:txBody>
      </p:sp>
      <p:sp>
        <p:nvSpPr>
          <p:cNvPr id="110" name="Text 108"/>
          <p:cNvSpPr/>
          <p:nvPr/>
        </p:nvSpPr>
        <p:spPr>
          <a:xfrm>
            <a:off x="8132064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 الوردية ÷ عمالها. حِمل لا مستهدف — العامل لا يصنع المعاملة.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303776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303776" y="5431536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5216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F5831F"/>
          </a:solidFill>
          <a:ln/>
        </p:spPr>
      </p:sp>
      <p:sp>
        <p:nvSpPr>
          <p:cNvPr id="114" name="Text 112"/>
          <p:cNvSpPr/>
          <p:nvPr/>
        </p:nvSpPr>
        <p:spPr>
          <a:xfrm>
            <a:off x="4395216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15" name="Text 113"/>
          <p:cNvSpPr/>
          <p:nvPr/>
        </p:nvSpPr>
        <p:spPr>
          <a:xfrm>
            <a:off x="5218176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٢ · مستهدف الوردية</a:t>
            </a:r>
            <a:endParaRPr lang="en-US" sz="1150" dirty="0"/>
          </a:p>
        </p:txBody>
      </p:sp>
      <p:sp>
        <p:nvSpPr>
          <p:cNvPr id="116" name="Text 114"/>
          <p:cNvSpPr/>
          <p:nvPr/>
        </p:nvSpPr>
        <p:spPr>
          <a:xfrm>
            <a:off x="4395216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تفقده المحطة في ساعات ذروتها. هذا وحده ما يُطالَب به.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566928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66928" y="5431536"/>
            <a:ext cx="3553968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58368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2E8B6F"/>
          </a:solidFill>
          <a:ln/>
        </p:spPr>
      </p:sp>
      <p:sp>
        <p:nvSpPr>
          <p:cNvPr id="120" name="Text 118"/>
          <p:cNvSpPr/>
          <p:nvPr/>
        </p:nvSpPr>
        <p:spPr>
          <a:xfrm>
            <a:off x="658368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1481328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٣ · الحافز</a:t>
            </a:r>
            <a:endParaRPr lang="en-US" sz="1150" dirty="0"/>
          </a:p>
        </p:txBody>
      </p:sp>
      <p:sp>
        <p:nvSpPr>
          <p:cNvPr id="122" name="Text 120"/>
          <p:cNvSpPr/>
          <p:nvPr/>
        </p:nvSpPr>
        <p:spPr>
          <a:xfrm>
            <a:off x="658368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لترات إضافية × هامش المحطة × نسبة · بوابة جودة وسقف ١٠٠ ريال.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يستهدفه كل منفذ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مقيس من مزيج الوقود وسلة التعبئة وساعة الذروة · ٥٢ منفذاً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الملف المقيس لكل تصنيف — ومن يخدمه فعلاً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10602102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830166" y="1481328"/>
            <a:ext cx="77193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منافذ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47953" y="1481328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065740" y="1481328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73250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لتر/زيارة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080760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زيارة/يوم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98547" y="1481328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الذروة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16334" y="1481328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66928" y="1481328"/>
            <a:ext cx="374940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يخدمه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1847088"/>
            <a:ext cx="11027664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02102" y="1847088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830166" y="1847088"/>
            <a:ext cx="77193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47953" y="1847088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٢٨٤٫٩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65740" y="1847088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٦٪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3250" y="1847088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80760" y="1847088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١٬٠٦٣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98547" y="1847088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١٧:٠٠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316334" y="1847088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٥٢٪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1847088"/>
            <a:ext cx="374940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المدينة · تردد عالٍ وسلة صغيرة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2176272"/>
            <a:ext cx="11027664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02102" y="2176272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830166" y="2176272"/>
            <a:ext cx="77193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947953" y="2176272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١١٦٫١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065740" y="2176272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٤٥٪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073250" y="2176272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٣٤٫٤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080760" y="2176272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٦٥٥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198547" y="2176272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١٧:٠٠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16334" y="2176272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٥٠٪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" y="2176272"/>
            <a:ext cx="374940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شاحنات ومسافرون · تعبئة كاملة وسلة كبيرة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66928" y="2505456"/>
            <a:ext cx="11027664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602102" y="2505456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830166" y="2505456"/>
            <a:ext cx="77193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947953" y="2505456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٨٨٫٠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065740" y="2505456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١٣٪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073250" y="2505456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٢٤٫٠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080760" y="2505456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١٬٠٩٢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198547" y="2505456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١٩:٠٠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316334" y="2505456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٥٤٪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66928" y="2505456"/>
            <a:ext cx="374940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سكّان وعابرون — طلبان في موقع واحد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2834640"/>
            <a:ext cx="11027664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602102" y="2834640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830166" y="2834640"/>
            <a:ext cx="77193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947953" y="2834640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٥١٫٤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8065740" y="2834640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١٦٪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073250" y="2834640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٢٤٫٧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080760" y="2834640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٥٧٤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198547" y="2834640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١٧:٠٠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316334" y="2834640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٥٣٪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66928" y="2834640"/>
            <a:ext cx="374940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سكّان الحي · النمو بالتردد لا بالسلة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566928" y="3163824"/>
            <a:ext cx="11027664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602102" y="3163824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830166" y="3163824"/>
            <a:ext cx="77193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8947953" y="3163824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8065740" y="3163824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١٨٪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7073250" y="3163824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6080760" y="3163824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٣٢٦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5198547" y="3163824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٢١:٠٠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316334" y="3163824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566928" y="3163824"/>
            <a:ext cx="374940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طلب محدود · الأولوية ضبط التكلفة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566928" y="3456432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وأعلى المنافذ فرصةً — ولكلٍّ استهدافه وفعله</a:t>
            </a:r>
            <a:endParaRPr lang="en-US" sz="1350" dirty="0"/>
          </a:p>
        </p:txBody>
      </p:sp>
      <p:sp>
        <p:nvSpPr>
          <p:cNvPr id="70" name="Shape 68"/>
          <p:cNvSpPr/>
          <p:nvPr/>
        </p:nvSpPr>
        <p:spPr>
          <a:xfrm>
            <a:off x="566928" y="3749040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71" name="Text 69"/>
          <p:cNvSpPr/>
          <p:nvPr/>
        </p:nvSpPr>
        <p:spPr>
          <a:xfrm>
            <a:off x="9906684" y="3749040"/>
            <a:ext cx="168790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المنفذ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9118994" y="3749040"/>
            <a:ext cx="7876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8106249" y="3749040"/>
            <a:ext cx="101274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4055271" y="3749040"/>
            <a:ext cx="405097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يستهدفه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3155053" y="3749040"/>
            <a:ext cx="9002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الذروة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1917254" y="3749040"/>
            <a:ext cx="123779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منافسون ≤٥كم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566928" y="3749040"/>
            <a:ext cx="1350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ر/سنة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566928" y="4114800"/>
            <a:ext cx="11027664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06684" y="4114800"/>
            <a:ext cx="1687908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صبيا</a:t>
            </a:r>
            <a:endParaRPr lang="en-US" sz="1050" dirty="0"/>
          </a:p>
        </p:txBody>
      </p:sp>
      <p:sp>
        <p:nvSpPr>
          <p:cNvPr id="80" name="Text 78"/>
          <p:cNvSpPr/>
          <p:nvPr/>
        </p:nvSpPr>
        <p:spPr>
          <a:xfrm>
            <a:off x="9118994" y="4114800"/>
            <a:ext cx="787690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JA348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8106249" y="4114800"/>
            <a:ext cx="1012745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4055271" y="4114800"/>
            <a:ext cx="405097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سكّان وعابرون · طلب مسائي غالب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3155053" y="4114800"/>
            <a:ext cx="900217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٢١:٠٠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1917254" y="4114800"/>
            <a:ext cx="123779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يُمسح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566928" y="4114800"/>
            <a:ext cx="1350326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٢٤٣٬٨٩٨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566928" y="4389120"/>
            <a:ext cx="11027664" cy="27432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906684" y="4389120"/>
            <a:ext cx="1687908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9118994" y="4389120"/>
            <a:ext cx="787690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8106249" y="4389120"/>
            <a:ext cx="1012745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4055271" y="4389120"/>
            <a:ext cx="405097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شاحنات وأساطيل · حسابات أسطول رقمية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3155053" y="4389120"/>
            <a:ext cx="900217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١٩:٠٠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1917254" y="4389120"/>
            <a:ext cx="123779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يُمسح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566928" y="4389120"/>
            <a:ext cx="1350326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٢٣٣٬٦٠٨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566928" y="4663440"/>
            <a:ext cx="11027664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906684" y="4663440"/>
            <a:ext cx="1687908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الصفا - أحد المس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9118994" y="4663440"/>
            <a:ext cx="787690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JA092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8106249" y="4663440"/>
            <a:ext cx="1012745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4055271" y="4663440"/>
            <a:ext cx="405097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المدينة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3155053" y="4663440"/>
            <a:ext cx="900217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٢١:٠٠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1917254" y="4663440"/>
            <a:ext cx="123779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يُمسح</a:t>
            </a:r>
            <a:endParaRPr lang="en-US" sz="1050" dirty="0"/>
          </a:p>
        </p:txBody>
      </p:sp>
      <p:sp>
        <p:nvSpPr>
          <p:cNvPr id="101" name="Text 99"/>
          <p:cNvSpPr/>
          <p:nvPr/>
        </p:nvSpPr>
        <p:spPr>
          <a:xfrm>
            <a:off x="566928" y="4663440"/>
            <a:ext cx="1350326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١٨٥٬٨٨٦</a:t>
            </a:r>
            <a:endParaRPr lang="en-US" sz="1050" dirty="0"/>
          </a:p>
        </p:txBody>
      </p:sp>
      <p:sp>
        <p:nvSpPr>
          <p:cNvPr id="102" name="Shape 100"/>
          <p:cNvSpPr/>
          <p:nvPr/>
        </p:nvSpPr>
        <p:spPr>
          <a:xfrm>
            <a:off x="566928" y="4937760"/>
            <a:ext cx="11027664" cy="27432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906684" y="4937760"/>
            <a:ext cx="1687908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الحسينية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9118994" y="4937760"/>
            <a:ext cx="787690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MK008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8106249" y="4937760"/>
            <a:ext cx="1012745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4055271" y="4937760"/>
            <a:ext cx="405097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المدينة</a:t>
            </a:r>
            <a:endParaRPr lang="en-US" sz="1000" dirty="0"/>
          </a:p>
        </p:txBody>
      </p:sp>
      <p:sp>
        <p:nvSpPr>
          <p:cNvPr id="107" name="Text 105"/>
          <p:cNvSpPr/>
          <p:nvPr/>
        </p:nvSpPr>
        <p:spPr>
          <a:xfrm>
            <a:off x="3155053" y="4937760"/>
            <a:ext cx="900217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٢٠:٠٠</a:t>
            </a:r>
            <a:endParaRPr lang="en-US" sz="1050" dirty="0"/>
          </a:p>
        </p:txBody>
      </p:sp>
      <p:sp>
        <p:nvSpPr>
          <p:cNvPr id="108" name="Text 106"/>
          <p:cNvSpPr/>
          <p:nvPr/>
        </p:nvSpPr>
        <p:spPr>
          <a:xfrm>
            <a:off x="1917254" y="4937760"/>
            <a:ext cx="123779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يُمسح</a:t>
            </a:r>
            <a:endParaRPr lang="en-US" sz="1050" dirty="0"/>
          </a:p>
        </p:txBody>
      </p:sp>
      <p:sp>
        <p:nvSpPr>
          <p:cNvPr id="109" name="Text 107"/>
          <p:cNvSpPr/>
          <p:nvPr/>
        </p:nvSpPr>
        <p:spPr>
          <a:xfrm>
            <a:off x="566928" y="4937760"/>
            <a:ext cx="1350326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١٦٨٬٧١٤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566928" y="5212080"/>
            <a:ext cx="11027664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906684" y="5212080"/>
            <a:ext cx="1687908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50" dirty="0"/>
          </a:p>
        </p:txBody>
      </p:sp>
      <p:sp>
        <p:nvSpPr>
          <p:cNvPr id="112" name="Text 110"/>
          <p:cNvSpPr/>
          <p:nvPr/>
        </p:nvSpPr>
        <p:spPr>
          <a:xfrm>
            <a:off x="9118994" y="5212080"/>
            <a:ext cx="787690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50" dirty="0"/>
          </a:p>
        </p:txBody>
      </p:sp>
      <p:sp>
        <p:nvSpPr>
          <p:cNvPr id="113" name="Text 111"/>
          <p:cNvSpPr/>
          <p:nvPr/>
        </p:nvSpPr>
        <p:spPr>
          <a:xfrm>
            <a:off x="8106249" y="5212080"/>
            <a:ext cx="1012745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4055271" y="5212080"/>
            <a:ext cx="405097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شاحنات وأساطيل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3155053" y="5212080"/>
            <a:ext cx="900217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٢١:٠٠</a:t>
            </a:r>
            <a:endParaRPr lang="en-US" sz="1050" dirty="0"/>
          </a:p>
        </p:txBody>
      </p:sp>
      <p:sp>
        <p:nvSpPr>
          <p:cNvPr id="116" name="Text 114"/>
          <p:cNvSpPr/>
          <p:nvPr/>
        </p:nvSpPr>
        <p:spPr>
          <a:xfrm>
            <a:off x="1917254" y="5212080"/>
            <a:ext cx="123779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يُمسح</a:t>
            </a:r>
            <a:endParaRPr lang="en-US" sz="1050" dirty="0"/>
          </a:p>
        </p:txBody>
      </p:sp>
      <p:sp>
        <p:nvSpPr>
          <p:cNvPr id="117" name="Text 115"/>
          <p:cNvSpPr/>
          <p:nvPr/>
        </p:nvSpPr>
        <p:spPr>
          <a:xfrm>
            <a:off x="566928" y="5212080"/>
            <a:ext cx="1350326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١٤٤٬٥٩٨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6190488" y="5504688"/>
            <a:ext cx="5404104" cy="749808"/>
          </a:xfrm>
          <a:prstGeom prst="roundRect">
            <a:avLst>
              <a:gd name="adj" fmla="val 6098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6336792" y="5596128"/>
            <a:ext cx="511149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المسح التنافسي ٥ منافذ من ٥٢ · الطريقة معروفة ومكرَّرة، والباقي يحتاج تشغيلها لا ابتكارها.</a:t>
            </a:r>
            <a:endParaRPr lang="en-US" sz="1050" dirty="0"/>
          </a:p>
        </p:txBody>
      </p:sp>
      <p:sp>
        <p:nvSpPr>
          <p:cNvPr id="120" name="Shape 118"/>
          <p:cNvSpPr/>
          <p:nvPr/>
        </p:nvSpPr>
        <p:spPr>
          <a:xfrm>
            <a:off x="566928" y="5504688"/>
            <a:ext cx="5404104" cy="749808"/>
          </a:xfrm>
          <a:prstGeom prst="roundRect">
            <a:avLst>
              <a:gd name="adj" fmla="val 6098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13232" y="5596128"/>
            <a:ext cx="511149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منفذاً تصنيفُه في السجلّ يخالف سلوكه المقيس — أشدّها العوالي MK003 مصنّفة «خط سفر» وديزلها صفر. يُراجَع التصنيف لا يُلغى.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الحافز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يُدفع من هامش اللتر الإضافي — لا من ميزانية منفصلة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28016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 فوق الأساس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152704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 بين إنتاج العامل وأساس ورديته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1901952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1938528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هامش المساهمة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" y="2185416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١١٫٤٤ هللة لكل لتر — أساس حدّي لا صافٍ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560320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596896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نسبة المشاركة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3232" y="2843784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العامل من الهامش الإضافي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218688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3255264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الجودة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3232" y="3502152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مستوفاة ← صفر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877056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913632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المحطة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" y="4160520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صافيها سالب ← صفر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53542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457200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١٠٠ ريال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13232" y="481888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شهرياً لكل عامل — معتمد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632143" y="1207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المكافأة في أي حملة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632143" y="1536192"/>
            <a:ext cx="4962449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8" name="Text 26"/>
          <p:cNvSpPr/>
          <p:nvPr/>
        </p:nvSpPr>
        <p:spPr>
          <a:xfrm>
            <a:off x="9907359" y="1536192"/>
            <a:ext cx="16872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815621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+معاملة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23882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32143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32143" y="1901952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07359" y="1901952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815621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٢٫٧٣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23882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٥٫٤٧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632143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٨٫٢٠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632143" y="2231136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07359" y="2231136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815621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٣٫٣٠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723882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٦٫٦٠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632143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٩٫٩١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632143" y="2560320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07359" y="2560320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815621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٢٫٧١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23882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٥٫٤١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632143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٨٫١٢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632143" y="2889504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907359" y="2889504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815621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٢٫٩٣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723882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٥٫٨٦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632143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٨٫٨٠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632143" y="3218688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907359" y="3218688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815621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٢٫٥٩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7723882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٥٫١٨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6632143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٧٫٧٦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632143" y="3493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يمرّ وما لا يمرّ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6632143" y="3822192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59" name="Text 57"/>
          <p:cNvSpPr/>
          <p:nvPr/>
        </p:nvSpPr>
        <p:spPr>
          <a:xfrm>
            <a:off x="6723583" y="382219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7089343" y="3822192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مناديل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0634472" y="382219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 ر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6632143" y="4224528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63" name="Text 61"/>
          <p:cNvSpPr/>
          <p:nvPr/>
        </p:nvSpPr>
        <p:spPr>
          <a:xfrm>
            <a:off x="6723583" y="422452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7089343" y="4224528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قارورة ماء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10634472" y="422452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١٫٥٠ ر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6632143" y="4626864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67" name="Text 65"/>
          <p:cNvSpPr/>
          <p:nvPr/>
        </p:nvSpPr>
        <p:spPr>
          <a:xfrm>
            <a:off x="6723583" y="462686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7089343" y="4626864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قهوة</a:t>
            </a:r>
            <a:endParaRPr lang="en-US" sz="1150" dirty="0"/>
          </a:p>
        </p:txBody>
      </p:sp>
      <p:sp>
        <p:nvSpPr>
          <p:cNvPr id="69" name="Text 67"/>
          <p:cNvSpPr/>
          <p:nvPr/>
        </p:nvSpPr>
        <p:spPr>
          <a:xfrm>
            <a:off x="10634472" y="462686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٤٫٠٠ ر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6632143" y="5029200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1" name="Text 69"/>
          <p:cNvSpPr/>
          <p:nvPr/>
        </p:nvSpPr>
        <p:spPr>
          <a:xfrm>
            <a:off x="6723583" y="50292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7089343" y="5029200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لترات بنزين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10634472" y="5029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١١٫٠٠ ر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6632143" y="5431536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5" name="Text 73"/>
          <p:cNvSpPr/>
          <p:nvPr/>
        </p:nvSpPr>
        <p:spPr>
          <a:xfrm>
            <a:off x="6723583" y="543153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7089343" y="5431536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غسيل مجاني</a:t>
            </a:r>
            <a:endParaRPr lang="en-US" sz="1150" dirty="0"/>
          </a:p>
        </p:txBody>
      </p:sp>
      <p:sp>
        <p:nvSpPr>
          <p:cNvPr id="77" name="Text 75"/>
          <p:cNvSpPr/>
          <p:nvPr/>
        </p:nvSpPr>
        <p:spPr>
          <a:xfrm>
            <a:off x="10634472" y="543153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٢٥٫٠٠ ر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566928" y="58521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9" name="Text 77"/>
          <p:cNvSpPr/>
          <p:nvPr/>
        </p:nvSpPr>
        <p:spPr>
          <a:xfrm>
            <a:off x="749808" y="58978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القاعدة: أي مكافأة فوق ١٫٦ ريال لكل معاملة إضافية تُموَّل من معلن أو مستأجر — لا من هامش الوقود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الخامس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التأجير والحملات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تُباع · وحملات تُطلقها حالة مرصودة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الوحدات التأجيرية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سجل ١٨٦ محطة · الوحدة كشك أو محل أو درايف ثرو أو مغسلة أو سوبرماركت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١٬٧٣٣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وحدة مسجّلة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١٨٦ محطة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مؤجَّرة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٣٧٪ إشغال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١٬٠٨٩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المباشرة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٢٥٪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المحلات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٧٦٤ محلاً — المنتج العالق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98064"/>
            <a:ext cx="6616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الشغور في ثلاث فئات — ولكلٍّ باقتها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108960"/>
            <a:ext cx="6616598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5992539" y="3108960"/>
            <a:ext cx="11909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30879" y="3108960"/>
            <a:ext cx="6616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04555" y="3108960"/>
            <a:ext cx="92632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شاغرة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948903" y="3108960"/>
            <a:ext cx="14556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3108960"/>
            <a:ext cx="23819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474720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92539" y="3474720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30879" y="3474720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404555" y="3474720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48903" y="3474720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3474720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معلومة وقابلة للقياس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3858768"/>
            <a:ext cx="6616598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92539" y="3858768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330879" y="3858768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404555" y="3858768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948903" y="3858768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66928" y="3858768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تبدأ من صفر وتنمو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66928" y="4242816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92539" y="4242816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330879" y="4242816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404555" y="4242816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٢٦٩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2948903" y="4242816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4242816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فريق لنا هناك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7514356" y="2798064"/>
            <a:ext cx="40802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الفرص</a:t>
            </a:r>
            <a:endParaRPr lang="en-US" sz="1350" dirty="0"/>
          </a:p>
        </p:txBody>
      </p:sp>
      <p:sp>
        <p:nvSpPr>
          <p:cNvPr id="54" name="Shape 52"/>
          <p:cNvSpPr/>
          <p:nvPr/>
        </p:nvSpPr>
        <p:spPr>
          <a:xfrm>
            <a:off x="7514356" y="3108960"/>
            <a:ext cx="4080236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55" name="Text 53"/>
          <p:cNvSpPr/>
          <p:nvPr/>
        </p:nvSpPr>
        <p:spPr>
          <a:xfrm>
            <a:off x="9962498" y="3108960"/>
            <a:ext cx="163209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9237122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511747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514356" y="3108960"/>
            <a:ext cx="99739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514356" y="3474720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962498" y="3474720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9237122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MK036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8511747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7514356" y="3474720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7514356" y="3858768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962498" y="3858768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القديه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9237122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RY073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511747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514356" y="3858768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7514356" y="4242816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962498" y="4242816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الخمرة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9237122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MK104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8511747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7514356" y="4242816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7514356" y="4626864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962498" y="4626864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الريان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9237122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MK057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511747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7514356" y="4626864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7514356" y="5010912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962498" y="5010912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مدينة الملك عبد ال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9237122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MK045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8511747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7514356" y="5010912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566928" y="548640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85" name="Text 83"/>
          <p:cNvSpPr/>
          <p:nvPr/>
        </p:nvSpPr>
        <p:spPr>
          <a:xfrm>
            <a:off x="749808" y="553212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العاملة إشغالها ٧٩٪ — لا أزمة شغور فيها · الشغور الحقيقي في تحت التنفيذ والامتياز</a:t>
            </a:r>
            <a:endParaRPr lang="en-US" sz="1250" dirty="0"/>
          </a:p>
        </p:txBody>
      </p:sp>
      <p:sp>
        <p:nvSpPr>
          <p:cNvPr id="86" name="Text 8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 MK036: ٩٢ وحدة وصفر مؤجّر — لا سوق مستأجرين محلياً بهذا الحجم · والسجل بلا قيمة إيجارية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 يُباع — لا حملة تُطلق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47953" y="1243584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742420" y="1243584"/>
            <a:ext cx="22055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لمن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13567" y="1243584"/>
            <a:ext cx="35288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هي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تحتاجه لتُطبَّق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1609344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40442" y="160934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47953" y="160934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742420" y="160934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١٣١ وحدة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13567" y="160934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أساسي منخفض + نسبة من مبيعات المستأجر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160934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ربط نقاط بيع المستأجر أو إقرار مُدقَّق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2084832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940442" y="208483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47953" y="208483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2420" y="208483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٦٨٩ وحدة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13567" y="208483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سنة أولى مخفّضة ترتفع تدريجياً مع نمو الحركة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208483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افتتاحات معتمد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" y="2560320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40442" y="256032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947953" y="256032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42420" y="256032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الامتياز — ٢٦٩ وحدة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13567" y="256032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على العقد المُوقَّع لا على العرض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256032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 وحدات بأسعارها + عقد وساطة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" y="3035808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40442" y="3035808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ونسبة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947953" y="3035808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42420" y="3035808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بديل النسبة الصافية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13567" y="3035808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أرضية ثابتة تمنع تعطيل الوحدة + نسبة فوق حد المبيعات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66928" y="3035808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تسعير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511296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40442" y="3511296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مقابل تجهيز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947953" y="3511296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742420" y="3511296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أكبر مخزون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213567" y="3511296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يجهّز ويُخصم من الإيجار على سنتين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3511296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كلفة تجهيز معتمد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6928" y="3986784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940442" y="398678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ترخيص إشغال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947953" y="398678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742420" y="398678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٥٧٢ محلاً عالقاً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213567" y="398678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رسم شهري لعربة أو صرّاف أو خزانة — لا عقد إيجار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98678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ترخيص قابل للإلغاء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6928" y="4462272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940442" y="446227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947953" y="446227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742420" y="446227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حلي MK036 — ٩٢ وحدة صفر مؤجّر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213567" y="446227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 واحد يأخذ كل الوحدات ويؤجّر من الباطن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" y="446227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سعر إجمالي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66928" y="4937760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940442" y="493776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الموسمي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947953" y="493776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742420" y="493776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مكة والجموم والطائف — ٢١٤ وحدة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213567" y="493776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عقد شهرين بسعر مرتفع لموسم الحج والعمرة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493776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عقد قصير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544068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63" name="Text 61"/>
          <p:cNvSpPr/>
          <p:nvPr/>
        </p:nvSpPr>
        <p:spPr>
          <a:xfrm>
            <a:off x="749808" y="548640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الأخضر ثلاث باقات قائمة اليوم · والباقي مقترح يحتاج قرار تسعير أو نموذج عقد — لا موارد جديدة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الإيجارات الحالية والمستهدفة لكل نوع وحدة ومدينة شرط لتسعير أي باقة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التطبيق — قناة الأفراد ومحطات الأحياء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يبدأ أول ديسمبر ٢٠٢٦ في محطات مكة · محفظة وبرنامج ولاء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في مكة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الإطلاق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٢٥٦٫٥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٤٧٪ من حجم الشبكة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معاملة سنوياً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٢٧٬٣٧٠ يومياً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١٫٨٤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 صافي المعاملة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ما يحتمله الولاء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9806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الأداتان — اقتصادهما متعاكس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190488" y="3108960"/>
            <a:ext cx="5404104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90488" y="3108960"/>
            <a:ext cx="5404104" cy="45720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9582912" y="3163824"/>
            <a:ext cx="19019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المحفظة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300216" y="3172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تكسب لنا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674352" y="3675888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وفر رسوم البطاقة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00216" y="3694176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٢٤٦ إلى ٦١٥ ألف ريال لو تحوّل ٢٠٪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674352" y="411480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عائم نقدي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300216" y="413308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رصيد مدفوع مقدماً — وتكلفة تحوّل للمنافس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74352" y="455371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هوية ١٠٠٪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300216" y="4572000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 معاملة محفظة معروفة الصاحب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3108960"/>
            <a:ext cx="5404104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6928" y="3108960"/>
            <a:ext cx="5404104" cy="45720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41" name="Text 39"/>
          <p:cNvSpPr/>
          <p:nvPr/>
        </p:nvSpPr>
        <p:spPr>
          <a:xfrm>
            <a:off x="3959352" y="3163824"/>
            <a:ext cx="19019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برنامج الولاء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76656" y="3172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يكلّفنا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050792" y="3675888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٠٫٥٪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76656" y="3694176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٠٫٢٨ ر = ١٥٪ من صافي المعاملة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050792" y="411480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١٪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676656" y="413308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٠٫٥٦ ر = ٣٠٪ من الصافي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50792" y="455371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٢٪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76656" y="4572000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١٫١٢ ر = ٦١٪ من الصافي — مرفوض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66928" y="519379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749808" y="523951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مبدأ التصميم: الاسترداد يُموَّل من وفر رسوم البطاقة لا من هامش الوقود — عند ٠٫٥٪ يكاد يغطّي نفسه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رسوم البطاقة الفعلية تحتاج تأكيد المالية — هي التي تحدد سقف الاسترداد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التطبيق — أربع قواعد قبل الإطلاق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تُثبَّت الآن، لا بعد ديسمبر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181344" y="1243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F583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27664" y="1389888"/>
            <a:ext cx="402336" cy="402336"/>
          </a:xfrm>
          <a:prstGeom prst="ellipse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11027664" y="1426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09360" y="1408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كافئ التردد لا الإنفاق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309360" y="1810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الاسترداد على الفاتورة يدفع ثمن حجم كان سيأتي بلا مكافأة. المكافأة على الزيارة السادسة في الشهر تدفع ثمن الزيارة الإضافية وحدها.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2852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926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سقفها ١٫٨٤ ريال — صافي المعاملة في مكة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1243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2E8B6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13248" y="1389888"/>
            <a:ext cx="402336" cy="402336"/>
          </a:xfrm>
          <a:prstGeom prst="ellipse">
            <a:avLst/>
          </a:prstGeom>
          <a:solidFill>
            <a:srgbClr val="2E8B6F"/>
          </a:solidFill>
          <a:ln/>
        </p:spPr>
      </p:sp>
      <p:sp>
        <p:nvSpPr>
          <p:cNvPr id="17" name="Text 15"/>
          <p:cNvSpPr/>
          <p:nvPr/>
        </p:nvSpPr>
        <p:spPr>
          <a:xfrm>
            <a:off x="5413248" y="1426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4944" y="1408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المحفظة تموّل الولاء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94944" y="1810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وفر رسوم البطاقة ٢٤٦ إلى ٦١٥ ألف ريال عند تحوّل ٢٠٪. الاسترداد ٠٫٥٪ على الحجم المتحوّل يكلّف ٣٠٧ ألفاً — فيغطّي نفسه تقريباً.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94944" y="2852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2926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الشرط: رسوم البطاقة ٠٫٥٪ فأعلى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81344" y="3529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3E6E8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027664" y="3675888"/>
            <a:ext cx="402336" cy="402336"/>
          </a:xfrm>
          <a:prstGeom prst="ellipse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11027664" y="3712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309360" y="3694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الهوية أولاً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09360" y="4096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 من الإيراد بلا هوية عميل. كل معاملة محفظة تُغلق هذه الفجوة عند مصدرها — وهذا أثمن ما في التطبيق.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09360" y="5138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5212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المؤشر الأول: نسبة المعاملات المعرَّفة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3529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5556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13248" y="3675888"/>
            <a:ext cx="402336" cy="402336"/>
          </a:xfrm>
          <a:prstGeom prst="ellipse">
            <a:avLst/>
          </a:prstGeom>
          <a:solidFill>
            <a:srgbClr val="55565A"/>
          </a:solidFill>
          <a:ln/>
        </p:spPr>
      </p:sp>
      <p:sp>
        <p:nvSpPr>
          <p:cNvPr id="31" name="Text 29"/>
          <p:cNvSpPr/>
          <p:nvPr/>
        </p:nvSpPr>
        <p:spPr>
          <a:xfrm>
            <a:off x="5413248" y="3712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4944" y="3694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اربطه بالحملات لا بجانبه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94944" y="4096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بلا التطبيق تُوزَّع على من كان سيتجاوز العتبة أصلاً. مع التطبيق تُستهدف لمن تعبئته دون معدّله هو.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94944" y="5138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5" name="Text 33"/>
          <p:cNvSpPr/>
          <p:nvPr/>
        </p:nvSpPr>
        <p:spPr>
          <a:xfrm>
            <a:off x="694944" y="5212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ومكافأة المستأجر تُوصَّل بكلفة صفر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58521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37" name="Text 35"/>
          <p:cNvSpPr/>
          <p:nvPr/>
        </p:nvSpPr>
        <p:spPr>
          <a:xfrm>
            <a:off x="749808" y="58978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مكة قاعدة إطلاق لا تجربة: ٢١ محطة و٤٧٪ من حجم الشبكة — فما يُثبَّت هنا يُعمَّم لا يُراجَع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هدية علبة المناديل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 هللة للعلبة · عند تعبئة بخمسين ريالاً فأكثر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 هللة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 ريالاً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العتبة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الإدارة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٢٣٪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مساهمة التعبئة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الأساس الحدّي لا الصافي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 لتر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١٠٫٨ ريالاً إضافية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9048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3679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المشكلة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3679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فاتورتنا ٥٧٫١٨ ريالاً — فوق العتبة. العلبة تذهب لمن كان سيتجاوزها بلا حملة، وتأكل ٢٣٪ من مساهمة تعبئته.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 — من منتجنا الخامس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1323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العلبة مساحة إعلانية. بريال للوجه عند ١٠٪ من المعاملات: دخل ١٥٦٬٥١٨ مقابل كلفة ٩٧٬٠٤١ شهرياً = صافي ٧١٤ ألف ريال سنوياً. ودون ٠٫٦٢ ريال للوجه تصير الهدية كلفة صافية.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6928" y="435254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شروط الإطلاق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8961120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61120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9052560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مشروطة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052560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دون المتوقَّع فقط — لا الشبكة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63056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63056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1" name="Text 39"/>
          <p:cNvSpPr/>
          <p:nvPr/>
        </p:nvSpPr>
        <p:spPr>
          <a:xfrm>
            <a:off x="6254496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مسقوفة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54496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 يومي محدد لكل محطة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364992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64992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5" name="Text 43"/>
          <p:cNvSpPr/>
          <p:nvPr/>
        </p:nvSpPr>
        <p:spPr>
          <a:xfrm>
            <a:off x="3456432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ممولة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456432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وجه العلبة مبيع لمعلن قبل الطباعة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66928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9" name="Text 47"/>
          <p:cNvSpPr/>
          <p:nvPr/>
        </p:nvSpPr>
        <p:spPr>
          <a:xfrm>
            <a:off x="658368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مقيسة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58368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 قبل وبعد — ٤ أسابيع أو تُوقَف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المطلوب لإقرارها: سعر المساحة الإعلانية على العلبة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مصفوفة الأحداث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تُرصد من البيانات — ولكل حالة فعل واحد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8947953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2696" y="1243584"/>
            <a:ext cx="209525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779971" y="1243584"/>
            <a:ext cx="507272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كيف يُنفَّذ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1243584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1609344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47953" y="1609344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تتجاوز ٥٪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2696" y="1609344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ورقابة — لا حملة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79971" y="1609344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خزانات · معايرة عدادات · مطابقة إشعارات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" y="1609344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رقابة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1984248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47953" y="1984248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أو مدخل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52696" y="1984248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هندسة وصول — لا حملة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779971" y="1984248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المدخل على الخرائط · لافتة على المسار · إعادة تحجيم العمالة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66928" y="1984248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وصول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2359152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47953" y="2359152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وسيلة الدفع غير مسجّلة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852696" y="2359152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النظام قبل أي حملة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779971" y="2359152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نقاط البيع · تدريب الوردية · مؤشر في حافز العامل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66928" y="2359152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2734056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47953" y="2734056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خزان دون ٤ أيام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852696" y="2734056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تأمين الإمداد قبل رفع الطلب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779971" y="2734056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تعاقدي · ناقل بديل · دراسة خزان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2734056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إمداد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3108960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47953" y="3108960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نقدي المحطة فوق ٧٠٪ · الوسيط ٤٠٪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852696" y="3108960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فحص نقاط البيع أولاً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779971" y="3108960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اختبار قارئ البطاقة · مطابقة تسليم النقد · المحفظة تُطلق هنا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66928" y="3108960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رقابة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66928" y="3483864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47953" y="3483864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في ساعات الذروة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852696" y="3483864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لا حملة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779971" y="3483864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فحص المضخات · تدرّج التسليم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66928" y="3483864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66928" y="3858768"/>
            <a:ext cx="11027664" cy="37490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947953" y="3858768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المسائية يفوق الصباحية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852696" y="3858768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نقل طاقم لا توظيف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1779971" y="3858768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إعادة جدولة المناوبات · مستهدف وردية لا محطة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66928" y="3858768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عمالة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66928" y="4233672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47953" y="4233672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دون ما يفسّره مزيجها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6852696" y="4233672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1779971" y="4233672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عند العتبة · نص موحّد · لوحة عند المضخة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66928" y="4233672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66928" y="4608576"/>
            <a:ext cx="11027664" cy="37490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947953" y="4608576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الديزل ٣٠٪ فأكثر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852696" y="4608576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1779971" y="4608576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حصر ناقلي المنطقة · سعر متدرج · تسجيل في التطبيق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566928" y="4608576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66928" y="4983480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947953" y="4983480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عشر وحدات شاغرة فأكثر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6852696" y="4983480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تأجير حسب الفئة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1779971" y="4983480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 لتحت التنفيذ · النسبة للمشغّلة · المسوّق للامتياز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66928" y="4983480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تأجير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566928" y="546811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64" name="Text 62"/>
          <p:cNvSpPr/>
          <p:nvPr/>
        </p:nvSpPr>
        <p:spPr>
          <a:xfrm>
            <a:off x="749808" y="551383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الأحمر خمس بوابات: محطة عليها إحداها لا تدخل أي حملة قبل إقفالها — وإلا أنفقنا على قياس لا نثق به</a:t>
            </a:r>
            <a:endParaRPr lang="en-US" sz="12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السادس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التنفيذ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موجات وبوابة بين كل اثنتين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خارطة ٩٠ يوماً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تبدأ موجة قبل إقفال بوابة سابقتها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052816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52816" y="1225296"/>
            <a:ext cx="3541776" cy="7315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0" name="Text 8"/>
          <p:cNvSpPr/>
          <p:nvPr/>
        </p:nvSpPr>
        <p:spPr>
          <a:xfrm>
            <a:off x="8144256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أول ٣٠ يوماً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144256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الإقفال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180832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MK008 وRY024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تسجيل الدفع في ١٨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مداخل المعيصم والشرائع على الخرائط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توحيد أسماء المحطات على الكود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عمالة بالساعة لكل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إيجارات لكل نوع وحدة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09872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09872" y="1225296"/>
            <a:ext cx="3541776" cy="7315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4401312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٣١ إلى ٦٠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401312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الإطلاق المحدود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437888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في أعلى ١٢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في محطات فاقد الذروة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في ٤ محطات بعد بيع المساحة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 في ٣ محاور طريق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التدريج في ٣ محطات تحت التنفيذ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 لحلي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1225296"/>
            <a:ext cx="3541776" cy="7315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٦١ إلى ٩٠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التعميم المشروط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94944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تعميم ما أثبت أثره ٤ أسابيع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حافز العامل على الشبكة المؤهَّلة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 على كل الفئات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إعادة تحجيم عمالة المعيصم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تثبيت مؤشرات التطبيق قبل إطلاقه أول ديسمبر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مراجعة المستهدف على الأداء الفعلي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545896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الثانية: لا حملة في محطة لم تُقفل حالتها الرقابية · بوابة الثالثة: لا تعميم لآلية لم ترفع رقمها في ٤ أسابيع</a:t>
            </a:r>
            <a:endParaRPr lang="en-US" sz="12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لوحة المتابعة الشهرية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ثمانية مؤشرات في صفحة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52560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052560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ساعات الذروة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052560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— الهدف صفر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63056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54496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54496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حجم التعبئة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54496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مقابل ما يفسّره المزيج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64992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56432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56432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تسجيل وسيلة الدفع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56432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٦٤٪ إلى ٩٥٪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928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8368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المشتريات والمبيعات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±١٪ لكل محطة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961120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61120" y="2523744"/>
            <a:ext cx="2633472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30" name="Text 28"/>
          <p:cNvSpPr/>
          <p:nvPr/>
        </p:nvSpPr>
        <p:spPr>
          <a:xfrm>
            <a:off x="9052560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ضابط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52560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الحافز ÷ الهامش الإضافي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52560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١٥٪ فأقل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63056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63056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5" name="Text 33"/>
          <p:cNvSpPr/>
          <p:nvPr/>
        </p:nvSpPr>
        <p:spPr>
          <a:xfrm>
            <a:off x="6254496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54496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الوحدات بالفئة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54496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 · تحت تنفيذ · امتياز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364992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64992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0" name="Text 38"/>
          <p:cNvSpPr/>
          <p:nvPr/>
        </p:nvSpPr>
        <p:spPr>
          <a:xfrm>
            <a:off x="3456432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456432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تطبيقات الأسطول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456432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٣٫٠٪ صعوداً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6928" y="2523744"/>
            <a:ext cx="2633472" cy="4572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658368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مخاطر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58368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الخزان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58368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أيام — تنبيه دون ٤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398678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نحتاجه من الإدارات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11558016" y="4361688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9902952" y="431596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العمليات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66928" y="4315968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المناوبات الفعلي — الورديتان مقيستان، والجدول المعتمد ليس عندنا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11558016" y="4709160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3" name="Text 51"/>
          <p:cNvSpPr/>
          <p:nvPr/>
        </p:nvSpPr>
        <p:spPr>
          <a:xfrm>
            <a:off x="9902952" y="466344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تقنية المعلومات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66928" y="4663440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عمود العامل في تصدير ١٥ محطة · وإلغاء الحسابات غير الشخصية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11558016" y="5056632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6" name="Text 54"/>
          <p:cNvSpPr/>
          <p:nvPr/>
        </p:nvSpPr>
        <p:spPr>
          <a:xfrm>
            <a:off x="9902952" y="5010912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66928" y="5010912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 لكل نوع وحدة — لتسعير الباقات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11558016" y="5404104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9" name="Text 57"/>
          <p:cNvSpPr/>
          <p:nvPr/>
        </p:nvSpPr>
        <p:spPr>
          <a:xfrm>
            <a:off x="9902952" y="535838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المالية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5358384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رسوم البطاقة الفعلية — تقرر إن كانت المحفظة تموّل الولاء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11558016" y="5751576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62" name="Text 60"/>
          <p:cNvSpPr/>
          <p:nvPr/>
        </p:nvSpPr>
        <p:spPr>
          <a:xfrm>
            <a:off x="9902952" y="5705856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التسويق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66928" y="5705856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المساحة الإعلانية على علبة المناديل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11558016" y="6099048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65" name="Text 63"/>
          <p:cNvSpPr/>
          <p:nvPr/>
        </p:nvSpPr>
        <p:spPr>
          <a:xfrm>
            <a:off x="9902952" y="605332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التطوير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566928" y="6053328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درب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القرار المطلوب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بمسارين · إقفال ثغرة البيانات قبل الإنفاق · تسعير المنتجات الثلاثة غير المسعَّرة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 ٣٬١٨٥٬٠٧٩ ريال سنوياً — ٧٦٧ معاملة و٥٨٬٨٣٩ لتراً يومياً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تحليل المنافذ وخطة المبيعات</dc:title>
  <dc:subject>PptxGenJS Presentation</dc:subject>
  <dc:creator>الإدارة التجارية — درب</dc:creator>
  <cp:lastModifiedBy>الإدارة التجارية — درب</cp:lastModifiedBy>
  <cp:revision>1</cp:revision>
  <dcterms:created xsi:type="dcterms:W3CDTF">2026-09-21T19:37:04Z</dcterms:created>
  <dcterms:modified xsi:type="dcterms:W3CDTF">2026-09-21T19:37:04Z</dcterms:modified>
</cp:coreProperties>
</file>