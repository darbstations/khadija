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556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9582912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82912" y="914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DARB FUEL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300" kern="0" dirty="0">
                <a:solidFill>
                  <a:srgbClr val="F7A94B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الإدارة التجارية · أغسطس ٢٠٢٦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971800"/>
            <a:ext cx="11027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تحليل المنافذ وخطة المبيعات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3977640"/>
            <a:ext cx="11027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6D2C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٥٥ محطة · ٥٥١ MLPA · خمس شرائح · مستهدف لكل محطة ووردية · باقات تأجير وحملات تُطلقها حالة مرصودة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85632" y="4937760"/>
            <a:ext cx="3108960" cy="32004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5120640"/>
            <a:ext cx="11027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كاش إن وناتج ١٠٫٩٦ مليون معاملة · أوامر التحميل · قائمة الدخل يوليو ٢٠٢٦ · سجل الوحدات · مسح المنافسين الميداني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الخلاصة التنفيذية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تقوله البيانات — وما نطلب إقراره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0" y="1261872"/>
            <a:ext cx="2633472" cy="1389888"/>
          </a:xfrm>
          <a:prstGeom prst="roundRect">
            <a:avLst>
              <a:gd name="adj" fmla="val 3289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1261872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0" name="Text 8"/>
          <p:cNvSpPr/>
          <p:nvPr/>
        </p:nvSpPr>
        <p:spPr>
          <a:xfrm>
            <a:off x="9034272" y="140817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٦٢٦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052560" y="199339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مليون ريال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0" y="226771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مبيعات ٧ أشهر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61872"/>
            <a:ext cx="2633472" cy="1389888"/>
          </a:xfrm>
          <a:prstGeom prst="roundRect">
            <a:avLst>
              <a:gd name="adj" fmla="val 3289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261872"/>
            <a:ext cx="2633472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40817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٥٥١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54496" y="199339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MLPA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226771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١٠٫٦ للمحطة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64992" y="1261872"/>
            <a:ext cx="2633472" cy="1389888"/>
          </a:xfrm>
          <a:prstGeom prst="roundRect">
            <a:avLst>
              <a:gd name="adj" fmla="val 3289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4992" y="1261872"/>
            <a:ext cx="2633472" cy="4572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20" name="Text 18"/>
          <p:cNvSpPr/>
          <p:nvPr/>
        </p:nvSpPr>
        <p:spPr>
          <a:xfrm>
            <a:off x="3438144" y="140817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+١٧٫٥٪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456432" y="199339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نمو حقيقي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56432" y="226771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قاعدة ثابتة ٢٥ محطة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1261872"/>
            <a:ext cx="2633472" cy="1389888"/>
          </a:xfrm>
          <a:prstGeom prst="roundRect">
            <a:avLst>
              <a:gd name="adj" fmla="val 3289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1261872"/>
            <a:ext cx="2633472" cy="4572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140817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٣٫٣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58368" y="199339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مليون ريال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226771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الفرصة المؤكَّدة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92608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ثلاثة قرارات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8" y="3291840"/>
            <a:ext cx="11027664" cy="713232"/>
          </a:xfrm>
          <a:prstGeom prst="roundRect">
            <a:avLst>
              <a:gd name="adj" fmla="val 5128"/>
            </a:avLst>
          </a:prstGeom>
          <a:solidFill>
            <a:srgbClr val="FBEEE0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544300" y="3291840"/>
            <a:ext cx="50292" cy="713232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1" name="Text 29"/>
          <p:cNvSpPr/>
          <p:nvPr/>
        </p:nvSpPr>
        <p:spPr>
          <a:xfrm>
            <a:off x="11027664" y="3447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2670048" y="3364992"/>
            <a:ext cx="8330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اعتماد المستهدف بمسارين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70048" y="3666744"/>
            <a:ext cx="8330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المعاملات ثم السلة — لا نطلب من العميل أن يعبّي أكثر مما يحتاج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٣٬٢٦٨ ألف ر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" y="4096512"/>
            <a:ext cx="11027664" cy="713232"/>
          </a:xfrm>
          <a:prstGeom prst="roundRect">
            <a:avLst>
              <a:gd name="adj" fmla="val 5128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544300" y="4096512"/>
            <a:ext cx="50292" cy="713232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7" name="Text 35"/>
          <p:cNvSpPr/>
          <p:nvPr/>
        </p:nvSpPr>
        <p:spPr>
          <a:xfrm>
            <a:off x="11027664" y="42519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2670048" y="4169664"/>
            <a:ext cx="8330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إقفال ثغرة البيانات قبل الإنفاق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670048" y="4471416"/>
            <a:ext cx="8330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 محطة لا تسجّل وسيلة الدفع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١٨٣ مليون ر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6928" y="4901184"/>
            <a:ext cx="11027664" cy="713232"/>
          </a:xfrm>
          <a:prstGeom prst="roundRect">
            <a:avLst>
              <a:gd name="adj" fmla="val 5128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544300" y="4901184"/>
            <a:ext cx="50292" cy="713232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43" name="Text 41"/>
          <p:cNvSpPr/>
          <p:nvPr/>
        </p:nvSpPr>
        <p:spPr>
          <a:xfrm>
            <a:off x="11027664" y="50566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3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2670048" y="4974336"/>
            <a:ext cx="8330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تسعير المنتجات الثلاثة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670048" y="5276088"/>
            <a:ext cx="8330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جدول إيجارات · مسح أسعار · جرد أسطح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6656" y="50840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 من ٥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بيانات نقاط بيع فعلية من ١ يناير إلى ٣١ يوليو ٢٠٢٦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2286000"/>
            <a:ext cx="54864" cy="20116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2402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spc="300" kern="0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القسم الأول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2743200"/>
            <a:ext cx="10753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أين نقف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الشبكة · الاتجاه · قيمة اللتر · من يشتري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الشبكة بالأرقام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١ يناير إلى ٣١ يوليو ٢٠٢٦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506102" y="1243584"/>
            <a:ext cx="2088490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6102" y="1243584"/>
            <a:ext cx="2088490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0" name="Text 8"/>
          <p:cNvSpPr/>
          <p:nvPr/>
        </p:nvSpPr>
        <p:spPr>
          <a:xfrm>
            <a:off x="9579254" y="1389888"/>
            <a:ext cx="1942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٦٢٦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597542" y="1975104"/>
            <a:ext cx="1905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مليون ريال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97542" y="2249424"/>
            <a:ext cx="1905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شامل الضريبة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71309" y="1243584"/>
            <a:ext cx="2088490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71309" y="1243584"/>
            <a:ext cx="2088490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5" name="Text 13"/>
          <p:cNvSpPr/>
          <p:nvPr/>
        </p:nvSpPr>
        <p:spPr>
          <a:xfrm>
            <a:off x="7344461" y="1389888"/>
            <a:ext cx="1942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٥٥١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62749" y="1975104"/>
            <a:ext cx="1905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MLPA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2749" y="2249424"/>
            <a:ext cx="1905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١٠٫٦ للمحطة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36515" y="1243584"/>
            <a:ext cx="2088490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36515" y="1243584"/>
            <a:ext cx="2088490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20" name="Text 18"/>
          <p:cNvSpPr/>
          <p:nvPr/>
        </p:nvSpPr>
        <p:spPr>
          <a:xfrm>
            <a:off x="5109667" y="1389888"/>
            <a:ext cx="1942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١١٫٠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127955" y="1975104"/>
            <a:ext cx="1905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مليون معاملة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7955" y="2249424"/>
            <a:ext cx="1905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٢٥٫٦ لتراً لكل واحدة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01722" y="1243584"/>
            <a:ext cx="2088490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1722" y="1243584"/>
            <a:ext cx="2088490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25" name="Text 23"/>
          <p:cNvSpPr/>
          <p:nvPr/>
        </p:nvSpPr>
        <p:spPr>
          <a:xfrm>
            <a:off x="2874874" y="1389888"/>
            <a:ext cx="1942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٥٧٫٢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893162" y="1975104"/>
            <a:ext cx="1905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ريال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93162" y="2249424"/>
            <a:ext cx="1905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قيمة المعاملة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1243584"/>
            <a:ext cx="2088490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1243584"/>
            <a:ext cx="2088490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1389888"/>
            <a:ext cx="1942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٥٥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58368" y="1975104"/>
            <a:ext cx="1905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2249424"/>
            <a:ext cx="1905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٨٣٪ تغطية زمنية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83464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مزيج الوقود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27565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بنزين ٩١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3493008"/>
            <a:ext cx="6396045" cy="182880"/>
          </a:xfrm>
          <a:prstGeom prst="rect">
            <a:avLst/>
          </a:prstGeom>
          <a:solidFill>
            <a:srgbClr val="F5F2E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61505" y="3493008"/>
            <a:ext cx="2801468" cy="1828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3200400"/>
            <a:ext cx="479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٤٣٫٨٪ من الإيراد · ٥٥٫٥٪ من المعاملات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127565" y="38770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بنزين ٩٥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4169664"/>
            <a:ext cx="6396045" cy="182880"/>
          </a:xfrm>
          <a:prstGeom prst="rect">
            <a:avLst/>
          </a:prstGeom>
          <a:solidFill>
            <a:srgbClr val="F5F2ED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0852" y="4169664"/>
            <a:ext cx="2392121" cy="182880"/>
          </a:xfrm>
          <a:prstGeom prst="rect">
            <a:avLst/>
          </a:prstGeom>
          <a:solidFill>
            <a:srgbClr val="F7A94B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" y="3877056"/>
            <a:ext cx="479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٣٧٫٤٪ من الإيراد · ٣٦٫٠٪ من المعاملات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27565" y="4553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ديزل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6928" y="4846320"/>
            <a:ext cx="6396045" cy="182880"/>
          </a:xfrm>
          <a:prstGeom prst="rect">
            <a:avLst/>
          </a:prstGeom>
          <a:solidFill>
            <a:srgbClr val="F5F2ED"/>
          </a:solidFill>
          <a:ln/>
        </p:spPr>
      </p:sp>
      <p:sp>
        <p:nvSpPr>
          <p:cNvPr id="44" name="Shape 42"/>
          <p:cNvSpPr/>
          <p:nvPr/>
        </p:nvSpPr>
        <p:spPr>
          <a:xfrm>
            <a:off x="5760517" y="4846320"/>
            <a:ext cx="1202456" cy="182880"/>
          </a:xfrm>
          <a:prstGeom prst="rect">
            <a:avLst/>
          </a:prstGeom>
          <a:solidFill>
            <a:srgbClr val="3E6E8E"/>
          </a:solidFill>
          <a:ln/>
        </p:spPr>
      </p:sp>
      <p:sp>
        <p:nvSpPr>
          <p:cNvPr id="45" name="Text 43"/>
          <p:cNvSpPr/>
          <p:nvPr/>
        </p:nvSpPr>
        <p:spPr>
          <a:xfrm>
            <a:off x="566928" y="4553712"/>
            <a:ext cx="479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١٨٫٨٪ من الإيراد · ٨٫٥٪ من المعاملات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845186" y="3163824"/>
            <a:ext cx="3749406" cy="2011680"/>
          </a:xfrm>
          <a:prstGeom prst="roundRect">
            <a:avLst>
              <a:gd name="adj" fmla="val 2273"/>
            </a:avLst>
          </a:prstGeom>
          <a:solidFill>
            <a:srgbClr val="FBEEE0"/>
          </a:solidFill>
          <a:ln w="15240">
            <a:solidFill>
              <a:srgbClr val="F583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91490" y="3273552"/>
            <a:ext cx="34567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الديزل عميل مختلف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177272" y="37033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٨٫٥٪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991490" y="3721608"/>
            <a:ext cx="21034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المعاملات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177272" y="41605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١٨٫٨٪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991490" y="4178808"/>
            <a:ext cx="21034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الإيراد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177272" y="46177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١٢٦ ريالاً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991490" y="4636008"/>
            <a:ext cx="21034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قيمة المعاملة — ٢٫٨ ضعف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 محطات لتراتها ناقصة في المصدر فاستُبعدت من حسابات اللتر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الاتجاه الحقيقي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على قاعدة ثابتة من ٢٥ محطة بتغطية كاملة ٢١٢ يوماً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12924" y="3853252"/>
            <a:ext cx="605576" cy="828476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6475764" y="3578932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٦٣٣٬٢٩٦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75764" y="4727448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يناير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36188" y="3989425"/>
            <a:ext cx="605576" cy="692303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2" name="Text 10"/>
          <p:cNvSpPr/>
          <p:nvPr/>
        </p:nvSpPr>
        <p:spPr>
          <a:xfrm>
            <a:off x="5499028" y="3715105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٦٢٤٬٥٣٦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99028" y="4727448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فبراير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59452" y="3522272"/>
            <a:ext cx="605576" cy="1159456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2292" y="3247952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٦٥٤٬٥٨٨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2292" y="4727448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مارس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82716" y="3811266"/>
            <a:ext cx="605576" cy="870462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8" name="Text 16"/>
          <p:cNvSpPr/>
          <p:nvPr/>
        </p:nvSpPr>
        <p:spPr>
          <a:xfrm>
            <a:off x="3545556" y="3536946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٦٣٥٬٩٩٧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45556" y="4727448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أبريل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05980" y="2985464"/>
            <a:ext cx="605576" cy="1696264"/>
          </a:xfrm>
          <a:prstGeom prst="rect">
            <a:avLst/>
          </a:prstGeom>
          <a:solidFill>
            <a:srgbClr val="F7A94B"/>
          </a:solidFill>
          <a:ln/>
        </p:spPr>
      </p:sp>
      <p:sp>
        <p:nvSpPr>
          <p:cNvPr id="21" name="Text 19"/>
          <p:cNvSpPr/>
          <p:nvPr/>
        </p:nvSpPr>
        <p:spPr>
          <a:xfrm>
            <a:off x="2568820" y="2711144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٦٨٩٬١٢١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8820" y="4727448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مايو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29244" y="2600217"/>
            <a:ext cx="605576" cy="2081511"/>
          </a:xfrm>
          <a:prstGeom prst="rect">
            <a:avLst/>
          </a:prstGeom>
          <a:solidFill>
            <a:srgbClr val="F7A94B"/>
          </a:solidFill>
          <a:ln/>
        </p:spPr>
      </p:sp>
      <p:sp>
        <p:nvSpPr>
          <p:cNvPr id="24" name="Text 22"/>
          <p:cNvSpPr/>
          <p:nvPr/>
        </p:nvSpPr>
        <p:spPr>
          <a:xfrm>
            <a:off x="1592084" y="2325897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٧١٣٬٩٠٤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92084" y="4727448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يونيو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2508" y="2133267"/>
            <a:ext cx="605576" cy="2548461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27" name="Text 25"/>
          <p:cNvSpPr/>
          <p:nvPr/>
        </p:nvSpPr>
        <p:spPr>
          <a:xfrm>
            <a:off x="615348" y="1858947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٧٤٣٬٩٤٣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5348" y="4727448"/>
            <a:ext cx="87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يوليو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681728"/>
            <a:ext cx="6837152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1261872"/>
            <a:ext cx="6837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لتراً يومياً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463" y="1280160"/>
            <a:ext cx="3639129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463" y="1280160"/>
            <a:ext cx="3639129" cy="4572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33" name="Text 31"/>
          <p:cNvSpPr/>
          <p:nvPr/>
        </p:nvSpPr>
        <p:spPr>
          <a:xfrm>
            <a:off x="8028615" y="1426464"/>
            <a:ext cx="34928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+١٧٫٥٪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046903" y="2011680"/>
            <a:ext cx="34562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يناير ← يوليو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903" y="2286000"/>
            <a:ext cx="3456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على نفس المحطات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463" y="2852928"/>
            <a:ext cx="36391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ومحطتان تسيران عكسها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955463" y="3200400"/>
            <a:ext cx="3639129" cy="603504"/>
          </a:xfrm>
          <a:prstGeom prst="roundRect">
            <a:avLst>
              <a:gd name="adj" fmla="val 6061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5191" y="3236976"/>
            <a:ext cx="26332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المعيصم MK002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680192" y="323697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−٧٠٪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65191" y="3511296"/>
            <a:ext cx="341967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تغيير مسار ٧–٨ فبراير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955463" y="3877056"/>
            <a:ext cx="3639129" cy="603504"/>
          </a:xfrm>
          <a:prstGeom prst="roundRect">
            <a:avLst>
              <a:gd name="adj" fmla="val 6061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65191" y="3913632"/>
            <a:ext cx="26332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الشرايع MK019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680192" y="39136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−٥٢٪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065191" y="4187952"/>
            <a:ext cx="341967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تغيير مسار ٤–٥ فبراير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55463" y="4626864"/>
            <a:ext cx="3639129" cy="731520"/>
          </a:xfrm>
          <a:prstGeom prst="roundRect">
            <a:avLst>
              <a:gd name="adj" fmla="val 5000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65191" y="4718304"/>
            <a:ext cx="34196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 هابطة · ٨ مستقرة · ٩ نامية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65191" y="5010912"/>
            <a:ext cx="34196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٢١ محطة بتغطية كاملة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الإجمالي الخام مضلِّل — المحطات المغطّاة ارتفعت من ٣٩ إلى ٥٥ خلال الفترة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قيمة اللتر الواحد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سعر المضخة إلى الصافي — وما تحتمله الحملة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25296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271016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سعر المضخة  ←  ناقص الضريبة ١٥٪  ←  هامش المساهمة ١١٫٠٩ هللة  ←  ناقص التشغيل ٤٫٨٦  =  صافي ٦٫٢٣ هللة لكل لتر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تعبئة بخمسين ريالاً — العتبة المعتمدة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212848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2" name="Text 10"/>
          <p:cNvSpPr/>
          <p:nvPr/>
        </p:nvSpPr>
        <p:spPr>
          <a:xfrm>
            <a:off x="10322169" y="2212848"/>
            <a:ext cx="127242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المنتج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261817" y="221284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سعر المضخة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01465" y="221284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صافي الضريبة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35077" y="2212848"/>
            <a:ext cx="11663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لتر بـ٥٠ ريالاً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68690" y="2212848"/>
            <a:ext cx="11663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هامش المساهمة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8337" y="221284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خصم التشغيل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54020" y="2212848"/>
            <a:ext cx="9543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الصافي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93668" y="221284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علبة المناديل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39351" y="2212848"/>
            <a:ext cx="9543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بعد الهدية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2212848"/>
            <a:ext cx="127242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الهدية من الصافي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2578608"/>
            <a:ext cx="11027664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22169" y="2578608"/>
            <a:ext cx="127242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بنزين ٩١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61817" y="257860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٢٫١٩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01465" y="257860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١٫٩١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35077" y="2578608"/>
            <a:ext cx="11663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٢٢٫٨٢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68690" y="2578608"/>
            <a:ext cx="11663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٢٫٥٣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8337" y="257860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١٫١١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4020" y="2578608"/>
            <a:ext cx="9543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١٫٤٢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93668" y="257860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٠٫٦٢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39351" y="2578608"/>
            <a:ext cx="9543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٠٫٨٠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2578608"/>
            <a:ext cx="127242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٤٤٪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2944368"/>
            <a:ext cx="11027664" cy="36576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22169" y="2944368"/>
            <a:ext cx="127242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بنزين ٩٥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61817" y="294436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٢٫٣٤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01465" y="294436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٢٫٠٣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35077" y="2944368"/>
            <a:ext cx="11663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٢١٫٣٧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68690" y="2944368"/>
            <a:ext cx="11663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٢٫٣٧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8337" y="294436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١٫٠٤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54020" y="2944368"/>
            <a:ext cx="9543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١٫٣٣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93668" y="294436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٠٫٦٢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839351" y="2944368"/>
            <a:ext cx="9543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٠٫٧١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" y="2944368"/>
            <a:ext cx="127242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٤٧٪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3310128"/>
            <a:ext cx="11027664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22169" y="3310128"/>
            <a:ext cx="127242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ديزل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61817" y="331012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١٫٨٠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01465" y="331012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١٫٥٦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35077" y="3310128"/>
            <a:ext cx="11663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٢٧٫٨٤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68690" y="3310128"/>
            <a:ext cx="11663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٣٫٠٩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8337" y="331012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١٫٣٥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54020" y="3310128"/>
            <a:ext cx="9543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١٫٧٣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793668" y="331012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٠٫٦٢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39351" y="3310128"/>
            <a:ext cx="9543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١٫١١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6928" y="3310128"/>
            <a:ext cx="127242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٣٦٪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6928" y="3675888"/>
            <a:ext cx="11027664" cy="365760"/>
          </a:xfrm>
          <a:prstGeom prst="rect">
            <a:avLst/>
          </a:prstGeom>
          <a:solidFill>
            <a:srgbClr val="EDE7DE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22169" y="3675888"/>
            <a:ext cx="127242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المرجّح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261817" y="367588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٢٫٢٠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201465" y="367588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١٫٩١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035077" y="3675888"/>
            <a:ext cx="11663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٢٢٫٧٢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868690" y="3675888"/>
            <a:ext cx="11663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٢٫٥٢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808337" y="367588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١٫١٠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854020" y="3675888"/>
            <a:ext cx="9543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١٫٤٢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93668" y="3675888"/>
            <a:ext cx="10603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٠٫٦٢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839351" y="3675888"/>
            <a:ext cx="9543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٠٫٨٠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66928" y="3675888"/>
            <a:ext cx="127242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٤٤٪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040624" y="4343400"/>
            <a:ext cx="3553968" cy="1188720"/>
          </a:xfrm>
          <a:prstGeom prst="roundRect">
            <a:avLst>
              <a:gd name="adj" fmla="val 3846"/>
            </a:avLst>
          </a:prstGeom>
          <a:solidFill>
            <a:srgbClr val="F7F4EF"/>
          </a:solidFill>
          <a:ln w="15240">
            <a:solidFill>
              <a:srgbClr val="F5831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32064" y="4453128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٦٢ هللة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8132064" y="4864608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كلفة العلبة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132064" y="5148072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مؤكَّدة من الإدارة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303776" y="4343400"/>
            <a:ext cx="3553968" cy="1188720"/>
          </a:xfrm>
          <a:prstGeom prst="roundRect">
            <a:avLst>
              <a:gd name="adj" fmla="val 3846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95216" y="4453128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١٠٫٠ لتر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4395216" y="4864608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تعادل الهدية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395216" y="5148072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٢١٫٩ ريالاً إنفاقاً إضافياً — تعذَّر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66928" y="4343400"/>
            <a:ext cx="3553968" cy="1188720"/>
          </a:xfrm>
          <a:prstGeom prst="roundRect">
            <a:avLst>
              <a:gd name="adj" fmla="val 3846"/>
            </a:avLst>
          </a:prstGeom>
          <a:solidFill>
            <a:srgbClr val="F7F4EF"/>
          </a:solidFill>
          <a:ln w="15240">
            <a:solidFill>
              <a:srgbClr val="2E8B6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8368" y="4453128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١٫٥٣ ريالاً</a:t>
            </a:r>
            <a:endParaRPr lang="en-US" sz="2100" dirty="0"/>
          </a:p>
        </p:txBody>
      </p:sp>
      <p:sp>
        <p:nvSpPr>
          <p:cNvPr id="76" name="Text 74"/>
          <p:cNvSpPr/>
          <p:nvPr/>
        </p:nvSpPr>
        <p:spPr>
          <a:xfrm>
            <a:off x="658368" y="4864608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صافي المعاملة الإضافية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58368" y="5148072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الهدية تُغطَّى بزيارة لا بتعبئة أكبر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الهامش والتشغيل مقيسان من دفاتر ٢٦ محطة مشغّلة في الربع الثاني ٢٠٢٦ — لا موزَّعين من قائمة الدخل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ربحية محطات التشغيل — الربع الثاني ٢٠٢٦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 محطة في ٦ مناطق · مقيس لا مقدَّر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506102" y="1243584"/>
            <a:ext cx="2088490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6102" y="1243584"/>
            <a:ext cx="2088490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0" name="Text 8"/>
          <p:cNvSpPr/>
          <p:nvPr/>
        </p:nvSpPr>
        <p:spPr>
          <a:xfrm>
            <a:off x="9579254" y="1389888"/>
            <a:ext cx="1942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٩٧٫٠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597542" y="1975104"/>
            <a:ext cx="1905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مليون ريال مبيعات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97542" y="2249424"/>
            <a:ext cx="1905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+٨٫٥٪ عن الربع الأول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71309" y="1243584"/>
            <a:ext cx="2088490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71309" y="1243584"/>
            <a:ext cx="2088490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5" name="Text 13"/>
          <p:cNvSpPr/>
          <p:nvPr/>
        </p:nvSpPr>
        <p:spPr>
          <a:xfrm>
            <a:off x="7344461" y="1389888"/>
            <a:ext cx="1942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٥٦٫٤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62749" y="1975104"/>
            <a:ext cx="1905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مليون لتر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2749" y="2249424"/>
            <a:ext cx="1905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+٧٫٤٪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36515" y="1243584"/>
            <a:ext cx="2088490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36515" y="1243584"/>
            <a:ext cx="2088490" cy="45720"/>
          </a:xfrm>
          <a:prstGeom prst="rect">
            <a:avLst/>
          </a:prstGeom>
          <a:solidFill>
            <a:srgbClr val="F7A94B"/>
          </a:solidFill>
          <a:ln/>
        </p:spPr>
      </p:sp>
      <p:sp>
        <p:nvSpPr>
          <p:cNvPr id="20" name="Text 18"/>
          <p:cNvSpPr/>
          <p:nvPr/>
        </p:nvSpPr>
        <p:spPr>
          <a:xfrm>
            <a:off x="5109667" y="1389888"/>
            <a:ext cx="1942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A94B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٣٫٤٢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127955" y="1975104"/>
            <a:ext cx="1905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مليون ريال صافي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7955" y="2249424"/>
            <a:ext cx="1905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+٤٫٦٪ — أبطأ من المبيعات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01722" y="1243584"/>
            <a:ext cx="2088490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1722" y="1243584"/>
            <a:ext cx="2088490" cy="45720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25" name="Text 23"/>
          <p:cNvSpPr/>
          <p:nvPr/>
        </p:nvSpPr>
        <p:spPr>
          <a:xfrm>
            <a:off x="2874874" y="1389888"/>
            <a:ext cx="1942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٣٫٢٧٪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893162" y="1975104"/>
            <a:ext cx="1905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هامش صافي الربح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93162" y="2249424"/>
            <a:ext cx="1905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٠٫٠٩ نقطة تحت الربع الأول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1243584"/>
            <a:ext cx="2088490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1243584"/>
            <a:ext cx="2088490" cy="4572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1389888"/>
            <a:ext cx="1942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٥٠٨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58368" y="1975104"/>
            <a:ext cx="1905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عاملاً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2249424"/>
            <a:ext cx="1905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−٥ · ربح العامل +٦٫٧٪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79806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وهذا يصحّح ثوابت الخطة — من موزَّعة إلى مقيسة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66928" y="3108960"/>
            <a:ext cx="7498812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35" name="Text 33"/>
          <p:cNvSpPr/>
          <p:nvPr/>
        </p:nvSpPr>
        <p:spPr>
          <a:xfrm>
            <a:off x="6416001" y="3108960"/>
            <a:ext cx="164973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البند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91179" y="3108960"/>
            <a:ext cx="112482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كنت أستعمله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66358" y="3108960"/>
            <a:ext cx="112482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المقيس فعلياً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16524" y="3108960"/>
            <a:ext cx="1049834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الفارق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3108960"/>
            <a:ext cx="254959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المصدر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3474720"/>
            <a:ext cx="749881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6001" y="3474720"/>
            <a:ext cx="164973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مجمل الربح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91179" y="3474720"/>
            <a:ext cx="112482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١١٫٤٤ هللة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66358" y="3474720"/>
            <a:ext cx="112482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١١٫٠٩ هللة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116524" y="3474720"/>
            <a:ext cx="1049834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−٠٫٣٥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6928" y="3474720"/>
            <a:ext cx="2549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قائمة الدخل ← من دفاتر المحطات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6928" y="3895344"/>
            <a:ext cx="7498812" cy="42062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6001" y="3895344"/>
            <a:ext cx="164973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المصاريف التشغيلية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91179" y="3895344"/>
            <a:ext cx="112482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٤٫٣٤ هللة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66358" y="3895344"/>
            <a:ext cx="112482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٤٫٨٦ هللة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116524" y="3895344"/>
            <a:ext cx="1049834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+٠٫٥٢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" y="3895344"/>
            <a:ext cx="2549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كانت موزَّعة على كل الشبكة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6928" y="4315968"/>
            <a:ext cx="7498812" cy="42062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6001" y="4315968"/>
            <a:ext cx="164973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صافي اللتر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91179" y="4315968"/>
            <a:ext cx="112482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٧٫١٠ هللة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166358" y="4315968"/>
            <a:ext cx="112482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٦٫٢٣ هللة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116524" y="4315968"/>
            <a:ext cx="1049834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−٠٫٨٧ (−١٢٪)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6928" y="4315968"/>
            <a:ext cx="2549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سقف كل مكافأة ينزل بنفس النسبة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96569" y="3108960"/>
            <a:ext cx="3198023" cy="1682496"/>
          </a:xfrm>
          <a:prstGeom prst="roundRect">
            <a:avLst>
              <a:gd name="adj" fmla="val 2717"/>
            </a:avLst>
          </a:prstGeom>
          <a:solidFill>
            <a:srgbClr val="FBEEE0"/>
          </a:solidFill>
          <a:ln w="15240">
            <a:solidFill>
              <a:srgbClr val="F5831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24585" y="3200400"/>
            <a:ext cx="29419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أين ذهب النمو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524585" y="3511296"/>
            <a:ext cx="2941991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المبيعات +٨٫٥٪ والصافي +٤٫٦٪ فقط. المصاريف التشغيلية ارتفعت ١٤٫١٪ — من ٢٫٢٦ إلى ٢٫٥٨ مليون — وأكبر بنودها الكهرباء والمياه.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66928" y="5029200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62" name="Text 60"/>
          <p:cNvSpPr/>
          <p:nvPr/>
        </p:nvSpPr>
        <p:spPr>
          <a:xfrm>
            <a:off x="749808" y="5074920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على أساس مماثل (٢٤ محطة) النمو +١٫٠٪ فقط — و+١١٨٫٥ ألف من الجديدتين «القسوم» و«مدخل محايل»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١٣ محطة تحسّنت بـ+٣٠٩٫٨ ألف و١١ تراجعت بـ−٢٧٦٫٧ ألف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هيكل العمولة — أكبر رقم في الخطة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يحتاج حملة ولا لتراً إضافياً · تفاوض عقود فقط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43584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8947953" y="1243584"/>
            <a:ext cx="264663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نوع العقد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463" y="1243584"/>
            <a:ext cx="9924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محطات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21867" y="1243584"/>
            <a:ext cx="143359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لتر الربع الثاني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77994" y="1243584"/>
            <a:ext cx="154387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حصة درب الفعلية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3844" y="1243584"/>
            <a:ext cx="165415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بالعمولة المعيارية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00524" y="1243584"/>
            <a:ext cx="132332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الفجوة ربعياً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1243584"/>
            <a:ext cx="143359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الفجوة سنوياً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1609344"/>
            <a:ext cx="11027664" cy="42062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47953" y="1609344"/>
            <a:ext cx="264663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نسبة ثابتة من الصافي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463" y="1609344"/>
            <a:ext cx="99249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21867" y="1609344"/>
            <a:ext cx="1433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٢٢٫٩م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77994" y="1609344"/>
            <a:ext cx="154387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٢٧٦٬٤٧٦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23844" y="1609344"/>
            <a:ext cx="165415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٦١٠٬٠٧٠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00524" y="1609344"/>
            <a:ext cx="132332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؜-٣٣٣٬٥٩٤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1609344"/>
            <a:ext cx="1433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؜-١٬٣٣٤٬٣٧٧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029968"/>
            <a:ext cx="11027664" cy="42062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47953" y="2029968"/>
            <a:ext cx="264663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عمولة دون المعياري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463" y="2029968"/>
            <a:ext cx="99249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21867" y="2029968"/>
            <a:ext cx="1433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١٠٫١م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77994" y="2029968"/>
            <a:ext cx="154387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٢٠١٬٦٤٦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23844" y="2029968"/>
            <a:ext cx="165415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٢٧٣٬٤٩١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00524" y="2029968"/>
            <a:ext cx="132332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؜-٧١٬٨٤٥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2029968"/>
            <a:ext cx="1433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؜-٢٨٧٬٣٧٨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2450592"/>
            <a:ext cx="1102766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47953" y="2450592"/>
            <a:ext cx="264663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عمولة معيارية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463" y="2450592"/>
            <a:ext cx="99249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21867" y="2450592"/>
            <a:ext cx="1433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١٨٫٦م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77994" y="2450592"/>
            <a:ext cx="154387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٤٨٩٬٦٥٤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23844" y="2450592"/>
            <a:ext cx="165415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٤٩٠٬٩٧٩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00524" y="2450592"/>
            <a:ext cx="132332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؜-١٬٣٢٥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2450592"/>
            <a:ext cx="1433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؜-٥٬٣٠٠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2871216"/>
            <a:ext cx="11027664" cy="420624"/>
          </a:xfrm>
          <a:prstGeom prst="rect">
            <a:avLst/>
          </a:prstGeom>
          <a:solidFill>
            <a:srgbClr val="D6E9E1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47953" y="2871216"/>
            <a:ext cx="264663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عمولة أعلى من المعياري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55463" y="2871216"/>
            <a:ext cx="99249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21867" y="2871216"/>
            <a:ext cx="1433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٤٫٧م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77994" y="2871216"/>
            <a:ext cx="154387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٢٤٠٬٦٩٤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23844" y="2871216"/>
            <a:ext cx="165415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١١٧٬١٤٨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000524" y="2871216"/>
            <a:ext cx="132332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+١٢٣٬٥٤٦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" y="2871216"/>
            <a:ext cx="1433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+٤٩٤٬١٨٢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6928" y="3291840"/>
            <a:ext cx="11027664" cy="420624"/>
          </a:xfrm>
          <a:prstGeom prst="rect">
            <a:avLst/>
          </a:prstGeom>
          <a:solidFill>
            <a:srgbClr val="EDE7DE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47953" y="3291840"/>
            <a:ext cx="264663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الإجمالي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955463" y="3291840"/>
            <a:ext cx="99249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21867" y="3291840"/>
            <a:ext cx="1433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٥٦٫٤م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77994" y="3291840"/>
            <a:ext cx="154387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١٬٢٠٨٬٤٧٠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23844" y="3291840"/>
            <a:ext cx="165415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١٬٤٩١٬٦٨٨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000524" y="3291840"/>
            <a:ext cx="132332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؜-٢٨٣٬٢١٨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6928" y="3291840"/>
            <a:ext cx="1433596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؜-١٬١٣٢٬٨٧٢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6928" y="380390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لماذا تخسر النسبة الثابتة — الدليل من محطة واحدة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040624" y="4114800"/>
            <a:ext cx="3553968" cy="1280160"/>
          </a:xfrm>
          <a:prstGeom prst="roundRect">
            <a:avLst>
              <a:gd name="adj" fmla="val 3571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68640" y="4187952"/>
            <a:ext cx="3297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بريدة القصيم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8168640" y="4462272"/>
            <a:ext cx="3297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النسبة الثابتة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168640" y="4700016"/>
            <a:ext cx="3297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الكميات +٣٫٤٪ · وحصة درب −٥٥٪. المصاريف قفزت ٤١٪ وأبرزها الكهرباء من ٣٬٨٠٠ إلى ٢٣٬٥٠٠ — فدفعنا فاتورة المالك.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303776" y="4114800"/>
            <a:ext cx="3553968" cy="1280160"/>
          </a:xfrm>
          <a:prstGeom prst="roundRect">
            <a:avLst>
              <a:gd name="adj" fmla="val 3571"/>
            </a:avLst>
          </a:prstGeom>
          <a:solidFill>
            <a:srgbClr val="F7F4EF"/>
          </a:solidFill>
          <a:ln w="15240">
            <a:solidFill>
              <a:srgbClr val="F7A94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31792" y="4187952"/>
            <a:ext cx="3297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حائل العريفي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431792" y="4462272"/>
            <a:ext cx="3297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العمولة المعيارية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431792" y="4700016"/>
            <a:ext cx="3297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العمولة ٢٠٬٤١١ تتجاوز الربح التشغيلي ٦٬٥٢١ — فصافي المالك سالب في الربعين. عقد غير مستدام.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66928" y="4114800"/>
            <a:ext cx="3553968" cy="1280160"/>
          </a:xfrm>
          <a:prstGeom prst="roundRect">
            <a:avLst>
              <a:gd name="adj" fmla="val 3571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4944" y="4187952"/>
            <a:ext cx="3297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الذكرى الخالدة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694944" y="4462272"/>
            <a:ext cx="3297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عمولة ٠٫٠١٥ / ٠٫٠٠٥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94944" y="4700016"/>
            <a:ext cx="3297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نصف المعياري على ٣٫٨٦ مليون لتر — أكبر محطة بأدنى عمولة في الشبكة. ٢١٩٬٤٨٥ ريالاً سنوياً.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66928" y="5504688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F5831F"/>
          </a:solidFill>
          <a:ln/>
        </p:spPr>
      </p:sp>
      <p:sp>
        <p:nvSpPr>
          <p:cNvPr id="70" name="Text 68"/>
          <p:cNvSpPr/>
          <p:nvPr/>
        </p:nvSpPr>
        <p:spPr>
          <a:xfrm>
            <a:off x="749808" y="5550408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حصة درب الحقيقية ١٬٢٠٨٬٤٧٠ ريالاً (٣٥٫٤٪) لا ٩٦٧٬٧٧٧ (٢٨٫٣٪) — لأن عمولة ثلاث محطات مقيَّدة تحت «نسبة المالك»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المقارنة بالعمولة المعيارية ٠٫٠٣ بنزين و٠٫٠١٥ ديزل · وحصص الديزل من بيانات نقاط البيع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يشتري منّا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أربعة عملاء داخل نفس المحطة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74836" y="1243584"/>
            <a:ext cx="2619756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4836" y="1243584"/>
            <a:ext cx="2619756" cy="493776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0" name="Text 8"/>
          <p:cNvSpPr/>
          <p:nvPr/>
        </p:nvSpPr>
        <p:spPr>
          <a:xfrm>
            <a:off x="9047988" y="1298448"/>
            <a:ext cx="247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أفراد ٩١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66276" y="1828800"/>
            <a:ext cx="24368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٥٥٫٥٪ من المعاملات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066276" y="2139696"/>
            <a:ext cx="24368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٤٥٫١ ريالاً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66276" y="2560320"/>
            <a:ext cx="2436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قيمة المعاملة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084564" y="2871216"/>
            <a:ext cx="2400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الأكبر عدداً والأصغر سلة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43584"/>
            <a:ext cx="2619756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43584"/>
            <a:ext cx="2619756" cy="493776"/>
          </a:xfrm>
          <a:prstGeom prst="rect">
            <a:avLst/>
          </a:prstGeom>
          <a:solidFill>
            <a:srgbClr val="F7A94B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298448"/>
            <a:ext cx="247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أفراد ٩٥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4368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٣٦٫٠٪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2139696"/>
            <a:ext cx="24368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A94B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٥٩٫٥ ريالاً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2560320"/>
            <a:ext cx="2436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قيمة المعاملة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81928" y="2871216"/>
            <a:ext cx="2400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قدرة إنفاق أعلى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69564" y="1243584"/>
            <a:ext cx="2619756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69564" y="1243584"/>
            <a:ext cx="2619756" cy="493776"/>
          </a:xfrm>
          <a:prstGeom prst="rect">
            <a:avLst/>
          </a:prstGeom>
          <a:solidFill>
            <a:srgbClr val="3E6E8E"/>
          </a:solidFill>
          <a:ln/>
        </p:spPr>
      </p:sp>
      <p:sp>
        <p:nvSpPr>
          <p:cNvPr id="24" name="Text 22"/>
          <p:cNvSpPr/>
          <p:nvPr/>
        </p:nvSpPr>
        <p:spPr>
          <a:xfrm>
            <a:off x="3442716" y="1298448"/>
            <a:ext cx="247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أساطيل الديزل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61004" y="1828800"/>
            <a:ext cx="24368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٨٫٥٪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61004" y="2139696"/>
            <a:ext cx="24368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6E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١٢٦٫٣ ريالاً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461004" y="2560320"/>
            <a:ext cx="2436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قيمة المعاملة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9292" y="2871216"/>
            <a:ext cx="2400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١٩٪ من الإيراد — بالتعاقد لا بالحملة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1243584"/>
            <a:ext cx="2619756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1243584"/>
            <a:ext cx="2619756" cy="493776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1298448"/>
            <a:ext cx="2473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أساطيل رقمية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8368" y="1828800"/>
            <a:ext cx="24368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٠٫٧٪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8368" y="2139696"/>
            <a:ext cx="24368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١٤٩–١٧٢ ريالاً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" y="2560320"/>
            <a:ext cx="2436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قيمة المعاملة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6656" y="2871216"/>
            <a:ext cx="2400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أعلى فاتورة وأقل حصة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3931920"/>
            <a:ext cx="11027664" cy="1188720"/>
          </a:xfrm>
          <a:prstGeom prst="roundRect">
            <a:avLst>
              <a:gd name="adj" fmla="val 3846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041648"/>
            <a:ext cx="10661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٣٦٪ من الإيراد بلا هوية عميل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9808" y="4389120"/>
            <a:ext cx="10661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٢٢٦ مليون ريال «وسيلة دفع غير محددة» · ١٨ محطة لا تسجّلها إطلاقاً بإيراد ١٨٣ مليوناً · التفعيل يسبق الإنفاق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محفظة كاش إن: ٣١٨ ريالاً و٨ عمليات في سبعة أشهر — قناة غير مفعّلة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وقود الشركات — خطة التعاقد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لكل محطة قائمة صيد · وعملتان للدفع: هللة أو خدمة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07008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252728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٨١ مليون ريال ديزل يُشترى نقداً أو بالبطاقة — ٤٥٫٢ مليون لتر بلا تعاقد · هامشها ٥٬١٦٩٬٠٦٠ ريال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1883664"/>
            <a:ext cx="61754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① قائمة الصيد — أعلى ١٠ محطات ديزلاً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176272"/>
            <a:ext cx="6175492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2" name="Text 10"/>
          <p:cNvSpPr/>
          <p:nvPr/>
        </p:nvSpPr>
        <p:spPr>
          <a:xfrm>
            <a:off x="5198547" y="2176272"/>
            <a:ext cx="154387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المحطة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45370" y="2176272"/>
            <a:ext cx="65317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الكود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4674" y="2176272"/>
            <a:ext cx="89069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ديزل لتر/يوم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60877" y="2176272"/>
            <a:ext cx="59379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حصته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8940" y="2176272"/>
            <a:ext cx="77193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تطبيقات الأسطول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76383" y="2176272"/>
            <a:ext cx="71255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وحدات خدمة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2176272"/>
            <a:ext cx="100945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العملة الممكنة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2542032"/>
            <a:ext cx="6175492" cy="30632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8547" y="2542032"/>
            <a:ext cx="1543873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طريق الليث - الفضيل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5370" y="2542032"/>
            <a:ext cx="65317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MK289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4674" y="2542032"/>
            <a:ext cx="89069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٥٩٬٨٢٦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60877" y="2542032"/>
            <a:ext cx="59379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٧٠٪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8940" y="2542032"/>
            <a:ext cx="77193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٣٫٤٪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76383" y="2542032"/>
            <a:ext cx="71255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يوجد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2542032"/>
            <a:ext cx="1009455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هللة فقط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2848356"/>
            <a:ext cx="6175492" cy="30632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8547" y="2848356"/>
            <a:ext cx="1543873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العمرة الجديدة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45370" y="2848356"/>
            <a:ext cx="65317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4674" y="2848356"/>
            <a:ext cx="89069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٤٢٬٨٧٩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60877" y="2848356"/>
            <a:ext cx="59379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٣٣٪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8940" y="2848356"/>
            <a:ext cx="77193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٢٫٨٪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76383" y="2848356"/>
            <a:ext cx="71255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2848356"/>
            <a:ext cx="1009455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خدمات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3154680"/>
            <a:ext cx="6175492" cy="3063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8547" y="3154680"/>
            <a:ext cx="1543873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عاصفة الصحراء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45370" y="3154680"/>
            <a:ext cx="65317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4674" y="3154680"/>
            <a:ext cx="89069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٣٤٬١١٤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60877" y="3154680"/>
            <a:ext cx="59379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٤٠٪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88940" y="3154680"/>
            <a:ext cx="77193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٤٫٣٪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576383" y="3154680"/>
            <a:ext cx="71255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" y="3154680"/>
            <a:ext cx="1009455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خدمات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3461004"/>
            <a:ext cx="6175492" cy="30632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98547" y="3461004"/>
            <a:ext cx="1543873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أبو وافي العمرة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45370" y="3461004"/>
            <a:ext cx="65317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MK033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4674" y="3461004"/>
            <a:ext cx="89069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٢٢٬١٢٩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060877" y="3461004"/>
            <a:ext cx="59379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٥١٪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288940" y="3461004"/>
            <a:ext cx="77193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٥٫٦٪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576383" y="3461004"/>
            <a:ext cx="71255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6928" y="3461004"/>
            <a:ext cx="1009455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خدمات + هللة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" y="3767328"/>
            <a:ext cx="6175492" cy="3063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98547" y="3767328"/>
            <a:ext cx="1543873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الحليس - طريق الجنو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45370" y="3767328"/>
            <a:ext cx="65317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MK046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4674" y="3767328"/>
            <a:ext cx="89069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١٩٬٥٢٧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060877" y="3767328"/>
            <a:ext cx="59379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٣٣٪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88940" y="3767328"/>
            <a:ext cx="77193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١٫٣٪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576383" y="3767328"/>
            <a:ext cx="71255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6928" y="3767328"/>
            <a:ext cx="1009455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خدمات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66928" y="4073652"/>
            <a:ext cx="6175492" cy="30632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98547" y="4073652"/>
            <a:ext cx="1543873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القادسية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45370" y="4073652"/>
            <a:ext cx="65317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MK047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4674" y="4073652"/>
            <a:ext cx="89069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١٥٬٥١٣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060877" y="4073652"/>
            <a:ext cx="59379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٣٣٪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288940" y="4073652"/>
            <a:ext cx="77193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٠٫٠٪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576383" y="4073652"/>
            <a:ext cx="71255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يوجد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66928" y="4073652"/>
            <a:ext cx="1009455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هللة فقط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6928" y="4379976"/>
            <a:ext cx="6175492" cy="3063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98547" y="4379976"/>
            <a:ext cx="1543873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خليص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45370" y="4379976"/>
            <a:ext cx="65317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MK014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654674" y="4379976"/>
            <a:ext cx="89069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١٤٬٩٩٤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060877" y="4379976"/>
            <a:ext cx="59379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٦٣٪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288940" y="4379976"/>
            <a:ext cx="77193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٢٦٫٥٪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576383" y="4379976"/>
            <a:ext cx="71255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66928" y="4379976"/>
            <a:ext cx="1009455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خدمات + هللة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66928" y="4686300"/>
            <a:ext cx="6175492" cy="30632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98547" y="4686300"/>
            <a:ext cx="1543873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طريق السيل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545370" y="4686300"/>
            <a:ext cx="65317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MK054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654674" y="4686300"/>
            <a:ext cx="89069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١٣٬١٥٩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060877" y="4686300"/>
            <a:ext cx="59379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٤٤٪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2288940" y="4686300"/>
            <a:ext cx="77193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١٫٧٪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576383" y="4686300"/>
            <a:ext cx="71255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66928" y="4686300"/>
            <a:ext cx="1009455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خدمات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66928" y="4992624"/>
            <a:ext cx="6175492" cy="30632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98547" y="4992624"/>
            <a:ext cx="1543873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الفلاح - فلسطين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4545370" y="4992624"/>
            <a:ext cx="65317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MK210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3654674" y="4992624"/>
            <a:ext cx="89069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١٢٬٤٣٨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060877" y="4992624"/>
            <a:ext cx="59379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٣٨٪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2288940" y="4992624"/>
            <a:ext cx="77193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٠٫٠٪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576383" y="4992624"/>
            <a:ext cx="71255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يوجد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566928" y="4992624"/>
            <a:ext cx="1009455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هللة فقط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66928" y="5298948"/>
            <a:ext cx="6175492" cy="30632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98547" y="5298948"/>
            <a:ext cx="1543873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الجعرانة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4545370" y="5298948"/>
            <a:ext cx="65317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MK064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3654674" y="5298948"/>
            <a:ext cx="89069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٩٬٠٤٩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3060877" y="5298948"/>
            <a:ext cx="59379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٣٣٪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2288940" y="5298948"/>
            <a:ext cx="771936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٠٫٦٪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1576383" y="5298948"/>
            <a:ext cx="712557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66928" y="5298948"/>
            <a:ext cx="1009455" cy="3063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خدمات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7073250" y="1883664"/>
            <a:ext cx="45213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② بأي عملة ندفع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7073250" y="2176272"/>
            <a:ext cx="4521342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01" name="Text 99"/>
          <p:cNvSpPr/>
          <p:nvPr/>
        </p:nvSpPr>
        <p:spPr>
          <a:xfrm>
            <a:off x="10057336" y="2176272"/>
            <a:ext cx="153725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الخصم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8429652" y="2176272"/>
            <a:ext cx="162768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يبقى من الصافي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7073250" y="2176272"/>
            <a:ext cx="135640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نتنازل عنه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073250" y="2542032"/>
            <a:ext cx="4521342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057336" y="2542032"/>
            <a:ext cx="153725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 هللة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8429652" y="2542032"/>
            <a:ext cx="162768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٥٫٢٣ هللة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7073250" y="2542032"/>
            <a:ext cx="135640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١٦٪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7073250" y="2852928"/>
            <a:ext cx="4521342" cy="310896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057336" y="2852928"/>
            <a:ext cx="153725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 هللة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8429652" y="2852928"/>
            <a:ext cx="162768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٤٫٢٣ هللة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7073250" y="2852928"/>
            <a:ext cx="135640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٣٢٪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7073250" y="3163824"/>
            <a:ext cx="4521342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057336" y="3163824"/>
            <a:ext cx="153725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 هللة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8429652" y="3163824"/>
            <a:ext cx="162768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٣٫٢٣ هللة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7073250" y="3163824"/>
            <a:ext cx="135640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٤٨٪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7073250" y="3474720"/>
            <a:ext cx="4521342" cy="310896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057336" y="3474720"/>
            <a:ext cx="153725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 هللة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8429652" y="3474720"/>
            <a:ext cx="162768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١٫٢٣ هللة</a:t>
            </a:r>
            <a:endParaRPr lang="en-US" sz="1050" dirty="0"/>
          </a:p>
        </p:txBody>
      </p:sp>
      <p:sp>
        <p:nvSpPr>
          <p:cNvPr id="119" name="Text 117"/>
          <p:cNvSpPr/>
          <p:nvPr/>
        </p:nvSpPr>
        <p:spPr>
          <a:xfrm>
            <a:off x="7073250" y="3474720"/>
            <a:ext cx="135640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٨٠٪</a:t>
            </a:r>
            <a:endParaRPr lang="en-US" sz="1050" dirty="0"/>
          </a:p>
        </p:txBody>
      </p:sp>
      <p:sp>
        <p:nvSpPr>
          <p:cNvPr id="120" name="Text 118"/>
          <p:cNvSpPr/>
          <p:nvPr/>
        </p:nvSpPr>
        <p:spPr>
          <a:xfrm>
            <a:off x="7073250" y="3785616"/>
            <a:ext cx="45213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أسطول نموذجي: ٢٠ شاحنة · ١٦٬٠٠٠ لتر شهرياً · صافيه لنا ١٬١٣٦ ريالاً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9416217" y="4078224"/>
            <a:ext cx="2178375" cy="1389888"/>
          </a:xfrm>
          <a:prstGeom prst="roundRect">
            <a:avLst>
              <a:gd name="adj" fmla="val 3289"/>
            </a:avLst>
          </a:prstGeom>
          <a:solidFill>
            <a:srgbClr val="F7F4EF"/>
          </a:solidFill>
          <a:ln w="15240">
            <a:solidFill>
              <a:srgbClr val="55565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489369" y="4142232"/>
            <a:ext cx="20320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خصم ٢ هللة</a:t>
            </a:r>
            <a:endParaRPr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9489369" y="4443984"/>
            <a:ext cx="20320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كلفتها علينا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9489369" y="4581144"/>
            <a:ext cx="20320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٣٢٠ ر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9489369" y="4773168"/>
            <a:ext cx="20320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قيمتها للعميل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9489369" y="4910328"/>
            <a:ext cx="20320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٣٢٠ ر</a:t>
            </a:r>
            <a:endParaRPr lang="en-US" sz="1200" dirty="0"/>
          </a:p>
        </p:txBody>
      </p:sp>
      <p:sp>
        <p:nvSpPr>
          <p:cNvPr id="127" name="Text 125"/>
          <p:cNvSpPr/>
          <p:nvPr/>
        </p:nvSpPr>
        <p:spPr>
          <a:xfrm>
            <a:off x="9489369" y="5102352"/>
            <a:ext cx="20320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لكل ريال ننفقه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9489369" y="5239512"/>
            <a:ext cx="20320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١٫٠٠ ر قيمة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7073250" y="4078224"/>
            <a:ext cx="2178375" cy="1389888"/>
          </a:xfrm>
          <a:prstGeom prst="roundRect">
            <a:avLst>
              <a:gd name="adj" fmla="val 3289"/>
            </a:avLst>
          </a:prstGeom>
          <a:solidFill>
            <a:srgbClr val="D6E9E1"/>
          </a:solidFill>
          <a:ln w="15240">
            <a:solidFill>
              <a:srgbClr val="2E8B6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146402" y="4142232"/>
            <a:ext cx="20320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٢٠ غسلة</a:t>
            </a:r>
            <a:endParaRPr lang="en-US" sz="1300" dirty="0"/>
          </a:p>
        </p:txBody>
      </p:sp>
      <p:sp>
        <p:nvSpPr>
          <p:cNvPr id="131" name="Text 129"/>
          <p:cNvSpPr/>
          <p:nvPr/>
        </p:nvSpPr>
        <p:spPr>
          <a:xfrm>
            <a:off x="7146402" y="4443984"/>
            <a:ext cx="20320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كلفتها علينا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7146402" y="4581144"/>
            <a:ext cx="20320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٣٠٠ ر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7146402" y="4773168"/>
            <a:ext cx="20320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قيمتها للعميل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7146402" y="4910328"/>
            <a:ext cx="20320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٥٦٠ ر</a:t>
            </a:r>
            <a:endParaRPr lang="en-US" sz="1200" dirty="0"/>
          </a:p>
        </p:txBody>
      </p:sp>
      <p:sp>
        <p:nvSpPr>
          <p:cNvPr id="135" name="Text 133"/>
          <p:cNvSpPr/>
          <p:nvPr/>
        </p:nvSpPr>
        <p:spPr>
          <a:xfrm>
            <a:off x="7146402" y="5102352"/>
            <a:ext cx="20320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لكل ريال ننفقه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7146402" y="5239512"/>
            <a:ext cx="20320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١٫٨٧ ر قيمة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566928" y="5577840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F5831F"/>
          </a:solidFill>
          <a:ln/>
        </p:spPr>
      </p:sp>
      <p:sp>
        <p:nvSpPr>
          <p:cNvPr id="138" name="Text 136"/>
          <p:cNvSpPr/>
          <p:nvPr/>
        </p:nvSpPr>
        <p:spPr>
          <a:xfrm>
            <a:off x="749808" y="5623560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الخدمة تعطي ١٫٨٧ ريال قيمة لكل ريال ننفقه — وتملأ وحدات الخدمة الشاغرة · لكن ٣ من أعلى ١٠ محطات ديزلاً بلا وحدة خدمة أصلاً</a:t>
            </a:r>
            <a:endParaRPr lang="en-US" sz="1250" dirty="0"/>
          </a:p>
        </p:txBody>
      </p:sp>
      <p:sp>
        <p:nvSpPr>
          <p:cNvPr id="139" name="Text 137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غسلة بكلفة ١٥ ريالاً تعادل ٢١١ لتراً من الصافي — فالسقف غسلة لكل ألف لتر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2286000"/>
            <a:ext cx="54864" cy="20116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2402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spc="300" kern="0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القسم الثاني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2743200"/>
            <a:ext cx="10753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المنافسون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خمسة منتجات — ولكلٍّ مسيطر مختلف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المنافسون حسب المنتج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يسيطر على كل منتج — وأين لا نعرف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43584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9940442" y="1243584"/>
            <a:ext cx="165415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المنتج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65740" y="1243584"/>
            <a:ext cx="187470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حجمنا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21867" y="1243584"/>
            <a:ext cx="154387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موقعنا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88270" y="1243584"/>
            <a:ext cx="143359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المسيطر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10801" y="1243584"/>
            <a:ext cx="297746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نعرفه عنه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1243584"/>
            <a:ext cx="154387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حالة المسح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1609344"/>
            <a:ext cx="11027664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40442" y="1609344"/>
            <a:ext cx="1654150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وقود أفراد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65740" y="1609344"/>
            <a:ext cx="187470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٥٠٨٫٨ مليون ريال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21867" y="1609344"/>
            <a:ext cx="154387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٨١٪ من مبيعاتنا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88270" y="1609344"/>
            <a:ext cx="1433596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E6E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الدريس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10801" y="1609344"/>
            <a:ext cx="2977469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٤٠٪ من جوار محطاتنا · تقييمه ٣٫٧٧★ مقابل ٤٫٨٦ لنا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1609344"/>
            <a:ext cx="154387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ميداني — مكتمل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2121408"/>
            <a:ext cx="11027664" cy="51206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40442" y="2121408"/>
            <a:ext cx="1654150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وقود شركات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65740" y="2121408"/>
            <a:ext cx="187470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١١٧٫٥ مليون ريال ديزل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21867" y="2121408"/>
            <a:ext cx="154387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المنصّات ٣٫٠٪ من المسجَّل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88270" y="2121408"/>
            <a:ext cx="1433596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E6E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سيارة وبترو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10801" y="2121408"/>
            <a:ext cx="2977469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١١٫٩٦ مليون ريال بفاتورة ١٥٦٫٥٠ — ثلاثة أضعاف النقدي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2121408"/>
            <a:ext cx="154387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القناة مقيسة — بلا حصص سوق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2633472"/>
            <a:ext cx="11027664" cy="51206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40442" y="2633472"/>
            <a:ext cx="1654150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عقارات وتأجير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65740" y="2633472"/>
            <a:ext cx="187470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٦٤١ وحدة مؤجَّرة من ١٬٧٣٣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21867" y="2633472"/>
            <a:ext cx="154387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إشغال ٣٧٪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88270" y="2633472"/>
            <a:ext cx="1433596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بديل المستأجر في الحي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10801" y="2633472"/>
            <a:ext cx="2977469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المحل ٢٥٪ إشغالاً · وما لا بديل له ٤٤٪ فأعلى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2633472"/>
            <a:ext cx="154387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بنيوي — ينقصه جدول إيجارات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3145536"/>
            <a:ext cx="11027664" cy="51206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40442" y="3145536"/>
            <a:ext cx="1654150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إكسسوارات سيارات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65740" y="3145536"/>
            <a:ext cx="187470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لم تبدأ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21867" y="3145536"/>
            <a:ext cx="154387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صفر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88270" y="3145536"/>
            <a:ext cx="1433596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مستأجرونا أنفسهم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10801" y="3145536"/>
            <a:ext cx="2977469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١١٧ مغسلة و١٩٢ محلاً تبيع على أرضنا بإيجار لا هامش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" y="3145536"/>
            <a:ext cx="154387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بنيوي — ينقصه مسح أسعار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" y="3657600"/>
            <a:ext cx="11027664" cy="51206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40442" y="3657600"/>
            <a:ext cx="1654150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مساحات إعلانية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65740" y="3657600"/>
            <a:ext cx="187470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لم تبدأ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21867" y="3657600"/>
            <a:ext cx="154387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صفر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88270" y="3657600"/>
            <a:ext cx="1433596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مشغّلو الإعلان الخارجي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110801" y="3657600"/>
            <a:ext cx="2977469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١٫٥٧ مليون معاملة شهرياً جمهورٌ لا يُباع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6928" y="3657600"/>
            <a:ext cx="1543873" cy="51206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بنيوي — ينقصه جرد وسعر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40624" y="4315968"/>
            <a:ext cx="3553968" cy="1207008"/>
          </a:xfrm>
          <a:prstGeom prst="roundRect">
            <a:avLst>
              <a:gd name="adj" fmla="val 3788"/>
            </a:avLst>
          </a:prstGeom>
          <a:solidFill>
            <a:srgbClr val="F7F4EF"/>
          </a:solidFill>
          <a:ln w="15240">
            <a:solidFill>
              <a:srgbClr val="F5831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2064" y="4425696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 من ٥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8132064" y="4846320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منتجات تعمل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132064" y="5138928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الوقود بشقّيه — والباقي لم يبدأ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303776" y="4315968"/>
            <a:ext cx="3553968" cy="1207008"/>
          </a:xfrm>
          <a:prstGeom prst="roundRect">
            <a:avLst>
              <a:gd name="adj" fmla="val 3788"/>
            </a:avLst>
          </a:prstGeom>
          <a:solidFill>
            <a:srgbClr val="F7F4EF"/>
          </a:solidFill>
          <a:ln w="15240">
            <a:solidFill>
              <a:srgbClr val="F7A9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95216" y="4425696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A94B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 من ٥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395216" y="4846320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عُرِف مُسيطرها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395216" y="5138928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لكلٍّ منافس مختلف ومقياس مختلف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66928" y="4315968"/>
            <a:ext cx="3553968" cy="1207008"/>
          </a:xfrm>
          <a:prstGeom prst="roundRect">
            <a:avLst>
              <a:gd name="adj" fmla="val 3788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8368" y="4425696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 من ٥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58368" y="4846320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بلا سعر سوق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58368" y="5138928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نعرف من هو — ولا نعرف بكم يبيع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المسيطر في المنتجات الثلاثة استُنتج من بياناتنا لا من مسحٍ خارجي — والناقص سعره لا هويّته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وقود الأفراد — الموقف الميداني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خمسة مواقع · ٤٠ منافساً مرصوداً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43584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9609612" y="1243584"/>
            <a:ext cx="198498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المحطة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27399" y="1243584"/>
            <a:ext cx="88221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الكود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4633" y="1243584"/>
            <a:ext cx="110276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تقييمنا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91037" y="1243584"/>
            <a:ext cx="143359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متوسط المنافس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7440" y="1243584"/>
            <a:ext cx="143359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منافسون داخل ٥ كم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44397" y="1243584"/>
            <a:ext cx="121304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أقرب منافس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90248" y="1243584"/>
            <a:ext cx="165415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هو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1243584"/>
            <a:ext cx="132332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الكثافة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1609344"/>
            <a:ext cx="11027664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9612" y="1609344"/>
            <a:ext cx="198498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عرفات الشرائع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27399" y="1609344"/>
            <a:ext cx="882213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MK019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24633" y="1609344"/>
            <a:ext cx="110276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٤٫٩★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1037" y="1609344"/>
            <a:ext cx="143359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٣٫٦★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7440" y="1609344"/>
            <a:ext cx="143359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44397" y="1609344"/>
            <a:ext cx="1213043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٤٨٨ 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90248" y="1609344"/>
            <a:ext cx="165415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Aldrees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1609344"/>
            <a:ext cx="132332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منافسة مرتفعة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1993392"/>
            <a:ext cx="11027664" cy="384048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9612" y="1993392"/>
            <a:ext cx="198498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عرفات الشوقية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27399" y="1993392"/>
            <a:ext cx="882213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MK017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24633" y="1993392"/>
            <a:ext cx="110276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٤٫٩★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1037" y="1993392"/>
            <a:ext cx="143359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٤٫١★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7440" y="1993392"/>
            <a:ext cx="143359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44397" y="1993392"/>
            <a:ext cx="1213043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٢٬٤٥٠ 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90248" y="1993392"/>
            <a:ext cx="165415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محطة نوفل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1993392"/>
            <a:ext cx="132332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منافسة متوسطة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2377440"/>
            <a:ext cx="11027664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9612" y="2377440"/>
            <a:ext cx="198498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الفردوس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27399" y="2377440"/>
            <a:ext cx="882213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MK023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24633" y="2377440"/>
            <a:ext cx="110276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٤٫٩★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91037" y="2377440"/>
            <a:ext cx="143359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٣٫٦★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7440" y="2377440"/>
            <a:ext cx="143359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٢٨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544397" y="2377440"/>
            <a:ext cx="1213043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٤١١ 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890248" y="2377440"/>
            <a:ext cx="165415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Aldrees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" y="2377440"/>
            <a:ext cx="132332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منافسة مرتفعة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2761488"/>
            <a:ext cx="11027664" cy="384048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9612" y="2761488"/>
            <a:ext cx="198498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النورية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27399" y="2761488"/>
            <a:ext cx="882213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24633" y="2761488"/>
            <a:ext cx="110276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٤٫٨★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91037" y="2761488"/>
            <a:ext cx="143359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٤٫٠★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7440" y="2761488"/>
            <a:ext cx="143359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544397" y="2761488"/>
            <a:ext cx="1213043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٢٬١٩٤ م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890248" y="2761488"/>
            <a:ext cx="165415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محطة المملكة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6928" y="2761488"/>
            <a:ext cx="132332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منافسة منخفضة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66928" y="3145536"/>
            <a:ext cx="11027664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09612" y="3145536"/>
            <a:ext cx="198498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المعيصم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727399" y="3145536"/>
            <a:ext cx="882213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624633" y="3145536"/>
            <a:ext cx="110276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٤٫٨★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91037" y="3145536"/>
            <a:ext cx="143359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٣٫٧★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757440" y="3145536"/>
            <a:ext cx="1433596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544397" y="3145536"/>
            <a:ext cx="1213043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١٨١ م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890248" y="3145536"/>
            <a:ext cx="165415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محطة المعيصم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66928" y="3145536"/>
            <a:ext cx="132332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منافسة مرتفعة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040624" y="3566160"/>
            <a:ext cx="3553968" cy="1280160"/>
          </a:xfrm>
          <a:prstGeom prst="roundRect">
            <a:avLst>
              <a:gd name="adj" fmla="val 3571"/>
            </a:avLst>
          </a:prstGeom>
          <a:solidFill>
            <a:srgbClr val="D6E9E1"/>
          </a:solidFill>
          <a:ln w="15240">
            <a:solidFill>
              <a:srgbClr val="2E8B6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68640" y="3675888"/>
            <a:ext cx="3297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نتفوّق في كل موقع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168640" y="3986784"/>
            <a:ext cx="32979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٤٫٨ و٤٫٩ نجمة مقابل ٣٫٦ إلى ٤٫١ · و٥٧٪ من المنافسين دون أربع نجوم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4303776" y="3566160"/>
            <a:ext cx="3553968" cy="1280160"/>
          </a:xfrm>
          <a:prstGeom prst="roundRect">
            <a:avLst>
              <a:gd name="adj" fmla="val 3571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31792" y="3675888"/>
            <a:ext cx="3297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ونخسر بالمسافة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4431792" y="3986784"/>
            <a:ext cx="32979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أقرب منافس على ١٨١ متراً في المعيصم و٤١١ في الفردوس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566928" y="3566160"/>
            <a:ext cx="3553968" cy="1280160"/>
          </a:xfrm>
          <a:prstGeom prst="roundRect">
            <a:avLst>
              <a:gd name="adj" fmla="val 3571"/>
            </a:avLst>
          </a:prstGeom>
          <a:solidFill>
            <a:srgbClr val="F5F2ED"/>
          </a:solidFill>
          <a:ln w="15240">
            <a:solidFill>
              <a:srgbClr val="3E6E8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4944" y="3675888"/>
            <a:ext cx="3297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3E6E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الدريس هو المنافس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94944" y="3986784"/>
            <a:ext cx="32979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١٥ من ٤٠ موقعاً — ٣٨٪ محلياً مقابل ١٨٫٩٥٪ وطنياً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66928" y="5074920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72" name="Text 70"/>
          <p:cNvSpPr/>
          <p:nvPr/>
        </p:nvSpPr>
        <p:spPr>
          <a:xfrm>
            <a:off x="749808" y="5120640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الخدمة أفضل أصلاً — فالخطة اعتراضية: لافتة ومدخل وسرعة وإبراز التقييم قبل نقطة القرار بخمسمئة متر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وقود الأفراد — من حولنا، وهل يفسّر نتيجتنا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٤٠ منافساً مرصوداً من ٧٩ داخل ٥ كم · خرائط جوجل يوليو ٢٠٢٦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188720"/>
            <a:ext cx="57343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① من يحيط بنا فعلاً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1481328"/>
            <a:ext cx="5734385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0" name="Text 8"/>
          <p:cNvSpPr/>
          <p:nvPr/>
        </p:nvSpPr>
        <p:spPr>
          <a:xfrm>
            <a:off x="5039749" y="1481328"/>
            <a:ext cx="126156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العلامة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08966" y="1481328"/>
            <a:ext cx="63078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مرات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20840" y="1481328"/>
            <a:ext cx="68812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الحصة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18026" y="1481328"/>
            <a:ext cx="802814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أقرب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7868" y="1481328"/>
            <a:ext cx="86015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وسيط المسافة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12398" y="1481328"/>
            <a:ext cx="74547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تقييمها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1481328"/>
            <a:ext cx="74547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وسيط المراجعات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1847088"/>
            <a:ext cx="5734385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39749" y="1847088"/>
            <a:ext cx="1261565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الدريس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08966" y="1847088"/>
            <a:ext cx="63078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20840" y="1847088"/>
            <a:ext cx="6881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٤٠٪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18026" y="1847088"/>
            <a:ext cx="80281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٤١١ م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57868" y="1847088"/>
            <a:ext cx="86015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١٬٥١٧ م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12398" y="1847088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٣٫٧٧★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1847088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٤٢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2157984"/>
            <a:ext cx="5734385" cy="310896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9749" y="2157984"/>
            <a:ext cx="1261565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مستقلة/أخرى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08966" y="2157984"/>
            <a:ext cx="63078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١٣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20840" y="2157984"/>
            <a:ext cx="6881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٣٣٪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18026" y="2157984"/>
            <a:ext cx="80281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١٨١ 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57868" y="2157984"/>
            <a:ext cx="86015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١٬٩٦٧ 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12398" y="2157984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٣٫٨٨★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2157984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2468880"/>
            <a:ext cx="5734385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39749" y="2468880"/>
            <a:ext cx="1261565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بتروجين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08966" y="2468880"/>
            <a:ext cx="63078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720840" y="2468880"/>
            <a:ext cx="6881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٨٪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918026" y="2468880"/>
            <a:ext cx="80281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٩٢٣ م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057868" y="2468880"/>
            <a:ext cx="86015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١٬١٦٥ م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312398" y="2468880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٣٫٤٠★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2468880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2779776"/>
            <a:ext cx="5734385" cy="310896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39749" y="2779776"/>
            <a:ext cx="1261565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ساسكو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08966" y="2779776"/>
            <a:ext cx="63078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720840" y="2779776"/>
            <a:ext cx="6881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٨٪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918026" y="2779776"/>
            <a:ext cx="80281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١٬٧٠١ م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057868" y="2779776"/>
            <a:ext cx="86015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١٬٨٠٦ م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312398" y="2779776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٤٫٠٠★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6928" y="2779776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66928" y="3090672"/>
            <a:ext cx="5734385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39749" y="3090672"/>
            <a:ext cx="1261565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أومكو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408966" y="3090672"/>
            <a:ext cx="63078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720840" y="3090672"/>
            <a:ext cx="6881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٨٪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918026" y="3090672"/>
            <a:ext cx="80281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١٬٧٥٥ م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057868" y="3090672"/>
            <a:ext cx="86015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٢٬١١٦ م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312398" y="3090672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٣٫٢٠★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66928" y="3090672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١٠٨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66928" y="3401568"/>
            <a:ext cx="5734385" cy="310896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39749" y="3401568"/>
            <a:ext cx="1261565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نفط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408966" y="3401568"/>
            <a:ext cx="63078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720840" y="3401568"/>
            <a:ext cx="6881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٥٪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2918026" y="3401568"/>
            <a:ext cx="80281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٦٩٥ م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057868" y="3401568"/>
            <a:ext cx="86015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١٬٠٣٨ م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312398" y="3401568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٣٫٠٠★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66928" y="3401568"/>
            <a:ext cx="74547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632143" y="1188720"/>
            <a:ext cx="4962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② وميزتنا ثابتة — والنتيجة ليست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6632143" y="1481328"/>
            <a:ext cx="4962449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67" name="Text 65"/>
          <p:cNvSpPr/>
          <p:nvPr/>
        </p:nvSpPr>
        <p:spPr>
          <a:xfrm>
            <a:off x="10304355" y="1481328"/>
            <a:ext cx="129023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الموقع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9659237" y="1481328"/>
            <a:ext cx="64511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نحن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063743" y="1481328"/>
            <a:ext cx="595494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هم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69000" y="1481328"/>
            <a:ext cx="69474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الفارق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723882" y="1481328"/>
            <a:ext cx="64511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عددهم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632143" y="1481328"/>
            <a:ext cx="109173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نمونا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632143" y="1847088"/>
            <a:ext cx="4962449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04355" y="1847088"/>
            <a:ext cx="1290237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عرفات الشرائع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9659237" y="1847088"/>
            <a:ext cx="64511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٤٫٩★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063743" y="1847088"/>
            <a:ext cx="59549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٣٫٦★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8369000" y="1847088"/>
            <a:ext cx="69474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+١٫٣٠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7723882" y="1847088"/>
            <a:ext cx="64511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6632143" y="1847088"/>
            <a:ext cx="1091739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−٢٥٪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6632143" y="2157984"/>
            <a:ext cx="4962449" cy="310896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304355" y="2157984"/>
            <a:ext cx="1290237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عرفات الشوقية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9659237" y="2157984"/>
            <a:ext cx="64511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٤٫٩★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063743" y="2157984"/>
            <a:ext cx="59549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٤٫١★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8369000" y="2157984"/>
            <a:ext cx="69474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+٠٫٨٠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7723882" y="2157984"/>
            <a:ext cx="64511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6632143" y="2157984"/>
            <a:ext cx="1091739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+٧٪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632143" y="2468880"/>
            <a:ext cx="4962449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304355" y="2468880"/>
            <a:ext cx="1290237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الفردوس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9659237" y="2468880"/>
            <a:ext cx="64511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٤٫٩★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9063743" y="2468880"/>
            <a:ext cx="59549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٣٫٦★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8369000" y="2468880"/>
            <a:ext cx="69474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+١٫٣٠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7723882" y="2468880"/>
            <a:ext cx="64511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٢٨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6632143" y="2468880"/>
            <a:ext cx="1091739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−١٢٪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632143" y="2779776"/>
            <a:ext cx="4962449" cy="310896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304355" y="2779776"/>
            <a:ext cx="1290237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النورية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9659237" y="2779776"/>
            <a:ext cx="64511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٤٫٨★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9063743" y="2779776"/>
            <a:ext cx="59549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٤٫٠★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8369000" y="2779776"/>
            <a:ext cx="69474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+٠٫٨٠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7723882" y="2779776"/>
            <a:ext cx="64511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6632143" y="2779776"/>
            <a:ext cx="1091739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−٢٢٪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6632143" y="3090672"/>
            <a:ext cx="4962449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304355" y="3090672"/>
            <a:ext cx="1290237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المعيصم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9659237" y="3090672"/>
            <a:ext cx="64511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٤٫٨★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9063743" y="3090672"/>
            <a:ext cx="595494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٣٫٧★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8369000" y="3090672"/>
            <a:ext cx="694743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+١٫١٠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7723882" y="3090672"/>
            <a:ext cx="645118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6632143" y="3090672"/>
            <a:ext cx="1091739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−٥٣٪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6632143" y="3401568"/>
            <a:ext cx="4962449" cy="1060704"/>
          </a:xfrm>
          <a:prstGeom prst="roundRect">
            <a:avLst>
              <a:gd name="adj" fmla="val 4310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778447" y="3511296"/>
            <a:ext cx="4669841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ميزتنا ١٫١٥ نجمة على المواقع الخمسة جميعاً، والنمو يمتد من ٧٪ إلى −٥٣٪. الثابت لا يفسّر المتغيّر — فالمنافس ليس ما يحرّك أرقامنا.</a:t>
            </a:r>
            <a:endParaRPr lang="en-US" sz="1150" dirty="0"/>
          </a:p>
        </p:txBody>
      </p:sp>
      <p:sp>
        <p:nvSpPr>
          <p:cNvPr id="110" name="Text 108"/>
          <p:cNvSpPr/>
          <p:nvPr/>
        </p:nvSpPr>
        <p:spPr>
          <a:xfrm>
            <a:off x="566928" y="457200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③ وحين يكون السعر منظَّماً تُحسم المنافسة بالخدمة — وشكاوانا تقول أين نقف</a:t>
            </a:r>
            <a:endParaRPr lang="en-US" sz="1350" dirty="0"/>
          </a:p>
        </p:txBody>
      </p:sp>
      <p:sp>
        <p:nvSpPr>
          <p:cNvPr id="111" name="Shape 109"/>
          <p:cNvSpPr/>
          <p:nvPr/>
        </p:nvSpPr>
        <p:spPr>
          <a:xfrm>
            <a:off x="9506102" y="4901184"/>
            <a:ext cx="2088490" cy="859536"/>
          </a:xfrm>
          <a:prstGeom prst="roundRect">
            <a:avLst>
              <a:gd name="adj" fmla="val 4255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579254" y="4974336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٣٠</a:t>
            </a:r>
            <a:endParaRPr lang="en-US" sz="1900" dirty="0"/>
          </a:p>
        </p:txBody>
      </p:sp>
      <p:sp>
        <p:nvSpPr>
          <p:cNvPr id="113" name="Text 111"/>
          <p:cNvSpPr/>
          <p:nvPr/>
        </p:nvSpPr>
        <p:spPr>
          <a:xfrm>
            <a:off x="9579254" y="5358384"/>
            <a:ext cx="1942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سلوك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7271309" y="4901184"/>
            <a:ext cx="2088490" cy="859536"/>
          </a:xfrm>
          <a:prstGeom prst="roundRect">
            <a:avLst>
              <a:gd name="adj" fmla="val 4255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344461" y="4974336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</a:t>
            </a:r>
            <a:endParaRPr lang="en-US" sz="1900" dirty="0"/>
          </a:p>
        </p:txBody>
      </p:sp>
      <p:sp>
        <p:nvSpPr>
          <p:cNvPr id="116" name="Text 114"/>
          <p:cNvSpPr/>
          <p:nvPr/>
        </p:nvSpPr>
        <p:spPr>
          <a:xfrm>
            <a:off x="7344461" y="5358384"/>
            <a:ext cx="1942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سرعة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5036515" y="4901184"/>
            <a:ext cx="2088490" cy="859536"/>
          </a:xfrm>
          <a:prstGeom prst="roundRect">
            <a:avLst>
              <a:gd name="adj" fmla="val 4255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109667" y="4974336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</a:t>
            </a:r>
            <a:endParaRPr lang="en-US" sz="1900" dirty="0"/>
          </a:p>
        </p:txBody>
      </p:sp>
      <p:sp>
        <p:nvSpPr>
          <p:cNvPr id="119" name="Text 117"/>
          <p:cNvSpPr/>
          <p:nvPr/>
        </p:nvSpPr>
        <p:spPr>
          <a:xfrm>
            <a:off x="5109667" y="5358384"/>
            <a:ext cx="1942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ثقة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2801722" y="4901184"/>
            <a:ext cx="2088490" cy="859536"/>
          </a:xfrm>
          <a:prstGeom prst="roundRect">
            <a:avLst>
              <a:gd name="adj" fmla="val 4255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874874" y="4974336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</a:t>
            </a:r>
            <a:endParaRPr lang="en-US" sz="1900" dirty="0"/>
          </a:p>
        </p:txBody>
      </p:sp>
      <p:sp>
        <p:nvSpPr>
          <p:cNvPr id="122" name="Text 120"/>
          <p:cNvSpPr/>
          <p:nvPr/>
        </p:nvSpPr>
        <p:spPr>
          <a:xfrm>
            <a:off x="2874874" y="5358384"/>
            <a:ext cx="1942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رفض خدمة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566928" y="4901184"/>
            <a:ext cx="2088490" cy="859536"/>
          </a:xfrm>
          <a:prstGeom prst="roundRect">
            <a:avLst>
              <a:gd name="adj" fmla="val 4255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40080" y="4974336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</a:t>
            </a:r>
            <a:endParaRPr lang="en-US" sz="1900" dirty="0"/>
          </a:p>
        </p:txBody>
      </p:sp>
      <p:sp>
        <p:nvSpPr>
          <p:cNvPr id="125" name="Text 123"/>
          <p:cNvSpPr/>
          <p:nvPr/>
        </p:nvSpPr>
        <p:spPr>
          <a:xfrm>
            <a:off x="640080" y="5358384"/>
            <a:ext cx="1942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خطأ تعبئة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١٠٣ شكوى — ٦٦٪ منها خدمة لا سعر (و٣٥ بلا تصنيف) · فالخطة اعتراضية: مدخل ولافتة وسرعة، لا مطاردة سعر لا نملكه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وقود الشركات — المنافس منصّة لا محطة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يملك حساب الأسطول يملك تعبئته · تصنيف بحجم السلة لا بالاسم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18872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① قنوات الدفع — والسلة هي التي تفضح القناة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1481328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0" name="Text 8"/>
          <p:cNvSpPr/>
          <p:nvPr/>
        </p:nvSpPr>
        <p:spPr>
          <a:xfrm>
            <a:off x="9778271" y="1481328"/>
            <a:ext cx="1816321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القناة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91687" y="1481328"/>
            <a:ext cx="1686584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الإيراد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24052" y="1481328"/>
            <a:ext cx="116763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الحصة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67205" y="1481328"/>
            <a:ext cx="155684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المعاملات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69833" y="1481328"/>
            <a:ext cx="129737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الفاتورة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2986" y="1481328"/>
            <a:ext cx="155684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1481328"/>
            <a:ext cx="194605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يملكها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1847088"/>
            <a:ext cx="11027664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8271" y="1847088"/>
            <a:ext cx="18163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غير مسجَّلة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1687" y="1847088"/>
            <a:ext cx="1686584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٢٢٦٬٣١٢٬١٧٨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24052" y="1847088"/>
            <a:ext cx="116763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٣٦٫١٪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67205" y="1847088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٤٬٠٧٢٬١٨١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69833" y="1847088"/>
            <a:ext cx="1297372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٥٥٫٥٨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12986" y="1847088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أفراد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1847088"/>
            <a:ext cx="194605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مجهولة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2148840"/>
            <a:ext cx="11027664" cy="301752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78271" y="2148840"/>
            <a:ext cx="18163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نقدي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91687" y="2148840"/>
            <a:ext cx="1686584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١٨٤٬٥٥٨٬٦١٥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24052" y="2148840"/>
            <a:ext cx="116763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٢٩٫٥٪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67205" y="2148840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٣٬٥٥٤٬٤٤٥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69833" y="2148840"/>
            <a:ext cx="1297372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٥١٫٩٢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12986" y="2148840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أفراد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2148840"/>
            <a:ext cx="194605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قناتنا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2450592"/>
            <a:ext cx="11027664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78271" y="2450592"/>
            <a:ext cx="18163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شبكة (مدى)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91687" y="2450592"/>
            <a:ext cx="1686584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١٧٩٬٢٣٦٬٣٠٣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24052" y="2450592"/>
            <a:ext cx="116763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٢٨٫٦٪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67205" y="2450592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٢٬٨٠٥٬٣١٤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69833" y="2450592"/>
            <a:ext cx="1297372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٦٣٫٨٩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512986" y="2450592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أفراد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2450592"/>
            <a:ext cx="194605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قناتنا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2752344"/>
            <a:ext cx="11027664" cy="301752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78271" y="2752344"/>
            <a:ext cx="18163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جهاز خارجي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91687" y="2752344"/>
            <a:ext cx="1686584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٢٤٬٤٠٥٬٦٥٥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24052" y="2752344"/>
            <a:ext cx="116763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٣٫٩٪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67205" y="2752344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٤٤٧٬٧٦٤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069833" y="2752344"/>
            <a:ext cx="1297372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٥٤٫٥١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512986" y="2752344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أفراد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6928" y="2752344"/>
            <a:ext cx="194605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جهاز نقاط بيع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66928" y="3054096"/>
            <a:ext cx="11027664" cy="301752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78271" y="3054096"/>
            <a:ext cx="18163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تطبيق سيارة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091687" y="3054096"/>
            <a:ext cx="1686584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٧٬٧٥١٬١٧٣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924052" y="3054096"/>
            <a:ext cx="116763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١٫٢٪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367205" y="3054096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٥١٬٩٢٦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069833" y="3054096"/>
            <a:ext cx="1297372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١٤٩٫٢٧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512986" y="3054096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أسطول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66928" y="3054096"/>
            <a:ext cx="194605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منصّة خارجية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66928" y="3355848"/>
            <a:ext cx="11027664" cy="301752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78271" y="3355848"/>
            <a:ext cx="18163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تطبيق بترو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091687" y="3355848"/>
            <a:ext cx="1686584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٤٬٢٠٥٬٤٨٣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924052" y="3355848"/>
            <a:ext cx="116763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٠٫٧٪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367205" y="3355848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٢٤٬٤٧٣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069833" y="3355848"/>
            <a:ext cx="1297372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١٧١٫٨٤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2512986" y="3355848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أسطول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66928" y="3355848"/>
            <a:ext cx="194605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منصّة خارجية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66928" y="3657600"/>
            <a:ext cx="11027664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78271" y="3657600"/>
            <a:ext cx="18163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بطاقة ذكية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091687" y="3657600"/>
            <a:ext cx="1686584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٨٬٠٠٩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924052" y="3657600"/>
            <a:ext cx="116763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٠٫٠٪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367205" y="3657600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١٦٦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069833" y="3657600"/>
            <a:ext cx="1297372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٤٨٫٢٤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2512986" y="3657600"/>
            <a:ext cx="1556847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أفراد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66928" y="3657600"/>
            <a:ext cx="194605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جهاز نقاط بيع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040624" y="3986784"/>
            <a:ext cx="3553968" cy="1060704"/>
          </a:xfrm>
          <a:prstGeom prst="roundRect">
            <a:avLst>
              <a:gd name="adj" fmla="val 4310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32064" y="4069080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١٥٦٫٥٠ ريالاً</a:t>
            </a:r>
            <a:endParaRPr lang="en-US" sz="1900" dirty="0"/>
          </a:p>
        </p:txBody>
      </p:sp>
      <p:sp>
        <p:nvSpPr>
          <p:cNvPr id="75" name="Text 73"/>
          <p:cNvSpPr/>
          <p:nvPr/>
        </p:nvSpPr>
        <p:spPr>
          <a:xfrm>
            <a:off x="8132064" y="4443984"/>
            <a:ext cx="3371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فاتورة المنصّة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8132064" y="4700016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ثلاثة أضعاف النقدي ٥١٫٩٢ — هذه تعبئة أسطول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303776" y="3986784"/>
            <a:ext cx="3553968" cy="1060704"/>
          </a:xfrm>
          <a:prstGeom prst="roundRect">
            <a:avLst>
              <a:gd name="adj" fmla="val 4310"/>
            </a:avLst>
          </a:prstGeom>
          <a:solidFill>
            <a:srgbClr val="F7F4EF"/>
          </a:solidFill>
          <a:ln w="15240">
            <a:solidFill>
              <a:srgbClr val="F7A94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95216" y="4069080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A94B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٣٫٠٪</a:t>
            </a:r>
            <a:endParaRPr lang="en-US" sz="1900" dirty="0"/>
          </a:p>
        </p:txBody>
      </p:sp>
      <p:sp>
        <p:nvSpPr>
          <p:cNvPr id="79" name="Text 77"/>
          <p:cNvSpPr/>
          <p:nvPr/>
        </p:nvSpPr>
        <p:spPr>
          <a:xfrm>
            <a:off x="4395216" y="4443984"/>
            <a:ext cx="3371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حصة المنصّات من المسجَّل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4395216" y="4700016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١١٬٩٥٦٬٦٥٦ ريالاً عبر سيارة وبترو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66928" y="3986784"/>
            <a:ext cx="3553968" cy="1060704"/>
          </a:xfrm>
          <a:prstGeom prst="roundRect">
            <a:avLst>
              <a:gd name="adj" fmla="val 4310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8368" y="4069080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 معاملات</a:t>
            </a:r>
            <a:endParaRPr lang="en-US" sz="1900" dirty="0"/>
          </a:p>
        </p:txBody>
      </p:sp>
      <p:sp>
        <p:nvSpPr>
          <p:cNvPr id="83" name="Text 81"/>
          <p:cNvSpPr/>
          <p:nvPr/>
        </p:nvSpPr>
        <p:spPr>
          <a:xfrm>
            <a:off x="658368" y="4443984"/>
            <a:ext cx="3371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محفظة كاش إن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658368" y="4700016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٣١٨ ريالاً — لا موقع لنا في القناة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566928" y="512064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② قائمة الصيد — ديزل ثقيل بلا أي علاقة رقمية: ٧ محطات · ٢٥٬٨٤٢٬٠٧١ ريالاً · ١٤٬٣٩١٬٢٠٥ لتراً</a:t>
            </a:r>
            <a:endParaRPr lang="en-US" sz="1250" dirty="0"/>
          </a:p>
        </p:txBody>
      </p:sp>
      <p:sp>
        <p:nvSpPr>
          <p:cNvPr id="86" name="Shape 84"/>
          <p:cNvSpPr/>
          <p:nvPr/>
        </p:nvSpPr>
        <p:spPr>
          <a:xfrm>
            <a:off x="10113264" y="5431536"/>
            <a:ext cx="1481328" cy="749808"/>
          </a:xfrm>
          <a:prstGeom prst="roundRect">
            <a:avLst>
              <a:gd name="adj" fmla="val 4878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168128" y="5477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القادسية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10168128" y="5715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٥٫٤ م ريال</a:t>
            </a:r>
            <a:endParaRPr lang="en-US" sz="1250" dirty="0"/>
          </a:p>
        </p:txBody>
      </p:sp>
      <p:sp>
        <p:nvSpPr>
          <p:cNvPr id="89" name="Text 87"/>
          <p:cNvSpPr/>
          <p:nvPr/>
        </p:nvSpPr>
        <p:spPr>
          <a:xfrm>
            <a:off x="10168128" y="5961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MK047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522208" y="5431536"/>
            <a:ext cx="1481328" cy="749808"/>
          </a:xfrm>
          <a:prstGeom prst="roundRect">
            <a:avLst>
              <a:gd name="adj" fmla="val 4878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577072" y="5477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الفلاح - فلسط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8577072" y="5715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٤٫٠ م ريال</a:t>
            </a:r>
            <a:endParaRPr lang="en-US" sz="1250" dirty="0"/>
          </a:p>
        </p:txBody>
      </p:sp>
      <p:sp>
        <p:nvSpPr>
          <p:cNvPr id="93" name="Text 91"/>
          <p:cNvSpPr/>
          <p:nvPr/>
        </p:nvSpPr>
        <p:spPr>
          <a:xfrm>
            <a:off x="8577072" y="5961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MK210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931152" y="5431536"/>
            <a:ext cx="1481328" cy="749808"/>
          </a:xfrm>
          <a:prstGeom prst="roundRect">
            <a:avLst>
              <a:gd name="adj" fmla="val 4878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86016" y="5477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الجعرانة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6986016" y="5715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٣٫٥ م ريال</a:t>
            </a:r>
            <a:endParaRPr lang="en-US" sz="1250" dirty="0"/>
          </a:p>
        </p:txBody>
      </p:sp>
      <p:sp>
        <p:nvSpPr>
          <p:cNvPr id="97" name="Text 95"/>
          <p:cNvSpPr/>
          <p:nvPr/>
        </p:nvSpPr>
        <p:spPr>
          <a:xfrm>
            <a:off x="6986016" y="5961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MK064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340096" y="5431536"/>
            <a:ext cx="1481328" cy="749808"/>
          </a:xfrm>
          <a:prstGeom prst="roundRect">
            <a:avLst>
              <a:gd name="adj" fmla="val 4878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394960" y="5477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بطحاء قريش 1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5394960" y="5715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٣٫٤ م ريال</a:t>
            </a:r>
            <a:endParaRPr lang="en-US" sz="1250" dirty="0"/>
          </a:p>
        </p:txBody>
      </p:sp>
      <p:sp>
        <p:nvSpPr>
          <p:cNvPr id="101" name="Text 99"/>
          <p:cNvSpPr/>
          <p:nvPr/>
        </p:nvSpPr>
        <p:spPr>
          <a:xfrm>
            <a:off x="5394960" y="5961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MK022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749040" y="5431536"/>
            <a:ext cx="1481328" cy="749808"/>
          </a:xfrm>
          <a:prstGeom prst="roundRect">
            <a:avLst>
              <a:gd name="adj" fmla="val 4878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803904" y="5477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طريق السيل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3803904" y="5715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٣٫٤ م ريال</a:t>
            </a:r>
            <a:endParaRPr lang="en-US" sz="1250" dirty="0"/>
          </a:p>
        </p:txBody>
      </p:sp>
      <p:sp>
        <p:nvSpPr>
          <p:cNvPr id="105" name="Text 103"/>
          <p:cNvSpPr/>
          <p:nvPr/>
        </p:nvSpPr>
        <p:spPr>
          <a:xfrm>
            <a:off x="3803904" y="5961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MK054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157984" y="5431536"/>
            <a:ext cx="1481328" cy="749808"/>
          </a:xfrm>
          <a:prstGeom prst="roundRect">
            <a:avLst>
              <a:gd name="adj" fmla="val 4878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212848" y="5477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العزيزية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2212848" y="5715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٣٫١ م ريال</a:t>
            </a:r>
            <a:endParaRPr lang="en-US" sz="1250" dirty="0"/>
          </a:p>
        </p:txBody>
      </p:sp>
      <p:sp>
        <p:nvSpPr>
          <p:cNvPr id="109" name="Text 107"/>
          <p:cNvSpPr/>
          <p:nvPr/>
        </p:nvSpPr>
        <p:spPr>
          <a:xfrm>
            <a:off x="2212848" y="5961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MK072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66928" y="5431536"/>
            <a:ext cx="1481328" cy="749808"/>
          </a:xfrm>
          <a:prstGeom prst="roundRect">
            <a:avLst>
              <a:gd name="adj" fmla="val 4878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1792" y="5477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الحليس - طريق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621792" y="5715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٣٫٠ م ريال</a:t>
            </a:r>
            <a:endParaRPr lang="en-US" sz="1250" dirty="0"/>
          </a:p>
        </p:txBody>
      </p:sp>
      <p:sp>
        <p:nvSpPr>
          <p:cNvPr id="113" name="Text 111"/>
          <p:cNvSpPr/>
          <p:nvPr/>
        </p:nvSpPr>
        <p:spPr>
          <a:xfrm>
            <a:off x="621792" y="5961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MK046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العقار والتأجير — بديل المستأجر هو المنافس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١٬٧٣٣ وحدة في ١٨٦ محطة · إشغال ٣٧٫٠٪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18872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① لكل نوع وحدة بديلٌ مختلف — والإشغال يقيس قوّته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1481328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0" name="Text 8"/>
          <p:cNvSpPr/>
          <p:nvPr/>
        </p:nvSpPr>
        <p:spPr>
          <a:xfrm>
            <a:off x="10271272" y="1481328"/>
            <a:ext cx="132332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نوع الوحدة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278783" y="1481328"/>
            <a:ext cx="9924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العدد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86293" y="1481328"/>
            <a:ext cx="9924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مؤجَّر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93803" y="1481328"/>
            <a:ext cx="9924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شاغر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1481328"/>
            <a:ext cx="121304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الإشغال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1481328"/>
            <a:ext cx="551383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بديل المستأجر خارج المحطة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1847088"/>
            <a:ext cx="1102766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71272" y="1847088"/>
            <a:ext cx="132332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أسواق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78783" y="1847088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86293" y="1847088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93803" y="1847088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1847088"/>
            <a:ext cx="1213043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٥٠٫٩٪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1847088"/>
            <a:ext cx="5513832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بقالة الحي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2194560"/>
            <a:ext cx="11027664" cy="347472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71272" y="2194560"/>
            <a:ext cx="132332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أكشاك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78783" y="2194560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٤١٥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86293" y="2194560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٢٠١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93803" y="2194560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2194560"/>
            <a:ext cx="1213043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٤٨٫٤٪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2194560"/>
            <a:ext cx="5513832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عربة أو كشك في ساحة تجارية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2542032"/>
            <a:ext cx="1102766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71272" y="2542032"/>
            <a:ext cx="132332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سيّاقة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78783" y="2542032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١٥٥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86293" y="2542032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93803" y="2542032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80760" y="2542032"/>
            <a:ext cx="1213043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٤٤٫٥٪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2542032"/>
            <a:ext cx="5513832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بديل: نافذة السيّاقة تحتاج مسار سيارات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2889504"/>
            <a:ext cx="11027664" cy="347472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71272" y="2889504"/>
            <a:ext cx="132332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مغاسل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78783" y="2889504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٢٦٦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86293" y="2889504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١١٧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93803" y="2889504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١٤٩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2889504"/>
            <a:ext cx="1213043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٤٤٫٠٪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" y="2889504"/>
            <a:ext cx="5513832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مغسلة حي مستقلة — لكن بلا حركة مرور مضمونة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" y="3236976"/>
            <a:ext cx="11027664" cy="347472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71272" y="3236976"/>
            <a:ext cx="132332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أخرى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78783" y="3236976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86293" y="3236976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93803" y="3236976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80760" y="3236976"/>
            <a:ext cx="1213043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٢٦٫١٪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6928" y="3236976"/>
            <a:ext cx="5513832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—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66928" y="3584448"/>
            <a:ext cx="11027664" cy="347472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71272" y="3584448"/>
            <a:ext cx="132332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محلات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278783" y="3584448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٧٦٤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286293" y="3584448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١٩٢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93803" y="3584448"/>
            <a:ext cx="992490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٥٧٢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080760" y="3584448"/>
            <a:ext cx="1213043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٢٥٫١٪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6928" y="3584448"/>
            <a:ext cx="5513832" cy="34747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محل على شارع الحي — أوفر إيجاراً وأقرب للسكن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190488" y="4041648"/>
            <a:ext cx="5404104" cy="1225296"/>
          </a:xfrm>
          <a:prstGeom prst="roundRect">
            <a:avLst>
              <a:gd name="adj" fmla="val 3731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36792" y="4142232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المحل وحده يخسر أمام بديله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6336792" y="4462272"/>
            <a:ext cx="5111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المحل ٢٥٫١٪ إشغالاً و٥٧٢ شاغراً — لأن جاره في الحي أرخص وأقرب للسكن. أمّا أسواق والسيّاقة والمغسلة فبلا بديل داخل الساحة، وإشغالها ٥٠٫٩٪ فأعلى. البيع يبدأ من هنا لا من المحل.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66928" y="4041648"/>
            <a:ext cx="5404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② والمنافس الحقيقي داخلي — لا أحد يبيع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566928" y="4370832"/>
            <a:ext cx="5404104" cy="310896"/>
          </a:xfrm>
          <a:prstGeom prst="roundRect">
            <a:avLst>
              <a:gd name="adj" fmla="val 8824"/>
            </a:avLst>
          </a:prstGeom>
          <a:solidFill>
            <a:srgbClr val="D6E9E1"/>
          </a:solidFill>
          <a:ln/>
        </p:spPr>
      </p:sp>
      <p:sp>
        <p:nvSpPr>
          <p:cNvPr id="63" name="Text 61"/>
          <p:cNvSpPr/>
          <p:nvPr/>
        </p:nvSpPr>
        <p:spPr>
          <a:xfrm>
            <a:off x="694944" y="4370832"/>
            <a:ext cx="18373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مشغّلة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2512405" y="4370832"/>
            <a:ext cx="226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٦٣٥ وحدة · ١٣١ شاغرة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56632" y="437083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٧٨٫٩٪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66928" y="4736592"/>
            <a:ext cx="5404104" cy="310896"/>
          </a:xfrm>
          <a:prstGeom prst="roundRect">
            <a:avLst>
              <a:gd name="adj" fmla="val 8824"/>
            </a:avLst>
          </a:prstGeom>
          <a:solidFill>
            <a:srgbClr val="F2DAD4"/>
          </a:solidFill>
          <a:ln/>
        </p:spPr>
      </p:sp>
      <p:sp>
        <p:nvSpPr>
          <p:cNvPr id="67" name="Text 65"/>
          <p:cNvSpPr/>
          <p:nvPr/>
        </p:nvSpPr>
        <p:spPr>
          <a:xfrm>
            <a:off x="694944" y="4736592"/>
            <a:ext cx="18373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تحت التنفيذ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2512405" y="4736592"/>
            <a:ext cx="226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٧٩٠ وحدة · ٦٨٩ شاغرة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056632" y="473659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١٢٫٨٪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66928" y="5102352"/>
            <a:ext cx="5404104" cy="310896"/>
          </a:xfrm>
          <a:prstGeom prst="roundRect">
            <a:avLst>
              <a:gd name="adj" fmla="val 8824"/>
            </a:avLst>
          </a:prstGeom>
          <a:solidFill>
            <a:srgbClr val="F2DAD4"/>
          </a:solidFill>
          <a:ln/>
        </p:spPr>
      </p:sp>
      <p:sp>
        <p:nvSpPr>
          <p:cNvPr id="71" name="Text 69"/>
          <p:cNvSpPr/>
          <p:nvPr/>
        </p:nvSpPr>
        <p:spPr>
          <a:xfrm>
            <a:off x="694944" y="5102352"/>
            <a:ext cx="18373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امتياز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2512405" y="5102352"/>
            <a:ext cx="226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٣٠٨ وحدة · ٢٦٩ شاغرة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5056632" y="510235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١٢٫٧٪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66928" y="5559552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C0503A"/>
          </a:solidFill>
          <a:ln/>
        </p:spPr>
      </p:sp>
      <p:sp>
        <p:nvSpPr>
          <p:cNvPr id="75" name="Text 73"/>
          <p:cNvSpPr/>
          <p:nvPr/>
        </p:nvSpPr>
        <p:spPr>
          <a:xfrm>
            <a:off x="749808" y="5605272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المشغّلة ٧٨٫٩٪ إشغالاً والامتياز ١٢٫٧٪ — الفارق ليس سوقاً بل غياب مالكٍ للبيع · وهذا ما تعالجه الباقات لا خفض الإيجار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ورقة اكتتاب الوحدة — الإيجار من دفتر المستأجر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الوحدة وصولٌ إلى تيّار حركة · وقيمتها ما يحوّله المستأجر منه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18872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① أربعة مُدخَلات لدفتره — واثنان عندنا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947404" y="1499616"/>
            <a:ext cx="2647188" cy="969264"/>
          </a:xfrm>
          <a:prstGeom prst="roundRect">
            <a:avLst>
              <a:gd name="adj" fmla="val 4717"/>
            </a:avLst>
          </a:prstGeom>
          <a:solidFill>
            <a:srgbClr val="D6E9E1"/>
          </a:solidFill>
          <a:ln w="15240">
            <a:solidFill>
              <a:srgbClr val="2E8B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38844" y="1572768"/>
            <a:ext cx="24643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✓ عندنا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038844" y="1810512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الحركة المارّة بالوحدة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38844" y="2103120"/>
            <a:ext cx="2464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زيارة/يوم لكل محطة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53912" y="1499616"/>
            <a:ext cx="2647188" cy="969264"/>
          </a:xfrm>
          <a:prstGeom prst="roundRect">
            <a:avLst>
              <a:gd name="adj" fmla="val 4717"/>
            </a:avLst>
          </a:prstGeom>
          <a:solidFill>
            <a:srgbClr val="D6E9E1"/>
          </a:solidFill>
          <a:ln w="15240">
            <a:solidFill>
              <a:srgbClr val="2E8B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572768"/>
            <a:ext cx="24643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✓ عندنا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45352" y="1810512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ساعات الذروة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5352" y="2103120"/>
            <a:ext cx="2464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منحنى ٢٤ ساعة لكل محطة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60420" y="1499616"/>
            <a:ext cx="2647188" cy="969264"/>
          </a:xfrm>
          <a:prstGeom prst="roundRect">
            <a:avLst>
              <a:gd name="adj" fmla="val 4717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1860" y="1572768"/>
            <a:ext cx="24643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✕ ينقصنا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51860" y="1810512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تحويل الشكل من التيّار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51860" y="2103120"/>
            <a:ext cx="2464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لكل صيغة — مطعم · مقهى · مغسلة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1499616"/>
            <a:ext cx="2647188" cy="969264"/>
          </a:xfrm>
          <a:prstGeom prst="roundRect">
            <a:avLst>
              <a:gd name="adj" fmla="val 4717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1572768"/>
            <a:ext cx="24643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✕ ينقصنا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1810512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المستأجر وهامشه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2103120"/>
            <a:ext cx="2464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مبيعات المستأجرين شهرياً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2596896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② والمُدخَل الأول وحده يفرز الشغور — ٢٣ محطة · المدى ٤٣ ضعفاً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2907792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27" name="Text 25"/>
          <p:cNvSpPr/>
          <p:nvPr/>
        </p:nvSpPr>
        <p:spPr>
          <a:xfrm>
            <a:off x="9609612" y="2907792"/>
            <a:ext cx="198498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المحطة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27399" y="2907792"/>
            <a:ext cx="88221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الكود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14356" y="2907792"/>
            <a:ext cx="121304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الفئة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21867" y="2907792"/>
            <a:ext cx="9924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وحداتها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29377" y="2907792"/>
            <a:ext cx="9924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الشاغرة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26610" y="2907792"/>
            <a:ext cx="110276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زيارة/يوم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03291" y="2907792"/>
            <a:ext cx="132332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لكل وحدة شاغرة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" y="2907792"/>
            <a:ext cx="253636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القراءة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3273552"/>
            <a:ext cx="11027664" cy="292608"/>
          </a:xfrm>
          <a:prstGeom prst="rect">
            <a:avLst/>
          </a:prstGeom>
          <a:solidFill>
            <a:srgbClr val="D6E9E1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9612" y="3273552"/>
            <a:ext cx="198498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الحليس(طريق الجنوب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727399" y="3273552"/>
            <a:ext cx="88221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MK046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14356" y="3273552"/>
            <a:ext cx="121304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مشغّلة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21867" y="3273552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29377" y="3273552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26610" y="3273552"/>
            <a:ext cx="1102766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١٬٨٣٦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103291" y="3273552"/>
            <a:ext cx="132332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٩١٨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6928" y="3273552"/>
            <a:ext cx="253636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الحركة موجودة — سعّرها منها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" y="3566160"/>
            <a:ext cx="11027664" cy="292608"/>
          </a:xfrm>
          <a:prstGeom prst="rect">
            <a:avLst/>
          </a:prstGeom>
          <a:solidFill>
            <a:srgbClr val="D6E9E1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9612" y="3566160"/>
            <a:ext cx="198498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المعيصم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727399" y="3566160"/>
            <a:ext cx="88221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514356" y="3566160"/>
            <a:ext cx="121304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مشغّلة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21867" y="3566160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529377" y="3566160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426610" y="3566160"/>
            <a:ext cx="1102766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٨٦٥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103291" y="3566160"/>
            <a:ext cx="132332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٨٦٥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66928" y="3566160"/>
            <a:ext cx="253636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الحركة موجودة — سعّرها منها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66928" y="3858768"/>
            <a:ext cx="11027664" cy="292608"/>
          </a:xfrm>
          <a:prstGeom prst="rect">
            <a:avLst/>
          </a:prstGeom>
          <a:solidFill>
            <a:srgbClr val="D6E9E1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09612" y="3858768"/>
            <a:ext cx="198498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النورية العمرة الج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727399" y="3858768"/>
            <a:ext cx="88221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MK007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514356" y="3858768"/>
            <a:ext cx="121304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مشغّلة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521867" y="3858768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٦٢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529377" y="3858768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426610" y="3858768"/>
            <a:ext cx="1102766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٤٬٢٦١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103291" y="3858768"/>
            <a:ext cx="132332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٤٧٣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66928" y="3858768"/>
            <a:ext cx="253636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الحركة موجودة — سعّرها منها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66928" y="4151376"/>
            <a:ext cx="11027664" cy="292608"/>
          </a:xfrm>
          <a:prstGeom prst="rect">
            <a:avLst/>
          </a:prstGeom>
          <a:solidFill>
            <a:srgbClr val="D6E9E1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9612" y="4151376"/>
            <a:ext cx="198498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جعرانة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727399" y="4151376"/>
            <a:ext cx="88221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MK064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514356" y="4151376"/>
            <a:ext cx="121304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مشغّلة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521867" y="4151376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529377" y="4151376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426610" y="4151376"/>
            <a:ext cx="1102766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١٬١٢٣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3103291" y="4151376"/>
            <a:ext cx="132332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٣٧٤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66928" y="4151376"/>
            <a:ext cx="253636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الحركة موجودة — سعّرها منها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66928" y="4443984"/>
            <a:ext cx="11027664" cy="292608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609612" y="4443984"/>
            <a:ext cx="198498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محطة طريق السيل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8727399" y="4443984"/>
            <a:ext cx="88221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MK054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514356" y="4443984"/>
            <a:ext cx="121304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مشغّلة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6521867" y="4443984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٣٣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5529377" y="4443984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4426610" y="4443984"/>
            <a:ext cx="1102766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٧٣٧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3103291" y="4443984"/>
            <a:ext cx="132332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٥٣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66928" y="4443984"/>
            <a:ext cx="253636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يُصلحها خفض إيجار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66928" y="4736592"/>
            <a:ext cx="11027664" cy="292608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609612" y="4736592"/>
            <a:ext cx="198498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المودة - الروابي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27399" y="4736592"/>
            <a:ext cx="88221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JA056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7514356" y="4736592"/>
            <a:ext cx="121304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مشغّلة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6521867" y="4736592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5529377" y="4736592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4426610" y="4736592"/>
            <a:ext cx="1102766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٢٨٦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3103291" y="4736592"/>
            <a:ext cx="132332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٣٦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566928" y="4736592"/>
            <a:ext cx="253636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يُصلحها خفض إيجار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66928" y="5029200"/>
            <a:ext cx="11027664" cy="292608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609612" y="5029200"/>
            <a:ext cx="198498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المركب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8727399" y="5029200"/>
            <a:ext cx="88221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NJ219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7514356" y="5029200"/>
            <a:ext cx="121304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مشغّلة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6521867" y="5029200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5529377" y="5029200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4426610" y="5029200"/>
            <a:ext cx="1102766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٢٧٥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3103291" y="5029200"/>
            <a:ext cx="132332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566928" y="5029200"/>
            <a:ext cx="253636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يُصلحها خفض إيجار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566928" y="5321808"/>
            <a:ext cx="11027664" cy="292608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609612" y="5321808"/>
            <a:ext cx="198498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طريق السلام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8727399" y="5321808"/>
            <a:ext cx="88221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MD009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7514356" y="5321808"/>
            <a:ext cx="121304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امتياز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6521867" y="5321808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5529377" y="5321808"/>
            <a:ext cx="99249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4426610" y="5321808"/>
            <a:ext cx="1102766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٢٣٣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3103291" y="5321808"/>
            <a:ext cx="1323320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566928" y="5321808"/>
            <a:ext cx="2536363" cy="29260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يُصلحها خفض إيجار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6190488" y="5596128"/>
            <a:ext cx="5404104" cy="694944"/>
          </a:xfrm>
          <a:prstGeom prst="roundRect">
            <a:avLst>
              <a:gd name="adj" fmla="val 6579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36792" y="5669280"/>
            <a:ext cx="5111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طريق السيل ١٤ وحدة على ٧٣٧ زيارة — عرضٌ يفوق حركته. هذه ليست مشكلة تأجير بل مشكلة تحجيم.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566928" y="5596128"/>
            <a:ext cx="5404104" cy="694944"/>
          </a:xfrm>
          <a:prstGeom prst="roundRect">
            <a:avLst>
              <a:gd name="adj" fmla="val 6579"/>
            </a:avLst>
          </a:prstGeom>
          <a:solidFill>
            <a:srgbClr val="FBEEE0"/>
          </a:solidFill>
          <a:ln w="15240">
            <a:solidFill>
              <a:srgbClr val="F5831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13232" y="5669280"/>
            <a:ext cx="5111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والتغطية ١٣٪ فقط: ١٣٩ من ١٬٠٨٩ وحدة شاغرة نملك مُدخَلها الأول · ٦٨٩ تحت التنفيذ تُكتتب بمحطة نظيرة، و٢٦٩ امتياز تحتاج طلب بيانات.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الإكسسوارات والمساحات — منتجان بلا خط أساس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يُدَّعى مسحٌ لم يُجرَ · وهذا ما نعرفه اليوم بالقياس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90488" y="1188720"/>
            <a:ext cx="5404104" cy="3566160"/>
          </a:xfrm>
          <a:prstGeom prst="roundRect">
            <a:avLst>
              <a:gd name="adj" fmla="val 1538"/>
            </a:avLst>
          </a:prstGeom>
          <a:solidFill>
            <a:srgbClr val="F7F4EF"/>
          </a:solidFill>
          <a:ln w="16510">
            <a:solidFill>
              <a:srgbClr val="F583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188720"/>
            <a:ext cx="5404104" cy="54864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316736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إكسسوارات سيارات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11712" y="1773936"/>
            <a:ext cx="36576" cy="219456"/>
          </a:xfrm>
          <a:prstGeom prst="rect">
            <a:avLst/>
          </a:prstGeom>
          <a:solidFill>
            <a:srgbClr val="9A3E2C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737360"/>
            <a:ext cx="5001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يشغل مكاننا اليوم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002536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مستأجرونا أنفسهم — ثم أسواق قطع الغيار خارج المحطة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411712" y="2532888"/>
            <a:ext cx="36576" cy="219456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496312"/>
            <a:ext cx="5001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الدليل من بياناتنا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761488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١١٧ مغسلة و١٩٢ محلاً مؤجَّرة تبيع الخدمة على أرضنا اليوم، ونأخذ إيجاراً لا هامشاً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411712" y="3291840"/>
            <a:ext cx="36576" cy="219456"/>
          </a:xfrm>
          <a:prstGeom prst="rect">
            <a:avLst/>
          </a:prstGeom>
          <a:solidFill>
            <a:srgbClr val="3E6E8E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255264"/>
            <a:ext cx="5001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E6E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نملكه ولا نبيعه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520440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١٤٩ مغسلة و٥٧٢ محلاً شاغرة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11712" y="4050792"/>
            <a:ext cx="36576" cy="219456"/>
          </a:xfrm>
          <a:prstGeom prst="rect">
            <a:avLst/>
          </a:prstGeom>
          <a:solidFill>
            <a:srgbClr val="1F5E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014216"/>
            <a:ext cx="5001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يلزم لإقرار خطة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279392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منتجات وأسعار المنافس في ثلاثة أحياء · وقرار: نبيع أم نؤجّر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1188720"/>
            <a:ext cx="5404104" cy="3566160"/>
          </a:xfrm>
          <a:prstGeom prst="roundRect">
            <a:avLst>
              <a:gd name="adj" fmla="val 1538"/>
            </a:avLst>
          </a:prstGeom>
          <a:solidFill>
            <a:srgbClr val="F7F4EF"/>
          </a:solidFill>
          <a:ln w="16510">
            <a:solidFill>
              <a:srgbClr val="F583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1188720"/>
            <a:ext cx="5404104" cy="54864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1316736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مساحات إعلانية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88152" y="1773936"/>
            <a:ext cx="36576" cy="219456"/>
          </a:xfrm>
          <a:prstGeom prst="rect">
            <a:avLst/>
          </a:prstGeom>
          <a:solidFill>
            <a:srgbClr val="9A3E2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1737360"/>
            <a:ext cx="5001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يشغل مكاننا اليوم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2002536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مشغّلو الإعلان الخارجي — والمعلن يشتري منهم لا منّا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88152" y="2532888"/>
            <a:ext cx="36576" cy="219456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2496312"/>
            <a:ext cx="5001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الدليل من بياناتنا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2761488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١.٥٧ مليون معاملة شهرياً جمهورٌ لا يُباع، ووجه علبة المناديل أول سطح مسعَّر عندنا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88152" y="3291840"/>
            <a:ext cx="36576" cy="219456"/>
          </a:xfrm>
          <a:prstGeom prst="rect">
            <a:avLst/>
          </a:prstGeom>
          <a:solidFill>
            <a:srgbClr val="3E6E8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255264"/>
            <a:ext cx="5001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E6E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نملكه ولا نبيعه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3520440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واجهات المظلات والمضخات وشاشات نقاط البيع — بلا جرد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88152" y="4050792"/>
            <a:ext cx="36576" cy="219456"/>
          </a:xfrm>
          <a:prstGeom prst="rect">
            <a:avLst/>
          </a:prstGeom>
          <a:solidFill>
            <a:srgbClr val="1F5E4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014216"/>
            <a:ext cx="5001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يلزم لإقرار خطة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279392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جرد الأسطح لكل محطة · وسعر السوق للوجه الواحد شهرياً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490118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المسح المطلوب — أسبوعان لكلٍّ منهما، ويُقفل ثلاثة أخماس الجهل التنافسي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961120" y="5230368"/>
            <a:ext cx="2633472" cy="841248"/>
          </a:xfrm>
          <a:prstGeom prst="roundRect">
            <a:avLst>
              <a:gd name="adj" fmla="val 4348"/>
            </a:avLst>
          </a:prstGeom>
          <a:solidFill>
            <a:srgbClr val="FBEEE0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52560" y="53400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ثلاثة أحياء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052560" y="563270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عيّنة المسح لكل منتج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63056" y="5230368"/>
            <a:ext cx="2633472" cy="841248"/>
          </a:xfrm>
          <a:prstGeom prst="roundRect">
            <a:avLst>
              <a:gd name="adj" fmla="val 4348"/>
            </a:avLst>
          </a:prstGeom>
          <a:solidFill>
            <a:srgbClr val="FBEEE0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53400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وأسعار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54496" y="563270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يبيعه المنافس وبكم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364992" y="5230368"/>
            <a:ext cx="2633472" cy="841248"/>
          </a:xfrm>
          <a:prstGeom prst="roundRect">
            <a:avLst>
              <a:gd name="adj" fmla="val 4348"/>
            </a:avLst>
          </a:prstGeom>
          <a:solidFill>
            <a:srgbClr val="FBEEE0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56432" y="53400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جرد الأسطح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56432" y="563270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كم وجهاً إعلانياً نملك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" y="5230368"/>
            <a:ext cx="2633472" cy="841248"/>
          </a:xfrm>
          <a:prstGeom prst="roundRect">
            <a:avLst>
              <a:gd name="adj" fmla="val 4348"/>
            </a:avLst>
          </a:prstGeom>
          <a:solidFill>
            <a:srgbClr val="FBEEE0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534009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سعر الوجه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58368" y="563270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شهرياً — ليُسعَّر المخزون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المعيصم MK002 — تغيير مسار لا منافسة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الحدث ٧–٨ فبراير ٢٠٢٦ · ليلة واحدة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27875" y="1846233"/>
            <a:ext cx="595494" cy="2542887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5544995" y="1590201"/>
            <a:ext cx="961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٤٢٬٦٤١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08419" y="4434840"/>
            <a:ext cx="103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المتوسط قبل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35385" y="2296237"/>
            <a:ext cx="595494" cy="2092883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2" name="Text 10"/>
          <p:cNvSpPr/>
          <p:nvPr/>
        </p:nvSpPr>
        <p:spPr>
          <a:xfrm>
            <a:off x="4552505" y="2040205"/>
            <a:ext cx="961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٣٥٬٠٩٥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15929" y="4434840"/>
            <a:ext cx="103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 فبراير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2895" y="2887218"/>
            <a:ext cx="595494" cy="1501902"/>
          </a:xfrm>
          <a:prstGeom prst="rect">
            <a:avLst/>
          </a:prstGeom>
          <a:solidFill>
            <a:srgbClr val="F7A94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0015" y="2631186"/>
            <a:ext cx="961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٢٥٬١٨٥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3439" y="4434840"/>
            <a:ext cx="103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 فبراير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50405" y="3799988"/>
            <a:ext cx="595494" cy="589132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18" name="Text 16"/>
          <p:cNvSpPr/>
          <p:nvPr/>
        </p:nvSpPr>
        <p:spPr>
          <a:xfrm>
            <a:off x="2567525" y="3543956"/>
            <a:ext cx="961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٩٬٨٧٩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30949" y="4434840"/>
            <a:ext cx="103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 فبراير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57916" y="3802314"/>
            <a:ext cx="595494" cy="586806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21" name="Text 19"/>
          <p:cNvSpPr/>
          <p:nvPr/>
        </p:nvSpPr>
        <p:spPr>
          <a:xfrm>
            <a:off x="1575036" y="3546282"/>
            <a:ext cx="961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٩٬٨٤٠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38460" y="4434840"/>
            <a:ext cx="103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 فبراير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5426" y="3625020"/>
            <a:ext cx="595494" cy="764100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24" name="Text 22"/>
          <p:cNvSpPr/>
          <p:nvPr/>
        </p:nvSpPr>
        <p:spPr>
          <a:xfrm>
            <a:off x="582546" y="3368988"/>
            <a:ext cx="961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١٢٬٨١٣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5970" y="4434840"/>
            <a:ext cx="1034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المتوسط بعد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4389120"/>
            <a:ext cx="5954939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1316736"/>
            <a:ext cx="59549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لتراً يومياً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62973" y="1280160"/>
            <a:ext cx="46316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توقيع الوصول لا المنافسة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1553444" y="1645920"/>
            <a:ext cx="41148" cy="475488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30" name="Text 28"/>
          <p:cNvSpPr/>
          <p:nvPr/>
        </p:nvSpPr>
        <p:spPr>
          <a:xfrm>
            <a:off x="9248973" y="1645920"/>
            <a:ext cx="22084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المعاملات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48973" y="1865376"/>
            <a:ext cx="22084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٢٬٠٧٣ ← ٦٠١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62973" y="17373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−٧١٪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1553444" y="2194560"/>
            <a:ext cx="41148" cy="475488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34" name="Text 32"/>
          <p:cNvSpPr/>
          <p:nvPr/>
        </p:nvSpPr>
        <p:spPr>
          <a:xfrm>
            <a:off x="9248973" y="2194560"/>
            <a:ext cx="22084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اللترات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48973" y="2414016"/>
            <a:ext cx="22084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٤٢٬٦٤١ ← ١٢٬٨١٣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62973" y="22860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−٧٠٪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553444" y="2743200"/>
            <a:ext cx="41148" cy="475488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38" name="Text 36"/>
          <p:cNvSpPr/>
          <p:nvPr/>
        </p:nvSpPr>
        <p:spPr>
          <a:xfrm>
            <a:off x="9248973" y="2743200"/>
            <a:ext cx="22084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حجم التعبئة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248973" y="2962656"/>
            <a:ext cx="22084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٢٠٫٦ ← ٢١٫٣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62973" y="2834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+٣٫٦٪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1553444" y="3291840"/>
            <a:ext cx="41148" cy="475488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42" name="Text 40"/>
          <p:cNvSpPr/>
          <p:nvPr/>
        </p:nvSpPr>
        <p:spPr>
          <a:xfrm>
            <a:off x="9248973" y="3291840"/>
            <a:ext cx="22084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تقييمنا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248973" y="3511296"/>
            <a:ext cx="22084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٤٫٨ مقابل ٣٫٧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62973" y="33832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الأعلى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1553444" y="3840480"/>
            <a:ext cx="41148" cy="475488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46" name="Text 44"/>
          <p:cNvSpPr/>
          <p:nvPr/>
        </p:nvSpPr>
        <p:spPr>
          <a:xfrm>
            <a:off x="9248973" y="3840480"/>
            <a:ext cx="22084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مطابقة المشتريات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248973" y="4059936"/>
            <a:ext cx="22084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+٠٫٧١٪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62973" y="3931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سليمة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962973" y="4462272"/>
            <a:ext cx="4631619" cy="1005840"/>
          </a:xfrm>
          <a:prstGeom prst="roundRect">
            <a:avLst>
              <a:gd name="adj" fmla="val 4545"/>
            </a:avLst>
          </a:prstGeom>
          <a:solidFill>
            <a:srgbClr val="FBEEE0"/>
          </a:solidFill>
          <a:ln w="15240">
            <a:solidFill>
              <a:srgbClr val="F5831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09277" y="4572000"/>
            <a:ext cx="4339011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المعاملات تسقط والتعبئة تثبت — المنافس يسحب العميل الحدّي، والمدخل المغلق يمنع الجميع بالتساوي.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66928" y="5623560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C0503A"/>
          </a:solidFill>
          <a:ln/>
        </p:spPr>
      </p:sp>
      <p:sp>
        <p:nvSpPr>
          <p:cNvPr id="52" name="Text 50"/>
          <p:cNvSpPr/>
          <p:nvPr/>
        </p:nvSpPr>
        <p:spPr>
          <a:xfrm>
            <a:off x="749808" y="5669280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الخسارة ١٬٢٤٥٬٥٠٣ ريال هامش سنوياً · والشرائع نفس التوقيع في ٤–٥ فبراير بـ٣٩٢٬٩٠٢ · ولا ثالث لهما في ٥٥ محطة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2286000"/>
            <a:ext cx="54864" cy="20116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2402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spc="300" kern="0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القسم الثالث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2743200"/>
            <a:ext cx="10753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تقسيم المحطات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نوع الموقع وفئة الإنتاجية — بمصطلحات القطاع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خمسة تصنيفات — من سجلّ الشركة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 · خط سفر · حي · مختلط · نائية — ومتماسكة سلوكياً لا اسماً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43584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10090820" y="1243584"/>
            <a:ext cx="150377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87550" y="1243584"/>
            <a:ext cx="130326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Site Type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83275" y="1243584"/>
            <a:ext cx="170427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قاعدة التصنيف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81514" y="1243584"/>
            <a:ext cx="70176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محطات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79503" y="1243584"/>
            <a:ext cx="80201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MLPA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77491" y="1243584"/>
            <a:ext cx="80201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٪ الحجم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75227" y="1243584"/>
            <a:ext cx="90226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متوسط التعبئة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73467" y="1243584"/>
            <a:ext cx="70176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ديزل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71203" y="1243584"/>
            <a:ext cx="90226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قيمة المعاملة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1243584"/>
            <a:ext cx="170427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المحرّك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1609344"/>
            <a:ext cx="1102766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90820" y="1609344"/>
            <a:ext cx="150377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87550" y="1609344"/>
            <a:ext cx="130326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حركة مرتفعة داخل المدينة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83275" y="1609344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بنزين · ٨٠٠ زيارة/يوم فأكثر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81514" y="1609344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9503" y="1609344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٢٨٤٫٩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7491" y="1609344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٥٢٪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75227" y="1609344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٢٤٫٥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73467" y="1609344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١٨٪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71203" y="1609344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٥٣٫٢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1609344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تغطية ساعات الذروة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2029968"/>
            <a:ext cx="11027664" cy="42062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90820" y="2029968"/>
            <a:ext cx="150377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87550" y="2029968"/>
            <a:ext cx="130326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على طريق بين المدن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83275" y="2029968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الديزل ٣٠٪ فأكثر · سلة كبيرة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81514" y="2029968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9503" y="2029968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١١٦٫١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7491" y="2029968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٢١٪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75227" y="2029968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٣٤٫٦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73467" y="2029968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٣٨٪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71203" y="2029968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٧١٫٩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2029968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التعاقد وسلة التعبئة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2450592"/>
            <a:ext cx="1102766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90820" y="2450592"/>
            <a:ext cx="150377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787550" y="2450592"/>
            <a:ext cx="130326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داخل حي سكني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83275" y="2450592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بنزين · دون ٨٠٠ زيارة/يوم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81514" y="2450592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79503" y="2450592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٥١٫٤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77491" y="2450592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٩٪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75227" y="2450592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٢٤٫٦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173467" y="2450592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٢٠٪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271203" y="2450592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٥٣٫١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" y="2450592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التردد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6928" y="2871216"/>
            <a:ext cx="11027664" cy="42062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90820" y="2871216"/>
            <a:ext cx="150377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مختلط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787550" y="2871216"/>
            <a:ext cx="130326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 وطريق معاً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083275" y="2871216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ديزل بين ١٠٪ و٣٠٪ · حركة مرتفعة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381514" y="2871216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579503" y="2871216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٨٨٫٠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777491" y="2871216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١٦٪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875227" y="2871216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٢٦٫٠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173467" y="2871216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١٧٪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271203" y="2871216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٥٧٫٠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66928" y="2871216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فصل الطلبين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66928" y="3291840"/>
            <a:ext cx="1102766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90820" y="3291840"/>
            <a:ext cx="150377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نائية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787550" y="3291840"/>
            <a:ext cx="130326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خارج التجمّع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083275" y="3291840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دون ٤ MLPA وحركة منخفضة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381514" y="3291840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579503" y="3291840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١٠٫٦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777491" y="3291840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٢٪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875227" y="3291840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٢٣٫٢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3173467" y="3291840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١٩٪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271203" y="3291840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٥٠٫٥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66928" y="3291840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حماية الربحية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66928" y="3712464"/>
            <a:ext cx="11027664" cy="420624"/>
          </a:xfrm>
          <a:prstGeom prst="rect">
            <a:avLst/>
          </a:prstGeom>
          <a:solidFill>
            <a:srgbClr val="EDE7DE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090820" y="3712464"/>
            <a:ext cx="150377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الإجمالي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787550" y="3712464"/>
            <a:ext cx="130326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083275" y="3712464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381514" y="3712464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٥٢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579503" y="3712464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٥٥١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777491" y="3712464"/>
            <a:ext cx="802012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١٠٠٪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875227" y="3712464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٢٥٫٣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3173467" y="3712464"/>
            <a:ext cx="70176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٢٠٪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271203" y="3712464"/>
            <a:ext cx="902263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٥٧٫٢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66928" y="3712464"/>
            <a:ext cx="170427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66928" y="402336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فئة الإنتاجية — بمقياس MLPA</a:t>
            </a:r>
            <a:endParaRPr lang="en-US" sz="1350" dirty="0"/>
          </a:p>
        </p:txBody>
      </p:sp>
      <p:sp>
        <p:nvSpPr>
          <p:cNvPr id="86" name="Shape 84"/>
          <p:cNvSpPr/>
          <p:nvPr/>
        </p:nvSpPr>
        <p:spPr>
          <a:xfrm>
            <a:off x="8040624" y="4352544"/>
            <a:ext cx="3553968" cy="960120"/>
          </a:xfrm>
          <a:prstGeom prst="roundRect">
            <a:avLst>
              <a:gd name="adj" fmla="val 4762"/>
            </a:avLst>
          </a:prstGeom>
          <a:solidFill>
            <a:srgbClr val="F7F4EF"/>
          </a:solidFill>
          <a:ln w="15240">
            <a:solidFill>
              <a:srgbClr val="F583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40624" y="4352544"/>
            <a:ext cx="3553968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88" name="Text 86"/>
          <p:cNvSpPr/>
          <p:nvPr/>
        </p:nvSpPr>
        <p:spPr>
          <a:xfrm>
            <a:off x="10405872" y="4462272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فئة أ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8150352" y="448056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 MLPA فأكثر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150352" y="4809744"/>
            <a:ext cx="3334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 محطة  ·  ٣٩٢٫٤ MLPA</a:t>
            </a:r>
            <a:endParaRPr lang="en-US" sz="1250" dirty="0"/>
          </a:p>
        </p:txBody>
      </p:sp>
      <p:sp>
        <p:nvSpPr>
          <p:cNvPr id="91" name="Shape 89"/>
          <p:cNvSpPr/>
          <p:nvPr/>
        </p:nvSpPr>
        <p:spPr>
          <a:xfrm>
            <a:off x="4303776" y="4352544"/>
            <a:ext cx="3553968" cy="960120"/>
          </a:xfrm>
          <a:prstGeom prst="roundRect">
            <a:avLst>
              <a:gd name="adj" fmla="val 4762"/>
            </a:avLst>
          </a:prstGeom>
          <a:solidFill>
            <a:srgbClr val="F7F4EF"/>
          </a:solidFill>
          <a:ln w="15240">
            <a:solidFill>
              <a:srgbClr val="F7A94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03776" y="4352544"/>
            <a:ext cx="3553968" cy="45720"/>
          </a:xfrm>
          <a:prstGeom prst="rect">
            <a:avLst/>
          </a:prstGeom>
          <a:solidFill>
            <a:srgbClr val="F7A94B"/>
          </a:solidFill>
          <a:ln/>
        </p:spPr>
      </p:sp>
      <p:sp>
        <p:nvSpPr>
          <p:cNvPr id="93" name="Text 91"/>
          <p:cNvSpPr/>
          <p:nvPr/>
        </p:nvSpPr>
        <p:spPr>
          <a:xfrm>
            <a:off x="6669024" y="4462272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7A94B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فئة ب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4413504" y="448056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٤٫٥ إلى ٩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413504" y="4809744"/>
            <a:ext cx="3334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 محطة  ·  ١٢٣٫٥ MLPA</a:t>
            </a:r>
            <a:endParaRPr lang="en-US" sz="1250" dirty="0"/>
          </a:p>
        </p:txBody>
      </p:sp>
      <p:sp>
        <p:nvSpPr>
          <p:cNvPr id="96" name="Shape 94"/>
          <p:cNvSpPr/>
          <p:nvPr/>
        </p:nvSpPr>
        <p:spPr>
          <a:xfrm>
            <a:off x="566928" y="4352544"/>
            <a:ext cx="3553968" cy="960120"/>
          </a:xfrm>
          <a:prstGeom prst="roundRect">
            <a:avLst>
              <a:gd name="adj" fmla="val 4762"/>
            </a:avLst>
          </a:prstGeom>
          <a:solidFill>
            <a:srgbClr val="F7F4EF"/>
          </a:solidFill>
          <a:ln w="15240">
            <a:solidFill>
              <a:srgbClr val="55565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66928" y="4352544"/>
            <a:ext cx="3553968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8" name="Text 96"/>
          <p:cNvSpPr/>
          <p:nvPr/>
        </p:nvSpPr>
        <p:spPr>
          <a:xfrm>
            <a:off x="2932176" y="4462272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فئة ج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676656" y="4480560"/>
            <a:ext cx="2182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دون ٤٫٥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676656" y="4809744"/>
            <a:ext cx="3334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 محطة  ·  ٣٥٫٢ MLPA</a:t>
            </a:r>
            <a:endParaRPr lang="en-US" sz="1250" dirty="0"/>
          </a:p>
        </p:txBody>
      </p:sp>
      <p:sp>
        <p:nvSpPr>
          <p:cNvPr id="101" name="Text 99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الشبكة ٥٥١ MLPA على ٥٢ محطة — متوسط ١٠٫٦ للمحطة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القمة والقاع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الإنتاجية اليومية · الترتيب يقود توزيع الجهد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46175" y="1225296"/>
            <a:ext cx="53484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أعلى 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6175" y="1536192"/>
            <a:ext cx="5348417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0" name="Text 8"/>
          <p:cNvSpPr/>
          <p:nvPr/>
        </p:nvSpPr>
        <p:spPr>
          <a:xfrm>
            <a:off x="10043551" y="1536192"/>
            <a:ext cx="1551041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المحطة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508709" y="1536192"/>
            <a:ext cx="53484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الكود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39026" y="1536192"/>
            <a:ext cx="106968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850700" y="1536192"/>
            <a:ext cx="58832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MLPA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62374" y="1536192"/>
            <a:ext cx="58832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معاملات/يوم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81017" y="1536192"/>
            <a:ext cx="48135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التعبئة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46175" y="1536192"/>
            <a:ext cx="53484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المعاملة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46175" y="1901952"/>
            <a:ext cx="5348417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43551" y="19019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العمرة الجديدة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508709" y="19019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39026" y="19019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50700" y="19019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٤٧٫٥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62374" y="19019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٤٬٢٦١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81017" y="19019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٣٠٫٦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46175" y="19019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٦٤٫٥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46175" y="2244852"/>
            <a:ext cx="5348417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3551" y="22448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العوالي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508709" y="22448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39026" y="22448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50700" y="22448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٣٤٫٦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62374" y="22448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٣٬٤٩٢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81017" y="22448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٢٧٫٢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46175" y="22448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٦١٫٤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46175" y="2587752"/>
            <a:ext cx="5348417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43551" y="25877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عاصفة الصحراء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508709" y="25877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39026" y="25877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50700" y="25877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٣١٫٣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62374" y="25877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٢٬٢١٠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81017" y="25877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٣٨٫٨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46175" y="25877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٨١٫١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6175" y="2930652"/>
            <a:ext cx="5348417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43551" y="29306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طريق الليث - الفضيل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508709" y="29306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MK289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39026" y="29306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850700" y="29306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٣١٫٢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262374" y="29306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١٬٨٧٨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81017" y="29306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٤٥٫٥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46175" y="29306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٨٧٫٦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46175" y="3273552"/>
            <a:ext cx="5348417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43551" y="32735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الحليس - طريق الجنو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508709" y="32735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MK046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439026" y="32735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مختلط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850700" y="32735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٢١٫٥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262374" y="32735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١٬٨٣٦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781017" y="32735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٣٢٫١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46175" y="32735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٦٨٫٠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46175" y="3616452"/>
            <a:ext cx="5348417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43551" y="36164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القادسية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508709" y="36164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MK047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439026" y="36164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850700" y="36164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١٧٫٤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262374" y="36164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١٬٦٨٩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781017" y="36164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٢٨٫٢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246175" y="36164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٥٩٫٤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46175" y="3959352"/>
            <a:ext cx="5348417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43551" y="39593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الشيباني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9508709" y="39593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MK005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439026" y="39593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850700" y="39593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١٦٫٧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262374" y="39593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١٬٧٣٤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781017" y="39593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٢٦٫٣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246175" y="39593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٥٩٫٨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246175" y="4302252"/>
            <a:ext cx="5348417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43551" y="43022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النسيم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508709" y="43022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MK015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439026" y="43022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850700" y="43022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١٦٫٠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262374" y="43022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١٬٩٩٨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781017" y="43022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٢٢٫٠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246175" y="43022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٤٩٫٦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66928" y="1225296"/>
            <a:ext cx="53484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أدنى ٨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66928" y="1536192"/>
            <a:ext cx="5348417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83" name="Text 81"/>
          <p:cNvSpPr/>
          <p:nvPr/>
        </p:nvSpPr>
        <p:spPr>
          <a:xfrm>
            <a:off x="4364304" y="1536192"/>
            <a:ext cx="1551041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المحطة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3829462" y="1536192"/>
            <a:ext cx="53484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الكود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2759779" y="1536192"/>
            <a:ext cx="106968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2171453" y="1536192"/>
            <a:ext cx="58832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MLPA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1583127" y="1536192"/>
            <a:ext cx="58832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معاملات/يوم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1101770" y="1536192"/>
            <a:ext cx="48135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التعبئة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566928" y="1536192"/>
            <a:ext cx="53484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المعاملة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66928" y="1901952"/>
            <a:ext cx="5348417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64304" y="19019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المركب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3829462" y="19019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NJ219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2759779" y="19019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نائية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2171453" y="19019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٢٫٣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1583127" y="19019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٢٧٥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1101770" y="19019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٢٢٫٥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566928" y="19019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٤٨٫٥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566928" y="2244852"/>
            <a:ext cx="5348417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64304" y="22448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طريق السلام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3829462" y="22448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MD009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2759779" y="22448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2171453" y="22448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٢٫٣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1583127" y="22448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٢٣٣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1101770" y="22448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٢٧٫٤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566928" y="22448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٥٧٫٥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66928" y="2587752"/>
            <a:ext cx="5348417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64304" y="25877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صناعية صامطة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3829462" y="25877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JA060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2759779" y="25877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2171453" y="25877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٢٫٤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1583127" y="25877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٤١٠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1101770" y="25877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١٦٫٣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566928" y="25877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٣٤٫٩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566928" y="2930652"/>
            <a:ext cx="5348417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364304" y="29306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الروابي - المودة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3829462" y="29306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JA056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2759779" y="29306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2171453" y="29306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٢٫٦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583127" y="29306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٢٨٦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1101770" y="29306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٢٤٫٨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566928" y="29306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٥٣٫٣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566928" y="3273552"/>
            <a:ext cx="5348417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364304" y="32735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العريفي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3829462" y="32735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HA043</a:t>
            </a:r>
            <a:endParaRPr lang="en-US" sz="950" dirty="0"/>
          </a:p>
        </p:txBody>
      </p:sp>
      <p:sp>
        <p:nvSpPr>
          <p:cNvPr id="125" name="Text 123"/>
          <p:cNvSpPr/>
          <p:nvPr/>
        </p:nvSpPr>
        <p:spPr>
          <a:xfrm>
            <a:off x="2759779" y="32735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نائية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2171453" y="32735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٢٫٩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1583127" y="32735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٣٢٦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1101770" y="32735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٢٤٫١</a:t>
            </a:r>
            <a:endParaRPr lang="en-US" sz="950" dirty="0"/>
          </a:p>
        </p:txBody>
      </p:sp>
      <p:sp>
        <p:nvSpPr>
          <p:cNvPr id="129" name="Text 127"/>
          <p:cNvSpPr/>
          <p:nvPr/>
        </p:nvSpPr>
        <p:spPr>
          <a:xfrm>
            <a:off x="566928" y="32735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٥٣٫٧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566928" y="3616452"/>
            <a:ext cx="5348417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364304" y="36164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الكوثر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3829462" y="36164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MK100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2759779" y="36164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2171453" y="36164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٣٫٢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1583127" y="36164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٣٣٤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1101770" y="36164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٢٦٫٦</a:t>
            </a:r>
            <a:endParaRPr lang="en-US" sz="950" dirty="0"/>
          </a:p>
        </p:txBody>
      </p:sp>
      <p:sp>
        <p:nvSpPr>
          <p:cNvPr id="137" name="Text 135"/>
          <p:cNvSpPr/>
          <p:nvPr/>
        </p:nvSpPr>
        <p:spPr>
          <a:xfrm>
            <a:off x="566928" y="36164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٥٥٫٣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566928" y="3959352"/>
            <a:ext cx="5348417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364304" y="39593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البيعة</a:t>
            </a:r>
            <a:endParaRPr lang="en-US" sz="950" dirty="0"/>
          </a:p>
        </p:txBody>
      </p:sp>
      <p:sp>
        <p:nvSpPr>
          <p:cNvPr id="140" name="Text 138"/>
          <p:cNvSpPr/>
          <p:nvPr/>
        </p:nvSpPr>
        <p:spPr>
          <a:xfrm>
            <a:off x="3829462" y="39593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MK099</a:t>
            </a:r>
            <a:endParaRPr lang="en-US" sz="950" dirty="0"/>
          </a:p>
        </p:txBody>
      </p:sp>
      <p:sp>
        <p:nvSpPr>
          <p:cNvPr id="141" name="Text 139"/>
          <p:cNvSpPr/>
          <p:nvPr/>
        </p:nvSpPr>
        <p:spPr>
          <a:xfrm>
            <a:off x="2759779" y="39593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</a:t>
            </a:r>
            <a:endParaRPr lang="en-US" sz="950" dirty="0"/>
          </a:p>
        </p:txBody>
      </p:sp>
      <p:sp>
        <p:nvSpPr>
          <p:cNvPr id="142" name="Text 140"/>
          <p:cNvSpPr/>
          <p:nvPr/>
        </p:nvSpPr>
        <p:spPr>
          <a:xfrm>
            <a:off x="2171453" y="39593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٣٫٤</a:t>
            </a:r>
            <a:endParaRPr lang="en-US" sz="950" dirty="0"/>
          </a:p>
        </p:txBody>
      </p:sp>
      <p:sp>
        <p:nvSpPr>
          <p:cNvPr id="143" name="Text 141"/>
          <p:cNvSpPr/>
          <p:nvPr/>
        </p:nvSpPr>
        <p:spPr>
          <a:xfrm>
            <a:off x="1583127" y="39593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٤٥٦</a:t>
            </a:r>
            <a:endParaRPr lang="en-US" sz="950" dirty="0"/>
          </a:p>
        </p:txBody>
      </p:sp>
      <p:sp>
        <p:nvSpPr>
          <p:cNvPr id="144" name="Text 142"/>
          <p:cNvSpPr/>
          <p:nvPr/>
        </p:nvSpPr>
        <p:spPr>
          <a:xfrm>
            <a:off x="1101770" y="39593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٢٠٫٦</a:t>
            </a:r>
            <a:endParaRPr lang="en-US" sz="950" dirty="0"/>
          </a:p>
        </p:txBody>
      </p:sp>
      <p:sp>
        <p:nvSpPr>
          <p:cNvPr id="145" name="Text 143"/>
          <p:cNvSpPr/>
          <p:nvPr/>
        </p:nvSpPr>
        <p:spPr>
          <a:xfrm>
            <a:off x="566928" y="39593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٤٦٫٥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566928" y="4302252"/>
            <a:ext cx="5348417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364304" y="4302252"/>
            <a:ext cx="1551041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جبل ثور - جوهرة الن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3829462" y="43022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MK323</a:t>
            </a:r>
            <a:endParaRPr lang="en-US" sz="950" dirty="0"/>
          </a:p>
        </p:txBody>
      </p:sp>
      <p:sp>
        <p:nvSpPr>
          <p:cNvPr id="149" name="Text 147"/>
          <p:cNvSpPr/>
          <p:nvPr/>
        </p:nvSpPr>
        <p:spPr>
          <a:xfrm>
            <a:off x="2759779" y="4302252"/>
            <a:ext cx="106968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950" dirty="0"/>
          </a:p>
        </p:txBody>
      </p:sp>
      <p:sp>
        <p:nvSpPr>
          <p:cNvPr id="150" name="Text 148"/>
          <p:cNvSpPr/>
          <p:nvPr/>
        </p:nvSpPr>
        <p:spPr>
          <a:xfrm>
            <a:off x="2171453" y="43022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٣٫٦</a:t>
            </a:r>
            <a:endParaRPr lang="en-US" sz="950" dirty="0"/>
          </a:p>
        </p:txBody>
      </p:sp>
      <p:sp>
        <p:nvSpPr>
          <p:cNvPr id="151" name="Text 149"/>
          <p:cNvSpPr/>
          <p:nvPr/>
        </p:nvSpPr>
        <p:spPr>
          <a:xfrm>
            <a:off x="1583127" y="4302252"/>
            <a:ext cx="58832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٤٤٢</a:t>
            </a:r>
            <a:endParaRPr lang="en-US" sz="950" dirty="0"/>
          </a:p>
        </p:txBody>
      </p:sp>
      <p:sp>
        <p:nvSpPr>
          <p:cNvPr id="152" name="Text 150"/>
          <p:cNvSpPr/>
          <p:nvPr/>
        </p:nvSpPr>
        <p:spPr>
          <a:xfrm>
            <a:off x="1101770" y="4302252"/>
            <a:ext cx="48135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٢٢٫١</a:t>
            </a:r>
            <a:endParaRPr lang="en-US" sz="950" dirty="0"/>
          </a:p>
        </p:txBody>
      </p:sp>
      <p:sp>
        <p:nvSpPr>
          <p:cNvPr id="153" name="Text 151"/>
          <p:cNvSpPr/>
          <p:nvPr/>
        </p:nvSpPr>
        <p:spPr>
          <a:xfrm>
            <a:off x="566928" y="4302252"/>
            <a:ext cx="53484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٤٩٫٩</a:t>
            </a:r>
            <a:endParaRPr lang="en-US" sz="950" dirty="0"/>
          </a:p>
        </p:txBody>
      </p:sp>
      <p:sp>
        <p:nvSpPr>
          <p:cNvPr id="154" name="Shape 152"/>
          <p:cNvSpPr/>
          <p:nvPr/>
        </p:nvSpPr>
        <p:spPr>
          <a:xfrm>
            <a:off x="6246175" y="4846320"/>
            <a:ext cx="5348417" cy="914400"/>
          </a:xfrm>
          <a:prstGeom prst="roundRect">
            <a:avLst>
              <a:gd name="adj" fmla="val 4000"/>
            </a:avLst>
          </a:prstGeom>
          <a:solidFill>
            <a:srgbClr val="D6E9E1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374191" y="4937760"/>
            <a:ext cx="50923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التركّز شديد</a:t>
            </a:r>
            <a:endParaRPr lang="en-US" sz="1250" dirty="0"/>
          </a:p>
        </p:txBody>
      </p:sp>
      <p:sp>
        <p:nvSpPr>
          <p:cNvPr id="156" name="Text 154"/>
          <p:cNvSpPr/>
          <p:nvPr/>
        </p:nvSpPr>
        <p:spPr>
          <a:xfrm>
            <a:off x="6374191" y="5230368"/>
            <a:ext cx="509238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أعلى ٥ محطات تصنع ٣٠٪ من الحجم · MK007 وحدها ٤٧٫٥ MLPA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566928" y="4846320"/>
            <a:ext cx="5348417" cy="914400"/>
          </a:xfrm>
          <a:prstGeom prst="roundRect">
            <a:avLst>
              <a:gd name="adj" fmla="val 4000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94944" y="4937760"/>
            <a:ext cx="50923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القاع ليس فشلاً</a:t>
            </a:r>
            <a:endParaRPr lang="en-US" sz="1250" dirty="0"/>
          </a:p>
        </p:txBody>
      </p:sp>
      <p:sp>
        <p:nvSpPr>
          <p:cNvPr id="159" name="Text 157"/>
          <p:cNvSpPr/>
          <p:nvPr/>
        </p:nvSpPr>
        <p:spPr>
          <a:xfrm>
            <a:off x="694944" y="5230368"/>
            <a:ext cx="509238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 محطات دون ٤٫٥ MLPA لا تصنع سوى ٣٫٩٪ · أولويتها التكلفة والتأجير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2286000"/>
            <a:ext cx="54864" cy="20116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2402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spc="300" kern="0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القسم الرابع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2743200"/>
            <a:ext cx="10753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خطة المبيعات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عدد التعبئات أولاً · ثم حجم التعبئة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المنهج — من أين يأتي النمو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عدد التعبئات يُطلَب · وحجم التعبئة يُفسَّر ولا يُطلَب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07008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252728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الحجم  =  المعاملات  ×  متوسط حجم التعبئة        ←  الأولى تشغيلية، والثانية محكومة بمزيج الوقود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0488" y="1874520"/>
            <a:ext cx="5404104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7780">
            <a:solidFill>
              <a:srgbClr val="2E8B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1874520"/>
            <a:ext cx="5404104" cy="512064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12" name="Text 10"/>
          <p:cNvSpPr/>
          <p:nvPr/>
        </p:nvSpPr>
        <p:spPr>
          <a:xfrm>
            <a:off x="6300216" y="1929384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أولاً · عدد التعبئات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0216" y="2487168"/>
            <a:ext cx="2537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٧٦٧ معاملة/يوم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47404" y="2523744"/>
            <a:ext cx="2537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٨٨٧ ألف ريال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56248" y="2926080"/>
            <a:ext cx="467258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3035808"/>
            <a:ext cx="511149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نقارن شكل ساعات المحطة بشكل تصنيفها</a:t>
            </a:r>
            <a:endParaRPr lang="en-US" sz="1150" dirty="0"/>
          </a:p>
          <a:p>
            <a:pPr algn="r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نحتسب النقص في ساعات ذروتها وحدها</a:t>
            </a:r>
            <a:endParaRPr lang="en-US" sz="1150" dirty="0"/>
          </a:p>
          <a:p>
            <a:pPr algn="r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النقص في ساعات الهدوء اختلاف طلب لا فاقد</a:t>
            </a:r>
            <a:endParaRPr lang="en-US" sz="1150" dirty="0"/>
          </a:p>
          <a:p>
            <a:pPr algn="r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العلاج: طاقم الذروة وتوفّر المضخات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1874520"/>
            <a:ext cx="5404104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7780">
            <a:solidFill>
              <a:srgbClr val="F583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1874520"/>
            <a:ext cx="5404104" cy="512064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1929384"/>
            <a:ext cx="5184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ثانياً · حجم التعبئة الواحدة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" y="2487168"/>
            <a:ext cx="2537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٥٨٬٨٣٩ لتر/يوم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23844" y="2523744"/>
            <a:ext cx="2537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٢٬٣٨٢ ألف ريال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2688" y="2926080"/>
            <a:ext cx="467258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035808"/>
            <a:ext cx="511149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ثلثا تباين التعبئة مزيج وقود لا سلوك — R² ٠٫٦٦</a:t>
            </a:r>
            <a:endParaRPr lang="en-US" sz="1150" dirty="0"/>
          </a:p>
          <a:p>
            <a:pPr algn="r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فالمعيار من البواقي: كم تبيع مقابل ما يفسّره مزيجك</a:t>
            </a:r>
            <a:endParaRPr lang="en-US" sz="1150" dirty="0"/>
          </a:p>
          <a:p>
            <a:pPr algn="r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٣٤ محطة تحت ما يفسّره مزيجها</a:t>
            </a:r>
            <a:endParaRPr lang="en-US" sz="1150" dirty="0"/>
          </a:p>
          <a:p>
            <a:pPr algn="r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نغلق ٤٠٪ من الفجوة في ستة أشهر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0624" y="4983480"/>
            <a:ext cx="3553968" cy="868680"/>
          </a:xfrm>
          <a:prstGeom prst="roundRect">
            <a:avLst>
              <a:gd name="adj" fmla="val 4211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2064" y="5065776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٣٫٣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32064" y="5431536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مليون ريال — الفرصة المؤكَّدة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03776" y="4983480"/>
            <a:ext cx="3553968" cy="868680"/>
          </a:xfrm>
          <a:prstGeom prst="roundRect">
            <a:avLst>
              <a:gd name="adj" fmla="val 4211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95216" y="5065776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١١٫٠٩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395216" y="5431536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هللة لكل لتر — هامش الشبكة المشغّلة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983480"/>
            <a:ext cx="3553968" cy="868680"/>
          </a:xfrm>
          <a:prstGeom prst="roundRect">
            <a:avLst>
              <a:gd name="adj" fmla="val 4211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5065776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١٬٨٨٠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" y="5431536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معاملة/يوم غير مؤكَّدة — تحتاج جدول عمالة بالساعة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المستهدف بالتصنيف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بالمسارين · وستة أشهر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43584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9864762" y="1243584"/>
            <a:ext cx="172983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07962" y="1243584"/>
            <a:ext cx="75680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محطات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43047" y="1243584"/>
            <a:ext cx="86491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التعبئة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78132" y="1243584"/>
            <a:ext cx="86491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R² المزيج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5103" y="1243584"/>
            <a:ext cx="97302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دون المتوقَّع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5845" y="1243584"/>
            <a:ext cx="118925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رفع السلة لتر/يوم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6587" y="1243584"/>
            <a:ext cx="118925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قيمتها (ر)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37329" y="1243584"/>
            <a:ext cx="118925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فاقد الذروة معاملة/يوم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56186" y="1243584"/>
            <a:ext cx="1081144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قيمته (ر)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1243584"/>
            <a:ext cx="118925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الإجمالي (ر)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1609344"/>
            <a:ext cx="1102766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64762" y="1609344"/>
            <a:ext cx="172983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07962" y="1609344"/>
            <a:ext cx="75680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43047" y="1609344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٢٤٫٥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78132" y="1609344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٠٫٤٣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5103" y="1609344"/>
            <a:ext cx="97302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5845" y="1609344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+٣٠٬٧٠٨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6587" y="1609344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١٬٢٤٣٬٠٠٠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7329" y="1609344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٤٠١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56186" y="1609344"/>
            <a:ext cx="1081144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٤٥٥٬٨١٥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1609344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١٬٦٩٨٬٨١٤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2029968"/>
            <a:ext cx="11027664" cy="42062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64762" y="2029968"/>
            <a:ext cx="172983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07962" y="2029968"/>
            <a:ext cx="75680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43047" y="2029968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٣٤٫٦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78132" y="2029968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٠٫٥٥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5103" y="2029968"/>
            <a:ext cx="97302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5845" y="2029968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+١٢٬٣٣٦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26587" y="2029968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٤٩٩٬٣٥٣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7329" y="2029968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١٥٤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56186" y="2029968"/>
            <a:ext cx="1081144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٢٠٨٬١٤١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2029968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٧٠٧٬٤٩٤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2450592"/>
            <a:ext cx="1102766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64762" y="2450592"/>
            <a:ext cx="172983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07962" y="2450592"/>
            <a:ext cx="75680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43047" y="2450592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٢٤٫٦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78132" y="2450592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٠٫٥٥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5103" y="2450592"/>
            <a:ext cx="97302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5845" y="2450592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+٦٬٩٤١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026587" y="2450592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٢٨٠٬٩٧٥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837329" y="2450592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٦٢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756186" y="2450592"/>
            <a:ext cx="1081144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٥٤٬١٢٤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" y="2450592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٣٣٥٬٠٩٩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6928" y="2871216"/>
            <a:ext cx="11027664" cy="42062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64762" y="2871216"/>
            <a:ext cx="172983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مختلط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107962" y="2871216"/>
            <a:ext cx="75680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43047" y="2871216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٢٦٫٠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378132" y="2871216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٠٫٣٩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05103" y="2871216"/>
            <a:ext cx="97302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15845" y="2871216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+٨٬٧٣٠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026587" y="2871216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٣٥٣٬٣٧٣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837329" y="2871216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١٤١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756186" y="2871216"/>
            <a:ext cx="1081144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١٥٩٬٣٩٥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66928" y="2871216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٥١٢٬٧٦٨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66928" y="3291840"/>
            <a:ext cx="1102766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64762" y="3291840"/>
            <a:ext cx="172983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نائية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107962" y="3291840"/>
            <a:ext cx="75680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243047" y="3291840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٢٣٫٢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378132" y="3291840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٠٫٦٥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405103" y="3291840"/>
            <a:ext cx="97302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215845" y="3291840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+١٢٤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026587" y="3291840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٥٬٠٠٤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837329" y="3291840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756186" y="3291840"/>
            <a:ext cx="1081144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٩٬١٥٤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66928" y="3291840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١٤٬١٥٨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66928" y="3712464"/>
            <a:ext cx="11027664" cy="420624"/>
          </a:xfrm>
          <a:prstGeom prst="rect">
            <a:avLst/>
          </a:prstGeom>
          <a:solidFill>
            <a:srgbClr val="EDE7DE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64762" y="3712464"/>
            <a:ext cx="172983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الإجمالي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107962" y="3712464"/>
            <a:ext cx="756800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٥٢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243047" y="3712464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٢٥٫٣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378132" y="3712464"/>
            <a:ext cx="864915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—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405103" y="3712464"/>
            <a:ext cx="973029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٣٣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215845" y="3712464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+٥٨٬٨٣٩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026587" y="3712464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٢٬٣٨١٬٧٠٥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2837329" y="3712464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٧٦٧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756186" y="3712464"/>
            <a:ext cx="1081144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٨٨٦٬٦٢٨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66928" y="3712464"/>
            <a:ext cx="1189258" cy="42062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٣٬٢٦٨٬٣٣٣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66928" y="402336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الفعل التجاري لكل تصنيف</a:t>
            </a:r>
            <a:endParaRPr lang="en-US" sz="1350" dirty="0"/>
          </a:p>
        </p:txBody>
      </p:sp>
      <p:sp>
        <p:nvSpPr>
          <p:cNvPr id="86" name="Shape 84"/>
          <p:cNvSpPr/>
          <p:nvPr/>
        </p:nvSpPr>
        <p:spPr>
          <a:xfrm>
            <a:off x="566928" y="4334256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87" name="Text 85"/>
          <p:cNvSpPr/>
          <p:nvPr/>
        </p:nvSpPr>
        <p:spPr>
          <a:xfrm>
            <a:off x="9830166" y="4334256"/>
            <a:ext cx="176442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845186" y="4334256"/>
            <a:ext cx="198498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المحرّك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2331354" y="4334256"/>
            <a:ext cx="551383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الفعل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566928" y="4334256"/>
            <a:ext cx="176442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صافي المعاملة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66928" y="4700016"/>
            <a:ext cx="11027664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830166" y="4700016"/>
            <a:ext cx="17644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7845186" y="4700016"/>
            <a:ext cx="198498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تغطية ساعات الذروة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2331354" y="4700016"/>
            <a:ext cx="551383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طاقم الذروة · توفّر المضخات · سرعة الخدمة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566928" y="4700016"/>
            <a:ext cx="17644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١٫٥٣ ر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566928" y="5010912"/>
            <a:ext cx="11027664" cy="310896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830166" y="5010912"/>
            <a:ext cx="17644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7845186" y="5010912"/>
            <a:ext cx="198498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التعاقد وسلة التعبئة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2331354" y="5010912"/>
            <a:ext cx="551383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عقود ديزل متدرجة · خدمات شاحنات · ممر سريع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566928" y="5010912"/>
            <a:ext cx="17644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٢٫١٥ ر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566928" y="5321808"/>
            <a:ext cx="11027664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830166" y="5321808"/>
            <a:ext cx="17644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7845186" y="5321808"/>
            <a:ext cx="198498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التردد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2331354" y="5321808"/>
            <a:ext cx="551383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ساعات العمل · مزيج المستأجرين · سرعة الذروة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566928" y="5321808"/>
            <a:ext cx="17644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١٫٥٣ ر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566928" y="5632704"/>
            <a:ext cx="11027664" cy="310896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830166" y="5632704"/>
            <a:ext cx="17644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مختلط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7845186" y="5632704"/>
            <a:ext cx="198498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فصل الطلبين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2331354" y="5632704"/>
            <a:ext cx="551383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عرض للسكّان وآخر للعابرين · لا رسالة واحدة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566928" y="5632704"/>
            <a:ext cx="17644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١٫٦٢ ر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566928" y="5943600"/>
            <a:ext cx="11027664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830166" y="5943600"/>
            <a:ext cx="17644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نائية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7845186" y="5943600"/>
            <a:ext cx="1984980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حماية الربحية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2331354" y="5943600"/>
            <a:ext cx="5513832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ضبط العمالة · تأجير الوحدات · لا إنفاق تسويقي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566928" y="5943600"/>
            <a:ext cx="1764426" cy="310896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١٫٤٥ ر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R² يقيس كم من تباين التعبئة يفسّره مزيج الوقود — كلما ارتفع قلّ ما يملكه التشغيل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أكبر ١٢ فرصة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مرتّبة بالقيمة السنوية · وهي قائمة الأولوية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43584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9790065" y="1243584"/>
            <a:ext cx="180452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المحطة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088305" y="1243584"/>
            <a:ext cx="70176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الكود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85035" y="1243584"/>
            <a:ext cx="130326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83023" y="1243584"/>
            <a:ext cx="80201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التعبئة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80760" y="1243584"/>
            <a:ext cx="90226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المتوقَّع من مزيجها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79000" y="1243584"/>
            <a:ext cx="70176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الفارق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76736" y="1243584"/>
            <a:ext cx="90226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رفع السلة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74473" y="1243584"/>
            <a:ext cx="90226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فاقد الذروة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71706" y="1243584"/>
            <a:ext cx="110276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القيمة السنوية (ر)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1243584"/>
            <a:ext cx="190477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الحالة المرصودة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1609344"/>
            <a:ext cx="11027664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90065" y="16093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أبو وافي العمرة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88305" y="16093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MK033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85035" y="16093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83023" y="16093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٣٠٫٩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16093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٤٠٫٧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79000" y="16093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؜-٩٫٨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76736" y="16093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+٧٬١٢٠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74473" y="16093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71706" y="16093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٣٠٤٬٧٨٥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16093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دون المتوقَّع · ديزل مرتفع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1952244"/>
            <a:ext cx="11027664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90065" y="19522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جنوب صبيا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88305" y="19522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JA348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85035" y="19522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مختلط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83023" y="19522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١٥٫٤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19522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٢٣٫٧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79000" y="19522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؜-٨٫٣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76736" y="19522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+٥٬٥٥٤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74473" y="19522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١٣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71706" y="19522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٢٣٢٬٧٧٢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19522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دون المتوقَّع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2295144"/>
            <a:ext cx="11027664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90065" y="22951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الصفا - أحد المسارحة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88305" y="22951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JA092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85035" y="22951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83023" y="22951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١٩٫٠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80760" y="22951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٢٢٫٢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79000" y="22951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؜-٣٫٢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476736" y="22951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+٤٬٠٦٨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74473" y="22951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471706" y="22951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١٦٩٬٦٨٣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6928" y="22951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دون المتوقَّع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6928" y="2638044"/>
            <a:ext cx="11027664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90065" y="26380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الفلاح - فلسطين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088305" y="26380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MK210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85035" y="26380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83023" y="26380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٢٤٫٢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080760" y="26380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٢٩٫٠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79000" y="26380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؜-٤٫٨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476736" y="26380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+٣٬٨٢٦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574473" y="26380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471706" y="26380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١٦٨٬٤٥٠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6928" y="26380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دون المتوقَّع · ديزل مرتفع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66928" y="2980944"/>
            <a:ext cx="11027664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90065" y="29809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طريق الليث - الفضيلة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088305" y="29809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MK289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785035" y="29809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983023" y="29809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٤٥٫٥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080760" y="29809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٤٦٫٨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379000" y="29809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؜-١٫٣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476736" y="29809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+٣٬٠٨٨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574473" y="29809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471706" y="29809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١٦٥٬٣٢٤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66928" y="29809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فاقد ذروة · سلة دون المتوقَّع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66928" y="3323844"/>
            <a:ext cx="11027664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90065" y="33238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الحسينية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088305" y="33238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MK008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785035" y="33238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983023" y="33238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١٩٫١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080760" y="33238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٢١٫٥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379000" y="33238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؜-٢٫٤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476736" y="33238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+٢٬٩٤٤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574473" y="33238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٣٧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2471706" y="33238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١٤٧٬٧٩٢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66928" y="33238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فجوة مطابقة · فاقد ذروة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66928" y="3666744"/>
            <a:ext cx="11027664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790065" y="36667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عاصفة الصحراء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9088305" y="36667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MK004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785035" y="36667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983023" y="36667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٣٨٫٨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080760" y="36667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٢٩٫٣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379000" y="36667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٩٫٥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4476736" y="36667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+٠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3574473" y="36667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٨١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2471706" y="36667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١٢٦٬٥٦٧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66928" y="36667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فاقد ذروة · ديزل مرتفع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66928" y="4009644"/>
            <a:ext cx="11027664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90065" y="40096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الأجاويد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9088305" y="40096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MK071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7785035" y="40096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6983023" y="40096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٢٠٫٠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080760" y="40096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٢٥٫٠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5379000" y="40096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؜-٥٫٠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4476736" y="40096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+٢٬٧٨٠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3574473" y="40096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١٧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2471706" y="40096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١٢٦٬٣٤٤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566928" y="40096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دون المتوقَّع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566928" y="4352544"/>
            <a:ext cx="11027664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790065" y="43525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جبل النور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9088305" y="43525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MK001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7785035" y="43525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6983023" y="43525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١٩٫٣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6080760" y="43525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٢٠٫٨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5379000" y="43525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؜-١٫٥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4476736" y="43525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+٢٬٨٥٧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3574473" y="43525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2471706" y="43525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١٢٠٬٠٧٥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566928" y="43525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بيانات دفع مفقودة · سلة دون المتوقَّع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66928" y="4695444"/>
            <a:ext cx="11027664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790065" y="46954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العمرة الجديدة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9088305" y="46954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MK007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7785035" y="46954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6983023" y="46954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٣٠٫٦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6080760" y="46954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٢٧٫٩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5379000" y="46954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٢٫٧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4476736" y="46954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+٠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3574473" y="46954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٩١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2471706" y="46954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١١٢٬٤٥٧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566928" y="46954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فاقد ذروة · ديزل مرتفع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566928" y="5038344"/>
            <a:ext cx="11027664" cy="34290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790065" y="50383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الرصيفة المسار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9088305" y="50383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MK018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7785035" y="50383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6983023" y="50383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٢٢٫١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6080760" y="50383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٢٥٫٣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5379000" y="50383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؜-٣٫٢</a:t>
            </a:r>
            <a:endParaRPr lang="en-US" sz="1000" dirty="0"/>
          </a:p>
        </p:txBody>
      </p:sp>
      <p:sp>
        <p:nvSpPr>
          <p:cNvPr id="136" name="Text 134"/>
          <p:cNvSpPr/>
          <p:nvPr/>
        </p:nvSpPr>
        <p:spPr>
          <a:xfrm>
            <a:off x="4476736" y="50383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+٢٬٣٢٧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3574473" y="50383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١٤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2471706" y="50383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١٠٦٬٥٣٢</a:t>
            </a:r>
            <a:endParaRPr lang="en-US" sz="1000" dirty="0"/>
          </a:p>
        </p:txBody>
      </p:sp>
      <p:sp>
        <p:nvSpPr>
          <p:cNvPr id="139" name="Text 137"/>
          <p:cNvSpPr/>
          <p:nvPr/>
        </p:nvSpPr>
        <p:spPr>
          <a:xfrm>
            <a:off x="566928" y="50383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دون المتوقَّع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566928" y="5381244"/>
            <a:ext cx="11027664" cy="34290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790065" y="5381244"/>
            <a:ext cx="1804527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الجعرانة</a:t>
            </a:r>
            <a:endParaRPr lang="en-US" sz="1000" dirty="0"/>
          </a:p>
        </p:txBody>
      </p:sp>
      <p:sp>
        <p:nvSpPr>
          <p:cNvPr id="142" name="Text 140"/>
          <p:cNvSpPr/>
          <p:nvPr/>
        </p:nvSpPr>
        <p:spPr>
          <a:xfrm>
            <a:off x="9088305" y="53812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MK064</a:t>
            </a:r>
            <a:endParaRPr lang="en-US" sz="1000" dirty="0"/>
          </a:p>
        </p:txBody>
      </p:sp>
      <p:sp>
        <p:nvSpPr>
          <p:cNvPr id="143" name="Text 141"/>
          <p:cNvSpPr/>
          <p:nvPr/>
        </p:nvSpPr>
        <p:spPr>
          <a:xfrm>
            <a:off x="7785035" y="5381244"/>
            <a:ext cx="1303269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</a:t>
            </a:r>
            <a:endParaRPr lang="en-US" sz="1000" dirty="0"/>
          </a:p>
        </p:txBody>
      </p:sp>
      <p:sp>
        <p:nvSpPr>
          <p:cNvPr id="144" name="Text 142"/>
          <p:cNvSpPr/>
          <p:nvPr/>
        </p:nvSpPr>
        <p:spPr>
          <a:xfrm>
            <a:off x="6983023" y="5381244"/>
            <a:ext cx="802012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٢٤٫٥</a:t>
            </a:r>
            <a:endParaRPr lang="en-US" sz="1000" dirty="0"/>
          </a:p>
        </p:txBody>
      </p:sp>
      <p:sp>
        <p:nvSpPr>
          <p:cNvPr id="145" name="Text 143"/>
          <p:cNvSpPr/>
          <p:nvPr/>
        </p:nvSpPr>
        <p:spPr>
          <a:xfrm>
            <a:off x="6080760" y="53812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٢٨٫٠</a:t>
            </a:r>
            <a:endParaRPr lang="en-US" sz="1000" dirty="0"/>
          </a:p>
        </p:txBody>
      </p:sp>
      <p:sp>
        <p:nvSpPr>
          <p:cNvPr id="146" name="Text 144"/>
          <p:cNvSpPr/>
          <p:nvPr/>
        </p:nvSpPr>
        <p:spPr>
          <a:xfrm>
            <a:off x="5379000" y="5381244"/>
            <a:ext cx="701760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؜-٣٫٥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4476736" y="53812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+٢٬٤١٧</a:t>
            </a:r>
            <a:endParaRPr lang="en-US" sz="1000" dirty="0"/>
          </a:p>
        </p:txBody>
      </p:sp>
      <p:sp>
        <p:nvSpPr>
          <p:cNvPr id="148" name="Text 146"/>
          <p:cNvSpPr/>
          <p:nvPr/>
        </p:nvSpPr>
        <p:spPr>
          <a:xfrm>
            <a:off x="3574473" y="5381244"/>
            <a:ext cx="902263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000" dirty="0"/>
          </a:p>
        </p:txBody>
      </p:sp>
      <p:sp>
        <p:nvSpPr>
          <p:cNvPr id="149" name="Text 147"/>
          <p:cNvSpPr/>
          <p:nvPr/>
        </p:nvSpPr>
        <p:spPr>
          <a:xfrm>
            <a:off x="2471706" y="5381244"/>
            <a:ext cx="1102766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١٠٦٬٢٠١</a:t>
            </a:r>
            <a:endParaRPr lang="en-US" sz="1000" dirty="0"/>
          </a:p>
        </p:txBody>
      </p:sp>
      <p:sp>
        <p:nvSpPr>
          <p:cNvPr id="150" name="Text 148"/>
          <p:cNvSpPr/>
          <p:nvPr/>
        </p:nvSpPr>
        <p:spPr>
          <a:xfrm>
            <a:off x="566928" y="5381244"/>
            <a:ext cx="1904778" cy="34290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 دون المتوقَّع · ديزل مرتفع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566928" y="5779008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152" name="Text 150"/>
          <p:cNvSpPr/>
          <p:nvPr/>
        </p:nvSpPr>
        <p:spPr>
          <a:xfrm>
            <a:off x="749808" y="5824728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هذه الاثنتا عشرة تحمل ٥٨٪ من الفرصة · والعمرة الجديدة ليست فيها: تعبئتها فوق ما يفسّره مزيجها، وتغطية خزانها ٢٫٥ يوم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مستهدف المحطة إلى مستهدف العامل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ثلاث طبقات — الوحدة «معاملة» في الأوليين والريال في الثالثة · مقيس من ٣٧٢ عاملاً في ٤٠ محطة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207008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① الاشتقاق — العمرة الجديدة MK007 · الوردية ٠٠:٠٠–١١:٥٩ و١٢:٠٠–٢٣:٥٩ بتعريف التقرير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98864" y="1883664"/>
            <a:ext cx="2395728" cy="731520"/>
          </a:xfrm>
          <a:prstGeom prst="roundRect">
            <a:avLst>
              <a:gd name="adj" fmla="val 6250"/>
            </a:avLst>
          </a:prstGeom>
          <a:solidFill>
            <a:srgbClr val="55565A"/>
          </a:solidFill>
          <a:ln/>
        </p:spPr>
      </p:sp>
      <p:sp>
        <p:nvSpPr>
          <p:cNvPr id="10" name="Text 8"/>
          <p:cNvSpPr/>
          <p:nvPr/>
        </p:nvSpPr>
        <p:spPr>
          <a:xfrm>
            <a:off x="9198864" y="19568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٤٬٢٦١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98864" y="23225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2C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معاملة يومياً — كل المحطة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87968" y="1883664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1499616"/>
            <a:ext cx="2395728" cy="731520"/>
          </a:xfrm>
          <a:prstGeom prst="roundRect">
            <a:avLst>
              <a:gd name="adj" fmla="val 6250"/>
            </a:avLst>
          </a:prstGeom>
          <a:solidFill>
            <a:srgbClr val="F5F2ED"/>
          </a:solidFill>
          <a:ln w="15240">
            <a:solidFill>
              <a:srgbClr val="555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5453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الصباحية ٠٠:٠٠–١١:٥٩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65392" y="17465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١٬٧٠٣ معاملة ÷ ١١٫٣ عاملاً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65392" y="201168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= ١٥١ للعامل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2286000"/>
            <a:ext cx="2395728" cy="731520"/>
          </a:xfrm>
          <a:prstGeom prst="roundRect">
            <a:avLst>
              <a:gd name="adj" fmla="val 6250"/>
            </a:avLst>
          </a:prstGeom>
          <a:solidFill>
            <a:srgbClr val="FBEEE0"/>
          </a:solidFill>
          <a:ln w="15240">
            <a:solidFill>
              <a:srgbClr val="F583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33172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المسائية ١٢:٠٠–٢٣:٥٩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65392" y="253288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٢٬٥٥٨ معاملة ÷ ١٤٫٧ عاملاً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65392" y="279806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= ١٧٤ للعامل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1344" y="1883664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85616" y="1883664"/>
            <a:ext cx="2395728" cy="731520"/>
          </a:xfrm>
          <a:prstGeom prst="roundRect">
            <a:avLst>
              <a:gd name="adj" fmla="val 6250"/>
            </a:avLst>
          </a:prstGeom>
          <a:solidFill>
            <a:srgbClr val="F5F2ED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192938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الفارق — المساء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58768" y="213055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طلب ٦٠٪ · عمل ٥٧٪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58768" y="23957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عبء المسائي +١٥٪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1883664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◀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78992" y="1883664"/>
            <a:ext cx="2395728" cy="731520"/>
          </a:xfrm>
          <a:prstGeom prst="roundRect">
            <a:avLst>
              <a:gd name="adj" fmla="val 6250"/>
            </a:avLst>
          </a:prstGeom>
          <a:solidFill>
            <a:srgbClr val="F5F2ED"/>
          </a:solidFill>
          <a:ln w="15240">
            <a:solidFill>
              <a:srgbClr val="2E8B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52144" y="192938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نطلبه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" y="213055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فاقد ساعات الذروة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52144" y="23957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٩١ معاملة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2962656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② اختلال الطاقم على ٤٠ محطة — الطلب مقابل عرض العمل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66928" y="3255264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33" name="Text 31"/>
          <p:cNvSpPr/>
          <p:nvPr/>
        </p:nvSpPr>
        <p:spPr>
          <a:xfrm>
            <a:off x="10191071" y="3255264"/>
            <a:ext cx="1403521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المحطة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489311" y="3255264"/>
            <a:ext cx="70176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الكود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86293" y="3255264"/>
            <a:ext cx="120301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84532" y="3255264"/>
            <a:ext cx="70176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الطاقم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2017" y="3255264"/>
            <a:ext cx="100251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معاملات/يوم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79251" y="3255264"/>
            <a:ext cx="110276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المساء من الطلب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76485" y="3255264"/>
            <a:ext cx="110276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المساء من العمل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221" y="3255264"/>
            <a:ext cx="90226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عبء الصباحي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71958" y="3255264"/>
            <a:ext cx="90226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عبء المسائي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69443" y="3255264"/>
            <a:ext cx="100251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اختلال العبء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3255264"/>
            <a:ext cx="100251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يُنقل للمساء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3621024"/>
            <a:ext cx="11027664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91071" y="3621024"/>
            <a:ext cx="14035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جنوب الطائف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489311" y="3621024"/>
            <a:ext cx="701760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MK006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286293" y="3621024"/>
            <a:ext cx="120301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584532" y="3621024"/>
            <a:ext cx="701760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١٧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82017" y="3621024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١٬٦٥٤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79251" y="3621024"/>
            <a:ext cx="1102766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٦٤٪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376485" y="3621024"/>
            <a:ext cx="1102766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٥٥٪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474221" y="3621024"/>
            <a:ext cx="902263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٧٨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571958" y="3621024"/>
            <a:ext cx="902263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١١٣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569443" y="3621024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+٤٥٪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66928" y="3621024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+١٫٥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6928" y="3922776"/>
            <a:ext cx="11027664" cy="301752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91071" y="3922776"/>
            <a:ext cx="14035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المركب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489311" y="3922776"/>
            <a:ext cx="701760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NJ219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286293" y="3922776"/>
            <a:ext cx="120301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نائية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584532" y="3922776"/>
            <a:ext cx="701760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582017" y="3922776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٢٧٤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479251" y="3922776"/>
            <a:ext cx="1102766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٦٩٪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376485" y="3922776"/>
            <a:ext cx="1102766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٥٤٪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474221" y="3922776"/>
            <a:ext cx="902263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2571958" y="3922776"/>
            <a:ext cx="902263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٥٠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569443" y="3922776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+٩٤٪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66928" y="3922776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+١٫١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66928" y="4224528"/>
            <a:ext cx="11027664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191071" y="4224528"/>
            <a:ext cx="14035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الحليس - طريق ال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9489311" y="4224528"/>
            <a:ext cx="701760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MK046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286293" y="4224528"/>
            <a:ext cx="120301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مختلط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7584532" y="4224528"/>
            <a:ext cx="701760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582017" y="4224528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١٬٨٣٥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5479251" y="4224528"/>
            <a:ext cx="1102766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٦٢٪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376485" y="4224528"/>
            <a:ext cx="1102766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٥٠٪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3474221" y="4224528"/>
            <a:ext cx="902263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١٥٤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2571958" y="4224528"/>
            <a:ext cx="902263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٢٥٣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569443" y="4224528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+٦٤٪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66928" y="4224528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+١٫١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66928" y="4526280"/>
            <a:ext cx="11027664" cy="301752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91071" y="4526280"/>
            <a:ext cx="14035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النسيم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9489311" y="4526280"/>
            <a:ext cx="701760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MK015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8286293" y="4526280"/>
            <a:ext cx="120301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7584532" y="4526280"/>
            <a:ext cx="701760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6582017" y="4526280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١٬٩٩٧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5479251" y="4526280"/>
            <a:ext cx="1102766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٥٩٪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4376485" y="4526280"/>
            <a:ext cx="1102766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٥٠٪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3474221" y="4526280"/>
            <a:ext cx="902263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١٣٦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2571958" y="4526280"/>
            <a:ext cx="902263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١٩٦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1569443" y="4526280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+٤٤٪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566928" y="4526280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+١٫١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566928" y="4828032"/>
            <a:ext cx="11027664" cy="301752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191071" y="4828032"/>
            <a:ext cx="1403521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الملك خالد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9489311" y="4828032"/>
            <a:ext cx="701760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MK093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8286293" y="4828032"/>
            <a:ext cx="1203018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7584532" y="4828032"/>
            <a:ext cx="701760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6582017" y="4828032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٦٨٥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5479251" y="4828032"/>
            <a:ext cx="1102766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٦٦٪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4376485" y="4828032"/>
            <a:ext cx="1102766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٥١٪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3474221" y="4828032"/>
            <a:ext cx="902263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٦٨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2571958" y="4828032"/>
            <a:ext cx="902263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١٢٦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1569443" y="4828032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+٨٥٪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566928" y="4828032"/>
            <a:ext cx="1002515" cy="301752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+١٫٠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566928" y="5175504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٣٧٢ عاملاً في ٤٠ محطة · المساء ٦٠٫٨٪ من المعاملات و٦١٫٢٪ من الإيراد · ١٧٫١ عاملاً يُنقلون من الصباح للمساء بلا توظيف · و١٥ محطة بلا عمود عامل في تصديرها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8040624" y="5431536"/>
            <a:ext cx="3553968" cy="822960"/>
          </a:xfrm>
          <a:prstGeom prst="roundRect">
            <a:avLst>
              <a:gd name="adj" fmla="val 5556"/>
            </a:avLst>
          </a:prstGeom>
          <a:solidFill>
            <a:srgbClr val="F7F4EF"/>
          </a:solidFill>
          <a:ln w="15240">
            <a:solidFill>
              <a:srgbClr val="55565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040624" y="5431536"/>
            <a:ext cx="3553968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132064" y="5532120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55565A"/>
          </a:solidFill>
          <a:ln/>
        </p:spPr>
      </p:sp>
      <p:sp>
        <p:nvSpPr>
          <p:cNvPr id="108" name="Text 106"/>
          <p:cNvSpPr/>
          <p:nvPr/>
        </p:nvSpPr>
        <p:spPr>
          <a:xfrm>
            <a:off x="8132064" y="55321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معاملة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8955024" y="5522976"/>
            <a:ext cx="2548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الطبقة ١ · عبء الوردية</a:t>
            </a:r>
            <a:endParaRPr lang="en-US" sz="1150" dirty="0"/>
          </a:p>
        </p:txBody>
      </p:sp>
      <p:sp>
        <p:nvSpPr>
          <p:cNvPr id="110" name="Text 108"/>
          <p:cNvSpPr/>
          <p:nvPr/>
        </p:nvSpPr>
        <p:spPr>
          <a:xfrm>
            <a:off x="8132064" y="5797296"/>
            <a:ext cx="3371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معاملات الوردية ÷ عمالها. حِمل لا مستهدف — العامل لا يصنع المعاملة.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303776" y="5431536"/>
            <a:ext cx="3553968" cy="822960"/>
          </a:xfrm>
          <a:prstGeom prst="roundRect">
            <a:avLst>
              <a:gd name="adj" fmla="val 5556"/>
            </a:avLst>
          </a:prstGeom>
          <a:solidFill>
            <a:srgbClr val="F7F4EF"/>
          </a:solidFill>
          <a:ln w="15240">
            <a:solidFill>
              <a:srgbClr val="F5831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303776" y="5431536"/>
            <a:ext cx="3553968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4395216" y="5532120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831F"/>
          </a:solidFill>
          <a:ln/>
        </p:spPr>
      </p:sp>
      <p:sp>
        <p:nvSpPr>
          <p:cNvPr id="114" name="Text 112"/>
          <p:cNvSpPr/>
          <p:nvPr/>
        </p:nvSpPr>
        <p:spPr>
          <a:xfrm>
            <a:off x="4395216" y="55321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معاملة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5218176" y="5522976"/>
            <a:ext cx="2548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الطبقة ٢ · مستهدف الوردية</a:t>
            </a:r>
            <a:endParaRPr lang="en-US" sz="1150" dirty="0"/>
          </a:p>
        </p:txBody>
      </p:sp>
      <p:sp>
        <p:nvSpPr>
          <p:cNvPr id="116" name="Text 114"/>
          <p:cNvSpPr/>
          <p:nvPr/>
        </p:nvSpPr>
        <p:spPr>
          <a:xfrm>
            <a:off x="4395216" y="5797296"/>
            <a:ext cx="3371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تفقده المحطة في ساعات ذروتها. هذا وحده ما يُطالَب به.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566928" y="5431536"/>
            <a:ext cx="3553968" cy="822960"/>
          </a:xfrm>
          <a:prstGeom prst="roundRect">
            <a:avLst>
              <a:gd name="adj" fmla="val 5556"/>
            </a:avLst>
          </a:prstGeom>
          <a:solidFill>
            <a:srgbClr val="F7F4EF"/>
          </a:solidFill>
          <a:ln w="15240">
            <a:solidFill>
              <a:srgbClr val="2E8B6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66928" y="5431536"/>
            <a:ext cx="3553968" cy="4572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58368" y="5532120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2E8B6F"/>
          </a:solidFill>
          <a:ln/>
        </p:spPr>
      </p:sp>
      <p:sp>
        <p:nvSpPr>
          <p:cNvPr id="120" name="Text 118"/>
          <p:cNvSpPr/>
          <p:nvPr/>
        </p:nvSpPr>
        <p:spPr>
          <a:xfrm>
            <a:off x="658368" y="55321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ريال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1481328" y="5522976"/>
            <a:ext cx="2548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الطبقة ٣ · الحافز</a:t>
            </a:r>
            <a:endParaRPr lang="en-US" sz="1150" dirty="0"/>
          </a:p>
        </p:txBody>
      </p:sp>
      <p:sp>
        <p:nvSpPr>
          <p:cNvPr id="122" name="Text 120"/>
          <p:cNvSpPr/>
          <p:nvPr/>
        </p:nvSpPr>
        <p:spPr>
          <a:xfrm>
            <a:off x="658368" y="5797296"/>
            <a:ext cx="3371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لترات إضافية × هامش المحطة × نسبة · بوابة جودة وسقف ١٠٠ ريال.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يستهدفه كل منفذ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مقيس من مزيج الوقود وسلة التعبئة وساعة الذروة · ٥٢ منفذاً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18872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① الملف المقيس لكل تصنيف — ومن يخدمه فعلاً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1481328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0" name="Text 8"/>
          <p:cNvSpPr/>
          <p:nvPr/>
        </p:nvSpPr>
        <p:spPr>
          <a:xfrm>
            <a:off x="10602102" y="1481328"/>
            <a:ext cx="9924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30166" y="1481328"/>
            <a:ext cx="77193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منافذ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47953" y="1481328"/>
            <a:ext cx="88221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MLPA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65740" y="1481328"/>
            <a:ext cx="88221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الديزل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73250" y="1481328"/>
            <a:ext cx="9924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لتر/زيارة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1481328"/>
            <a:ext cx="9924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زيارة/يوم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98547" y="1481328"/>
            <a:ext cx="88221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الذروة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6334" y="1481328"/>
            <a:ext cx="88221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المساء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1481328"/>
            <a:ext cx="374940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يخدمه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1847088"/>
            <a:ext cx="1102766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2102" y="1847088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30166" y="1847088"/>
            <a:ext cx="771936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47953" y="1847088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٢٨٤٫٩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65740" y="1847088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73250" y="1847088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٢٢٫١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1847088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١٬٠٦٣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98547" y="1847088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١٧:٠٠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16334" y="1847088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٥٢٪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1847088"/>
            <a:ext cx="3749406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أفراد المدينة · تردد عالٍ وسلة صغيرة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2176272"/>
            <a:ext cx="11027664" cy="32918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2102" y="2176272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30166" y="2176272"/>
            <a:ext cx="771936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47953" y="2176272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١١٦٫١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65740" y="2176272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٤٥٪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73250" y="2176272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٣٤٫٤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80760" y="2176272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٦٥٥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98547" y="2176272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١٧:٠٠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16334" y="2176272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٥٠٪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2176272"/>
            <a:ext cx="3749406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شاحنات ومسافرون · تعبئة كاملة وسلة كبيرة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2505456"/>
            <a:ext cx="1102766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02102" y="2505456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مختلط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830166" y="2505456"/>
            <a:ext cx="771936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947953" y="2505456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٨٨٫٠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65740" y="2505456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١٣٪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73250" y="2505456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٢٤٫٠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80760" y="2505456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١٬٠٩٢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98547" y="2505456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١٩:٠٠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316334" y="2505456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٥٤٪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2505456"/>
            <a:ext cx="3749406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سكّان وعابرون — طلبان في موقع واحد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66928" y="2834640"/>
            <a:ext cx="11027664" cy="32918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02102" y="2834640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830166" y="2834640"/>
            <a:ext cx="771936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٨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947953" y="2834640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٥١٫٤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65740" y="2834640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١٦٪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73250" y="2834640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٢٤٫٧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80760" y="2834640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٥٧٤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98547" y="2834640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١٧:٠٠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316334" y="2834640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٥٣٪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6928" y="2834640"/>
            <a:ext cx="3749406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سكّان الحي · النمو بالتردد لا بالسلة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66928" y="3163824"/>
            <a:ext cx="1102766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02102" y="3163824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نائية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830166" y="3163824"/>
            <a:ext cx="771936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947953" y="3163824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١٠٫٦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065740" y="3163824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١٨٪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073250" y="3163824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٢٢٫٩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080760" y="3163824"/>
            <a:ext cx="992490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٣٢٦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198547" y="3163824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٢١:٠٠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316334" y="3163824"/>
            <a:ext cx="88221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٥١٪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66928" y="3163824"/>
            <a:ext cx="3749406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طلب محدود · الأولوية ضبط التكلفة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66928" y="3456432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② وأعلى المنافذ فرصةً — ولكلٍّ استهدافه وفعله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566928" y="3749040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71" name="Text 69"/>
          <p:cNvSpPr/>
          <p:nvPr/>
        </p:nvSpPr>
        <p:spPr>
          <a:xfrm>
            <a:off x="9906684" y="3749040"/>
            <a:ext cx="168790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المنفذ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118994" y="3749040"/>
            <a:ext cx="7876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الكود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106249" y="3749040"/>
            <a:ext cx="101274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055271" y="3749040"/>
            <a:ext cx="405097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يستهدفه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3155053" y="3749040"/>
            <a:ext cx="900217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الذروة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917254" y="3749040"/>
            <a:ext cx="123779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منافسون ≤٥كم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66928" y="3749040"/>
            <a:ext cx="135032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الفرصة ر/سنة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66928" y="4114800"/>
            <a:ext cx="11027664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906684" y="4114800"/>
            <a:ext cx="1687908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أبو وافي العمرة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9118994" y="4114800"/>
            <a:ext cx="787690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MK033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8106249" y="4114800"/>
            <a:ext cx="1012745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4055271" y="4114800"/>
            <a:ext cx="4050979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شاحنات وأساطيل · حسابات أسطول رقمية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3155053" y="4114800"/>
            <a:ext cx="900217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١٩:٠٠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917254" y="4114800"/>
            <a:ext cx="1237799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لم يُمسح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566928" y="4114800"/>
            <a:ext cx="1350326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٣٠٤٬٧٨٥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566928" y="4389120"/>
            <a:ext cx="11027664" cy="27432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906684" y="4389120"/>
            <a:ext cx="1687908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جنوب صبيا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9118994" y="4389120"/>
            <a:ext cx="787690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JA348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8106249" y="4389120"/>
            <a:ext cx="1012745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مختلط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4055271" y="4389120"/>
            <a:ext cx="4050979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سكّان وعابرون · طلب مسائي غالب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3155053" y="4389120"/>
            <a:ext cx="900217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٢١:٠٠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1917254" y="4389120"/>
            <a:ext cx="1237799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لم يُمسح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566928" y="4389120"/>
            <a:ext cx="1350326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٢٣٢٬٧٧٢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566928" y="4663440"/>
            <a:ext cx="11027664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906684" y="4663440"/>
            <a:ext cx="1687908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الصفا - أحد المس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9118994" y="4663440"/>
            <a:ext cx="787690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JA092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8106249" y="4663440"/>
            <a:ext cx="1012745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4055271" y="4663440"/>
            <a:ext cx="4050979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أفراد المدينة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3155053" y="4663440"/>
            <a:ext cx="900217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٢١:٠٠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1917254" y="4663440"/>
            <a:ext cx="1237799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لم يُمسح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566928" y="4663440"/>
            <a:ext cx="1350326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١٦٩٬٦٨٣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566928" y="4937760"/>
            <a:ext cx="11027664" cy="274320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906684" y="4937760"/>
            <a:ext cx="1687908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الفلاح - فلسطين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9118994" y="4937760"/>
            <a:ext cx="787690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MK210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8106249" y="4937760"/>
            <a:ext cx="1012745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4055271" y="4937760"/>
            <a:ext cx="4050979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شاحنات وأساطيل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3155053" y="4937760"/>
            <a:ext cx="900217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٢١:٠٠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1917254" y="4937760"/>
            <a:ext cx="1237799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لم يُمسح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566928" y="4937760"/>
            <a:ext cx="1350326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١٦٨٬٤٥٠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66928" y="5212080"/>
            <a:ext cx="11027664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906684" y="5212080"/>
            <a:ext cx="1687908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طريق الليث - الف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9118994" y="5212080"/>
            <a:ext cx="787690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MK289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8106249" y="5212080"/>
            <a:ext cx="1012745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4055271" y="5212080"/>
            <a:ext cx="4050979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شاحنات وأساطيل · حسابات أسطول رقمية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3155053" y="5212080"/>
            <a:ext cx="900217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١٧:٠٠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1917254" y="5212080"/>
            <a:ext cx="1237799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لم يُمسح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566928" y="5212080"/>
            <a:ext cx="1350326" cy="27432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١٦٥٬٣٢٤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6190488" y="5504688"/>
            <a:ext cx="5404104" cy="749808"/>
          </a:xfrm>
          <a:prstGeom prst="roundRect">
            <a:avLst>
              <a:gd name="adj" fmla="val 6098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336792" y="5596128"/>
            <a:ext cx="51114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المسح التنافسي ٥ منافذ من ٥٢ · الطريقة معروفة ومكرَّرة، والباقي يحتاج تشغيلها لا ابتكارها.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566928" y="5504688"/>
            <a:ext cx="5404104" cy="749808"/>
          </a:xfrm>
          <a:prstGeom prst="roundRect">
            <a:avLst>
              <a:gd name="adj" fmla="val 6098"/>
            </a:avLst>
          </a:prstGeom>
          <a:solidFill>
            <a:srgbClr val="FBEEE0"/>
          </a:solidFill>
          <a:ln w="15240">
            <a:solidFill>
              <a:srgbClr val="F5831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13232" y="5596128"/>
            <a:ext cx="51114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 منفذاً تصنيفُه في السجلّ يخالف سلوكه المقيس — أشدّها العوالي MK003 مصنّفة «خط سفر» وديزلها صفر. يُراجَع التصنيف لا يُلغى.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نموذج الحافز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يُدفع من هامش اللتر الإضافي — لا من ميزانية منفصلة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43584"/>
            <a:ext cx="5734385" cy="566928"/>
          </a:xfrm>
          <a:prstGeom prst="roundRect">
            <a:avLst>
              <a:gd name="adj" fmla="val 6452"/>
            </a:avLst>
          </a:prstGeom>
          <a:solidFill>
            <a:srgbClr val="FBEEE0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80160"/>
            <a:ext cx="54417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اللترات فوق الأساس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527048"/>
            <a:ext cx="544177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الفارق بين إنتاج العامل وأساس ورديته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901952"/>
            <a:ext cx="5734385" cy="566928"/>
          </a:xfrm>
          <a:prstGeom prst="roundRect">
            <a:avLst>
              <a:gd name="adj" fmla="val 6452"/>
            </a:avLst>
          </a:prstGeom>
          <a:solidFill>
            <a:srgbClr val="FBEEE0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938528"/>
            <a:ext cx="54417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× هامش المحطة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2185416"/>
            <a:ext cx="544177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١٠٫١٥ إلى ١٣٫١١ هللة — لكل محطة رقمها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560320"/>
            <a:ext cx="5734385" cy="566928"/>
          </a:xfrm>
          <a:prstGeom prst="roundRect">
            <a:avLst>
              <a:gd name="adj" fmla="val 6452"/>
            </a:avLst>
          </a:prstGeom>
          <a:solidFill>
            <a:srgbClr val="FBEEE0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96896"/>
            <a:ext cx="54417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× نسبة المشاركة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2843784"/>
            <a:ext cx="544177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حصة العامل من الهامش الإضافي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218688"/>
            <a:ext cx="5734385" cy="566928"/>
          </a:xfrm>
          <a:prstGeom prst="roundRect">
            <a:avLst>
              <a:gd name="adj" fmla="val 6452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255264"/>
            <a:ext cx="54417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بوابة الجودة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3502152"/>
            <a:ext cx="544177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غير مستوفاة ← صفر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877056"/>
            <a:ext cx="5734385" cy="566928"/>
          </a:xfrm>
          <a:prstGeom prst="roundRect">
            <a:avLst>
              <a:gd name="adj" fmla="val 6452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913632"/>
            <a:ext cx="54417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بوابة المحطة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160520"/>
            <a:ext cx="544177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صافيها سالب ← صفر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535424"/>
            <a:ext cx="5734385" cy="566928"/>
          </a:xfrm>
          <a:prstGeom prst="roundRect">
            <a:avLst>
              <a:gd name="adj" fmla="val 6452"/>
            </a:avLst>
          </a:prstGeom>
          <a:solidFill>
            <a:srgbClr val="F2DAD4"/>
          </a:solidFill>
          <a:ln w="12700">
            <a:solidFill>
              <a:srgbClr val="C05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572000"/>
            <a:ext cx="54417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سقف ١٠٠ ريال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" y="4818888"/>
            <a:ext cx="544177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شهرياً لكل عامل — معتمد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32143" y="1207008"/>
            <a:ext cx="4962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سقف المكافأة في أي حملة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32143" y="1536192"/>
            <a:ext cx="4962449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28" name="Text 26"/>
          <p:cNvSpPr/>
          <p:nvPr/>
        </p:nvSpPr>
        <p:spPr>
          <a:xfrm>
            <a:off x="9907359" y="1536192"/>
            <a:ext cx="168723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15621" y="1536192"/>
            <a:ext cx="109173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+معاملة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23882" y="1536192"/>
            <a:ext cx="109173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32143" y="1536192"/>
            <a:ext cx="109173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+٣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32143" y="1901952"/>
            <a:ext cx="4962449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07359" y="1901952"/>
            <a:ext cx="168723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حيوية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815621" y="1901952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١٫٥٣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23882" y="1901952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٣٫٠٥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32143" y="1901952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٤٫٥٨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32143" y="2231136"/>
            <a:ext cx="4962449" cy="32918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07359" y="2231136"/>
            <a:ext cx="168723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خط سفر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815621" y="2231136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٢٫١٥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723882" y="2231136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٤٫٣١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632143" y="2231136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٦٫٤٦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32143" y="2560320"/>
            <a:ext cx="4962449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07359" y="2560320"/>
            <a:ext cx="168723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حي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815621" y="2560320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١٫٥٣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23882" y="2560320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٣٫٠٦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32143" y="2560320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٤٫٥٩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632143" y="2889504"/>
            <a:ext cx="4962449" cy="32918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07359" y="2889504"/>
            <a:ext cx="168723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مختلط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815621" y="2889504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١٫٦٢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723882" y="2889504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٣٫٢٤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632143" y="2889504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٤٫٨٦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632143" y="3218688"/>
            <a:ext cx="4962449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07359" y="3218688"/>
            <a:ext cx="1687233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نائية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815621" y="3218688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١٫٤٥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723882" y="3218688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٢٫٩٠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632143" y="3218688"/>
            <a:ext cx="1091739" cy="32918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٤٫٣٤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632143" y="3493008"/>
            <a:ext cx="4962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يمرّ وما لا يمرّ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632143" y="3822192"/>
            <a:ext cx="4962449" cy="347472"/>
          </a:xfrm>
          <a:prstGeom prst="roundRect">
            <a:avLst>
              <a:gd name="adj" fmla="val 7895"/>
            </a:avLst>
          </a:prstGeom>
          <a:solidFill>
            <a:srgbClr val="D6E9E1"/>
          </a:solidFill>
          <a:ln/>
        </p:spPr>
      </p:sp>
      <p:sp>
        <p:nvSpPr>
          <p:cNvPr id="59" name="Text 57"/>
          <p:cNvSpPr/>
          <p:nvPr/>
        </p:nvSpPr>
        <p:spPr>
          <a:xfrm>
            <a:off x="6723583" y="38221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089343" y="3822192"/>
            <a:ext cx="34994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علبة مناديل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0634472" y="382219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٠٫٦٢ ر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632143" y="4224528"/>
            <a:ext cx="4962449" cy="347472"/>
          </a:xfrm>
          <a:prstGeom prst="roundRect">
            <a:avLst>
              <a:gd name="adj" fmla="val 7895"/>
            </a:avLst>
          </a:prstGeom>
          <a:solidFill>
            <a:srgbClr val="D6E9E1"/>
          </a:solidFill>
          <a:ln/>
        </p:spPr>
      </p:sp>
      <p:sp>
        <p:nvSpPr>
          <p:cNvPr id="63" name="Text 61"/>
          <p:cNvSpPr/>
          <p:nvPr/>
        </p:nvSpPr>
        <p:spPr>
          <a:xfrm>
            <a:off x="6723583" y="42245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089343" y="4224528"/>
            <a:ext cx="34994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قارورة ماء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10634472" y="42245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١٫٥٠ ر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632143" y="4626864"/>
            <a:ext cx="4962449" cy="347472"/>
          </a:xfrm>
          <a:prstGeom prst="roundRect">
            <a:avLst>
              <a:gd name="adj" fmla="val 7895"/>
            </a:avLst>
          </a:prstGeom>
          <a:solidFill>
            <a:srgbClr val="F2DAD4"/>
          </a:solidFill>
          <a:ln/>
        </p:spPr>
      </p:sp>
      <p:sp>
        <p:nvSpPr>
          <p:cNvPr id="67" name="Text 65"/>
          <p:cNvSpPr/>
          <p:nvPr/>
        </p:nvSpPr>
        <p:spPr>
          <a:xfrm>
            <a:off x="6723583" y="46268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7089343" y="4626864"/>
            <a:ext cx="34994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قهوة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10634472" y="462686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٤٫٠٠ ر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6632143" y="5029200"/>
            <a:ext cx="4962449" cy="347472"/>
          </a:xfrm>
          <a:prstGeom prst="roundRect">
            <a:avLst>
              <a:gd name="adj" fmla="val 7895"/>
            </a:avLst>
          </a:prstGeom>
          <a:solidFill>
            <a:srgbClr val="F2DAD4"/>
          </a:solidFill>
          <a:ln/>
        </p:spPr>
      </p:sp>
      <p:sp>
        <p:nvSpPr>
          <p:cNvPr id="71" name="Text 69"/>
          <p:cNvSpPr/>
          <p:nvPr/>
        </p:nvSpPr>
        <p:spPr>
          <a:xfrm>
            <a:off x="6723583" y="50292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089343" y="5029200"/>
            <a:ext cx="34994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 لترات بنزين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10634472" y="5029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١١٫٠٠ ر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6632143" y="5431536"/>
            <a:ext cx="4962449" cy="347472"/>
          </a:xfrm>
          <a:prstGeom prst="roundRect">
            <a:avLst>
              <a:gd name="adj" fmla="val 7895"/>
            </a:avLst>
          </a:prstGeom>
          <a:solidFill>
            <a:srgbClr val="F2DAD4"/>
          </a:solidFill>
          <a:ln/>
        </p:spPr>
      </p:sp>
      <p:sp>
        <p:nvSpPr>
          <p:cNvPr id="75" name="Text 73"/>
          <p:cNvSpPr/>
          <p:nvPr/>
        </p:nvSpPr>
        <p:spPr>
          <a:xfrm>
            <a:off x="6723583" y="543153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7089343" y="5431536"/>
            <a:ext cx="34994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غسيل مجاني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10634472" y="543153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٢٥٫٠٠ ر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566928" y="5852160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79" name="Text 77"/>
          <p:cNvSpPr/>
          <p:nvPr/>
        </p:nvSpPr>
        <p:spPr>
          <a:xfrm>
            <a:off x="749808" y="5897880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القاعدة: أي مكافأة فوق ١٫٦ ريال لكل معاملة إضافية تُموَّل من معلن أو مستأجر — لا من هامش الوقود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2286000"/>
            <a:ext cx="54864" cy="20116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2402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spc="300" kern="0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القسم الخامس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2743200"/>
            <a:ext cx="10753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التأجير والحملات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باقات تُباع · وحملات تُطلقها حالة مرصودة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الوحدات التأجيرية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سجل ١٨٦ محطة · الوحدة كشك أو محل أو درايف ثرو أو مغسلة أو سوبرماركت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0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1243584"/>
            <a:ext cx="2633472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0" name="Text 8"/>
          <p:cNvSpPr/>
          <p:nvPr/>
        </p:nvSpPr>
        <p:spPr>
          <a:xfrm>
            <a:off x="9034272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١٬٧٣٣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052560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وحدة مسجّلة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0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١٨٦ محطة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243584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٦٤١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54496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مؤجَّرة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٣٧٪ إشغال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64992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4992" y="1243584"/>
            <a:ext cx="2633472" cy="45720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20" name="Text 18"/>
          <p:cNvSpPr/>
          <p:nvPr/>
        </p:nvSpPr>
        <p:spPr>
          <a:xfrm>
            <a:off x="3438144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١٬٠٨٩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456432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شاغرة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56432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الفرصة المباشرة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1243584"/>
            <a:ext cx="2633472" cy="45720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٢٥٪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58368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إشغال المحلات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٧٦٤ محلاً — المنتج العالق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798064"/>
            <a:ext cx="66165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الشغور في ثلاث فئات — ولكلٍّ باقتها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8" y="3108960"/>
            <a:ext cx="6616598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30" name="Text 28"/>
          <p:cNvSpPr/>
          <p:nvPr/>
        </p:nvSpPr>
        <p:spPr>
          <a:xfrm>
            <a:off x="5992539" y="3108960"/>
            <a:ext cx="1190988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الفئة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30879" y="3108960"/>
            <a:ext cx="66166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محطات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04555" y="3108960"/>
            <a:ext cx="926324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وحدات شاغرة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48903" y="3108960"/>
            <a:ext cx="14556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الباقة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3108960"/>
            <a:ext cx="238197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لماذا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3474720"/>
            <a:ext cx="6616598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92539" y="3474720"/>
            <a:ext cx="1190988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مشغّلة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30879" y="3474720"/>
            <a:ext cx="66166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٥٢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04555" y="3474720"/>
            <a:ext cx="926324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١٣١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48903" y="3474720"/>
            <a:ext cx="1455652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نسبة من المبيعات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3474720"/>
            <a:ext cx="23819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الحركة معلومة وقابلة للقياس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3858768"/>
            <a:ext cx="6616598" cy="384048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92539" y="3858768"/>
            <a:ext cx="1190988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تحت التنفيذ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30879" y="3858768"/>
            <a:ext cx="66166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٤٣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04555" y="3858768"/>
            <a:ext cx="926324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٦٨٩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48903" y="3858768"/>
            <a:ext cx="1455652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التدريج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6928" y="3858768"/>
            <a:ext cx="23819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الحركة تبدأ من صفر وتنمو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66928" y="4242816"/>
            <a:ext cx="6616598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92539" y="4242816"/>
            <a:ext cx="1190988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امتياز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30879" y="4242816"/>
            <a:ext cx="661660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٩١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04555" y="4242816"/>
            <a:ext cx="926324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٢٦٩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948903" y="4242816"/>
            <a:ext cx="1455652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المسوّق الخارجي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6928" y="4242816"/>
            <a:ext cx="23819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فريق لنا هناك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514356" y="2798064"/>
            <a:ext cx="4080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أكبر الفرص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7514356" y="3108960"/>
            <a:ext cx="4080236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55" name="Text 53"/>
          <p:cNvSpPr/>
          <p:nvPr/>
        </p:nvSpPr>
        <p:spPr>
          <a:xfrm>
            <a:off x="9962498" y="3108960"/>
            <a:ext cx="1632094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المحطة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237122" y="3108960"/>
            <a:ext cx="72537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الكود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511747" y="3108960"/>
            <a:ext cx="72537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شاغرة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514356" y="3108960"/>
            <a:ext cx="997391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الفئة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514356" y="3474720"/>
            <a:ext cx="4080236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62498" y="3474720"/>
            <a:ext cx="1632094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محطة حلي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237122" y="3474720"/>
            <a:ext cx="7253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MK036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511747" y="3474720"/>
            <a:ext cx="7253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٩٢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514356" y="3474720"/>
            <a:ext cx="997391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تحت التنفيذ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514356" y="3858768"/>
            <a:ext cx="4080236" cy="384048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962498" y="3858768"/>
            <a:ext cx="1632094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القديه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9237122" y="3858768"/>
            <a:ext cx="7253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RY073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511747" y="3858768"/>
            <a:ext cx="7253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٥٩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514356" y="3858768"/>
            <a:ext cx="997391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تحت التنفيذ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514356" y="4242816"/>
            <a:ext cx="4080236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62498" y="4242816"/>
            <a:ext cx="1632094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الخمرة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9237122" y="4242816"/>
            <a:ext cx="7253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MK104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8511747" y="4242816"/>
            <a:ext cx="7253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٤٧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514356" y="4242816"/>
            <a:ext cx="997391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تحت التنفيذ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514356" y="4626864"/>
            <a:ext cx="4080236" cy="384048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962498" y="4626864"/>
            <a:ext cx="1632094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الريان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237122" y="4626864"/>
            <a:ext cx="7253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MK057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8511747" y="4626864"/>
            <a:ext cx="7253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٤٣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7514356" y="4626864"/>
            <a:ext cx="997391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تحت التنفيذ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7514356" y="5010912"/>
            <a:ext cx="4080236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962498" y="5010912"/>
            <a:ext cx="1632094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مدينة الملك عبد ال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9237122" y="5010912"/>
            <a:ext cx="7253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MK045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511747" y="5010912"/>
            <a:ext cx="725375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٣٩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7514356" y="5010912"/>
            <a:ext cx="997391" cy="38404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تحت التنفيذ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66928" y="5486400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85" name="Text 83"/>
          <p:cNvSpPr/>
          <p:nvPr/>
        </p:nvSpPr>
        <p:spPr>
          <a:xfrm>
            <a:off x="749808" y="5532120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الشبكة العاملة إشغالها ٧٩٪ — لا أزمة شغور فيها · الشغور الحقيقي في تحت التنفيذ والامتياز</a:t>
            </a:r>
            <a:endParaRPr lang="en-US" sz="1250" dirty="0"/>
          </a:p>
        </p:txBody>
      </p:sp>
      <p:sp>
        <p:nvSpPr>
          <p:cNvPr id="86" name="Text 84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محطة حلي MK036: ٩٢ وحدة وصفر مؤجّر — لا سوق مستأجرين محلياً بهذا الحجم · والسجل بلا قيمة إيجارية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باقات التأجير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منتج يُباع — لا حملة تُطلق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43584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9940442" y="1243584"/>
            <a:ext cx="165415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الباقة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47953" y="1243584"/>
            <a:ext cx="992490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الحالة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42420" y="1243584"/>
            <a:ext cx="220553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لمن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13567" y="1243584"/>
            <a:ext cx="3528852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هي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1243584"/>
            <a:ext cx="264663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تحتاجه لتُطبَّق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1609344"/>
            <a:ext cx="11027664" cy="475488"/>
          </a:xfrm>
          <a:prstGeom prst="rect">
            <a:avLst/>
          </a:prstGeom>
          <a:solidFill>
            <a:srgbClr val="D6E9E1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40442" y="1609344"/>
            <a:ext cx="165415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نسبة من المبيعات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47953" y="1609344"/>
            <a:ext cx="99249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قائمة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42420" y="1609344"/>
            <a:ext cx="2205533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المشغّلة — ١٣١ وحدة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13567" y="1609344"/>
            <a:ext cx="3528852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إيجار أساسي منخفض + نسبة من مبيعات المستأجر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1609344"/>
            <a:ext cx="2646639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ربط نقاط بيع المستأجر أو إقرار مُدقَّق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084832"/>
            <a:ext cx="11027664" cy="475488"/>
          </a:xfrm>
          <a:prstGeom prst="rect">
            <a:avLst/>
          </a:prstGeom>
          <a:solidFill>
            <a:srgbClr val="D6E9E1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40442" y="2084832"/>
            <a:ext cx="165415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التدريج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47953" y="2084832"/>
            <a:ext cx="99249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قائمة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2420" y="2084832"/>
            <a:ext cx="2205533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تحت التنفيذ — ٦٨٩ وحدة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13567" y="2084832"/>
            <a:ext cx="3528852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سنة أولى مخفّضة ترتفع تدريجياً مع نمو الحركة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2084832"/>
            <a:ext cx="2646639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جدول افتتاحات معتمد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2560320"/>
            <a:ext cx="11027664" cy="475488"/>
          </a:xfrm>
          <a:prstGeom prst="rect">
            <a:avLst/>
          </a:prstGeom>
          <a:solidFill>
            <a:srgbClr val="D6E9E1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40442" y="2560320"/>
            <a:ext cx="165415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المسوّق الخارجي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47953" y="2560320"/>
            <a:ext cx="99249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قائمة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42420" y="2560320"/>
            <a:ext cx="2205533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الامتياز — ٢٦٩ وحدة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13567" y="2560320"/>
            <a:ext cx="3528852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عمولة على العقد المُوقَّع لا على العرض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2560320"/>
            <a:ext cx="2646639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قائمة وحدات بأسعارها + عقد وساطة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3035808"/>
            <a:ext cx="11027664" cy="475488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40442" y="3035808"/>
            <a:ext cx="165415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حد أدنى ونسبة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47953" y="3035808"/>
            <a:ext cx="99249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مقترحة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42420" y="3035808"/>
            <a:ext cx="2205533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المشغّلة — بديل النسبة الصافية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13567" y="3035808"/>
            <a:ext cx="3528852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أرضية ثابتة تمنع تعطيل الوحدة + نسبة فوق حد المبيعات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" y="3035808"/>
            <a:ext cx="2646639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قرار تسعير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3511296"/>
            <a:ext cx="11027664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40442" y="3511296"/>
            <a:ext cx="165415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إيجار مقابل تجهيز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947953" y="3511296"/>
            <a:ext cx="99249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مقترحة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42420" y="3511296"/>
            <a:ext cx="2205533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تحت التنفيذ — أكبر مخزون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13567" y="3511296"/>
            <a:ext cx="3528852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المستأجر يجهّز ويُخصم من الإيجار على سنتين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" y="3511296"/>
            <a:ext cx="2646639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سقف كلفة تجهيز معتمد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" y="3986784"/>
            <a:ext cx="11027664" cy="475488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40442" y="3986784"/>
            <a:ext cx="165415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ترخيص إشغال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947953" y="3986784"/>
            <a:ext cx="99249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مقترحة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42420" y="3986784"/>
            <a:ext cx="2205533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٥٧٢ محلاً عالقاً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13567" y="3986784"/>
            <a:ext cx="3528852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رسم شهري لعربة أو صرّاف أو خزانة — لا عقد إيجار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6928" y="3986784"/>
            <a:ext cx="2646639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نموذج ترخيص قابل للإلغاء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" y="4462272"/>
            <a:ext cx="11027664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40442" y="4462272"/>
            <a:ext cx="165415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المستأجر الرئيسي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947953" y="4462272"/>
            <a:ext cx="99249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مقترحة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742420" y="4462272"/>
            <a:ext cx="2205533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حلي MK036 — ٩٢ وحدة صفر مؤجّر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213567" y="4462272"/>
            <a:ext cx="3528852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 واحد يأخذ كل الوحدات ويؤجّر من الباطن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6928" y="4462272"/>
            <a:ext cx="2646639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قرار سعر إجمالي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66928" y="4937760"/>
            <a:ext cx="11027664" cy="475488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40442" y="4937760"/>
            <a:ext cx="165415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الموسمي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947953" y="4937760"/>
            <a:ext cx="992490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8681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مقترحة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742420" y="4937760"/>
            <a:ext cx="2205533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مكة والجموم والطائف — ٢١٤ وحدة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213567" y="4937760"/>
            <a:ext cx="3528852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عقد شهرين بسعر مرتفع لموسم الحج والعمرة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66928" y="4937760"/>
            <a:ext cx="2646639" cy="475488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نموذج عقد قصير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6928" y="5440680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63" name="Text 61"/>
          <p:cNvSpPr/>
          <p:nvPr/>
        </p:nvSpPr>
        <p:spPr>
          <a:xfrm>
            <a:off x="749808" y="5486400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الأخضر ثلاث باقات قائمة اليوم · والباقي مقترح يحتاج قرار تسعير أو نموذج عقد — لا موارد جديدة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جدول الإيجارات الحالية والمستهدفة لكل نوع وحدة ومدينة شرط لتسعير أي باقة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التطبيق — قناة الأفراد ومحطات الأحياء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يبدأ أول ديسمبر ٢٠٢٦ في محطات مكة · محفظة وبرنامج ولاء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0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1243584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0" name="Text 8"/>
          <p:cNvSpPr/>
          <p:nvPr/>
        </p:nvSpPr>
        <p:spPr>
          <a:xfrm>
            <a:off x="9034272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052560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محطة في مكة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0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قاعدة الإطلاق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243584"/>
            <a:ext cx="2633472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٢٥٦٫٥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54496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MLPA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٤٧٪ من حجم الشبكة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64992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4992" y="1243584"/>
            <a:ext cx="2633472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20" name="Text 18"/>
          <p:cNvSpPr/>
          <p:nvPr/>
        </p:nvSpPr>
        <p:spPr>
          <a:xfrm>
            <a:off x="3438144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١٠٫٠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456432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مليون معاملة سنوياً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56432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٢٧٬٣٧٠ يومياً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1243584"/>
            <a:ext cx="2633472" cy="4572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١٫٨٤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58368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ريال صافي المعاملة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سقف ما يحتمله الولاء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79806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الأداتان — اقتصادهما متعاكس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90488" y="3108960"/>
            <a:ext cx="5404104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7780">
            <a:solidFill>
              <a:srgbClr val="2E8B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0488" y="3108960"/>
            <a:ext cx="5404104" cy="45720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31" name="Text 29"/>
          <p:cNvSpPr/>
          <p:nvPr/>
        </p:nvSpPr>
        <p:spPr>
          <a:xfrm>
            <a:off x="9582912" y="316382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المحفظة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0216" y="3172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تكسب لنا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74352" y="36758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وفر رسوم البطاقة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0216" y="369417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٢٤٦ إلى ٦١٥ ألف ريال لو تحوّل ٢٠٪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74352" y="411480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عائم نقدي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00216" y="413308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رصيد مدفوع مقدماً — وتكلفة تحوّل للمنافس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74352" y="45537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هوية ١٠٠٪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300216" y="45720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كل معاملة محفظة معروفة الصاحب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3108960"/>
            <a:ext cx="5404104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7780">
            <a:solidFill>
              <a:srgbClr val="C050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3108960"/>
            <a:ext cx="5404104" cy="457200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41" name="Text 39"/>
          <p:cNvSpPr/>
          <p:nvPr/>
        </p:nvSpPr>
        <p:spPr>
          <a:xfrm>
            <a:off x="3959352" y="316382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برنامج الولاء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6656" y="3172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يكلّفنا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050792" y="36758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استرداد ٠٫٥٪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76656" y="369417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٠٫٢٨ ر = ١٥٪ من صافي المعاملة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50792" y="411480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استرداد ١٪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76656" y="413308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٠٫٥٦ ر = ٣٠٪ من الصافي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50792" y="45537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استرداد ٢٪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76656" y="45720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١٫١٢ ر = ٦١٪ من الصافي — مرفوض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" y="5193792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F5831F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" y="5239512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مبدأ التصميم: الاسترداد يُموَّل من وفر رسوم البطاقة لا من هامش الوقود — عند ٠٫٥٪ يكاد يغطّي نفسه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رسوم البطاقة الفعلية تحتاج تأكيد المالية — هي التي تحدد سقف الاسترداد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التطبيق — أربع قواعد قبل الإطلاق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تُثبَّت الآن، لا بعد ديسمبر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81344" y="1243584"/>
            <a:ext cx="5413248" cy="2084832"/>
          </a:xfrm>
          <a:prstGeom prst="roundRect">
            <a:avLst>
              <a:gd name="adj" fmla="val 2193"/>
            </a:avLst>
          </a:prstGeom>
          <a:solidFill>
            <a:srgbClr val="F7F4EF"/>
          </a:solidFill>
          <a:ln w="16510">
            <a:solidFill>
              <a:srgbClr val="F583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27664" y="1389888"/>
            <a:ext cx="402336" cy="402336"/>
          </a:xfrm>
          <a:prstGeom prst="ellipse">
            <a:avLst/>
          </a:prstGeom>
          <a:solidFill>
            <a:srgbClr val="F5831F"/>
          </a:solidFill>
          <a:ln/>
        </p:spPr>
      </p:sp>
      <p:sp>
        <p:nvSpPr>
          <p:cNvPr id="10" name="Text 8"/>
          <p:cNvSpPr/>
          <p:nvPr/>
        </p:nvSpPr>
        <p:spPr>
          <a:xfrm>
            <a:off x="11027664" y="142646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1408176"/>
            <a:ext cx="4626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كافئ التردد لا الإنفاق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1810512"/>
            <a:ext cx="51572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الاسترداد على الفاتورة يدفع ثمن حجم كان سيأتي بلا مكافأة. المكافأة على الزيارة السادسة في الشهر تدفع ثمن الزيارة الإضافية وحدها.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852928"/>
            <a:ext cx="5157216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926080"/>
            <a:ext cx="5157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سقفها ١٫٨٤ ريال — صافي المعاملة في مكة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1243584"/>
            <a:ext cx="5413248" cy="2084832"/>
          </a:xfrm>
          <a:prstGeom prst="roundRect">
            <a:avLst>
              <a:gd name="adj" fmla="val 2193"/>
            </a:avLst>
          </a:prstGeom>
          <a:solidFill>
            <a:srgbClr val="F7F4EF"/>
          </a:solidFill>
          <a:ln w="16510">
            <a:solidFill>
              <a:srgbClr val="2E8B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1389888"/>
            <a:ext cx="402336" cy="402336"/>
          </a:xfrm>
          <a:prstGeom prst="ellipse">
            <a:avLst/>
          </a:prstGeom>
          <a:solidFill>
            <a:srgbClr val="2E8B6F"/>
          </a:solidFill>
          <a:ln/>
        </p:spPr>
      </p:sp>
      <p:sp>
        <p:nvSpPr>
          <p:cNvPr id="17" name="Text 15"/>
          <p:cNvSpPr/>
          <p:nvPr/>
        </p:nvSpPr>
        <p:spPr>
          <a:xfrm>
            <a:off x="5413248" y="142646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" y="1408176"/>
            <a:ext cx="4626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المحفظة تموّل الولاء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" y="1810512"/>
            <a:ext cx="51572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وفر رسوم البطاقة ٢٤٦ إلى ٦١٥ ألف ريال عند تحوّل ٢٠٪. الاسترداد ٠٫٥٪ على الحجم المتحوّل يكلّف ٣٠٧ ألفاً — فيغطّي نفسه تقريباً.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4944" y="2852928"/>
            <a:ext cx="5157216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2926080"/>
            <a:ext cx="5157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E8B6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الشرط: رسوم البطاقة ٠٫٥٪ فأعلى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81344" y="3529584"/>
            <a:ext cx="5413248" cy="2084832"/>
          </a:xfrm>
          <a:prstGeom prst="roundRect">
            <a:avLst>
              <a:gd name="adj" fmla="val 2193"/>
            </a:avLst>
          </a:prstGeom>
          <a:solidFill>
            <a:srgbClr val="F7F4EF"/>
          </a:solidFill>
          <a:ln w="16510">
            <a:solidFill>
              <a:srgbClr val="3E6E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27664" y="3675888"/>
            <a:ext cx="402336" cy="402336"/>
          </a:xfrm>
          <a:prstGeom prst="ellipse">
            <a:avLst/>
          </a:prstGeom>
          <a:solidFill>
            <a:srgbClr val="3E6E8E"/>
          </a:solidFill>
          <a:ln/>
        </p:spPr>
      </p:sp>
      <p:sp>
        <p:nvSpPr>
          <p:cNvPr id="24" name="Text 22"/>
          <p:cNvSpPr/>
          <p:nvPr/>
        </p:nvSpPr>
        <p:spPr>
          <a:xfrm>
            <a:off x="11027664" y="371246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3694176"/>
            <a:ext cx="4626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الهوية أولاً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4096512"/>
            <a:ext cx="51572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٣٦٪ من الإيراد بلا هوية عميل. كل معاملة محفظة تُغلق هذه الفجوة عند مصدرها — وهذا أثمن ما في التطبيق.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5138928"/>
            <a:ext cx="5157216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5212080"/>
            <a:ext cx="5157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E6E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المؤشر الأول: نسبة المعاملات المعرَّفة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3529584"/>
            <a:ext cx="5413248" cy="2084832"/>
          </a:xfrm>
          <a:prstGeom prst="roundRect">
            <a:avLst>
              <a:gd name="adj" fmla="val 2193"/>
            </a:avLst>
          </a:prstGeom>
          <a:solidFill>
            <a:srgbClr val="F7F4EF"/>
          </a:solidFill>
          <a:ln w="16510">
            <a:solidFill>
              <a:srgbClr val="5556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3675888"/>
            <a:ext cx="402336" cy="402336"/>
          </a:xfrm>
          <a:prstGeom prst="ellipse">
            <a:avLst/>
          </a:prstGeom>
          <a:solidFill>
            <a:srgbClr val="55565A"/>
          </a:solidFill>
          <a:ln/>
        </p:spPr>
      </p:sp>
      <p:sp>
        <p:nvSpPr>
          <p:cNvPr id="31" name="Text 29"/>
          <p:cNvSpPr/>
          <p:nvPr/>
        </p:nvSpPr>
        <p:spPr>
          <a:xfrm>
            <a:off x="5413248" y="371246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" y="3694176"/>
            <a:ext cx="4626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اربطه بالحملات لا بجانبه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" y="4096512"/>
            <a:ext cx="51572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علبة المناديل بلا التطبيق تُوزَّع على من كان سيتجاوز العتبة أصلاً. مع التطبيق تُستهدف لمن تعبئته دون معدّله هو.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94944" y="5138928"/>
            <a:ext cx="5157216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" y="5212080"/>
            <a:ext cx="5157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ومكافأة المستأجر تُوصَّل بكلفة صفر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5852160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5897880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مكة قاعدة إطلاق لا تجربة: ٢١ محطة و٤٧٪ من حجم الشبكة — فما يُثبَّت هنا يُعمَّم لا يُراجَع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هدية علبة المناديل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٦٢ هللة للعلبة · عند تعبئة بخمسين ريالاً فأكثر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0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1243584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0" name="Text 8"/>
          <p:cNvSpPr/>
          <p:nvPr/>
        </p:nvSpPr>
        <p:spPr>
          <a:xfrm>
            <a:off x="9034272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٦٢ هللة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052560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كلفة العلبة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0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مؤكَّدة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243584"/>
            <a:ext cx="2633472" cy="4572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٥٠ ريالاً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54496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العتبة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قرار الإدارة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64992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4992" y="1243584"/>
            <a:ext cx="2633472" cy="45720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20" name="Text 18"/>
          <p:cNvSpPr/>
          <p:nvPr/>
        </p:nvSpPr>
        <p:spPr>
          <a:xfrm>
            <a:off x="3438144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٤٤٪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456432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صافي التعبئة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56432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كانت ٣٢٪ عند ٤٥ هللة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1243584"/>
            <a:ext cx="2633472" cy="1371600"/>
          </a:xfrm>
          <a:prstGeom prst="roundRect">
            <a:avLst>
              <a:gd name="adj" fmla="val 3333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1243584"/>
            <a:ext cx="2633472" cy="45720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13898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١٠٫٠ لتر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58368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تعادل الهدية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22494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٢١٫٩ ريالاً إضافية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90488" y="2798064"/>
            <a:ext cx="5404104" cy="1371600"/>
          </a:xfrm>
          <a:prstGeom prst="roundRect">
            <a:avLst>
              <a:gd name="adj" fmla="val 3333"/>
            </a:avLst>
          </a:prstGeom>
          <a:solidFill>
            <a:srgbClr val="F2DAD4"/>
          </a:solidFill>
          <a:ln w="15240">
            <a:solidFill>
              <a:srgbClr val="C050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2898648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المشكلة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36792" y="3218688"/>
            <a:ext cx="51114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متوسط فاتورتنا ٥٧٫١٨ ريالاً — فوق العتبة. العلبة تذهب لمن كان سيتجاوزها بلا حملة، وتأكل ٤٤٪ من صافي تعبئته.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2798064"/>
            <a:ext cx="5404104" cy="1371600"/>
          </a:xfrm>
          <a:prstGeom prst="roundRect">
            <a:avLst>
              <a:gd name="adj" fmla="val 3333"/>
            </a:avLst>
          </a:prstGeom>
          <a:solidFill>
            <a:srgbClr val="D6E9E1"/>
          </a:solidFill>
          <a:ln w="15240">
            <a:solidFill>
              <a:srgbClr val="2E8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2898648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5E4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الحل — من منتجنا الخامس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" y="3218688"/>
            <a:ext cx="51114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العلبة مساحة إعلانية. بريال للوجه عند ١٠٪ من المعاملات: دخل ١٥٦٬٥١٨ مقابل كلفة ٩٧٬٠٤١ شهرياً = صافي ٧١٤ ألف ريال سنوياً. ودون ٠٫٦٢ ريال للوجه تصير الهدية كلفة صافية.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435254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شروط الإطلاق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961120" y="4663440"/>
            <a:ext cx="2633472" cy="960120"/>
          </a:xfrm>
          <a:prstGeom prst="roundRect">
            <a:avLst>
              <a:gd name="adj" fmla="val 3810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4663440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7" name="Text 35"/>
          <p:cNvSpPr/>
          <p:nvPr/>
        </p:nvSpPr>
        <p:spPr>
          <a:xfrm>
            <a:off x="9052560" y="477316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مشروطة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052560" y="508406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٣٤ محطة دون المتوقَّع فقط — لا الشبكة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63056" y="4663440"/>
            <a:ext cx="2633472" cy="960120"/>
          </a:xfrm>
          <a:prstGeom prst="roundRect">
            <a:avLst>
              <a:gd name="adj" fmla="val 3810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63056" y="4663440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41" name="Text 39"/>
          <p:cNvSpPr/>
          <p:nvPr/>
        </p:nvSpPr>
        <p:spPr>
          <a:xfrm>
            <a:off x="6254496" y="477316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مسقوفة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54496" y="508406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عدد يومي محدد لكل محطة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364992" y="4663440"/>
            <a:ext cx="2633472" cy="960120"/>
          </a:xfrm>
          <a:prstGeom prst="roundRect">
            <a:avLst>
              <a:gd name="adj" fmla="val 3810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64992" y="4663440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45" name="Text 43"/>
          <p:cNvSpPr/>
          <p:nvPr/>
        </p:nvSpPr>
        <p:spPr>
          <a:xfrm>
            <a:off x="3456432" y="477316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ممولة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456432" y="508406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وجه العلبة مبيع لمعلن قبل الطباعة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66928" y="4663440"/>
            <a:ext cx="2633472" cy="960120"/>
          </a:xfrm>
          <a:prstGeom prst="roundRect">
            <a:avLst>
              <a:gd name="adj" fmla="val 3810"/>
            </a:avLst>
          </a:prstGeom>
          <a:solidFill>
            <a:srgbClr val="F7F4EF"/>
          </a:solidFill>
          <a:ln w="12700">
            <a:solidFill>
              <a:srgbClr val="F583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4663440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" y="477316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مقيسة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58368" y="508406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التعبئة قبل وبعد — ٤ أسابيع أو تُوقَف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المطلوب لإقرارها: سعر المساحة الإعلانية على العلبة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مصفوفة الأحداث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الحالة تُرصد من البيانات — ولكل حالة فعل واحد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43584"/>
            <a:ext cx="11027664" cy="365760"/>
          </a:xfrm>
          <a:prstGeom prst="rect">
            <a:avLst/>
          </a:prstGeom>
          <a:solidFill>
            <a:srgbClr val="55565A"/>
          </a:solidFill>
          <a:ln/>
        </p:spPr>
      </p:sp>
      <p:sp>
        <p:nvSpPr>
          <p:cNvPr id="9" name="Text 7"/>
          <p:cNvSpPr/>
          <p:nvPr/>
        </p:nvSpPr>
        <p:spPr>
          <a:xfrm>
            <a:off x="8947953" y="1243584"/>
            <a:ext cx="2646639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الحالة المرصودة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2696" y="1243584"/>
            <a:ext cx="2095256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الفعل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79971" y="1243584"/>
            <a:ext cx="5072725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كيف يُنفَّذ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1243584"/>
            <a:ext cx="1213043" cy="365760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التصنيف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1609344"/>
            <a:ext cx="11027664" cy="37490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47953" y="1609344"/>
            <a:ext cx="2646639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فجوة مطابقة تتجاوز ٥٪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2696" y="1609344"/>
            <a:ext cx="2095256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تحقيق ورقابة — لا حملة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79971" y="1609344"/>
            <a:ext cx="5072725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جرد خزانات · معايرة عدادات · مطابقة إشعارات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1609344"/>
            <a:ext cx="1213043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رقابة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1984248"/>
            <a:ext cx="11027664" cy="37490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7953" y="1984248"/>
            <a:ext cx="2646639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تغيير مسار أو مدخل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2696" y="1984248"/>
            <a:ext cx="2095256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هندسة وصول — لا حملة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79971" y="1984248"/>
            <a:ext cx="5072725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تصحيح المدخل على الخرائط · لافتة على المسار · إعادة تحجيم العمالة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1984248"/>
            <a:ext cx="1213043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وصول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2359152"/>
            <a:ext cx="11027664" cy="37490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47953" y="2359152"/>
            <a:ext cx="2646639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وسيلة الدفع غير مسجّلة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2696" y="2359152"/>
            <a:ext cx="2095256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تفعيل النظام قبل أي حملة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79971" y="2359152"/>
            <a:ext cx="5072725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ضبط نقاط البيع · تدريب الوردية · مؤشر في حافز العامل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2359152"/>
            <a:ext cx="1213043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بيانات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2734056"/>
            <a:ext cx="11027664" cy="37490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47953" y="2734056"/>
            <a:ext cx="2646639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تغطية خزان دون ٤ أيام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2696" y="2734056"/>
            <a:ext cx="2095256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تأمين الإمداد قبل رفع الطلب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79971" y="2734056"/>
            <a:ext cx="5072725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حد أدنى تعاقدي · ناقل بديل · دراسة خزان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2734056"/>
            <a:ext cx="1213043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إمداد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3108960"/>
            <a:ext cx="11027664" cy="374904"/>
          </a:xfrm>
          <a:prstGeom prst="rect">
            <a:avLst/>
          </a:prstGeom>
          <a:solidFill>
            <a:srgbClr val="F2DAD4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47953" y="3108960"/>
            <a:ext cx="2646639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نقدي المحطة فوق ٧٠٪ · الوسيط ٤٠٪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52696" y="3108960"/>
            <a:ext cx="2095256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فحص نقاط البيع أولاً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779971" y="3108960"/>
            <a:ext cx="5072725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اختبار قارئ البطاقة · مطابقة تسليم النقد · المحفظة تُطلق هنا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3108960"/>
            <a:ext cx="1213043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9A3E2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رقابة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3483864"/>
            <a:ext cx="11027664" cy="37490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47953" y="3483864"/>
            <a:ext cx="2646639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فاقد في ساعات الذروة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2696" y="3483864"/>
            <a:ext cx="2095256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تغطية لا حملة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779971" y="3483864"/>
            <a:ext cx="5072725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طاقم الذروة · فحص المضخات · تدرّج التسليم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" y="3483864"/>
            <a:ext cx="1213043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معاملات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3858768"/>
            <a:ext cx="11027664" cy="37490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47953" y="3858768"/>
            <a:ext cx="2646639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عبء المسائية يفوق الصباحية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52696" y="3858768"/>
            <a:ext cx="2095256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نقل طاقم لا توظيف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779971" y="3858768"/>
            <a:ext cx="5072725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إعادة جدولة المناوبات · مستهدف وردية لا محطة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" y="3858768"/>
            <a:ext cx="1213043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عمالة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" y="4233672"/>
            <a:ext cx="11027664" cy="37490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47953" y="4233672"/>
            <a:ext cx="2646639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تعبئة دون ما يفسّره مزيجها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52696" y="4233672"/>
            <a:ext cx="2095256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رفع السلة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779971" y="4233672"/>
            <a:ext cx="5072725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علبة المناديل عند العتبة · نص موحّد · لوحة عند المضخة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66928" y="4233672"/>
            <a:ext cx="1213043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سلة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66928" y="4608576"/>
            <a:ext cx="11027664" cy="374904"/>
          </a:xfrm>
          <a:prstGeom prst="rect">
            <a:avLst/>
          </a:prstGeom>
          <a:solidFill>
            <a:srgbClr val="FFFFFF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47953" y="4608576"/>
            <a:ext cx="2646639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حصة الديزل ٣٠٪ فأكثر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852696" y="4608576"/>
            <a:ext cx="2095256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تعاقد أساطيل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779971" y="4608576"/>
            <a:ext cx="5072725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حصر ناقلي المنطقة · سعر متدرج · تسجيل في التطبيق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66928" y="4608576"/>
            <a:ext cx="1213043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أساطيل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6928" y="4983480"/>
            <a:ext cx="11027664" cy="374904"/>
          </a:xfrm>
          <a:prstGeom prst="rect">
            <a:avLst/>
          </a:prstGeom>
          <a:solidFill>
            <a:srgbClr val="F5F2ED"/>
          </a:solidFill>
          <a:ln w="7620">
            <a:solidFill>
              <a:srgbClr val="E3DCD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47953" y="4983480"/>
            <a:ext cx="2646639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عشر وحدات شاغرة فأكثر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852696" y="4983480"/>
            <a:ext cx="2095256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باقة تأجير حسب الفئة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779971" y="4983480"/>
            <a:ext cx="5072725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التدريج لتحت التنفيذ · النسبة للمشغّلة · المسوّق للامتياز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66928" y="4983480"/>
            <a:ext cx="1213043" cy="374904"/>
          </a:xfrm>
          <a:prstGeom prst="rect">
            <a:avLst/>
          </a:prstGeom>
          <a:noFill/>
          <a:ln/>
        </p:spPr>
        <p:txBody>
          <a:bodyPr wrap="square" lIns="0" tIns="762" rIns="762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تأجير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66928" y="5468112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C0503A"/>
          </a:solidFill>
          <a:ln/>
        </p:spPr>
      </p:sp>
      <p:sp>
        <p:nvSpPr>
          <p:cNvPr id="64" name="Text 62"/>
          <p:cNvSpPr/>
          <p:nvPr/>
        </p:nvSpPr>
        <p:spPr>
          <a:xfrm>
            <a:off x="749808" y="5513832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الأحمر خمس بوابات: محطة عليها إحداها لا تدخل أي حملة قبل إقفالها — وإلا أنفقنا على قياس لا نثق به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2286000"/>
            <a:ext cx="54864" cy="20116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2402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spc="300" kern="0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القسم السادس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2743200"/>
            <a:ext cx="10753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التنفيذ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10753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ثلاث موجات وبوابة بين كل اثنتين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خارطة ٩٠ يوماً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لا تبدأ موجة قبل إقفال بوابة سابقتها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52816" y="1225296"/>
            <a:ext cx="3541776" cy="4023360"/>
          </a:xfrm>
          <a:prstGeom prst="roundRect">
            <a:avLst>
              <a:gd name="adj" fmla="val 1291"/>
            </a:avLst>
          </a:prstGeom>
          <a:solidFill>
            <a:srgbClr val="FFFFFF"/>
          </a:solidFill>
          <a:ln w="17780">
            <a:solidFill>
              <a:srgbClr val="C05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52816" y="1225296"/>
            <a:ext cx="3541776" cy="731520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10" name="Text 8"/>
          <p:cNvSpPr/>
          <p:nvPr/>
        </p:nvSpPr>
        <p:spPr>
          <a:xfrm>
            <a:off x="8144256" y="1271016"/>
            <a:ext cx="3358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أول ٣٠ يوماً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44256" y="1563624"/>
            <a:ext cx="335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الإقفال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80832" y="2084832"/>
            <a:ext cx="328574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تحقيق MK008 وRY024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تفعيل تسجيل الدفع في ١٨ محطة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تصحيح مداخل المعيصم والشرائع على الخرائط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توحيد أسماء المحطات على الكود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جدول عمالة بالساعة لكل محطة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جدول إيجارات لكل نوع وحدة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مسح منافسي العقار والإكسسوارات والإعلان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9872" y="1225296"/>
            <a:ext cx="3541776" cy="4023360"/>
          </a:xfrm>
          <a:prstGeom prst="roundRect">
            <a:avLst>
              <a:gd name="adj" fmla="val 1291"/>
            </a:avLst>
          </a:prstGeom>
          <a:solidFill>
            <a:srgbClr val="FFFFFF"/>
          </a:solidFill>
          <a:ln w="17780">
            <a:solidFill>
              <a:srgbClr val="F583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9872" y="1225296"/>
            <a:ext cx="3541776" cy="7315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5" name="Text 13"/>
          <p:cNvSpPr/>
          <p:nvPr/>
        </p:nvSpPr>
        <p:spPr>
          <a:xfrm>
            <a:off x="4401312" y="1271016"/>
            <a:ext cx="3358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اليوم ٣١ إلى ٦٠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01312" y="1563624"/>
            <a:ext cx="335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الإطلاق المحدود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37888" y="2084832"/>
            <a:ext cx="328574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المستهدف في أعلى ١٢ محطة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طاقم الذروة في محطات فاقد الذروة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علبة المناديل في ٤ محطات بعد بيع المساحة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تعاقد أساطيل في ٣ محاور طريق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باقة التدريج في ٣ محطات تحت التنفيذ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المستأجر الرئيسي لحلي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1225296"/>
            <a:ext cx="3541776" cy="4023360"/>
          </a:xfrm>
          <a:prstGeom prst="roundRect">
            <a:avLst>
              <a:gd name="adj" fmla="val 1291"/>
            </a:avLst>
          </a:prstGeom>
          <a:solidFill>
            <a:srgbClr val="FFFFFF"/>
          </a:solidFill>
          <a:ln w="17780">
            <a:solidFill>
              <a:srgbClr val="2E8B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1225296"/>
            <a:ext cx="3541776" cy="73152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1271016"/>
            <a:ext cx="3358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اليوم ٦١ إلى ٩٠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1563624"/>
            <a:ext cx="3358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التعميم المشروط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4944" y="2084832"/>
            <a:ext cx="328574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تعميم ما أثبت أثره ٤ أسابيع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حافز العامل على الشبكة المؤهَّلة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باقات التأجير على كل الفئات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إعادة تحجيم عمالة المعيصم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تثبيت مؤشرات التطبيق قبل إطلاقه أول ديسمبر</a:t>
            </a:r>
            <a:endParaRPr lang="en-US" sz="1100" dirty="0"/>
          </a:p>
          <a:p>
            <a:pPr algn="r"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مراجعة المستهدف على الأداء الفعلي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413248"/>
            <a:ext cx="11027664" cy="512064"/>
          </a:xfrm>
          <a:prstGeom prst="roundRect">
            <a:avLst>
              <a:gd name="adj" fmla="val 7143"/>
            </a:avLst>
          </a:prstGeom>
          <a:solidFill>
            <a:srgbClr val="55565A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5458968"/>
            <a:ext cx="10661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بوابة الثانية: لا حملة في محطة لم تُقفل حالتها الرقابية · بوابة الثالثة: لا تعميم لآلية لم ترفع رقمها في ٤ أسابيع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101132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لوحة المتابعة الشهرية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113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ثمانية مؤشرات في صفحة واحدة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11027664" cy="18288"/>
          </a:xfrm>
          <a:prstGeom prst="rect">
            <a:avLst/>
          </a:prstGeom>
          <a:solidFill>
            <a:srgbClr val="E3DCD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 · الإدارة التجارية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0" y="1225296"/>
            <a:ext cx="2633472" cy="1133856"/>
          </a:xfrm>
          <a:prstGeom prst="roundRect">
            <a:avLst>
              <a:gd name="adj" fmla="val 4032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1225296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0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أساسي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052560" y="160934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فاقد ساعات الذروة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52560" y="197510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معاملة/يوم — الهدف صفر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225296"/>
            <a:ext cx="2633472" cy="1133856"/>
          </a:xfrm>
          <a:prstGeom prst="roundRect">
            <a:avLst>
              <a:gd name="adj" fmla="val 4032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225296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أساسي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54496" y="160934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متوسط حجم التعبئة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54496" y="197510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مقابل ما يفسّره المزيج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64992" y="1225296"/>
            <a:ext cx="2633472" cy="1133856"/>
          </a:xfrm>
          <a:prstGeom prst="roundRect">
            <a:avLst>
              <a:gd name="adj" fmla="val 4032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4992" y="1225296"/>
            <a:ext cx="2633472" cy="45720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20" name="Text 18"/>
          <p:cNvSpPr/>
          <p:nvPr/>
        </p:nvSpPr>
        <p:spPr>
          <a:xfrm>
            <a:off x="3456432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بوابة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56432" y="160934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تسجيل وسيلة الدفع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56432" y="197510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٦٤٪ إلى ٩٥٪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1225296"/>
            <a:ext cx="2633472" cy="1133856"/>
          </a:xfrm>
          <a:prstGeom prst="roundRect">
            <a:avLst>
              <a:gd name="adj" fmla="val 4032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1225296"/>
            <a:ext cx="2633472" cy="45720"/>
          </a:xfrm>
          <a:prstGeom prst="rect">
            <a:avLst/>
          </a:prstGeom>
          <a:solidFill>
            <a:srgbClr val="C050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503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بوابة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" y="160934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فجوة المشتريات والمبيعات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197510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±١٪ لكل محطة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61120" y="2523744"/>
            <a:ext cx="2633472" cy="1133856"/>
          </a:xfrm>
          <a:prstGeom prst="roundRect">
            <a:avLst>
              <a:gd name="adj" fmla="val 4032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2523744"/>
            <a:ext cx="2633472" cy="45720"/>
          </a:xfrm>
          <a:prstGeom prst="rect">
            <a:avLst/>
          </a:prstGeom>
          <a:solidFill>
            <a:srgbClr val="F7A94B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0" y="26334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A94B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ضابط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52560" y="29077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الحافز ÷ الهامش الإضافي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52560" y="3273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١٥٪ فأقل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63056" y="2523744"/>
            <a:ext cx="2633472" cy="1133856"/>
          </a:xfrm>
          <a:prstGeom prst="roundRect">
            <a:avLst>
              <a:gd name="adj" fmla="val 4032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63056" y="2523744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5" name="Text 33"/>
          <p:cNvSpPr/>
          <p:nvPr/>
        </p:nvSpPr>
        <p:spPr>
          <a:xfrm>
            <a:off x="6254496" y="26334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نمو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54496" y="29077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إشغال الوحدات بالفئة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54496" y="3273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مشغّلة · تحت تنفيذ · امتياز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64992" y="2523744"/>
            <a:ext cx="2633472" cy="1133856"/>
          </a:xfrm>
          <a:prstGeom prst="roundRect">
            <a:avLst>
              <a:gd name="adj" fmla="val 4032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64992" y="2523744"/>
            <a:ext cx="2633472" cy="45720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40" name="Text 38"/>
          <p:cNvSpPr/>
          <p:nvPr/>
        </p:nvSpPr>
        <p:spPr>
          <a:xfrm>
            <a:off x="3456432" y="26334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نمو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56432" y="29077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حصة تطبيقات الأسطول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56432" y="3273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من ٣٫٠٪ صعوداً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2523744"/>
            <a:ext cx="2633472" cy="1133856"/>
          </a:xfrm>
          <a:prstGeom prst="roundRect">
            <a:avLst>
              <a:gd name="adj" fmla="val 4032"/>
            </a:avLst>
          </a:prstGeom>
          <a:solidFill>
            <a:srgbClr val="F7F4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" y="2523744"/>
            <a:ext cx="2633472" cy="45720"/>
          </a:xfrm>
          <a:prstGeom prst="rect">
            <a:avLst/>
          </a:prstGeom>
          <a:solidFill>
            <a:srgbClr val="3E6E8E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" y="26334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6E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مخاطر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8368" y="29077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تغطية الخزان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368" y="32735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4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أيام — تنبيه دون ٤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" y="398678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ما نحتاجه من الإدارات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1558016" y="4361688"/>
            <a:ext cx="36576" cy="292608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50" name="Text 48"/>
          <p:cNvSpPr/>
          <p:nvPr/>
        </p:nvSpPr>
        <p:spPr>
          <a:xfrm>
            <a:off x="9902952" y="43159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العمليات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6928" y="4315968"/>
            <a:ext cx="9198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جدول المناوبات الفعلي — الورديتان مقيستان، والجدول المعتمد ليس عندنا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11558016" y="4709160"/>
            <a:ext cx="36576" cy="292608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53" name="Text 51"/>
          <p:cNvSpPr/>
          <p:nvPr/>
        </p:nvSpPr>
        <p:spPr>
          <a:xfrm>
            <a:off x="9902952" y="4663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تقنية المعلومات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6928" y="4663440"/>
            <a:ext cx="9198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عمود العامل في تصدير ١٥ محطة · وإلغاء الحسابات غير الشخصية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1558016" y="5056632"/>
            <a:ext cx="36576" cy="292608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56" name="Text 54"/>
          <p:cNvSpPr/>
          <p:nvPr/>
        </p:nvSpPr>
        <p:spPr>
          <a:xfrm>
            <a:off x="9902952" y="50109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العقار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66928" y="5010912"/>
            <a:ext cx="9198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جدول الإيجار لكل نوع وحدة — لتسعير الباقات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11558016" y="5404104"/>
            <a:ext cx="36576" cy="292608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59" name="Text 57"/>
          <p:cNvSpPr/>
          <p:nvPr/>
        </p:nvSpPr>
        <p:spPr>
          <a:xfrm>
            <a:off x="9902952" y="53583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المالية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66928" y="5358384"/>
            <a:ext cx="9198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رسوم البطاقة الفعلية — تقرر إن كانت المحفظة تموّل الولاء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11558016" y="5751576"/>
            <a:ext cx="36576" cy="292608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62" name="Text 60"/>
          <p:cNvSpPr/>
          <p:nvPr/>
        </p:nvSpPr>
        <p:spPr>
          <a:xfrm>
            <a:off x="9902952" y="57058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التسويق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66928" y="5705856"/>
            <a:ext cx="9198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سعر المساحة الإعلانية على علبة المناديل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11558016" y="6099048"/>
            <a:ext cx="36576" cy="292608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65" name="Text 63"/>
          <p:cNvSpPr/>
          <p:nvPr/>
        </p:nvSpPr>
        <p:spPr>
          <a:xfrm>
            <a:off x="9902952" y="60533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55565A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التطوير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66928" y="6053328"/>
            <a:ext cx="9198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مسح منافسي العقار والإكسسوارات والإعلان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5556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3" name="Text 1"/>
          <p:cNvSpPr/>
          <p:nvPr/>
        </p:nvSpPr>
        <p:spPr>
          <a:xfrm>
            <a:off x="9582912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درب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82912" y="914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5831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DARB FUEL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300" kern="0" dirty="0">
                <a:solidFill>
                  <a:srgbClr val="F7A94B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الإدارة التجارية · درب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971800"/>
            <a:ext cx="11027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القرار المطلوب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3977640"/>
            <a:ext cx="11027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6D2CC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اعتماد المستهدف بمسارين · إقفال ثغرة البيانات قبل الإنفاق · تسعير المنتجات الثلاثة غير المسعَّرة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85632" y="4937760"/>
            <a:ext cx="3108960" cy="32004"/>
          </a:xfrm>
          <a:prstGeom prst="rect">
            <a:avLst/>
          </a:prstGeom>
          <a:solidFill>
            <a:srgbClr val="F5831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5120640"/>
            <a:ext cx="11027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9B968E"/>
                </a:solidFill>
                <a:latin typeface="DIN Next Arabic" pitchFamily="34" charset="0"/>
                <a:ea typeface="DIN Next Arabic" pitchFamily="34" charset="-122"/>
                <a:cs typeface="DIN Next Arabic" pitchFamily="34" charset="-120"/>
              </a:rPr>
              <a:t>الفرصة المؤكَّدة ٣٬٢٦٨٬٣٣٣ ريال سنوياً — ٧٦٧ معاملة و٥٨٬٨٣٩ لتراً يومياً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تحليل المنافذ وخطة المبيعات</dc:title>
  <dc:subject>PptxGenJS Presentation</dc:subject>
  <dc:creator>الإدارة التجارية — درب</dc:creator>
  <cp:lastModifiedBy>الإدارة التجارية — درب</cp:lastModifiedBy>
  <cp:revision>1</cp:revision>
  <dcterms:created xsi:type="dcterms:W3CDTF">2026-09-10T11:06:28Z</dcterms:created>
  <dcterms:modified xsi:type="dcterms:W3CDTF">2026-09-10T11:06:28Z</dcterms:modified>
</cp:coreProperties>
</file>