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 ١١٫٤٤ هللة — أساس كل قرار حدّي  ·  وبعد تشغيل المحطة ٢٫٢٩  ·  وبعد محمّلات المركز ؜-١٫٩٥  —  ولكل قرارٍ أساسه، وخلطها خطأ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09816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32104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54392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69616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84839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التعبئة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00063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تشغيل المحطة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29416" y="221284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851704" y="221284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المساهمة بعد الهدية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221284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المساهمة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09816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32104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54392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69616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84839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0063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29416" y="257860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51704" y="257860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257860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9816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32104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4392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69616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84839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00063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29416" y="294436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51704" y="294436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94436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309816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32104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954392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69616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84839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00063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٠٫٦٤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029416" y="331012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51704" y="331012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31012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09816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32104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954392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69616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384839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100063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٠٫٥٢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029416" y="3675888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851704" y="3675888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6928" y="3675888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100" dirty="0"/>
          </a:p>
        </p:txBody>
      </p:sp>
      <p:sp>
        <p:nvSpPr>
          <p:cNvPr id="67" name="Text 65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إنفاقاً إضافياً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ريالاً</a:t>
            </a:r>
            <a:endParaRPr lang="en-US" sz="2100" dirty="0"/>
          </a:p>
        </p:txBody>
      </p:sp>
      <p:sp>
        <p:nvSpPr>
          <p:cNvPr id="71" name="Text 69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المعاملة الإضافية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وهي سقف أي مكافأة — لا الصافي بعد تكلفة ثابتة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يناير–يوليو ٢٠٢٦ · محطاتنا الـ٤٩ دون الامتياز · ٣١٠٫٧ مليون لتر — وعمود «بعد تشغيل المحطة» للحكم على المحطة لا لتسقيف مكافأة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اللتر الواحد — لا قيمته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نُخرجه من جيبنا لنبيع لتراً · قائمة الدخل يناير–يوليو ٢٠٢٦ · ١٤١ محطة و٦٦١٫٥ مليون لتر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 طبقات — وواحدة فقط بيدنا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56648" y="1481328"/>
            <a:ext cx="18379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08822" y="1481328"/>
            <a:ext cx="13478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83526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58230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التكلفة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1481328"/>
            <a:ext cx="539130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قرارها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184708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6648" y="184708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الوقود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08822" y="184708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١٬١٣٣٬٩٠٦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83526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58230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184708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ندفعه لأرامكو — لا نملك فيه قراراً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2130552"/>
            <a:ext cx="11027664" cy="28346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6648" y="2130552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08822" y="2130552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٢٨٬٥٨٥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83526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58230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130552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أجور ومرافق وصيانة — هنا وحدها تُضبط التكلفة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41401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414016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بيع وتسويق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08822" y="2414016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83526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58230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2414016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69748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2697480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عمومية وإدارية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08822" y="2697480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١١٬٦٨٤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83526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58230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298094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6648" y="2980944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فوائد القروض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08822" y="2980944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٣٬٠٤٤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83526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58230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2980944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264408"/>
            <a:ext cx="11027664" cy="28346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6648" y="326440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إجمالي التكلفة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08822" y="326440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83526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١٧٨٫٣٢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8230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26440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سعر بيع محقَّق ١٧٧٫٤١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0624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32064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 هللة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2064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2064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 من التكلفة — بلا قرار لنا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03776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95216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 هللة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395216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395216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الوحيدة التي تُضبط — والأجور ٧٤٪ منها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6928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؜-٠٫٨٤ هللة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658368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 — خسارة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58368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التكلفة ١٧٨٫٣٢ والبيع ١٧٧٫٤١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4608576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والخسارة ليست موزَّعة — نموذج واحد يحملها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882896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5" name="Text 63"/>
          <p:cNvSpPr/>
          <p:nvPr/>
        </p:nvSpPr>
        <p:spPr>
          <a:xfrm>
            <a:off x="5154436" y="4882896"/>
            <a:ext cx="11468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523654" y="4882896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835528" y="4882896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 لتر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090058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287244" y="4882896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التشغيل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541773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المحمّل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66928" y="4882896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6928" y="5248656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54436" y="5248656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استثماري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523654" y="5248656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835528" y="5248656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٩١٫٨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090058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١١٫٧٣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87244" y="5248656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١١٫٠٨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541773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٤٫٦٦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66928" y="5248656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+٢٫٩٧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" y="5486400"/>
            <a:ext cx="5734385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54436" y="5486400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إيجاري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523654" y="5486400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3835528" y="5486400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٧٧٫٧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090058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١١٫٣١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287244" y="5486400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٥٫٦٣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541773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٥٫٥١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66928" y="5486400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−٩٫٠٦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5724144"/>
            <a:ext cx="5734385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54436" y="5724144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تشغيلي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523654" y="5724144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835528" y="5724144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١٤١٫٢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090058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١١٫٣٢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287244" y="5724144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٩٫٨٤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541773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٣٫٦٤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66928" y="5724144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−١٫٣٢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66928" y="5961888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154436" y="5961888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4523654" y="5961888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835528" y="5961888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٣٥٠٫٨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090058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١٫١٨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287244" y="5961888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٠٫٠٤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1541773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٠٫٩٨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66928" y="5961888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+٠٫١٧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6632143" y="4608576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وداخل التشغيل: العمالة — ومداها ٣٫٤ أضعاف</a:t>
            </a:r>
            <a:endParaRPr lang="en-US" sz="1250" dirty="0"/>
          </a:p>
        </p:txBody>
      </p:sp>
      <p:sp>
        <p:nvSpPr>
          <p:cNvPr id="105" name="Shape 103"/>
          <p:cNvSpPr/>
          <p:nvPr/>
        </p:nvSpPr>
        <p:spPr>
          <a:xfrm>
            <a:off x="6632143" y="4882896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9907359" y="4882896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914870" y="4882896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20878" y="4882896"/>
            <a:ext cx="79399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عمّال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632143" y="4882896"/>
            <a:ext cx="14887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للعامل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632143" y="5248656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7359" y="5248656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914870" y="5248656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٨٫٧٩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8120878" y="5248656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6632143" y="5248656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٣٩٬٨١٤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6632143" y="5486400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907359" y="5486400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الروابي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8914870" y="5486400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120878" y="5486400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632143" y="5486400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٥٧٬٣٦٤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32143" y="5724144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907359" y="5724144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8914870" y="5724144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8120878" y="5724144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6632143" y="5724144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١٣٦٬٦٠٤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632143" y="5961888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907359" y="5961888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الجمعية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914870" y="5961888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8120878" y="5961888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632143" y="5961888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١٣٧٬١٤٤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⚠ الأجور في التقرير = عدد العمّال × ٣٬٥٠٠ ريالاً للربع بلا استثناء واحد في ٢١ محطة — أي ١٬١٦٧ ريالاً شهرياً للعامل. هذا معدَّل معياري لا كشف رواتب فعلي، فتكلفة العمالة الحقيقية أعلى، وكل رقم تحتها يتحرّك معها.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بكلفة التقرير — وبكلفة القائمة يصير سالباً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أساسٍ يُنقص كلفة العمالة الثلثين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التقرير لا يصلح مرجعاً للكلفة — قائمة الدخل تقول غير ذلك للمحطات نفسها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565977" y="3108960"/>
            <a:ext cx="149976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1614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تقرير الربع الثاني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41298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الدخل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66453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9995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977" y="34747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516144" y="34747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41298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566453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+٠٫٣٥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متقاربان — لا خلاف على الهامش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3931920"/>
            <a:ext cx="7498812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65977" y="39319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مصاريف تشغيل المحطة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516144" y="39319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41298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٩٫١٥ هللة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566453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٢٫٠٢ ضعفاً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9319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التقرير يسعّر الأجر ٣٬٥٠٠ ر «للربع» — وهو أجر شهري طُبِّق مرة بدل ثلاث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389120"/>
            <a:ext cx="7498812" cy="4572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65977" y="43891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 بعد التشغيل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516144" y="43891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41298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٢٫٢٨ هللة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566453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 ضعفاً تفاؤلاً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3891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والقائمة المالية هي المرجع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ويبقى صالحاً لشيء واحد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النسبية بين المحطات: كلفة العمالة لكل لتر تمتد من ٢٫٥٥ هللة في الجمعية إلى ٨٫٧٩ في حائل العريفي — ٣٫٤ أضعاف. الترتيب صحيح وإن كان المستوى ناقصاً.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١٠٫٤٤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٩٫٤٤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٨٫٤٤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٦٫٤٤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تصنيفات — من سجلّ الشركة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 · خط سفر · حي · مختلط · نائية — ومتماسكة سلوكياً لا اسماً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حركة مرتفعة داخل المدينة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٨٠٠ زيارة/يوم فأكثر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طريق بين المدن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· سلة كبيرة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داخل حي سكني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دون ٨٠٠ زيارة/يوم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 وطريق معاً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بين ١٠٪ و٣٠٪ · حركة مرتفعة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خارج التجمّع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 MLPA وحركة منخفضة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٥٠٫٥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أولاً · ثم حجم التعبئة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من أين يأتي النمو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يُطلَب · وحجم التعبئة يُفسَّر ولا يُطلَب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أولاً · عدد التعبئات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٩١٥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تصنيفها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ثانياً · حجم التعبئة الواحدة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٥٨٬٨٣٩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٢٬٤٥٧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مساهمة لكل لتر — أساس التقويم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١٬٨٨٠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بالتصنيف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بالمسارين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+٣٠٬٧٠٨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١٬٢٨٢٬٢٢٩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٤٧٠٬٢٠٠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١٬٧٥٢٬٤٢٩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+١٢٬٣٣٦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٥١٥٬١١٣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٢١٤٬٧٠٩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٧٢٩٬٨٢٢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+٦٬٩٤١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٢٨٩٬٨٤٣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٥٥٬٨٣٢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٣٤٥٬٦٧٤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٠٫٣٩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+٨٬٧٣٠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٣٦٤٬٥٢٥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١٦٤٬٤٢٦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٥٢٨٬٩٥١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+١٢٤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٥٬١٦٢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٩٬٤٤٣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١٤٬٦٠٥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+٥٨٬٨٣٩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٢٬٤٥٦٬٨٧١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٩١٤٬٦١٠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٣٬٣٧١٬٤٨١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تصنيف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للسكّان وآخر للعابرين · لا رسالة واحدة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؜-٩٫٨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+٧٬١٢٠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؜-٨٫٣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+٥٬٥٥٤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+٤٬٠٦٨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٢٩٫٠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؜-٤٫٨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+٣٬٨٢٦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؜-١٫٣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+٣٬٠٨٨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+٢٬٩٤٤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١٥٢٬٤٥٦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٢٩٫٣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٩٫٥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١٣٠٬٥٦٢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الأجاويد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؜-٥٫٠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+٢٬٧٨٠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١٣٠٬٣٣١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+٢٬٨٥٧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١٢٣٬٨٦٤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٢٧٫٩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١١٦٬٠٠٦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 المسار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MK018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+٢٬٣٢٧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١٠٩٬٨٩٤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٢٨٫٠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؜-٣٫٥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+٢٬٤١٧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١٠٩٬٥٥٣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٥٨٪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 كل منفذ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 من مزيج الوقود وسلة التعبئة وساعة الذروة · ٥٢ منفذاً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الملف المقيس لكل تصنيف — ومن يخدمه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02102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830166" y="1481328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65740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7325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8076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98547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6334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481328"/>
            <a:ext cx="374940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يخدمه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1847088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2102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30166" y="1847088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65740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325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١٬٠٦٣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98547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6334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1847088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2176272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2102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30166" y="2176272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65740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٤٥٪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7325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98547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6334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2176272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ومسافرون · تعبئة كاملة وسلة كبيرة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2102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830166" y="2505456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65740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7325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١٬٠٩٢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98547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16334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2505456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— طلبان في موقع واحد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2834640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2102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830166" y="2834640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65740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7325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8076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٥٧٤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98547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16334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٥٣٪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6928" y="2834640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الحي · النمو بالتردد لا بالسلة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3163824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02102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830166" y="3163824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65740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07325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8076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198547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316334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66928" y="3163824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66928" y="345643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وأعلى المنافذ فرصةً — ولكلٍّ استهدافه وفعله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566928" y="3749040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71" name="Text 69"/>
          <p:cNvSpPr/>
          <p:nvPr/>
        </p:nvSpPr>
        <p:spPr>
          <a:xfrm>
            <a:off x="9906684" y="3749040"/>
            <a:ext cx="168790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9118994" y="3749040"/>
            <a:ext cx="7876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106249" y="3749040"/>
            <a:ext cx="10127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055271" y="3749040"/>
            <a:ext cx="405097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155053" y="3749040"/>
            <a:ext cx="9002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917254" y="3749040"/>
            <a:ext cx="123779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≤٥كم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66928" y="3749040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ر/سنة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411480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06684" y="411480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118994" y="411480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06249" y="411480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055271" y="411480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155053" y="411480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1917254" y="411480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66928" y="411480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66928" y="438912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906684" y="438912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9118994" y="438912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8106249" y="438912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4055271" y="438912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· طلب مسائي غالب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155053" y="438912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917254" y="438912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566928" y="438912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66928" y="466344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906684" y="466344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118994" y="466344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8106249" y="466344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55271" y="466344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3155053" y="466344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1917254" y="466344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566928" y="466344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66928" y="493776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06684" y="493776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118994" y="493776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106249" y="493776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4055271" y="493776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3155053" y="493776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917254" y="493776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566928" y="493776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66928" y="521208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6684" y="521208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9118994" y="521208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8106249" y="521208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4055271" y="521208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155053" y="521208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1917254" y="521208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17" name="Text 115"/>
          <p:cNvSpPr/>
          <p:nvPr/>
        </p:nvSpPr>
        <p:spPr>
          <a:xfrm>
            <a:off x="566928" y="521208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619048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3679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التنافسي ٥ منافذ من ٥٢ · الطريقة معروفة ومكرَّرة، والباقي يحتاج تشغيلها لا ابتكارها.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56692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منفذاً تصنيفُه في السجلّ يخالف سلوكه المقيس — أشدّها العوالي MK003 مصنّفة «خط سفر» وديزلها صفر. يُراجَع التصنيف لا يُلغى.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المساهمة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 لكل لتر — أساس حدّي لا صافٍ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٨٫٤١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٧٫٩١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١١٫٨٧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٥٫٦٢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٨٫٤٣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٥٫٩٤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٨٫٩٢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٧٫٩٨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مساهمة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 الحدّي لا الصافي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٢٤٪ من مساهمة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٣٬٣٧١٬٤٨١ ريال سنوياً — ٧٦٧ معاملة و٥٨٬٨٣٩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2026-09-21T10:09:44Z</dcterms:created>
  <dcterms:modified xsi:type="dcterms:W3CDTF">2026-09-21T10:09:44Z</dcterms:modified>
</cp:coreProperties>
</file>