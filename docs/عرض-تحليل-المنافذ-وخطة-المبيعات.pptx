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بمسارين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٣٬٣٧١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تسعير المنتجات الثلاثة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· مسح أسعار · جرد أسطح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 ١١٫٤٤ هللة — أساس كل قرار حدّي  ·  وبعد تشغيل المحطة ٢٫٢٩  ·  وبعد محمّلات المركز ؜-١٫٩٥  —  ولكل قرارٍ أساسه، وخلطها خطأ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22169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6181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01465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35077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68690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833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54020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39351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الهدية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الصافي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22169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6181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1465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35077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68690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33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4020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39351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2169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6181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1465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35077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68690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٢٫٤٤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833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54020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٢٫٤٤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39351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١٫٨٢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22169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6181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01465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35077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868690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٣٫١٨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833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٢٫٥٥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54020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39351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٢٫٥٦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22169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6181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01465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35077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68690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٢٫٦٠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80833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٢٫٠٨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854020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٢٫٦٠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839351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١٫٩٨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٢٤٪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لتر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 ريالاً إنفاقاً إضافياً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٢٫٨١ ريالاً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مساهمة المعاملة الإضافية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وهي سقف أي مكافأة — لا الصافي بعد تكلفة ثابتة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الهامش والتشغيل مقيسان من دفاتر ٢٦ محطة مشغّلة في الربع الثاني ٢٠٢٦ — لا موزَّعين من قائمة الدخل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تكلفة اللتر الواحد — لا قيمته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نُخرجه من جيبنا لنبيع لتراً · قائمة الدخل يناير–يوليو ٢٠٢٦ · ١٤١ محطة و٦٦١٫٥ مليون لتر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أربع طبقات — وواحدة فقط بيدنا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56648" y="1481328"/>
            <a:ext cx="18379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08822" y="1481328"/>
            <a:ext cx="13478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ألف ريال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83526" y="1481328"/>
            <a:ext cx="12252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58230" y="1481328"/>
            <a:ext cx="12252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التكلفة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1481328"/>
            <a:ext cx="539130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قرارها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1847088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56648" y="1847088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شراء الوقود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08822" y="1847088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١٬١٣٣٬٩٠٦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83526" y="184708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١٧١٫٤١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58230" y="184708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٩٦٪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" y="1847088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ندفعه لأرامكو — لا نملك فيه قراراً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2130552"/>
            <a:ext cx="11027664" cy="28346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56648" y="2130552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 المحطة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08822" y="2130552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٢٨٬٥٨٥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83526" y="2130552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٤٫٣٢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58230" y="2130552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130552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أجور ومرافق وصيانة — هنا وحدها تُضبط التكلفة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414016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414016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بيع وتسويق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08822" y="2414016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٢٬٣٨٩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83526" y="2414016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٠٫٣٦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58230" y="2414016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2414016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2697480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56648" y="2697480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عمومية وإدارية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08822" y="2697480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١١٬٦٨٤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83526" y="2697480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١٫٧٧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58230" y="2697480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١٪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6928" y="2697480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2980944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56648" y="2980944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فوائد القروض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08822" y="2980944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٣٬٠٤٤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183526" y="2980944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٠٫٤٦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58230" y="2980944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٠٪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" y="2980944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محمّل من المركز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3264408"/>
            <a:ext cx="11027664" cy="28346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56648" y="3264408"/>
            <a:ext cx="1837944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إجمالي التكلفة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08822" y="3264408"/>
            <a:ext cx="134782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183526" y="326440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١٧٨٫٣٢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958230" y="3264408"/>
            <a:ext cx="122529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264408"/>
            <a:ext cx="539130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سعر بيع محقَّق ١٧٧٫٤١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040624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132064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١٧١٫٤١ هللة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8132064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شراء اللتر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132064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٩٦٪ من التكلفة — بلا قرار لنا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03776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95216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٤٫٣٢ هللة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4395216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 المحطة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395216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الوحيدة التي تُضبط — والأجور ٧٤٪ منها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66928" y="3511296"/>
            <a:ext cx="3553968" cy="1024128"/>
          </a:xfrm>
          <a:prstGeom prst="roundRect">
            <a:avLst>
              <a:gd name="adj" fmla="val 4464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8368" y="3584448"/>
            <a:ext cx="3371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؜-٠٫٨٤ هللة</a:t>
            </a:r>
            <a:endParaRPr lang="en-US" sz="1900" dirty="0"/>
          </a:p>
        </p:txBody>
      </p:sp>
      <p:sp>
        <p:nvSpPr>
          <p:cNvPr id="61" name="Text 59"/>
          <p:cNvSpPr/>
          <p:nvPr/>
        </p:nvSpPr>
        <p:spPr>
          <a:xfrm>
            <a:off x="658368" y="3941064"/>
            <a:ext cx="3371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اللتر — خسارة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58368" y="418795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التكلفة ١٧٨٫٣٢ والبيع ١٧٧٫٤١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66928" y="4608576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والخسارة ليست موزَّعة — نموذج واحد يحملها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566928" y="4882896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5" name="Text 63"/>
          <p:cNvSpPr/>
          <p:nvPr/>
        </p:nvSpPr>
        <p:spPr>
          <a:xfrm>
            <a:off x="5154436" y="4882896"/>
            <a:ext cx="11468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النموذج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523654" y="4882896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3835528" y="4882896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 لتر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3090058" y="4882896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الهامش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2287244" y="4882896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التشغيل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1541773" y="4882896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المحمّل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66928" y="4882896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6928" y="5248656"/>
            <a:ext cx="5734385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54436" y="5248656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استثماري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523654" y="5248656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3835528" y="5248656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٩١٫٨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3090058" y="5248656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١١٫٧٣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2287244" y="5248656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١١٫٠٨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1541773" y="5248656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٤٫٦٦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566928" y="5248656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+٢٫٩٧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66928" y="5486400"/>
            <a:ext cx="5734385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154436" y="5486400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إيجاري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4523654" y="5486400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3835528" y="5486400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٧٧٫٧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090058" y="5486400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١١٫٣١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287244" y="5486400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٥٫٦٣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1541773" y="5486400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٥٫٥١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566928" y="5486400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−٩٫٠٦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66928" y="5724144"/>
            <a:ext cx="5734385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154436" y="5724144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تشغيلي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4523654" y="5724144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3835528" y="5724144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١٤١٫٢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090058" y="5724144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١١٫٣٢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287244" y="5724144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٩٫٨٤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1541773" y="5724144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٣٫٦٤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566928" y="5724144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−١٫٣٢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566928" y="5961888"/>
            <a:ext cx="5734385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154436" y="5961888"/>
            <a:ext cx="1146877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4523654" y="5961888"/>
            <a:ext cx="63078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3835528" y="5961888"/>
            <a:ext cx="688126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٣٥٠٫٨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090058" y="5961888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١٫١٨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287244" y="5961888"/>
            <a:ext cx="802814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٠٫٠٤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1541773" y="5961888"/>
            <a:ext cx="74547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٠٫٩٨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566928" y="5961888"/>
            <a:ext cx="97484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+٠٫١٧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6632143" y="4608576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وداخل التشغيل: العمالة — ومداها ٣٫٤ أضعاف</a:t>
            </a:r>
            <a:endParaRPr lang="en-US" sz="1250" dirty="0"/>
          </a:p>
        </p:txBody>
      </p:sp>
      <p:sp>
        <p:nvSpPr>
          <p:cNvPr id="105" name="Shape 103"/>
          <p:cNvSpPr/>
          <p:nvPr/>
        </p:nvSpPr>
        <p:spPr>
          <a:xfrm>
            <a:off x="6632143" y="4882896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6" name="Text 104"/>
          <p:cNvSpPr/>
          <p:nvPr/>
        </p:nvSpPr>
        <p:spPr>
          <a:xfrm>
            <a:off x="9907359" y="4882896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8914870" y="4882896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8120878" y="4882896"/>
            <a:ext cx="79399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عمّال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6632143" y="4882896"/>
            <a:ext cx="14887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للعامل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6632143" y="5248656"/>
            <a:ext cx="4962449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907359" y="5248656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8914870" y="5248656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٨٫٧٩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8120878" y="5248656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6632143" y="5248656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٣٩٬٨١٤</a:t>
            </a:r>
            <a:endParaRPr lang="en-US" sz="950" dirty="0"/>
          </a:p>
        </p:txBody>
      </p:sp>
      <p:sp>
        <p:nvSpPr>
          <p:cNvPr id="115" name="Shape 113"/>
          <p:cNvSpPr/>
          <p:nvPr/>
        </p:nvSpPr>
        <p:spPr>
          <a:xfrm>
            <a:off x="6632143" y="5486400"/>
            <a:ext cx="4962449" cy="23774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9907359" y="5486400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المودة الروابي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8914870" y="5486400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٦٫١٠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8120878" y="5486400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6632143" y="5486400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٥٧٬٣٦٤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6632143" y="5724144"/>
            <a:ext cx="4962449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907359" y="5724144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122" name="Text 120"/>
          <p:cNvSpPr/>
          <p:nvPr/>
        </p:nvSpPr>
        <p:spPr>
          <a:xfrm>
            <a:off x="8914870" y="5724144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٢٫٥٦</a:t>
            </a:r>
            <a:endParaRPr lang="en-US" sz="950" dirty="0"/>
          </a:p>
        </p:txBody>
      </p:sp>
      <p:sp>
        <p:nvSpPr>
          <p:cNvPr id="123" name="Text 121"/>
          <p:cNvSpPr/>
          <p:nvPr/>
        </p:nvSpPr>
        <p:spPr>
          <a:xfrm>
            <a:off x="8120878" y="5724144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6632143" y="5724144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١٣٦٬٦٠٤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6632143" y="5961888"/>
            <a:ext cx="4962449" cy="23774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907359" y="5961888"/>
            <a:ext cx="1687233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الجمعية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914870" y="5961888"/>
            <a:ext cx="992490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٢٫٥٥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8120878" y="5961888"/>
            <a:ext cx="793992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6632143" y="5961888"/>
            <a:ext cx="1488735" cy="23774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١٣٧٬١٤٤</a:t>
            </a:r>
            <a:endParaRPr lang="en-US" sz="950" dirty="0"/>
          </a:p>
        </p:txBody>
      </p:sp>
      <p:sp>
        <p:nvSpPr>
          <p:cNvPr id="130" name="Text 128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⚠ الأجور في التقرير = عدد العمّال × ٣٬٥٠٠ ريالاً للربع بلا استثناء واحد في ٢١ محطة — أي ١٬١٦٧ ريالاً شهرياً للعامل. هذا معدَّل معياري لا كشف رواتب فعلي، فتكلفة العمالة الحقيقية أعلى، وكل رقم تحتها يتحرّك معها.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ربحية محطات التشغيل — الربع الثاني ٢٠٢٦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 محطة في ٦ مناطق · مقيس لا مقدَّر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٩٧٫٠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مبيعات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+٨٫٥٪ عن الربع الأول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+٧٫٤٪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صافي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بكلفة التقرير — وبكلفة القائمة يصير سالباً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٣٫٢٧٪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صافي الربح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أساسٍ يُنقص كلفة العمالة الثلثين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عاملاً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 · ربح العامل +٦٫٧٪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وهذا التقرير لا يصلح مرجعاً للكلفة — قائمة الدخل تقول غير ذلك للمحطات نفسها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3108960"/>
            <a:ext cx="749881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5" name="Text 33"/>
          <p:cNvSpPr/>
          <p:nvPr/>
        </p:nvSpPr>
        <p:spPr>
          <a:xfrm>
            <a:off x="6565977" y="3108960"/>
            <a:ext cx="149976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16144" y="3108960"/>
            <a:ext cx="104983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تقرير الربع الثاني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541298" y="3108960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الدخل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566453" y="3108960"/>
            <a:ext cx="9748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66928" y="3108960"/>
            <a:ext cx="29995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66928" y="3474720"/>
            <a:ext cx="7498812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65977" y="34747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516144" y="34747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 هللة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41298" y="34747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566453" y="34747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+٠٫٣٥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66928" y="34747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متقاربان — لا خلاف على الهامش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3931920"/>
            <a:ext cx="7498812" cy="457200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65977" y="39319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مصاريف تشغيل المحطة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516144" y="39319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٤٫٨٦ هللة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541298" y="39319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٩٫١٥ هللة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566453" y="39319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٢٫٠٢ ضعفاً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39319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التقرير يسعّر الأجر ٣٬٥٠٠ ر «للربع» — وهو أجر شهري طُبِّق مرة بدل ثلاث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389120"/>
            <a:ext cx="7498812" cy="4572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65977" y="4389120"/>
            <a:ext cx="1499762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 بعد التشغيل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516144" y="4389120"/>
            <a:ext cx="1049834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٦٫٢٣ هللة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541298" y="43891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٢٫٢٨ هللة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3566453" y="4389120"/>
            <a:ext cx="97484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 ضعفاً تفاؤلاً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389120"/>
            <a:ext cx="2999525" cy="4572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والقائمة المالية هي المرجع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8396569" y="3108960"/>
            <a:ext cx="3198023" cy="1682496"/>
          </a:xfrm>
          <a:prstGeom prst="roundRect">
            <a:avLst>
              <a:gd name="adj" fmla="val 2717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524585" y="3200400"/>
            <a:ext cx="294199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ويبقى صالحاً لشيء واحد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524585" y="3511296"/>
            <a:ext cx="2941991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النسبية بين المحطات: كلفة العمالة لكل لتر تمتد من ٢٫٥٥ هللة في الجمعية إلى ٨٫٧٩ في حائل العريفي — ٣٫٤ أضعاف. الترتيب صحيح وإن كان المستوى ناقصاً.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50292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2" name="Text 60"/>
          <p:cNvSpPr/>
          <p:nvPr/>
        </p:nvSpPr>
        <p:spPr>
          <a:xfrm>
            <a:off x="749808" y="50749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 مماثل (٢٤ محطة) النمو +١٫٠٪ فقط — و+١١٨٫٥ ألف من الجديدتين «القسوم» و«مدخل محايل»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 محطة تحسّنت بـ+٣٠٩٫٨ ألف و١١ تراجعت بـ−٢٧٦٫٧ ألف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هيكل العمولة — أكبر رقم في الخطة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يحتاج حملة ولا لتراً إضافياً · تفاوض عقود فقط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العقد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46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الربع الثاني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7994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الفعلية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3844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بالعمولة المعيارية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00524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ربعياً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سنوياً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47953" y="1609344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ثابتة من الصافي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55463" y="1609344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21867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77994" y="1609344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٢٧٦٬٤٧٦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3844" y="1609344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٦١٠٬٠٧٠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00524" y="1609344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؜-٣٣٣٬٥٩٤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؜-١٬٣٣٤٬٣٧٧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7953" y="2029968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دون المعياري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463" y="2029968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21867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7994" y="2029968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٢٠١٬٦٤٦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23844" y="2029968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٢٧٣٬٤٩١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00524" y="2029968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؜-٧١٬٨٤٥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؜-٢٨٧٬٣٧٨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7953" y="2450592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معيارية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463" y="2450592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21867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١٨٫٦م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7994" y="2450592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٤٨٩٬٦٥٤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23844" y="2450592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٤٩٠٬٩٧٩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00524" y="2450592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؜-١٬٣٢٥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؜-٥٬٣٠٠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7953" y="2871216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أعلى من المعياري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463" y="2871216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21867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77994" y="2871216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٢٤٠٬٦٩٤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23844" y="2871216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١١٧٬١٤٨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000524" y="2871216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+١٢٣٬٥٤٦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+٤٩٤٬١٨٢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3291840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955463" y="3291840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21867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٥٦٫٤م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977994" y="3291840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١٬٢٠٨٬٤٧٠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23844" y="3291840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١٬٤٩١٬٦٨٨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2000524" y="3291840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؜-٢٨٣٬٢١٨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؜-١٬١٣٢٬٨٧٢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66928" y="380390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تخسر النسبة الثابتة — الدليل من محطة واحدة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040624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68640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بريدة القصيم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168640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النسبة الثابتة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68640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الكميات +٣٫٤٪ · وحصة درب −٥٥٪. المصاريف قفزت ٤١٪ وأبرزها الكهرباء من ٣٬٨٠٠ إلى ٢٣٬٥٠٠ — فدفعنا فاتورة المالك.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303776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31792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431792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المعيارية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31792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٢٠٬٤١١ تتجاوز الربح التشغيلي ٦٬٥٢١ — فصافي المالك سالب في الربعين. عقد غير مستدام.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66928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944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الذكرى الخالدة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694944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٠٫٠١٥ / ٠٫٠٠٥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94944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نصف المعياري على ٣٫٨٦ مليون لتر — أكبر محطة بأدنى عمولة في الشبكة. ٢١٩٬٤٨٥ ريالاً سنوياً.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66928" y="550468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70" name="Text 68"/>
          <p:cNvSpPr/>
          <p:nvPr/>
        </p:nvSpPr>
        <p:spPr>
          <a:xfrm>
            <a:off x="749808" y="555040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الحقيقية ١٬٢٠٨٬٤٧٠ ريالاً (٣٥٫٤٪) لا ٩٦٧٬٧٧٧ (٢٨٫٣٪) — لأن عمولة ثلاث محطات مقيَّدة تحت «نسبة المالك»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بالعمولة المعيارية ٠٫٠٣ بنزين و٠٫٠١٥ ديزل · وحصص الديزل من بيانات نقاط البيع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تطبيقات الأسطول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١٠٫٤٤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٩٫٤٤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٨٫٤٤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٦٫٤٤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 من جوار محطاتنا · تقييمه ٣٫٧٧★ مقابل ٤٫٨٦ لنا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المنصّات ٣٫٠٪ من المسجَّل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وبترو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١١٫٩٦ مليون ريال بفاتورة ١٥٦٫٥٠ — ثلاثة أضعاف النقدي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 مقيسة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٣٧٪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في الحي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٢٥٪ إشغالاً · وما لا بديل له ٤٤٪ فأعلى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جدول إيجارات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تبيع على أرضنا بإيجار لا هامش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مسح أسعار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١٫٥٧ مليون معاملة شهرياً جمهورٌ لا يُباع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جرد وسعر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عُرِف مُسيطرها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لكلٍّ منافس مختلف ومقياس مختلف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سعر سوق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نعرف من هو — ولا نعرف بكم يبيع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 في المنتجات الثلاثة استُنتج من بياناتنا لا من مسحٍ خارجي — والناقص سعره لا هويّته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من حولنا، وهل يفسّر نتيجتنا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 منافساً مرصوداً من ٧٩ داخل ٥ كم · خرائط جوجل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من يحيط بنا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5039749" y="1481328"/>
            <a:ext cx="126156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العلامة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966" y="1481328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مرات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20840" y="1481328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18026" y="1481328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868" y="1481328"/>
            <a:ext cx="8601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المسافة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31239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تقييمها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المراجعات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39749" y="184708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408966" y="184708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720840" y="184708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918026" y="184708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57868" y="184708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١٬٥١٧ 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31239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٣٫٧٧★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57984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39749" y="2157984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مستقلة/أخرى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08966" y="2157984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20840" y="2157984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918026" y="2157984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057868" y="2157984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١٬٩٦٧ م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31239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٣٫٨٨★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39749" y="2468880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بتروجين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408966" y="2468880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720840" y="2468880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918026" y="2468880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٩٢٣ م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057868" y="2468880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١٬١٦٥ م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31239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٣٫٤٠★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79776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39749" y="2779776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ساسكو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08966" y="2779776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720840" y="2779776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918026" y="2779776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١٬٧٠١ 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057868" y="2779776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١٬٨٠٦ م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31239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٤٫٠٠★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90672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9749" y="3090672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أومكو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408966" y="3090672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720840" y="3090672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18026" y="3090672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١٬٧٥٥ م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057868" y="3090672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٢٬١١٦ م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131239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٣٫٢٠★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١٠٨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401568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39749" y="340156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نفط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08966" y="340156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720840" y="340156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2918026" y="340156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٦٩٥ م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057868" y="340156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١٬٠٣٨ م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31239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٣٫٠٠★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632143" y="1188720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وميزتنا ثابتة — والنتيجة ليست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6632143" y="1481328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7" name="Text 65"/>
          <p:cNvSpPr/>
          <p:nvPr/>
        </p:nvSpPr>
        <p:spPr>
          <a:xfrm>
            <a:off x="10304355" y="1481328"/>
            <a:ext cx="129023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الموقع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9659237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نحن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9063743" y="1481328"/>
            <a:ext cx="5954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هم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69000" y="1481328"/>
            <a:ext cx="6947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723882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عددهم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632143" y="1481328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نمونا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632143" y="1847088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04355" y="1847088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9659237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063743" y="1847088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369000" y="1847088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723882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6632143" y="1847088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−٢٥٪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6632143" y="2157984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304355" y="2157984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659237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9063743" y="2157984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369000" y="2157984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7723882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6632143" y="2157984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+٧٪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6632143" y="2468880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304355" y="2468880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659237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9063743" y="2468880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369000" y="2468880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723882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632143" y="2468880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−١٢٪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6632143" y="2779776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0304355" y="2779776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659237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9063743" y="2779776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8369000" y="2779776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7723882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6632143" y="2779776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−٢٢٪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6632143" y="3090672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0304355" y="3090672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9659237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063743" y="3090672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369000" y="3090672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+١٫١٠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7723882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6632143" y="3090672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−٥٣٪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6632143" y="3401568"/>
            <a:ext cx="4962449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778447" y="3511296"/>
            <a:ext cx="4669841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ميزتنا ١٫١٥ نجمة على المواقع الخمسة جميعاً، والنمو يمتد من ٧٪ إلى −٥٣٪. الثابت لا يفسّر المتغيّر — فالمنافس ليس ما يحرّك أرقامنا.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566928" y="457200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وحين يكون السعر منظَّماً تُحسم المنافسة بالخدمة — وشكاوانا تقول أين نقف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950610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57925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</a:t>
            </a:r>
            <a:endParaRPr lang="en-US" sz="1900" dirty="0"/>
          </a:p>
        </p:txBody>
      </p:sp>
      <p:sp>
        <p:nvSpPr>
          <p:cNvPr id="113" name="Text 111"/>
          <p:cNvSpPr/>
          <p:nvPr/>
        </p:nvSpPr>
        <p:spPr>
          <a:xfrm>
            <a:off x="957925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سلوك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7271309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7344461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900" dirty="0"/>
          </a:p>
        </p:txBody>
      </p:sp>
      <p:sp>
        <p:nvSpPr>
          <p:cNvPr id="116" name="Text 114"/>
          <p:cNvSpPr/>
          <p:nvPr/>
        </p:nvSpPr>
        <p:spPr>
          <a:xfrm>
            <a:off x="7344461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سرعة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5036515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09667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19" name="Text 117"/>
          <p:cNvSpPr/>
          <p:nvPr/>
        </p:nvSpPr>
        <p:spPr>
          <a:xfrm>
            <a:off x="5109667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ثقة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280172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87487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22" name="Text 120"/>
          <p:cNvSpPr/>
          <p:nvPr/>
        </p:nvSpPr>
        <p:spPr>
          <a:xfrm>
            <a:off x="287487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رفض خدمة</a:t>
            </a:r>
            <a:endParaRPr lang="en-US" sz="1100" dirty="0"/>
          </a:p>
        </p:txBody>
      </p:sp>
      <p:sp>
        <p:nvSpPr>
          <p:cNvPr id="123" name="Shape 121"/>
          <p:cNvSpPr/>
          <p:nvPr/>
        </p:nvSpPr>
        <p:spPr>
          <a:xfrm>
            <a:off x="566928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40080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900" dirty="0"/>
          </a:p>
        </p:txBody>
      </p:sp>
      <p:sp>
        <p:nvSpPr>
          <p:cNvPr id="125" name="Text 123"/>
          <p:cNvSpPr/>
          <p:nvPr/>
        </p:nvSpPr>
        <p:spPr>
          <a:xfrm>
            <a:off x="640080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خطأ تعبئة</a:t>
            </a:r>
            <a:endParaRPr lang="en-US" sz="1100" dirty="0"/>
          </a:p>
        </p:txBody>
      </p:sp>
      <p:sp>
        <p:nvSpPr>
          <p:cNvPr id="126" name="Text 12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١٠٣ شكوى — ٦٦٪ منها خدمة لا سعر (و٣٥ بلا تصنيف) · فالخطة اعتراضية: مدخل ولافتة وسرعة، لا مطاردة سعر لا نملكه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المنافس منصّة لا محطة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حساب الأسطول يملك تعبئته · تصنيف بحجم السلة لا بالاسم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قنوات الدفع — والسلة هي التي تفضح القناة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78271" y="1481328"/>
            <a:ext cx="18163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91687" y="1481328"/>
            <a:ext cx="168658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الإيراد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24052" y="1481328"/>
            <a:ext cx="11676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367205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069833" y="1481328"/>
            <a:ext cx="12973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2986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19460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يملكها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78271" y="184708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مسجَّلة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1687" y="184708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٢٢٦٬٣١٢٬١٧٨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24052" y="184708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٣٦٫١٪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367205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٤٬٠٧٢٬١٨١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069833" y="184708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٥٥٫٥٨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512986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مجهولة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4884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78271" y="214884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91687" y="214884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١٨٤٬٥٥٨٬٦١٥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924052" y="214884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٢٩٫٥٪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367205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٣٬٥٥٤٬٤٤٥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069833" y="214884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512986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4884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5059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78271" y="2450592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شبكة (مدى)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091687" y="2450592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١٧٩٬٢٣٦٬٣٠٣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924052" y="2450592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67205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٢٬٨٠٥٬٣١٤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069833" y="2450592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٦٣٫٨٩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512986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50592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52344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78271" y="2752344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خارجي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091687" y="2752344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٢٤٬٤٠٥٬٦٥٥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24052" y="2752344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367205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٤٤٧٬٧٦٤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069833" y="2752344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٥٤٫٥١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512986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52344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54096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778271" y="3054096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سيارة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91687" y="3054096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٧٬٧٥١٬١٧٣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924052" y="3054096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67205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٥١٬٩٢٦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069833" y="3054096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١٤٩٫٢٧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2512986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54096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355848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78271" y="335584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بترو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091687" y="335584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٤٬٢٠٥٬٤٨٣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924052" y="335584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367205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٢٤٬٤٧٣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069833" y="335584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١٧١٫٨٤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2512986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35584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3657600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778271" y="365760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بطاقة ذكية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091687" y="365760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٨٬٠٠٩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6924052" y="365760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367205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١٦٦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069833" y="365760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٤٨٫٢٤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2512986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566928" y="365760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040624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32064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١٥٦٫٥٠ ريالاً</a:t>
            </a:r>
            <a:endParaRPr lang="en-US" sz="1900" dirty="0"/>
          </a:p>
        </p:txBody>
      </p:sp>
      <p:sp>
        <p:nvSpPr>
          <p:cNvPr id="75" name="Text 73"/>
          <p:cNvSpPr/>
          <p:nvPr/>
        </p:nvSpPr>
        <p:spPr>
          <a:xfrm>
            <a:off x="8132064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فاتورة المنصّة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8132064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أضعاف النقدي ٥١٫٩٢ — هذه تعبئة أسطول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303776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95216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٣٫٠٪</a:t>
            </a:r>
            <a:endParaRPr lang="en-US" sz="1900" dirty="0"/>
          </a:p>
        </p:txBody>
      </p:sp>
      <p:sp>
        <p:nvSpPr>
          <p:cNvPr id="79" name="Text 77"/>
          <p:cNvSpPr/>
          <p:nvPr/>
        </p:nvSpPr>
        <p:spPr>
          <a:xfrm>
            <a:off x="4395216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المنصّات من المسجَّل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4395216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١١٬٩٥٦٬٦٥٦ ريالاً عبر سيارة وبترو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66928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8368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معاملات</a:t>
            </a:r>
            <a:endParaRPr lang="en-US" sz="1900" dirty="0"/>
          </a:p>
        </p:txBody>
      </p:sp>
      <p:sp>
        <p:nvSpPr>
          <p:cNvPr id="83" name="Text 81"/>
          <p:cNvSpPr/>
          <p:nvPr/>
        </p:nvSpPr>
        <p:spPr>
          <a:xfrm>
            <a:off x="658368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658368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٣١٨ ريالاً — لا موقع لنا في القناة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120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قائمة الصيد — ديزل ثقيل بلا أي علاقة رقمية: ٧ محطات · ٢٥٬٨٤٢٬٠٧١ ريالاً · ١٤٬٣٩١٬٢٠٥ لتراً</a:t>
            </a:r>
            <a:endParaRPr lang="en-US" sz="1250" dirty="0"/>
          </a:p>
        </p:txBody>
      </p:sp>
      <p:sp>
        <p:nvSpPr>
          <p:cNvPr id="86" name="Shape 84"/>
          <p:cNvSpPr/>
          <p:nvPr/>
        </p:nvSpPr>
        <p:spPr>
          <a:xfrm>
            <a:off x="1011326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16812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016812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م ريال</a:t>
            </a:r>
            <a:endParaRPr lang="en-US" sz="1250" dirty="0"/>
          </a:p>
        </p:txBody>
      </p:sp>
      <p:sp>
        <p:nvSpPr>
          <p:cNvPr id="89" name="Text 87"/>
          <p:cNvSpPr/>
          <p:nvPr/>
        </p:nvSpPr>
        <p:spPr>
          <a:xfrm>
            <a:off x="1016812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52220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57707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857707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 م ريال</a:t>
            </a:r>
            <a:endParaRPr lang="en-US" sz="1250" dirty="0"/>
          </a:p>
        </p:txBody>
      </p:sp>
      <p:sp>
        <p:nvSpPr>
          <p:cNvPr id="93" name="Text 91"/>
          <p:cNvSpPr/>
          <p:nvPr/>
        </p:nvSpPr>
        <p:spPr>
          <a:xfrm>
            <a:off x="857707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931152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986016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6986016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٣٫٥ م ريال</a:t>
            </a:r>
            <a:endParaRPr lang="en-US" sz="1250" dirty="0"/>
          </a:p>
        </p:txBody>
      </p:sp>
      <p:sp>
        <p:nvSpPr>
          <p:cNvPr id="97" name="Text 95"/>
          <p:cNvSpPr/>
          <p:nvPr/>
        </p:nvSpPr>
        <p:spPr>
          <a:xfrm>
            <a:off x="6986016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5340096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94960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بطحاء قريش 1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5394960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394960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MK022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749040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803904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3803904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5" name="Text 103"/>
          <p:cNvSpPr/>
          <p:nvPr/>
        </p:nvSpPr>
        <p:spPr>
          <a:xfrm>
            <a:off x="3803904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215798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21284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العزيزية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221284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 م ريال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221284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MK072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692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62179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 م ريال</a:t>
            </a:r>
            <a:endParaRPr lang="en-US" sz="1250" dirty="0"/>
          </a:p>
        </p:txBody>
      </p:sp>
      <p:sp>
        <p:nvSpPr>
          <p:cNvPr id="113" name="Text 111"/>
          <p:cNvSpPr/>
          <p:nvPr/>
        </p:nvSpPr>
        <p:spPr>
          <a:xfrm>
            <a:off x="62179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والتأجير — بديل المستأجر هو المنافس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 وحدة في ١٨٦ محطة · إشغال ٣٧٫٠٪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لكل نوع وحدة بديلٌ مختلف — والإشغال يقيس قوّته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271272" y="1481328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الوحدة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27878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العدد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8629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9380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80760" y="1481328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الإشغال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481328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خارج المحطة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847088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71272" y="184708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أسواق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7878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629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9380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80760" y="184708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٥٠٫٩٪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184708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بقالة الحي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194560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71272" y="2194560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أكشاك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7878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8629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9380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2194560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٤٨٫٤٪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2194560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عربة أو كشك في ساحة تجارية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542032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71272" y="2542032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سيّاقة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7878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١٥٥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8629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9380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542032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٤٤٫٥٪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" y="2542032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بديل: نافذة السيّاقة تحتاج مسار سيارات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2889504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71272" y="2889504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مغاسل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27878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8629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29380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080760" y="2889504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٤٤٫٠٪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889504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مغسلة حي مستقلة — لكن بلا حركة مرور مضمونة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236976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271272" y="3236976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أخرى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7878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8629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29380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080760" y="3236976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٢٦٫١٪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66928" y="3236976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66928" y="3584448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271272" y="358444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محلات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27878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28629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١٩٢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9380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080760" y="358444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٢٥٫١٪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358444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 على شارع الحي — أوفر إيجاراً وأقرب للسكن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190488" y="4041648"/>
            <a:ext cx="5404104" cy="1225296"/>
          </a:xfrm>
          <a:prstGeom prst="roundRect">
            <a:avLst>
              <a:gd name="adj" fmla="val 373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36792" y="4142232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وحده يخسر أمام بديله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6336792" y="4462272"/>
            <a:ext cx="51114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٢٥٫١٪ إشغالاً و٥٧٢ شاغراً — لأن جاره في الحي أرخص وأقرب للسكن. أمّا أسواق والسيّاقة والمغسلة فبلا بديل داخل الساحة، وإشغالها ٥٠٫٩٪ فأعلى. البيع يبدأ من هنا لا من المحل.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66928" y="4041648"/>
            <a:ext cx="5404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والمنافس الحقيقي داخلي — لا أحد يبيع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566928" y="437083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94944" y="437083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2512405" y="437083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 وحدة · ١٣١ شاغرة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056632" y="437083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٧٨٫٩٪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566928" y="473659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94944" y="473659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2512405" y="473659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 وحدة · ٦٨٩ شاغرة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056632" y="473659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١٢٫٨٪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566928" y="510235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94944" y="510235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12405" y="510235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٣٠٨ وحدة · ٢٦٩ شاغرة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5056632" y="510235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١٢٫٧٪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566928" y="555955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75" name="Text 73"/>
          <p:cNvSpPr/>
          <p:nvPr/>
        </p:nvSpPr>
        <p:spPr>
          <a:xfrm>
            <a:off x="749808" y="560527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٧٨٫٩٪ إشغالاً والامتياز ١٢٫٧٪ — الفارق ليس سوقاً بل غياب مالكٍ للبيع · وهذا ما تعالجه الباقات لا خفض الإيجار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ورقة اكتتاب الوحدة — الإيجار من دفتر المستأجر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الوحدة وصولٌ إلى تيّار حركة · وقيمتها ما يحوّله المستأجر منه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أربعة مُدخَلات لدفتره — واثنان عندنا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47404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38844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38844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المارّة بالوحدة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38844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 لكل محطة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53912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 عندنا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45352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الذروة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منحنى ٢٤ ساعة لكل محطة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60420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1860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51860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تحويل الشكل من التيّار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51860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صيغة — مطعم · مقهى · مغسلة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1499616"/>
            <a:ext cx="2647188" cy="969264"/>
          </a:xfrm>
          <a:prstGeom prst="roundRect">
            <a:avLst>
              <a:gd name="adj" fmla="val 4717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1572768"/>
            <a:ext cx="24643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 ينقصنا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8368" y="1810512"/>
            <a:ext cx="2464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المستأجر وهامشه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2103120"/>
            <a:ext cx="24643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المستأجرين شهرياً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259689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والمُدخَل الأول وحده يفرز الشغور — ٢٣ محطة · المدى ٤٣ ضعفاً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66928" y="2907792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7" name="Text 25"/>
          <p:cNvSpPr/>
          <p:nvPr/>
        </p:nvSpPr>
        <p:spPr>
          <a:xfrm>
            <a:off x="9609612" y="2907792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727399" y="2907792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514356" y="2907792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52186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وحداتها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29377" y="2907792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الشاغرة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426610" y="2907792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103291" y="2907792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وحدة شاغرة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66928" y="2907792"/>
            <a:ext cx="25363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القراءة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66928" y="3273552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327355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الحليس(طريق الجنوب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727399" y="327355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14356" y="327355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2186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529377" y="327355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426610" y="327355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103291" y="327355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٩١٨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327355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566160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356616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727399" y="356616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514356" y="356616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52186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529377" y="356616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426610" y="356616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103291" y="356616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356616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3858768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85876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 العمرة الج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727399" y="385876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14356" y="385876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52186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529377" y="385876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26610" y="385876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103291" y="385876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٤٧٣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66928" y="385876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66928" y="4151376"/>
            <a:ext cx="11027664" cy="29260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9612" y="4151376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جعرانة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727399" y="4151376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7514356" y="4151376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52186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529377" y="4151376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426610" y="4151376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١٬١٢٣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3103291" y="4151376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٣٧٤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4151376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موجودة — سعّرها منها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66928" y="4443984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609612" y="4443984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طريق السيل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8727399" y="4443984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7514356" y="4443984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652186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5529377" y="4443984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4426610" y="4443984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٧٣٧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3103291" y="4443984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443984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736592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609612" y="4736592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المودة - الروابي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727399" y="4736592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4736592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652186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529377" y="4736592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4426610" y="4736592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3103291" y="4736592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566928" y="4736592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566928" y="5029200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609612" y="5029200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727399" y="5029200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514356" y="5029200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52186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5529377" y="5029200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4426610" y="5029200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3103291" y="5029200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5029200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566928" y="5321808"/>
            <a:ext cx="11027664" cy="29260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9612" y="5321808"/>
            <a:ext cx="198498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8727399" y="5321808"/>
            <a:ext cx="88221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7514356" y="5321808"/>
            <a:ext cx="121304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652186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529377" y="5321808"/>
            <a:ext cx="99249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4426610" y="5321808"/>
            <a:ext cx="1102766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3103291" y="5321808"/>
            <a:ext cx="1323320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566928" y="5321808"/>
            <a:ext cx="2536363" cy="29260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يُصلحها خفض إيجار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619048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33679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 ١٤ وحدة على ٧٣٧ زيارة — عرضٌ يفوق حركته. هذه ليست مشكلة تأجير بل مشكلة تحجيم.</a:t>
            </a:r>
            <a:endParaRPr lang="en-US" sz="1050" dirty="0"/>
          </a:p>
        </p:txBody>
      </p:sp>
      <p:sp>
        <p:nvSpPr>
          <p:cNvPr id="109" name="Shape 107"/>
          <p:cNvSpPr/>
          <p:nvPr/>
        </p:nvSpPr>
        <p:spPr>
          <a:xfrm>
            <a:off x="566928" y="5596128"/>
            <a:ext cx="5404104" cy="694944"/>
          </a:xfrm>
          <a:prstGeom prst="roundRect">
            <a:avLst>
              <a:gd name="adj" fmla="val 6579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13232" y="5669280"/>
            <a:ext cx="5111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والتغطية ١٣٪ فقط: ١٣٩ من ١٬٠٨٩ وحدة شاغرة نملك مُدخَلها الأول · ٦٨٩ تحت التنفيذ تُكتتب بمحطة نظيرة، و٢٦٩ امتياز تحتاج طلب بيانات.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الإكسسوارات والمساحات — منتجان بلا خط أساس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يُدَّعى مسحٌ لم يُجرَ · وهذا ما نعرفه اليوم بالقياس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9048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048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635508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1171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 — ثم أسواق قطع الغيار خارج المحطة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141171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مؤجَّرة تبيع الخدمة على أرضنا اليوم، ونأخذ إيجاراً لا هامشاً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1171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 مغسلة و٥٧٢ محلاً شاغرة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141171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منتجات وأسعار المنافس في ثلاثة أحياء · وقرار: نبيع أم نؤجّر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78815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 — والمعلن يشتري منهم لا منّا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78815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١.٥٧ مليون معاملة شهرياً جمهورٌ لا يُباع، ووجه علبة المناديل أول سطح مسعَّر عندنا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78815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واجهات المظلات والمضخات وشاشات نقاط البيع — بلا جرد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78815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 لكل محطة · وسعر السوق للوجه الواحد شهرياً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49011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المطلوب — أسبوعان لكلٍّ منهما، ويُقفل ثلاثة أخماس الجهل التنافسي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961120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52560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أحياء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052560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عيّنة المسح لكل منتج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163056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54496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وأسعار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54496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يبيعه المنافس وبكم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364992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56432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56432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كم وجهاً إعلانياً نملك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الوجه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58368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— ليُسعَّر المخزون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تصنيفات — من سجلّ الشركة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 · خط سفر · حي · مختلط · نائية — ومتماسكة سلوكياً لا اسماً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حركة مرتفعة داخل المدينة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٨٠٠ زيارة/يوم فأكثر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٢٨٤٫٩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طريق بين المدن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· سلة كبيرة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١١٦٫١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التعاقد وسلة التعبئة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داخل حي سكني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دون ٨٠٠ زيارة/يوم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٥١٫٤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٢٤٫٦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٥٣٫١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 وطريق معاً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بين ١٠٪ و٣٠٪ · حركة مرتفعة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٨٨٫٠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فصل الطلبين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خارج التجمّع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 MLPA وحركة منخفضة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٢٣٫٢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٥٠٫٥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التعبئات أولاً · ثم حجم التعبئة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من أين يأتي النمو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التعبئات يُطلَب · وحجم التعبئة يُفسَّر ولا يُطلَب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أولاً · عدد التعبئات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٧٦٧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٩١٥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تصنيفها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ثانياً · حجم التعبئة الواحدة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٥٨٬٨٣٩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٢٬٤٥٧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مساهمة لكل لتر — أساس التقويم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١٬٨٨٠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بالتصنيف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بالمسارين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+٣٠٬٧٠٨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١٬٢٨٢٬٢٢٩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٤٧٠٬٢٠٠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١٬٧٥٢٬٤٢٩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+١٢٬٣٣٦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٥١٥٬١١٣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٢١٤٬٧٠٩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٧٢٩٬٨٢٢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٢٤٫٦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+٦٬٩٤١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٢٨٩٬٨٤٣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٥٥٬٨٣٢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٣٤٥٬٦٧٤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٠٫٣٩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+٨٬٧٣٠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٣٦٤٬٥٢٥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١٤١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١٦٤٬٤٢٦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٥٢٨٬٩٥١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٢٣٫٢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٠٫٦٥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+١٢٤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٥٬١٦٢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٩٬٤٤٣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١٤٬٦٠٥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+٥٨٬٨٣٩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٢٬٤٥٦٬٨٧١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٧٦٧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٩١٤٬٦١٠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٣٬٣٧١٬٤٨١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تصنيف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٢٫٨٠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التعاقد وسلة التعبئة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٣٫٩٦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٢٫٨١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فصل الطلبين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للسكّان وآخر للعابرين · لا رسالة واحدة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٢٫٩٧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٢٫٦٦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٤٠٫٧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؜-٩٫٨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+٧٬١٢٠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٣١٤٬٤٠٥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٢٣٫٧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؜-٨٫٣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+٥٬٥٥٤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٢٤٠٬١١٨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٢٢٫٢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؜-٣٫٢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+٤٬٠٦٨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١٧٥٬٠٣٨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٢٩٫٠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؜-٤٫٨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+٣٬٨٢٦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١٧٣٬٧٦٦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٤٦٫٨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؜-١٫٣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+٣٬٠٨٨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١٧٠٬٥٤١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+٢٬٩٤٤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١٥٢٬٤٥٦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٢٩٫٣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٩٫٥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١٣٠٬٥٦٢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ديزل مرتفع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الأجاويد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٢٠٫٠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؜-٥٫٠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+٢٬٧٨٠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١٣٠٬٣٣١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٢٠٫٨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؜-١٫٥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+٢٬٨٥٧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١٢٣٬٨٦٤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٢٧٫٩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١١٦٬٠٠٦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ديزل مرتفع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 المسار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MK018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؜-٣٫٢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+٢٬٣٢٧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١٠٩٬٨٩٤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٢٨٫٠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؜-٣٫٥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+٢٬٤١٧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١٠٩٬٥٥٣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٥٨٪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 · مقيس من ٣٧٢ عاملاً في ٤٠ 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 · الوردية ٠٠:٠٠–١١:٥٩ و١٢:٠٠–٢٣:٥٩ بتعريف التقرير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الصباحية ٠٠:٠٠–١١:٥٩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١٬٧٠٣ معاملة ÷ ١١٫٣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١٥١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المسائية ١٢:٠٠–٢٣:٥٩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٢٬٥٥٨ معاملة ÷ ١٤٫٧ عاملاً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١٧٤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— المساء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٦٠٪ · عمل ٥٧٪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 +١٥٪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اختلال الطاقم على ٤٠ محطة — الطلب مقابل عرض العمل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191071" y="3255264"/>
            <a:ext cx="14035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489311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86293" y="3255264"/>
            <a:ext cx="12030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584532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الطاقم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82017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79251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الطلب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76485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العمل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221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71958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569443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اختلال العبء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يُنقل للمساء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6928" y="3621024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91071" y="3621024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الطائف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489311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286293" y="3621024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584532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2017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١٬٦٥٤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79251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٦٤٪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376485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٥٥٪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474221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571958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١١٣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1569443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+٤٥٪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66928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+١٫٥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66928" y="3922776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91071" y="3922776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9489311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286293" y="3922776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584532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582017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٢٧٤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79251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٦٩٪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4376485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474221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2571958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569443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+٩٤٪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66928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66928" y="422452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91071" y="4224528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9489311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286293" y="4224528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7584532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582017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١٬٨٣٥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479251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376485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3474221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2571958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1569443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+٦٤٪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52628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91071" y="4526280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489311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8286293" y="4526280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7584532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6582017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١٬٩٩٧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479251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٥٩٪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4376485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3474221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2571958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١٩٦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1569443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+٤٤٪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566928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66928" y="482803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191071" y="4828032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الملك خالد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9489311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MK093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8286293" y="4828032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7584532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6582017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٦٨٥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5479251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٦٦٪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4376485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3474221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2571958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1569443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+٨٥٪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66928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+١٫٠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566928" y="5175504"/>
            <a:ext cx="11027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٣٧٢ عاملاً في ٤٠ محطة · المساء ٦٠٫٨٪ من المعاملات و٦١٫٢٪ من الإيراد · ١٧٫١ عاملاً يُنقلون من الصباح للمساء بلا توظيف · و١٥ محطة بلا عمود عامل في تصديرها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8" name="Text 106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14" name="Text 112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16" name="Text 114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20" name="Text 118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22" name="Text 120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يستهدفه كل منفذ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 من مزيج الوقود وسلة التعبئة وساعة الذروة · ٥٢ منفذاً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الملف المقيس لكل تصنيف — ومن يخدمه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602102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830166" y="1481328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47953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65740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73250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80760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98547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الذروة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16334" y="1481328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6928" y="1481328"/>
            <a:ext cx="374940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يخدمه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1847088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02102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830166" y="1847088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٢٨٤٫٩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65740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3250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80760" y="184708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١٬٠٦٣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98547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16334" y="1847088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1847088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 · تردد عالٍ وسلة صغيرة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2176272"/>
            <a:ext cx="11027664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02102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830166" y="2176272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47953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١١٦٫١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65740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٤٥٪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073250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٣٤٫٤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17627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98547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16334" y="2176272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2176272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ومسافرون · تعبئة كاملة وسلة كبيرة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2505456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602102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830166" y="2505456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947953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٨٨٫٠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065740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١٣٪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073250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٢٤٫٠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080760" y="250545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١٬٠٩٢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98547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١٩:٠٠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316334" y="2505456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2505456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وعابرون — طلبان في موقع واحد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2834640"/>
            <a:ext cx="11027664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2102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830166" y="2834640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٥١٫٤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065740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073250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٢٤٫٧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80760" y="283464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٥٧٤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198547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316334" y="2834640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٥٣٪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66928" y="2834640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الحي · النمو بالتردد لا بالسلة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66928" y="3163824"/>
            <a:ext cx="11027664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602102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830166" y="3163824"/>
            <a:ext cx="77193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947953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65740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١٨٪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073250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080760" y="316382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198547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316334" y="3163824"/>
            <a:ext cx="88221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66928" y="3163824"/>
            <a:ext cx="374940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محدود · الأولوية ضبط التكلفة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66928" y="3456432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وأعلى المنافذ فرصةً — ولكلٍّ استهدافه وفعله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566928" y="3749040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71" name="Text 69"/>
          <p:cNvSpPr/>
          <p:nvPr/>
        </p:nvSpPr>
        <p:spPr>
          <a:xfrm>
            <a:off x="9906684" y="3749040"/>
            <a:ext cx="168790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المنفذ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9118994" y="3749040"/>
            <a:ext cx="7876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106249" y="3749040"/>
            <a:ext cx="101274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055271" y="3749040"/>
            <a:ext cx="405097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يستهدفه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3155053" y="3749040"/>
            <a:ext cx="9002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الذروة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1917254" y="3749040"/>
            <a:ext cx="123779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≤٥كم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66928" y="3749040"/>
            <a:ext cx="1350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ر/سنة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566928" y="411480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06684" y="411480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9118994" y="411480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8106249" y="411480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055271" y="411480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 · حسابات أسطول رقمية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3155053" y="411480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١٩:٠٠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1917254" y="411480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66928" y="411480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٣١٤٬٤٠٥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566928" y="4389120"/>
            <a:ext cx="11027664" cy="27432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906684" y="438912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9118994" y="438912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8106249" y="438912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4055271" y="438912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سكّان وعابرون · طلب مسائي غالب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3155053" y="438912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1917254" y="438912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566928" y="438912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٢٤٠٬١١٨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566928" y="466344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906684" y="466344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118994" y="466344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8106249" y="466344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4055271" y="466344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3155053" y="466344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1917254" y="466344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566928" y="466344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١٧٥٬٠٣٨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566928" y="4937760"/>
            <a:ext cx="11027664" cy="27432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06684" y="493776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118994" y="493776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106249" y="493776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4055271" y="493776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3155053" y="493776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٢١:٠٠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1917254" y="493776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566928" y="493776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١٧٣٬٧٦٦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66928" y="5212080"/>
            <a:ext cx="11027664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906684" y="5212080"/>
            <a:ext cx="1687908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9118994" y="5212080"/>
            <a:ext cx="787690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8106249" y="5212080"/>
            <a:ext cx="1012745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4055271" y="5212080"/>
            <a:ext cx="405097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 · حسابات أسطول رقمية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155053" y="5212080"/>
            <a:ext cx="900217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١٧:٠٠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1917254" y="5212080"/>
            <a:ext cx="1237799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يُمسح</a:t>
            </a:r>
            <a:endParaRPr lang="en-US" sz="1050" dirty="0"/>
          </a:p>
        </p:txBody>
      </p:sp>
      <p:sp>
        <p:nvSpPr>
          <p:cNvPr id="117" name="Text 115"/>
          <p:cNvSpPr/>
          <p:nvPr/>
        </p:nvSpPr>
        <p:spPr>
          <a:xfrm>
            <a:off x="566928" y="5212080"/>
            <a:ext cx="1350326" cy="27432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١٧٠٬٥٤١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6190488" y="5504688"/>
            <a:ext cx="5404104" cy="749808"/>
          </a:xfrm>
          <a:prstGeom prst="roundRect">
            <a:avLst>
              <a:gd name="adj" fmla="val 609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36792" y="5596128"/>
            <a:ext cx="51114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التنافسي ٥ منافذ من ٥٢ · الطريقة معروفة ومكرَّرة، والباقي يحتاج تشغيلها لا ابتكارها.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566928" y="5504688"/>
            <a:ext cx="5404104" cy="749808"/>
          </a:xfrm>
          <a:prstGeom prst="roundRect">
            <a:avLst>
              <a:gd name="adj" fmla="val 6098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13232" y="5596128"/>
            <a:ext cx="51114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منفذاً تصنيفُه في السجلّ يخالف سلوكه المقيس — أشدّها العوالي MK003 مصنّفة «خط سفر» وديزلها صفر. يُراجَع التصنيف لا يُلغى.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المساهمة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 لكل لتر — أساس حدّي لا صافٍ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حيوية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٢٫٨٠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٥٫٦١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٨٫٤١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 سفر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٣٫٩٦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٧٫٩١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١١٫٨٧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حي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٢٫٨١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٥٫٦٢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٨٫٤٣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مختلط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٥٫٩٤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٨٫٩٢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نائية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٢٫٦٦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٥٫٣٢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٧٫٩٨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أول ديسمبر ٢٠٢٦ في محطات مكة · محفظة وبرنامج ولاء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في مكة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الإطلاق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٢٥٦٫٥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 من حجم الشبكة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٢٧٬٣٧٠ يومياً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 صافي المعاملة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ما يحتمله الولاء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الأداتان — اقتصادهما متعاكس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9048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3108960"/>
            <a:ext cx="5404104" cy="45720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021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تكسب لنا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7435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021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٢٤٦ إلى ٦١٥ ألف ريال لو تحوّل ٢٠٪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7435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عائم نقدي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021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رصيد مدفوع مقدماً — وتكلفة تحوّل للمنافس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7435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هوية ١٠٠٪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معاملة محفظة معروفة الصاحب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108960"/>
            <a:ext cx="5404104" cy="4572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395935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برنامج الولاء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يكلّفنا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05079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٠٫٥٪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665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٠٫٢٨ ر = ١٥٪ من صافي المعاملة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05079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١٪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665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٠٫٥٦ ر = ٣٠٪ من الصافي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5079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٢٪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665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١٫١٢ ر = ٦١٪ من الصافي — مرفوض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519379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523951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مبدأ التصميم: الاسترداد يُموَّل من وفر رسوم البطاقة لا من هامش الوقود — عند ٠٫٥٪ يكاد يغطّي نفسه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تحتاج تأكيد المالية — هي التي تحدد سقف الاسترداد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أربع قواعد قبل الإطلاق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تُثبَّت الآن، لا بعد ديسمبر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81344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27664" y="13898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11027664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كافئ التردد لا الإنفاق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0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الاسترداد على الفاتورة يدفع ثمن حجم كان سيأتي بلا مكافأة. المكافأة على الزيارة السادسة في الشهر تدفع ثمن الزيارة الإضافية وحدها.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سقفها ١٫٨٤ ريال — صافي المعاملة في مكة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2E8B6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1389888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7" name="Text 15"/>
          <p:cNvSpPr/>
          <p:nvPr/>
        </p:nvSpPr>
        <p:spPr>
          <a:xfrm>
            <a:off x="5413248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 تموّل الولاء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 ٢٤٦ إلى ٦١٥ ألف ريال عند تحوّل ٢٠٪. الاسترداد ٠٫٥٪ على الحجم المتحوّل يكلّف ٣٠٧ ألفاً — فيغطّي نفسه تقريباً.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الشرط: رسوم البطاقة ٠٫٥٪ فأعلى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3E6E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27664" y="3675888"/>
            <a:ext cx="402336" cy="402336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11027664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09360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 أولاً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عميل. كل معاملة محفظة تُغلق هذه الفجوة عند مصدرها — وهذا أثمن ما في التطبيق.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الأول: نسبة المعاملات المعرَّفة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555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675888"/>
            <a:ext cx="402336" cy="402336"/>
          </a:xfrm>
          <a:prstGeom prst="ellipse">
            <a:avLst/>
          </a:prstGeom>
          <a:solidFill>
            <a:srgbClr val="55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5413248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4944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اربطه بالحملات لا بجانبه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بلا التطبيق تُوزَّع على من كان سيتجاوز العتبة أصلاً. مع التطبيق تُستهدف لمن تعبئته دون معدّله هو.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94944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ومكافأة المستأجر تُوصَّل بكلفة صفر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قاعدة إطلاق لا تجربة: ٢١ محطة و٤٧٪ من حجم الشبكة — فما يُثبَّت هنا يُعمَّم لا يُراجَع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مساهمة التعبئة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الأساس الحدّي لا الصافي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لتر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 ريالاً إضافية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وتأكل ٢٤٪ من مساهمة تعبئته.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٩٧٬٠٤١ شهرياً = صافي ٧١٤ ألف ريال سنوياً. ودون ٠٫٦٢ ريال للوجه تصير الهدية كلفة صافية.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2696" y="1243584"/>
            <a:ext cx="2095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79971" y="1243584"/>
            <a:ext cx="50727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47953" y="160934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2696" y="160934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79971" y="160934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1984248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47953" y="198424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2696" y="198424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79971" y="198424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198424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359152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47953" y="235915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2696" y="235915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779971" y="235915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35915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2734056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47953" y="273405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2696" y="273405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779971" y="273405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73405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3108960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7953" y="310896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 المحطة فوق ٧٠٪ · الوسيط ٤٠٪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852696" y="310896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فحص نقاط البيع أولاً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779971" y="310896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اختبار قارئ البطاقة · مطابقة تسليم النقد · المحفظة تُطلق هنا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10896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83864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7953" y="348386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52696" y="348386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779971" y="348386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48386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58768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47953" y="385876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المسائية يفوق الصباحية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852696" y="385876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نقل طاقم لا توظيف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779971" y="385876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جدولة المناوبات · مستهدف وردية لا محطة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385876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عمالة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4233672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423367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852696" y="423367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779971" y="423367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23367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4608576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47953" y="460857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852696" y="460857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779971" y="460857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60857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983480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947953" y="498348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852696" y="498348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779971" y="498348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66928" y="498348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66928" y="546811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64" name="Text 62"/>
          <p:cNvSpPr/>
          <p:nvPr/>
        </p:nvSpPr>
        <p:spPr>
          <a:xfrm>
            <a:off x="749808" y="551383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خمس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تطبيقات الأسطول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٣٫٠٪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6168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159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1596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المناوبات الفعلي — الورديتان مقيستان، والجدول المعتمد ليس عندنا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0916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6634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تقنية المعلومات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66344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عمود العامل في تصدير ١٥ محطة · وإلغاء الحسابات غير الشخصية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05663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0109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01091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40410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3583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35838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— تقرر إن كانت المحفظة تموّل الولاء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7515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7058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7058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11558016" y="60990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2952" y="60533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566928" y="60533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بمسارين · إقفال ثغرة البيانات قبل الإنفاق · تسعير المنتجات الثلاثة غير المسعَّرة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٣٬٣٧١٬٤٨١ ريال سنوياً — ٧٦٧ معاملة و٥٨٬٨٣٩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2026-09-21T10:01:57Z</dcterms:created>
  <dcterms:modified xsi:type="dcterms:W3CDTF">2026-09-21T10:01:57Z</dcterms:modified>
</cp:coreProperties>
</file>