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556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9582912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582912" y="9144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DARB FUEL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27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spc="300" kern="0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الإدارة التجارية · أغسطس ٢٠٢٦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2971800"/>
            <a:ext cx="1102766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تحليل المنافذ وخطة المبيعات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66928" y="3977640"/>
            <a:ext cx="110276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D6D2C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 محطة · ٥٥١ MLPA · خمس شرائح · مستهدف لكل محطة ووردية · باقات تأجير وحملات تُطلقها حالة مرصودة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85632" y="4937760"/>
            <a:ext cx="3108960" cy="3200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5120640"/>
            <a:ext cx="11027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كاش إن وناتج ١٠٫٩٦ مليون معاملة · أوامر التحميل · قائمة الدخل يوليو ٢٠٢٦ · سجل الوحدات · مسح المنافسين الميداني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الخلاصة التنفيذية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تقوله البيانات — وما نطلب إقراره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61872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٦٢٦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مبيعات ٧ أشهر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61872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٥٥١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١٠٫٦ للمحطة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61872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+١٧٫٥٪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 حقيقي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قاعدة ثابتة ٢٥ محطة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61872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٤٫١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الفرصة المؤكَّدة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292608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ثلاثة قرارات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566928" y="3291840"/>
            <a:ext cx="11027664" cy="713232"/>
          </a:xfrm>
          <a:prstGeom prst="roundRect">
            <a:avLst>
              <a:gd name="adj" fmla="val 5128"/>
            </a:avLst>
          </a:prstGeom>
          <a:solidFill>
            <a:srgbClr val="FBEEE0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544300" y="3291840"/>
            <a:ext cx="50292" cy="713232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1" name="Text 29"/>
          <p:cNvSpPr/>
          <p:nvPr/>
        </p:nvSpPr>
        <p:spPr>
          <a:xfrm>
            <a:off x="11027664" y="344728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2670048" y="3364992"/>
            <a:ext cx="83301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اعتماد المستهدف برافعتين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670048" y="3666744"/>
            <a:ext cx="8330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المعاملات ثم السلة — لا نطلب من العميل أن يعبّي أكثر مما يحتاج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76656" y="3474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٤٬٠٨٨ ألف ر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66928" y="4096512"/>
            <a:ext cx="11027664" cy="713232"/>
          </a:xfrm>
          <a:prstGeom prst="roundRect">
            <a:avLst>
              <a:gd name="adj" fmla="val 5128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1544300" y="4096512"/>
            <a:ext cx="50292" cy="713232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7" name="Text 35"/>
          <p:cNvSpPr/>
          <p:nvPr/>
        </p:nvSpPr>
        <p:spPr>
          <a:xfrm>
            <a:off x="11027664" y="425196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2670048" y="4169664"/>
            <a:ext cx="83301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إقفال ثغرة البيانات قبل الإنفاق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2670048" y="4471416"/>
            <a:ext cx="8330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 محطة لا تسجّل وسيلة الدفع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76656" y="427939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١٨٣ مليون ر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66928" y="4901184"/>
            <a:ext cx="11027664" cy="713232"/>
          </a:xfrm>
          <a:prstGeom prst="roundRect">
            <a:avLst>
              <a:gd name="adj" fmla="val 5128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1544300" y="4901184"/>
            <a:ext cx="50292" cy="713232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3" name="Text 41"/>
          <p:cNvSpPr/>
          <p:nvPr/>
        </p:nvSpPr>
        <p:spPr>
          <a:xfrm>
            <a:off x="11027664" y="505663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2670048" y="4974336"/>
            <a:ext cx="83301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مسح المنافسين في ثلاثة منتجات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2670048" y="5276088"/>
            <a:ext cx="8330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العقار والإكسسوارات والإعلان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76656" y="508406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من ٥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نقاط بيع فعلية من ١ يناير إلى ٣١ يوليو ٢٠٢٦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الأول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أين نقف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· الاتجاه · قيمة اللتر · من يشتري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بالأرقام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١ يناير إلى ٣١ يوليو ٢٠٢٦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506102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06102" y="1243584"/>
            <a:ext cx="2088490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579254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٦٢٦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597542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597542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شامل الضريبة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271309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71309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7344461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٥٥١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362749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62749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١٠٫٦ للمحطة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36515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36515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0" name="Text 18"/>
          <p:cNvSpPr/>
          <p:nvPr/>
        </p:nvSpPr>
        <p:spPr>
          <a:xfrm>
            <a:off x="5109667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١١٫٠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127955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معاملة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127955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٢٥٫٦ لتراً لكل واحدة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801722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01722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5" name="Text 23"/>
          <p:cNvSpPr/>
          <p:nvPr/>
        </p:nvSpPr>
        <p:spPr>
          <a:xfrm>
            <a:off x="2874874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٥٧٫٢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2893162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ريال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93162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66928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928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658368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8368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٨٣٪ تغطية زمنية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66928" y="283464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مزيج الوقود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127565" y="32004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٩١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66928" y="3493008"/>
            <a:ext cx="6396045" cy="182880"/>
          </a:xfrm>
          <a:prstGeom prst="rect">
            <a:avLst/>
          </a:prstGeom>
          <a:solidFill>
            <a:srgbClr val="F5F2ED"/>
          </a:solidFill>
          <a:ln/>
        </p:spPr>
      </p:sp>
      <p:sp>
        <p:nvSpPr>
          <p:cNvPr id="36" name="Shape 34"/>
          <p:cNvSpPr/>
          <p:nvPr/>
        </p:nvSpPr>
        <p:spPr>
          <a:xfrm>
            <a:off x="4161505" y="3493008"/>
            <a:ext cx="2801468" cy="1828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3200400"/>
            <a:ext cx="479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٤٣٫٨٪ من الإيراد · ٥٥٫٥٪ من المعاملات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127565" y="38770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٩٥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4169664"/>
            <a:ext cx="6396045" cy="182880"/>
          </a:xfrm>
          <a:prstGeom prst="rect">
            <a:avLst/>
          </a:prstGeom>
          <a:solidFill>
            <a:srgbClr val="F5F2ED"/>
          </a:solidFill>
          <a:ln/>
        </p:spPr>
      </p:sp>
      <p:sp>
        <p:nvSpPr>
          <p:cNvPr id="40" name="Shape 38"/>
          <p:cNvSpPr/>
          <p:nvPr/>
        </p:nvSpPr>
        <p:spPr>
          <a:xfrm>
            <a:off x="4570852" y="4169664"/>
            <a:ext cx="2392121" cy="18288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41" name="Text 39"/>
          <p:cNvSpPr/>
          <p:nvPr/>
        </p:nvSpPr>
        <p:spPr>
          <a:xfrm>
            <a:off x="566928" y="3877056"/>
            <a:ext cx="479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٣٧٫٤٪ من الإيراد · ٣٦٫٠٪ من المعاملات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7127565" y="455371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566928" y="4846320"/>
            <a:ext cx="6396045" cy="182880"/>
          </a:xfrm>
          <a:prstGeom prst="rect">
            <a:avLst/>
          </a:prstGeom>
          <a:solidFill>
            <a:srgbClr val="F5F2ED"/>
          </a:solidFill>
          <a:ln/>
        </p:spPr>
      </p:sp>
      <p:sp>
        <p:nvSpPr>
          <p:cNvPr id="44" name="Shape 42"/>
          <p:cNvSpPr/>
          <p:nvPr/>
        </p:nvSpPr>
        <p:spPr>
          <a:xfrm>
            <a:off x="5760517" y="4846320"/>
            <a:ext cx="1202456" cy="182880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45" name="Text 43"/>
          <p:cNvSpPr/>
          <p:nvPr/>
        </p:nvSpPr>
        <p:spPr>
          <a:xfrm>
            <a:off x="566928" y="4553712"/>
            <a:ext cx="479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١٨٫٨٪ من الإيراد · ٨٫٥٪ من المعاملات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845186" y="3163824"/>
            <a:ext cx="3749406" cy="2011680"/>
          </a:xfrm>
          <a:prstGeom prst="roundRect">
            <a:avLst>
              <a:gd name="adj" fmla="val 2273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991490" y="3273552"/>
            <a:ext cx="345679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الديزل عميل مختلف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0177272" y="370332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٨٫٥٪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7991490" y="3721608"/>
            <a:ext cx="21034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المعاملات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0177272" y="416052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١٨٫٨٪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7991490" y="4178808"/>
            <a:ext cx="21034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الإيراد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10177272" y="461772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١٢٦ ريالاً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7991490" y="4636008"/>
            <a:ext cx="21034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 — ٢٫٨ ضعف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محطات لتراتها ناقصة في المصدر فاستُبعدت من حسابات اللتر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الاتجاه الحقيقي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على قاعدة ثابتة من ٢٥ محطة بتغطية كاملة ٢١٢ يوماً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12924" y="3853252"/>
            <a:ext cx="605576" cy="828476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6475764" y="3578932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٦٣٣٬٢٩٦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75764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يناير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36188" y="3989425"/>
            <a:ext cx="605576" cy="692303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5499028" y="3715105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٦٢٤٬٥٣٦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99028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فبراير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59452" y="3522272"/>
            <a:ext cx="605576" cy="1159456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4522292" y="3247952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٦٥٤٬٥٨٨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22292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مارس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82716" y="3811266"/>
            <a:ext cx="605576" cy="870462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8" name="Text 16"/>
          <p:cNvSpPr/>
          <p:nvPr/>
        </p:nvSpPr>
        <p:spPr>
          <a:xfrm>
            <a:off x="3545556" y="3536946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٦٣٥٬٩٩٧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545556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أبريل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705980" y="2985464"/>
            <a:ext cx="605576" cy="1696264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21" name="Text 19"/>
          <p:cNvSpPr/>
          <p:nvPr/>
        </p:nvSpPr>
        <p:spPr>
          <a:xfrm>
            <a:off x="2568820" y="2711144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٦٨٩٬١٢١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568820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مايو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729244" y="2600217"/>
            <a:ext cx="605576" cy="2081511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24" name="Text 22"/>
          <p:cNvSpPr/>
          <p:nvPr/>
        </p:nvSpPr>
        <p:spPr>
          <a:xfrm>
            <a:off x="1592084" y="2325897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٧١٣٬٩٠٤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592084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يونيو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52508" y="2133267"/>
            <a:ext cx="605576" cy="2548461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27" name="Text 25"/>
          <p:cNvSpPr/>
          <p:nvPr/>
        </p:nvSpPr>
        <p:spPr>
          <a:xfrm>
            <a:off x="615348" y="1858947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٧٤٣٬٩٤٣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5348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يوليو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4681728"/>
            <a:ext cx="6837152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30" name="Text 28"/>
          <p:cNvSpPr/>
          <p:nvPr/>
        </p:nvSpPr>
        <p:spPr>
          <a:xfrm>
            <a:off x="566928" y="1261872"/>
            <a:ext cx="6837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لتراً يومياً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955463" y="1280160"/>
            <a:ext cx="3639129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955463" y="1280160"/>
            <a:ext cx="3639129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3" name="Text 31"/>
          <p:cNvSpPr/>
          <p:nvPr/>
        </p:nvSpPr>
        <p:spPr>
          <a:xfrm>
            <a:off x="8028615" y="1426464"/>
            <a:ext cx="34928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+١٧٫٥٪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8046903" y="2011680"/>
            <a:ext cx="345624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يناير ← يوليو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046903" y="2286000"/>
            <a:ext cx="34562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على نفس المحطات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955463" y="2852928"/>
            <a:ext cx="363912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ومحطتان تسيران عكسها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7955463" y="3200400"/>
            <a:ext cx="3639129" cy="603504"/>
          </a:xfrm>
          <a:prstGeom prst="roundRect">
            <a:avLst>
              <a:gd name="adj" fmla="val 6061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65191" y="3236976"/>
            <a:ext cx="263328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 MK002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0680192" y="323697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−٧٠٪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065191" y="3511296"/>
            <a:ext cx="341967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تغيير مسار ٧–٨ فبراير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955463" y="3877056"/>
            <a:ext cx="3639129" cy="603504"/>
          </a:xfrm>
          <a:prstGeom prst="roundRect">
            <a:avLst>
              <a:gd name="adj" fmla="val 6061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065191" y="3913632"/>
            <a:ext cx="263328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الشرايع MK019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680192" y="3913632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−٥٢٪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065191" y="4187952"/>
            <a:ext cx="341967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تغيير مسار ٤–٥ فبراير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955463" y="4626864"/>
            <a:ext cx="3639129" cy="731520"/>
          </a:xfrm>
          <a:prstGeom prst="roundRect">
            <a:avLst>
              <a:gd name="adj" fmla="val 5000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65191" y="4718304"/>
            <a:ext cx="34196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 هابطة · ٨ مستقرة · ٩ نامية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065191" y="5010912"/>
            <a:ext cx="34196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٢١ محطة بتغطية كاملة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 الخام مضلِّل — المحطات المغطّاة ارتفعت من ٣٩ إلى ٥٥ خلال الفترة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اللتر الواحد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سعر المضخة إلى الصافي — وما تحتمله الحملة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25296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271016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سعر المضخة  ←  ناقص الضريبة ١٥٪  ←  هامش المساهمة ١١٫٤٤ هللة  ←  ناقص التشغيل ٤٫٣٤  =  صافي ٧٫١٠ هللة لكل لتر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192024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تعبئة بخمسين ريالاً — العتبة المعتمدة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2212848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10322169" y="221284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المنتج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261817" y="221284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سعر المضخة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201465" y="221284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 الضريبة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035077" y="221284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 بـ٥٠ ريالاً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868690" y="221284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هامش المساهمة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08337" y="221284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خصم التشغيل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854020" y="221284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الصافي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793668" y="221284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839351" y="221284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بعد الهدية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66928" y="221284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الهدية من الصافي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66928" y="2578608"/>
            <a:ext cx="11027664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322169" y="257860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٩١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261817" y="257860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٢٫١٩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201465" y="257860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١٫٩١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35077" y="257860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٢٢٫٨٢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68690" y="257860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٢٫٦١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08337" y="257860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٠٫٩٩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854020" y="257860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١٫٦٢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793668" y="257860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٠٫٤٥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839351" y="257860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١٫١٧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66928" y="257860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٢٨٪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6928" y="2944368"/>
            <a:ext cx="11027664" cy="36576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322169" y="294436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٩٥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261817" y="294436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٢٫٣٤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201465" y="294436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٢٫٠٣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035077" y="294436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٢١٫٣٧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868690" y="294436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٢٫٤٤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808337" y="294436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٠٫٩٣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854020" y="294436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١٫٥٢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2793668" y="294436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٠٫٤٥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839351" y="294436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١٫٠٧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" y="294436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٣٠٪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66928" y="3310128"/>
            <a:ext cx="11027664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322169" y="331012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9261817" y="331012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١٫٨٠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201465" y="331012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١٫٥٦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7035077" y="331012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٢٧٫٨٤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868690" y="331012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٣٫١٨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808337" y="331012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١٫٢١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3854020" y="331012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١٫٩٨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2793668" y="331012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٠٫٤٥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1839351" y="331012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١٫٥٣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66928" y="331012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٢٣٪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6928" y="3675888"/>
            <a:ext cx="11027664" cy="365760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0322169" y="367588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المرجّح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9261817" y="367588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٢٫٢٠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8201465" y="367588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١٫٩١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7035077" y="367588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٢٢٫٧٢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868690" y="367588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٢٫٦٠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4808337" y="367588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٠٫٩٩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3854020" y="367588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١٫٦١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2793668" y="367588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٠٫٤٥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1839351" y="367588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١٫١٦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566928" y="367588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٢٨٪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8040624" y="4343400"/>
            <a:ext cx="3553968" cy="1188720"/>
          </a:xfrm>
          <a:prstGeom prst="roundRect">
            <a:avLst>
              <a:gd name="adj" fmla="val 3846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132064" y="4453128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 هللة</a:t>
            </a:r>
            <a:endParaRPr lang="en-US" sz="2100" dirty="0"/>
          </a:p>
        </p:txBody>
      </p:sp>
      <p:sp>
        <p:nvSpPr>
          <p:cNvPr id="68" name="Text 66"/>
          <p:cNvSpPr/>
          <p:nvPr/>
        </p:nvSpPr>
        <p:spPr>
          <a:xfrm>
            <a:off x="8132064" y="4864608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كلفة العلبة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8132064" y="514807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مؤكَّدة من الإدارة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4303776" y="4343400"/>
            <a:ext cx="3553968" cy="1188720"/>
          </a:xfrm>
          <a:prstGeom prst="roundRect">
            <a:avLst>
              <a:gd name="adj" fmla="val 3846"/>
            </a:avLst>
          </a:prstGeom>
          <a:solidFill>
            <a:srgbClr val="F7F4EF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395216" y="4453128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٦٫٣ لتر</a:t>
            </a:r>
            <a:endParaRPr lang="en-US" sz="2100" dirty="0"/>
          </a:p>
        </p:txBody>
      </p:sp>
      <p:sp>
        <p:nvSpPr>
          <p:cNvPr id="72" name="Text 70"/>
          <p:cNvSpPr/>
          <p:nvPr/>
        </p:nvSpPr>
        <p:spPr>
          <a:xfrm>
            <a:off x="4395216" y="4864608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تعادل الهدية</a:t>
            </a:r>
            <a:endParaRPr lang="en-US" sz="1200" dirty="0"/>
          </a:p>
        </p:txBody>
      </p:sp>
      <p:sp>
        <p:nvSpPr>
          <p:cNvPr id="73" name="Text 71"/>
          <p:cNvSpPr/>
          <p:nvPr/>
        </p:nvSpPr>
        <p:spPr>
          <a:xfrm>
            <a:off x="4395216" y="514807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١٣٫٩ ريالاً إنفاقاً إضافياً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566928" y="4343400"/>
            <a:ext cx="3553968" cy="1188720"/>
          </a:xfrm>
          <a:prstGeom prst="roundRect">
            <a:avLst>
              <a:gd name="adj" fmla="val 3846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8368" y="4453128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٥٧٫١٨ ريالاً</a:t>
            </a:r>
            <a:endParaRPr lang="en-US" sz="2100" dirty="0"/>
          </a:p>
        </p:txBody>
      </p:sp>
      <p:sp>
        <p:nvSpPr>
          <p:cNvPr id="76" name="Text 74"/>
          <p:cNvSpPr/>
          <p:nvPr/>
        </p:nvSpPr>
        <p:spPr>
          <a:xfrm>
            <a:off x="658368" y="4864608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 اليوم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658368" y="514807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فوق العتبة أصلاً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خصم التشغيل على أساس الشبكة كلها · لو كان على المشغّلة وحدها فهو ٩٫٢٤ هللة والصافي ٢٫٢٠ — سؤال معلَّق للمالية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يشتري منّا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أربعة عملاء داخل نفس المحطة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74836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74836" y="1243584"/>
            <a:ext cx="2619756" cy="493776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47988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أفراد ٩١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066276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٥٥٫٥٪ من المعاملات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066276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٤٥٫١ ريالاً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066276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9084564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الأكبر عدداً والأصغر سلة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72200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72200" y="1243584"/>
            <a:ext cx="2619756" cy="493776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17" name="Text 15"/>
          <p:cNvSpPr/>
          <p:nvPr/>
        </p:nvSpPr>
        <p:spPr>
          <a:xfrm>
            <a:off x="6245352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أفراد ٩٥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263640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٣٦٫٠٪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263640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٥٩٫٥ ريالاً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263640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281928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قدرة إنفاق أعلى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369564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69564" y="1243584"/>
            <a:ext cx="2619756" cy="493776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24" name="Text 22"/>
          <p:cNvSpPr/>
          <p:nvPr/>
        </p:nvSpPr>
        <p:spPr>
          <a:xfrm>
            <a:off x="3442716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أساطيل الديزل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461004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٨٫٥٪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461004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١٢٦٫٣ ريالاً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3461004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479292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١٩٪ من الإيراد — بالتعاقد لا بالحملة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66928" y="1243584"/>
            <a:ext cx="2619756" cy="493776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أساطيل رقمية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58368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٠٫٧٪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58368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١٤٩–١٧٢ ريالاً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658368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76656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فاتورة وأقل حصة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3931920"/>
            <a:ext cx="11027664" cy="1188720"/>
          </a:xfrm>
          <a:prstGeom prst="roundRect">
            <a:avLst>
              <a:gd name="adj" fmla="val 3846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9808" y="4041648"/>
            <a:ext cx="1066190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٣٦٪ من الإيراد بلا هوية عميل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749808" y="4389120"/>
            <a:ext cx="106619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٢٢٦ مليون ريال «وسيلة دفع غير محددة» · ١٨ محطة لا تسجّلها إطلاقاً بإيراد ١٨٣ مليوناً · التفعيل يسبق الإنفاق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محفظة كاش إن: ٣١٨ ريالاً و٨ عمليات في سبعة أشهر — قناة غير مفعّلة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الشركات — خطة التعاقد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محطة قائمة صيد · وعملتان للدفع: هللة أو خدمة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0700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25272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 مليون ريال ديزل يُشترى نقداً أو بالبطاقة — ٤٥٫٢ مليون لتر بلا تعاقد · هامشها ٥٬١٦٩٬٠٦٠ ريال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1883664"/>
            <a:ext cx="61754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قائمة الصيد — أعلى ١٠ محطات ديزلاً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2176272"/>
            <a:ext cx="6175492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5198547" y="2176272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45370" y="2176272"/>
            <a:ext cx="65317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654674" y="2176272"/>
            <a:ext cx="8906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 لتر/يوم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060877" y="2176272"/>
            <a:ext cx="59379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حصته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288940" y="2176272"/>
            <a:ext cx="77193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الدفع المؤسسي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576383" y="2176272"/>
            <a:ext cx="71255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وحدات خدمة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2176272"/>
            <a:ext cx="100945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العملة الممكنة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2542032"/>
            <a:ext cx="6175492" cy="3063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98547" y="2542032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الليث - الفضيل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45370" y="2542032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MK289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654674" y="2542032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٥٩٬٨٢٦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60877" y="2542032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٧٠٪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288940" y="2542032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٧٫٨٪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576383" y="2542032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يوجد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6928" y="2542032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فقط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" y="2848356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198547" y="2848356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العمرة الجديدة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45370" y="2848356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654674" y="2848356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٤٢٬٨٧٩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060877" y="2848356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288940" y="2848356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٥٫٣٪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576383" y="2848356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66928" y="2848356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6928" y="3154680"/>
            <a:ext cx="6175492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198547" y="3154680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عاصفة الصحراء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45370" y="3154680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MK004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654674" y="3154680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٣٤٬١١٤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060877" y="3154680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٤٠٪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288940" y="3154680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١٠٫٥٪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576383" y="3154680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66928" y="3154680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66928" y="3461004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98547" y="3461004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أبو وافي العمرة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545370" y="3461004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MK033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654674" y="3461004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٢٢٬١٢٩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3060877" y="3461004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٥١٪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2288940" y="3461004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٧٫٩٪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1576383" y="3461004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66928" y="3461004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66928" y="3767328"/>
            <a:ext cx="6175492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198547" y="3767328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 - طريق الجنو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4545370" y="3767328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654674" y="3767328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١٩٬٥٢٧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3060877" y="3767328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2288940" y="3767328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٦٫٠٪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1576383" y="3767328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66928" y="3767328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66928" y="4073652"/>
            <a:ext cx="6175492" cy="3063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198547" y="4073652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القادسية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4545370" y="4073652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MK047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654674" y="4073652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١٥٬٥١٣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3060877" y="4073652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2288940" y="4073652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٠٫٠٪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1576383" y="4073652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يوجد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566928" y="4073652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فقط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66928" y="4379976"/>
            <a:ext cx="6175492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98547" y="4379976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خليص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45370" y="4379976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MK014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3654674" y="4379976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١٤٬٩٩٤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3060877" y="4379976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٦٣٪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2288940" y="4379976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٢٨٫٥٪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1576383" y="4379976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566928" y="4379976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566928" y="4686300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5198547" y="4686300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السيل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4545370" y="4686300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MK054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3654674" y="4686300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١٣٬١٥٩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3060877" y="4686300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٤٤٪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2288940" y="4686300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١٠٫٨٪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1576383" y="4686300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566928" y="4686300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66928" y="4992624"/>
            <a:ext cx="6175492" cy="3063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198547" y="4992624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الفلاح - فلسطين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4545370" y="4992624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MK210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3654674" y="4992624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١٢٬٤٣٨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3060877" y="4992624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٣٨٪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2288940" y="4992624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٠٫٠٪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1576383" y="4992624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يوجد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566928" y="4992624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فقط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66928" y="5298948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198547" y="5298948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الجعرانة</a:t>
            </a:r>
            <a:endParaRPr lang="en-US" sz="1000" dirty="0"/>
          </a:p>
        </p:txBody>
      </p:sp>
      <p:sp>
        <p:nvSpPr>
          <p:cNvPr id="93" name="Text 91"/>
          <p:cNvSpPr/>
          <p:nvPr/>
        </p:nvSpPr>
        <p:spPr>
          <a:xfrm>
            <a:off x="4545370" y="5298948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MK064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3654674" y="5298948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٩٬٠٤٩</a:t>
            </a:r>
            <a:endParaRPr lang="en-US" sz="1000" dirty="0"/>
          </a:p>
        </p:txBody>
      </p:sp>
      <p:sp>
        <p:nvSpPr>
          <p:cNvPr id="95" name="Text 93"/>
          <p:cNvSpPr/>
          <p:nvPr/>
        </p:nvSpPr>
        <p:spPr>
          <a:xfrm>
            <a:off x="3060877" y="5298948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2288940" y="5298948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٩٫٣٪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1576383" y="5298948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98" name="Text 96"/>
          <p:cNvSpPr/>
          <p:nvPr/>
        </p:nvSpPr>
        <p:spPr>
          <a:xfrm>
            <a:off x="566928" y="5298948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99" name="Text 97"/>
          <p:cNvSpPr/>
          <p:nvPr/>
        </p:nvSpPr>
        <p:spPr>
          <a:xfrm>
            <a:off x="7073250" y="1883664"/>
            <a:ext cx="452134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بأي عملة ندفع</a:t>
            </a:r>
            <a:endParaRPr lang="en-US" sz="1350" dirty="0"/>
          </a:p>
        </p:txBody>
      </p:sp>
      <p:sp>
        <p:nvSpPr>
          <p:cNvPr id="100" name="Shape 98"/>
          <p:cNvSpPr/>
          <p:nvPr/>
        </p:nvSpPr>
        <p:spPr>
          <a:xfrm>
            <a:off x="7073250" y="2176272"/>
            <a:ext cx="4521342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1" name="Text 99"/>
          <p:cNvSpPr/>
          <p:nvPr/>
        </p:nvSpPr>
        <p:spPr>
          <a:xfrm>
            <a:off x="10057336" y="2176272"/>
            <a:ext cx="153725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الخصم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8429652" y="2176272"/>
            <a:ext cx="162768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يبقى من الصافي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7073250" y="2176272"/>
            <a:ext cx="135640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نتنازل عنه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7073250" y="2542032"/>
            <a:ext cx="4521342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0057336" y="2542032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 هللة</a:t>
            </a:r>
            <a:endParaRPr lang="en-US" sz="1050" dirty="0"/>
          </a:p>
        </p:txBody>
      </p:sp>
      <p:sp>
        <p:nvSpPr>
          <p:cNvPr id="106" name="Text 104"/>
          <p:cNvSpPr/>
          <p:nvPr/>
        </p:nvSpPr>
        <p:spPr>
          <a:xfrm>
            <a:off x="8429652" y="2542032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٦٫١٠ هللة</a:t>
            </a:r>
            <a:endParaRPr lang="en-US" sz="1050" dirty="0"/>
          </a:p>
        </p:txBody>
      </p:sp>
      <p:sp>
        <p:nvSpPr>
          <p:cNvPr id="107" name="Text 105"/>
          <p:cNvSpPr/>
          <p:nvPr/>
        </p:nvSpPr>
        <p:spPr>
          <a:xfrm>
            <a:off x="7073250" y="2542032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١٤٪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7073250" y="2852928"/>
            <a:ext cx="4521342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0057336" y="2852928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 هللة</a:t>
            </a:r>
            <a:endParaRPr lang="en-US" sz="1050" dirty="0"/>
          </a:p>
        </p:txBody>
      </p:sp>
      <p:sp>
        <p:nvSpPr>
          <p:cNvPr id="110" name="Text 108"/>
          <p:cNvSpPr/>
          <p:nvPr/>
        </p:nvSpPr>
        <p:spPr>
          <a:xfrm>
            <a:off x="8429652" y="2852928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٥٫١٠ هللة</a:t>
            </a:r>
            <a:endParaRPr lang="en-US" sz="1050" dirty="0"/>
          </a:p>
        </p:txBody>
      </p:sp>
      <p:sp>
        <p:nvSpPr>
          <p:cNvPr id="111" name="Text 109"/>
          <p:cNvSpPr/>
          <p:nvPr/>
        </p:nvSpPr>
        <p:spPr>
          <a:xfrm>
            <a:off x="7073250" y="2852928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٢٨٪</a:t>
            </a:r>
            <a:endParaRPr lang="en-US" sz="1050" dirty="0"/>
          </a:p>
        </p:txBody>
      </p:sp>
      <p:sp>
        <p:nvSpPr>
          <p:cNvPr id="112" name="Shape 110"/>
          <p:cNvSpPr/>
          <p:nvPr/>
        </p:nvSpPr>
        <p:spPr>
          <a:xfrm>
            <a:off x="7073250" y="3163824"/>
            <a:ext cx="4521342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10057336" y="3163824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هللة</a:t>
            </a:r>
            <a:endParaRPr lang="en-US" sz="1050" dirty="0"/>
          </a:p>
        </p:txBody>
      </p:sp>
      <p:sp>
        <p:nvSpPr>
          <p:cNvPr id="114" name="Text 112"/>
          <p:cNvSpPr/>
          <p:nvPr/>
        </p:nvSpPr>
        <p:spPr>
          <a:xfrm>
            <a:off x="8429652" y="3163824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٤٫١٠ هللة</a:t>
            </a:r>
            <a:endParaRPr lang="en-US" sz="1050" dirty="0"/>
          </a:p>
        </p:txBody>
      </p:sp>
      <p:sp>
        <p:nvSpPr>
          <p:cNvPr id="115" name="Text 113"/>
          <p:cNvSpPr/>
          <p:nvPr/>
        </p:nvSpPr>
        <p:spPr>
          <a:xfrm>
            <a:off x="7073250" y="3163824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٤٢٪</a:t>
            </a:r>
            <a:endParaRPr lang="en-US" sz="1050" dirty="0"/>
          </a:p>
        </p:txBody>
      </p:sp>
      <p:sp>
        <p:nvSpPr>
          <p:cNvPr id="116" name="Shape 114"/>
          <p:cNvSpPr/>
          <p:nvPr/>
        </p:nvSpPr>
        <p:spPr>
          <a:xfrm>
            <a:off x="7073250" y="3474720"/>
            <a:ext cx="4521342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0057336" y="3474720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 هللة</a:t>
            </a:r>
            <a:endParaRPr lang="en-US" sz="1050" dirty="0"/>
          </a:p>
        </p:txBody>
      </p:sp>
      <p:sp>
        <p:nvSpPr>
          <p:cNvPr id="118" name="Text 116"/>
          <p:cNvSpPr/>
          <p:nvPr/>
        </p:nvSpPr>
        <p:spPr>
          <a:xfrm>
            <a:off x="8429652" y="3474720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٢٫١٠ هللة</a:t>
            </a:r>
            <a:endParaRPr lang="en-US" sz="1050" dirty="0"/>
          </a:p>
        </p:txBody>
      </p:sp>
      <p:sp>
        <p:nvSpPr>
          <p:cNvPr id="119" name="Text 117"/>
          <p:cNvSpPr/>
          <p:nvPr/>
        </p:nvSpPr>
        <p:spPr>
          <a:xfrm>
            <a:off x="7073250" y="3474720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٧٠٪</a:t>
            </a:r>
            <a:endParaRPr lang="en-US" sz="1050" dirty="0"/>
          </a:p>
        </p:txBody>
      </p:sp>
      <p:sp>
        <p:nvSpPr>
          <p:cNvPr id="120" name="Text 118"/>
          <p:cNvSpPr/>
          <p:nvPr/>
        </p:nvSpPr>
        <p:spPr>
          <a:xfrm>
            <a:off x="7073250" y="3785616"/>
            <a:ext cx="452134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أسطول نموذجي: ٢٠ شاحنة · ١٦٬٠٠٠ لتر شهرياً · صافيه لنا ١٬١٣٦ ريالاً</a:t>
            </a:r>
            <a:endParaRPr lang="en-US" sz="1050" dirty="0"/>
          </a:p>
        </p:txBody>
      </p:sp>
      <p:sp>
        <p:nvSpPr>
          <p:cNvPr id="121" name="Shape 119"/>
          <p:cNvSpPr/>
          <p:nvPr/>
        </p:nvSpPr>
        <p:spPr>
          <a:xfrm>
            <a:off x="9416217" y="4078224"/>
            <a:ext cx="2178375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9489369" y="4142232"/>
            <a:ext cx="2032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خصم ٢ هللة</a:t>
            </a:r>
            <a:endParaRPr lang="en-US" sz="1300" dirty="0"/>
          </a:p>
        </p:txBody>
      </p:sp>
      <p:sp>
        <p:nvSpPr>
          <p:cNvPr id="123" name="Text 121"/>
          <p:cNvSpPr/>
          <p:nvPr/>
        </p:nvSpPr>
        <p:spPr>
          <a:xfrm>
            <a:off x="9489369" y="4443984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كلفتها علينا</a:t>
            </a:r>
            <a:endParaRPr lang="en-US" sz="900" dirty="0"/>
          </a:p>
        </p:txBody>
      </p:sp>
      <p:sp>
        <p:nvSpPr>
          <p:cNvPr id="124" name="Text 122"/>
          <p:cNvSpPr/>
          <p:nvPr/>
        </p:nvSpPr>
        <p:spPr>
          <a:xfrm>
            <a:off x="9489369" y="4581144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٣٢٠ ر</a:t>
            </a:r>
            <a:endParaRPr lang="en-US" sz="1200" dirty="0"/>
          </a:p>
        </p:txBody>
      </p:sp>
      <p:sp>
        <p:nvSpPr>
          <p:cNvPr id="125" name="Text 123"/>
          <p:cNvSpPr/>
          <p:nvPr/>
        </p:nvSpPr>
        <p:spPr>
          <a:xfrm>
            <a:off x="9489369" y="4773168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قيمتها للعميل</a:t>
            </a:r>
            <a:endParaRPr lang="en-US" sz="900" dirty="0"/>
          </a:p>
        </p:txBody>
      </p:sp>
      <p:sp>
        <p:nvSpPr>
          <p:cNvPr id="126" name="Text 124"/>
          <p:cNvSpPr/>
          <p:nvPr/>
        </p:nvSpPr>
        <p:spPr>
          <a:xfrm>
            <a:off x="9489369" y="4910328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٣٢٠ ر</a:t>
            </a:r>
            <a:endParaRPr lang="en-US" sz="1200" dirty="0"/>
          </a:p>
        </p:txBody>
      </p:sp>
      <p:sp>
        <p:nvSpPr>
          <p:cNvPr id="127" name="Text 125"/>
          <p:cNvSpPr/>
          <p:nvPr/>
        </p:nvSpPr>
        <p:spPr>
          <a:xfrm>
            <a:off x="9489369" y="5102352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ريال ننفقه</a:t>
            </a:r>
            <a:endParaRPr lang="en-US" sz="900" dirty="0"/>
          </a:p>
        </p:txBody>
      </p:sp>
      <p:sp>
        <p:nvSpPr>
          <p:cNvPr id="128" name="Text 126"/>
          <p:cNvSpPr/>
          <p:nvPr/>
        </p:nvSpPr>
        <p:spPr>
          <a:xfrm>
            <a:off x="9489369" y="5239512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١٫٠٠ ر قيمة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7073250" y="4078224"/>
            <a:ext cx="2178375" cy="1389888"/>
          </a:xfrm>
          <a:prstGeom prst="roundRect">
            <a:avLst>
              <a:gd name="adj" fmla="val 3289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7146402" y="4142232"/>
            <a:ext cx="2032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 غسلة</a:t>
            </a:r>
            <a:endParaRPr lang="en-US" sz="1300" dirty="0"/>
          </a:p>
        </p:txBody>
      </p:sp>
      <p:sp>
        <p:nvSpPr>
          <p:cNvPr id="131" name="Text 129"/>
          <p:cNvSpPr/>
          <p:nvPr/>
        </p:nvSpPr>
        <p:spPr>
          <a:xfrm>
            <a:off x="7146402" y="4443984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كلفتها علينا</a:t>
            </a:r>
            <a:endParaRPr lang="en-US" sz="900" dirty="0"/>
          </a:p>
        </p:txBody>
      </p:sp>
      <p:sp>
        <p:nvSpPr>
          <p:cNvPr id="132" name="Text 130"/>
          <p:cNvSpPr/>
          <p:nvPr/>
        </p:nvSpPr>
        <p:spPr>
          <a:xfrm>
            <a:off x="7146402" y="4581144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٣٠٠ ر</a:t>
            </a:r>
            <a:endParaRPr lang="en-US" sz="1200" dirty="0"/>
          </a:p>
        </p:txBody>
      </p:sp>
      <p:sp>
        <p:nvSpPr>
          <p:cNvPr id="133" name="Text 131"/>
          <p:cNvSpPr/>
          <p:nvPr/>
        </p:nvSpPr>
        <p:spPr>
          <a:xfrm>
            <a:off x="7146402" y="4773168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قيمتها للعميل</a:t>
            </a:r>
            <a:endParaRPr lang="en-US" sz="900" dirty="0"/>
          </a:p>
        </p:txBody>
      </p:sp>
      <p:sp>
        <p:nvSpPr>
          <p:cNvPr id="134" name="Text 132"/>
          <p:cNvSpPr/>
          <p:nvPr/>
        </p:nvSpPr>
        <p:spPr>
          <a:xfrm>
            <a:off x="7146402" y="4910328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٥٦٠ ر</a:t>
            </a:r>
            <a:endParaRPr lang="en-US" sz="1200" dirty="0"/>
          </a:p>
        </p:txBody>
      </p:sp>
      <p:sp>
        <p:nvSpPr>
          <p:cNvPr id="135" name="Text 133"/>
          <p:cNvSpPr/>
          <p:nvPr/>
        </p:nvSpPr>
        <p:spPr>
          <a:xfrm>
            <a:off x="7146402" y="5102352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ريال ننفقه</a:t>
            </a:r>
            <a:endParaRPr lang="en-US" sz="900" dirty="0"/>
          </a:p>
        </p:txBody>
      </p:sp>
      <p:sp>
        <p:nvSpPr>
          <p:cNvPr id="136" name="Text 134"/>
          <p:cNvSpPr/>
          <p:nvPr/>
        </p:nvSpPr>
        <p:spPr>
          <a:xfrm>
            <a:off x="7146402" y="5239512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١٫٨٧ ر قيمة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566928" y="557784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F5831F"/>
          </a:solidFill>
          <a:ln/>
        </p:spPr>
      </p:sp>
      <p:sp>
        <p:nvSpPr>
          <p:cNvPr id="138" name="Text 136"/>
          <p:cNvSpPr/>
          <p:nvPr/>
        </p:nvSpPr>
        <p:spPr>
          <a:xfrm>
            <a:off x="749808" y="562356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الخدمة تعطي ١٫٨٧ ريال قيمة لكل ريال ننفقه — وتملأ وحدات الخدمة الشاغرة · لكن ٣ من أعلى ١٠ محطات ديزلاً بلا وحدة خدمة أصلاً</a:t>
            </a:r>
            <a:endParaRPr lang="en-US" sz="1250" dirty="0"/>
          </a:p>
        </p:txBody>
      </p:sp>
      <p:sp>
        <p:nvSpPr>
          <p:cNvPr id="139" name="Text 137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غسلة بكلفة ١٥ ريالاً تعادل ٢١١ لتراً من الصافي — فالسقف غسلة لكل ألف لتر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الثاني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المنافسون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خمسة منتجات — ولكلٍّ مسيطر مختلف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المنافسون حسب المنتج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يسيطر على كل منتج — وأين لا نعرف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940442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المنتج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65740" y="1243584"/>
            <a:ext cx="187470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حجمنا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21867" y="1243584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موقعنا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88270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المسيطر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110801" y="1243584"/>
            <a:ext cx="297746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نعرفه عنه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66928" y="1243584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حالة المسح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1609344"/>
            <a:ext cx="11027664" cy="51206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940442" y="1609344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أفراد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065740" y="1609344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٥٠٨٫٨ مليون ريال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21867" y="1609344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٨١٪ من مبيعاتنا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88270" y="1609344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الدريس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110801" y="1609344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 من ٤٠ موقعاً مرصوداً · ١٨٫٩٥٪ وطنياً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6928" y="1609344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ميداني — مكتمل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2121408"/>
            <a:ext cx="11027664" cy="51206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940442" y="2121408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شركات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65740" y="2121408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١١٧٫٥ مليون ريال ديزل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21867" y="2121408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الدفع المؤسسي ٩٫١٪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088270" y="2121408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منصات الأساطيل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110801" y="2121408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سيارة ٧٫٧٥م · بترو ٤٫٢١م · جهاز خارجي ٢٤٫٤م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2121408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جزئي — بلا حصص سوق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2633472"/>
            <a:ext cx="11027664" cy="51206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40442" y="2633472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عقارات وتأجير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065740" y="2633472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٦٤١ وحدة مؤجَّرة من ١٬٧٣٣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21867" y="2633472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بلا قيمة إيجارية في السجل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088270" y="2633472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غير معروف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110801" y="2633472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مسح منافسين ولا جدول إيجارات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66928" y="2633472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مفقود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3145536"/>
            <a:ext cx="11027664" cy="51206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940442" y="3145536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إكسسوارات سيارات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065740" y="3145536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تبدأ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521867" y="3145536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صفر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088270" y="3145536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غير معروف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2110801" y="3145536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مسح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66928" y="3145536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مفقود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66928" y="3657600"/>
            <a:ext cx="11027664" cy="51206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940442" y="3657600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مساحات إعلانية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065740" y="3657600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تبدأ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521867" y="3657600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صفر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088270" y="3657600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غير معروف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2110801" y="3657600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مسح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66928" y="3657600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مفقود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8040624" y="4315968"/>
            <a:ext cx="3553968" cy="1207008"/>
          </a:xfrm>
          <a:prstGeom prst="roundRect">
            <a:avLst>
              <a:gd name="adj" fmla="val 3788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132064" y="4425696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 من ٥</a:t>
            </a:r>
            <a:endParaRPr lang="en-US" sz="2200" dirty="0"/>
          </a:p>
        </p:txBody>
      </p:sp>
      <p:sp>
        <p:nvSpPr>
          <p:cNvPr id="52" name="Text 50"/>
          <p:cNvSpPr/>
          <p:nvPr/>
        </p:nvSpPr>
        <p:spPr>
          <a:xfrm>
            <a:off x="8132064" y="4846320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منتجات تعمل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8132064" y="5138928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الوقود بشقّيه — والباقي لم يبدأ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303776" y="4315968"/>
            <a:ext cx="3553968" cy="1207008"/>
          </a:xfrm>
          <a:prstGeom prst="roundRect">
            <a:avLst>
              <a:gd name="adj" fmla="val 3788"/>
            </a:avLst>
          </a:prstGeom>
          <a:solidFill>
            <a:srgbClr val="F7F4EF"/>
          </a:solidFill>
          <a:ln w="15240">
            <a:solidFill>
              <a:srgbClr val="F7A94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95216" y="4425696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 من ٥</a:t>
            </a:r>
            <a:endParaRPr lang="en-US" sz="2200" dirty="0"/>
          </a:p>
        </p:txBody>
      </p:sp>
      <p:sp>
        <p:nvSpPr>
          <p:cNvPr id="56" name="Text 54"/>
          <p:cNvSpPr/>
          <p:nvPr/>
        </p:nvSpPr>
        <p:spPr>
          <a:xfrm>
            <a:off x="4395216" y="4846320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مسح منافسين مكتمل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4395216" y="5138928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الأفراد على خمسة مواقع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566928" y="4315968"/>
            <a:ext cx="3553968" cy="1207008"/>
          </a:xfrm>
          <a:prstGeom prst="roundRect">
            <a:avLst>
              <a:gd name="adj" fmla="val 3788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8368" y="4425696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من ٥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658368" y="4846320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بلا معرفة تنافسية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658368" y="5138928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العقار والإكسسوارات والإعلان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تُذكر أسماء منافسين في المنتجات الثلاثة لأننا لا نملك مسحاً — والفراغ مقصود لا سهو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الأفراد — الموقف الميداني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خمسة مواقع · ٤٠ منافساً مرصوداً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609612" y="1243584"/>
            <a:ext cx="198498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727399" y="1243584"/>
            <a:ext cx="88221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624633" y="1243584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تقييمنا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191037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المنافس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757440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منافسون داخل ٥ كم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544397" y="1243584"/>
            <a:ext cx="121304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أقرب منافس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890248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هو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66928" y="1243584"/>
            <a:ext cx="132332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الكثافة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1609344"/>
            <a:ext cx="11027664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9612" y="1609344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الشرائع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727399" y="1609344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MK019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624633" y="1609344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91037" y="1609344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٣٫٦★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57440" y="1609344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544397" y="1609344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٤٨٨ م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890248" y="1609344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Aldrees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6928" y="1609344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مرتفعة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1993392"/>
            <a:ext cx="11027664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9612" y="1993392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الشوقية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727399" y="1993392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MK017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624633" y="1993392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191037" y="1993392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٤٫١★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57440" y="1993392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544397" y="1993392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٢٬٤٥٠ م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890248" y="1993392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نوفل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66928" y="1993392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متوسطة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66928" y="2377440"/>
            <a:ext cx="11027664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609612" y="2377440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الفردوس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727399" y="2377440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MK023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624633" y="2377440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91037" y="2377440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٣٫٦★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757440" y="2377440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544397" y="2377440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٤١١ م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890248" y="2377440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Aldrees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" y="2377440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مرتفعة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66928" y="2761488"/>
            <a:ext cx="11027664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609612" y="2761488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النورية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727399" y="2761488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624633" y="2761488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٤٫٨★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6191037" y="2761488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٤٫٠★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757440" y="2761488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3544397" y="2761488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٢٬١٩٤ م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890248" y="2761488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المملكة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66928" y="2761488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منخفضة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66928" y="3145536"/>
            <a:ext cx="11027664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609612" y="3145536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727399" y="3145536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MK002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7624633" y="3145536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٤٫٨★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6191037" y="3145536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٣٫٧★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757440" y="3145536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3544397" y="3145536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١٨١ م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1890248" y="3145536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المعيصم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566928" y="3145536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مرتفعة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8040624" y="356616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168640" y="3675888"/>
            <a:ext cx="3297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نتفوّق في كل موقع</a:t>
            </a:r>
            <a:endParaRPr lang="en-US" sz="1400" dirty="0"/>
          </a:p>
        </p:txBody>
      </p:sp>
      <p:sp>
        <p:nvSpPr>
          <p:cNvPr id="64" name="Text 62"/>
          <p:cNvSpPr/>
          <p:nvPr/>
        </p:nvSpPr>
        <p:spPr>
          <a:xfrm>
            <a:off x="8168640" y="3986784"/>
            <a:ext cx="329793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 و٤٫٩ نجمة مقابل ٣٫٦ إلى ٤٫١ · و٥٧٪ من المنافسين دون أربع نجوم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4303776" y="356616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431792" y="3675888"/>
            <a:ext cx="3297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ونخسر بالمسافة</a:t>
            </a:r>
            <a:endParaRPr lang="en-US" sz="1400" dirty="0"/>
          </a:p>
        </p:txBody>
      </p:sp>
      <p:sp>
        <p:nvSpPr>
          <p:cNvPr id="67" name="Text 65"/>
          <p:cNvSpPr/>
          <p:nvPr/>
        </p:nvSpPr>
        <p:spPr>
          <a:xfrm>
            <a:off x="4431792" y="3986784"/>
            <a:ext cx="329793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أقرب منافس على ١٨١ متراً في المعيصم و٤١١ في الفردوس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566928" y="356616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5F2ED"/>
          </a:solidFill>
          <a:ln w="15240">
            <a:solidFill>
              <a:srgbClr val="3E6E8E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94944" y="3675888"/>
            <a:ext cx="3297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الدريس هو المنافس</a:t>
            </a:r>
            <a:endParaRPr lang="en-US" sz="1400" dirty="0"/>
          </a:p>
        </p:txBody>
      </p:sp>
      <p:sp>
        <p:nvSpPr>
          <p:cNvPr id="70" name="Text 68"/>
          <p:cNvSpPr/>
          <p:nvPr/>
        </p:nvSpPr>
        <p:spPr>
          <a:xfrm>
            <a:off x="694944" y="3986784"/>
            <a:ext cx="329793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 من ٤٠ موقعاً — ٣٨٪ محلياً مقابل ١٨٫٩٥٪ وطنياً</a:t>
            </a:r>
            <a:endParaRPr lang="en-US" sz="1150" dirty="0"/>
          </a:p>
        </p:txBody>
      </p:sp>
      <p:sp>
        <p:nvSpPr>
          <p:cNvPr id="71" name="Shape 69"/>
          <p:cNvSpPr/>
          <p:nvPr/>
        </p:nvSpPr>
        <p:spPr>
          <a:xfrm>
            <a:off x="566928" y="507492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72" name="Text 70"/>
          <p:cNvSpPr/>
          <p:nvPr/>
        </p:nvSpPr>
        <p:spPr>
          <a:xfrm>
            <a:off x="749808" y="512064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الخدمة أفضل أصلاً — فالخطة اعتراضية: لافتة ومدخل وسرعة وإبراز التقييم قبل نقطة القرار بخمسمئة متر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 MK002 — تغيير مسار لا منافسة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الحدث ٧–٨ فبراير ٢٠٢٦ · ليلة واحدة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727875" y="1846233"/>
            <a:ext cx="595494" cy="2542887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5544995" y="1590201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٤٢٬٦٤١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50841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المتوسط قبل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35385" y="2296237"/>
            <a:ext cx="595494" cy="2092883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4552505" y="2040205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٣٥٬٠٩٥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1592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 فبراير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742895" y="2887218"/>
            <a:ext cx="595494" cy="1501902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15" name="Text 13"/>
          <p:cNvSpPr/>
          <p:nvPr/>
        </p:nvSpPr>
        <p:spPr>
          <a:xfrm>
            <a:off x="3560015" y="2631186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٢٥٬١٨٥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52343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 فبراير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50405" y="3799988"/>
            <a:ext cx="595494" cy="589132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18" name="Text 16"/>
          <p:cNvSpPr/>
          <p:nvPr/>
        </p:nvSpPr>
        <p:spPr>
          <a:xfrm>
            <a:off x="2567525" y="3543956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٩٬٨٧٩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53094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 فبراير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757916" y="3802314"/>
            <a:ext cx="595494" cy="586806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1" name="Text 19"/>
          <p:cNvSpPr/>
          <p:nvPr/>
        </p:nvSpPr>
        <p:spPr>
          <a:xfrm>
            <a:off x="1575036" y="3546282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٩٬٨٤٠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538460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 فبراير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65426" y="3625020"/>
            <a:ext cx="595494" cy="76410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4" name="Text 22"/>
          <p:cNvSpPr/>
          <p:nvPr/>
        </p:nvSpPr>
        <p:spPr>
          <a:xfrm>
            <a:off x="582546" y="3368988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١٢٬٨١٣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45970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المتوسط بعد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66928" y="4389120"/>
            <a:ext cx="5954939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" y="1316736"/>
            <a:ext cx="595493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لتراً يومياً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962973" y="1280160"/>
            <a:ext cx="463161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توقيع الوصول لا المنافسة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11553444" y="1645920"/>
            <a:ext cx="41148" cy="475488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30" name="Text 28"/>
          <p:cNvSpPr/>
          <p:nvPr/>
        </p:nvSpPr>
        <p:spPr>
          <a:xfrm>
            <a:off x="9248973" y="164592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المعاملات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248973" y="186537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٢٬٠٧٣ ← ٦٠١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962973" y="17373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−٧١٪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11553444" y="2194560"/>
            <a:ext cx="41148" cy="475488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34" name="Text 32"/>
          <p:cNvSpPr/>
          <p:nvPr/>
        </p:nvSpPr>
        <p:spPr>
          <a:xfrm>
            <a:off x="9248973" y="219456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اللترات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9248973" y="241401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٤٢٬٦٤١ ← ١٢٬٨١٣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962973" y="22860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−٧٠٪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11553444" y="2743200"/>
            <a:ext cx="41148" cy="475488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8" name="Text 36"/>
          <p:cNvSpPr/>
          <p:nvPr/>
        </p:nvSpPr>
        <p:spPr>
          <a:xfrm>
            <a:off x="9248973" y="274320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حجم التعبئة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9248973" y="296265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٢٠٫٦ ← ٢١٫٣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62973" y="283464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+٣٫٦٪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11553444" y="3291840"/>
            <a:ext cx="41148" cy="475488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42" name="Text 40"/>
          <p:cNvSpPr/>
          <p:nvPr/>
        </p:nvSpPr>
        <p:spPr>
          <a:xfrm>
            <a:off x="9248973" y="329184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تقييمنا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9248973" y="351129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 مقابل ٣٫٧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962973" y="33832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الأعلى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11553444" y="3840480"/>
            <a:ext cx="41148" cy="475488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46" name="Text 44"/>
          <p:cNvSpPr/>
          <p:nvPr/>
        </p:nvSpPr>
        <p:spPr>
          <a:xfrm>
            <a:off x="9248973" y="384048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مطابقة المشتريات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9248973" y="405993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+٠٫٧١٪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962973" y="393192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سليمة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6962973" y="4462272"/>
            <a:ext cx="4631619" cy="1005840"/>
          </a:xfrm>
          <a:prstGeom prst="roundRect">
            <a:avLst>
              <a:gd name="adj" fmla="val 4545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109277" y="4572000"/>
            <a:ext cx="4339011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المعاملات تسقط والتعبئة تثبت — المنافس يسحب العميل الحدّي، والمدخل المغلق يمنع الجميع بالتساوي.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566928" y="562356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C0503A"/>
          </a:solidFill>
          <a:ln/>
        </p:spPr>
      </p:sp>
      <p:sp>
        <p:nvSpPr>
          <p:cNvPr id="52" name="Text 50"/>
          <p:cNvSpPr/>
          <p:nvPr/>
        </p:nvSpPr>
        <p:spPr>
          <a:xfrm>
            <a:off x="749808" y="566928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الخسارة ١٬٢٤٥٬٥٠٣ ريال هامش سنوياً · والشرائع نفس التوقيع في ٤–٥ فبراير بـ٣٩٢٬٩٠٢ · ولا ثالث لهما في ٥٥ محطة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الثالث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تقسيم المحطات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نوع الموقع وفئة الإنتاجية — بمصطلحات القطاع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خمس شرائح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 من سلوك العميل: حصة الديزل ثم الدفع المؤسسي ثم الإنتاجية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10090820" y="1243584"/>
            <a:ext cx="150377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787550" y="1243584"/>
            <a:ext cx="130326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Site Type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083275" y="1243584"/>
            <a:ext cx="17042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قاعدة التصنيف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81514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579503" y="1243584"/>
            <a:ext cx="8020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77491" y="1243584"/>
            <a:ext cx="8020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٪ الحجم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875227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التعبئة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173467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271203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1243584"/>
            <a:ext cx="17042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المحرّك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1609344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90820" y="1609344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787550" y="1609344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Highway / Transit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083275" y="160934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الديزل ٣٠٪ فأكثر من الحجم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81514" y="160934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579503" y="160934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٢٤٢٫٨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777491" y="160934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٤٤٪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875227" y="160934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٣٣٫٠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173467" y="160934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٤٣٪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271203" y="160934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٦٧٫٩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160934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التعبئة والتعاقد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66928" y="2029968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090820" y="2029968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الأساطيل التجارية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787550" y="2029968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Fleet / Commercial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083275" y="2029968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الدفع المؤسسي ١٠٪ فأكثر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81514" y="2029968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579503" y="2029968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٣٣٫٣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777491" y="2029968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٦٪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875227" y="2029968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٢٣٫٨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173467" y="2029968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١٥٪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271203" y="2029968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٥١٫٩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66928" y="2029968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عمق الحساب المؤسسي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2450592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90820" y="2450592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8787550" y="2450592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Urban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7083275" y="2450592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· ٩ MLPA فأكثر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381514" y="2450592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579503" y="2450592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١٧٦٫٥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777491" y="2450592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٣٢٪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875227" y="2450592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٢٢٫٩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3173467" y="2450592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٢٪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2271203" y="2450592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٥١٫٧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66928" y="2450592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ساعات الذروة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66928" y="2871216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090820" y="2871216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الأحياء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8787550" y="2871216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Neighbourhood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7083275" y="2871216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· ٤٫٥–٩ MLPA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6381514" y="2871216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579503" y="2871216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٧٦٫٦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777491" y="2871216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١٤٪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3875227" y="2871216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٢٢٫٣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3173467" y="2871216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١١٪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2271203" y="2871216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٤٩٫٢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566928" y="2871216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التردد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66928" y="3291840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090820" y="3291840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8787550" y="3291840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Low-Throughput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7083275" y="3291840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دون ٤٫٥ MLPA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6381514" y="3291840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5579503" y="3291840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٢١٫٨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777491" y="3291840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٤٪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3875227" y="3291840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٢٢٫٦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3173467" y="3291840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٨٪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2271203" y="3291840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٥٠٫٢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566928" y="3291840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حماية الربحية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66928" y="3712464"/>
            <a:ext cx="11027664" cy="420624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10090820" y="3712464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8787550" y="3712464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7083275" y="371246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6381514" y="371246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5579503" y="371246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٥٥١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4777491" y="371246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١٠٠٪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3875227" y="371246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٢٥٫٣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3173467" y="371246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٢٠٪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2271203" y="371246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٥٧٫٢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566928" y="371246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566928" y="402336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الإنتاجية — بمقياس MLPA</a:t>
            </a:r>
            <a:endParaRPr lang="en-US" sz="1350" dirty="0"/>
          </a:p>
        </p:txBody>
      </p:sp>
      <p:sp>
        <p:nvSpPr>
          <p:cNvPr id="86" name="Shape 84"/>
          <p:cNvSpPr/>
          <p:nvPr/>
        </p:nvSpPr>
        <p:spPr>
          <a:xfrm>
            <a:off x="8040624" y="4352544"/>
            <a:ext cx="3553968" cy="960120"/>
          </a:xfrm>
          <a:prstGeom prst="roundRect">
            <a:avLst>
              <a:gd name="adj" fmla="val 4762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8040624" y="4352544"/>
            <a:ext cx="3553968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88" name="Text 86"/>
          <p:cNvSpPr/>
          <p:nvPr/>
        </p:nvSpPr>
        <p:spPr>
          <a:xfrm>
            <a:off x="10405872" y="4462272"/>
            <a:ext cx="10789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أ</a:t>
            </a:r>
            <a:endParaRPr lang="en-US" sz="1500" dirty="0"/>
          </a:p>
        </p:txBody>
      </p:sp>
      <p:sp>
        <p:nvSpPr>
          <p:cNvPr id="89" name="Text 87"/>
          <p:cNvSpPr/>
          <p:nvPr/>
        </p:nvSpPr>
        <p:spPr>
          <a:xfrm>
            <a:off x="8150352" y="4480560"/>
            <a:ext cx="2182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 MLPA فأكثر</a:t>
            </a: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8150352" y="4809744"/>
            <a:ext cx="3334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 محطة  ·  ٣٩٢٫٤ MLPA</a:t>
            </a:r>
            <a:endParaRPr lang="en-US" sz="1250" dirty="0"/>
          </a:p>
        </p:txBody>
      </p:sp>
      <p:sp>
        <p:nvSpPr>
          <p:cNvPr id="91" name="Shape 89"/>
          <p:cNvSpPr/>
          <p:nvPr/>
        </p:nvSpPr>
        <p:spPr>
          <a:xfrm>
            <a:off x="4303776" y="4352544"/>
            <a:ext cx="3553968" cy="960120"/>
          </a:xfrm>
          <a:prstGeom prst="roundRect">
            <a:avLst>
              <a:gd name="adj" fmla="val 4762"/>
            </a:avLst>
          </a:prstGeom>
          <a:solidFill>
            <a:srgbClr val="F7F4EF"/>
          </a:solidFill>
          <a:ln w="15240">
            <a:solidFill>
              <a:srgbClr val="F7A94B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303776" y="4352544"/>
            <a:ext cx="3553968" cy="4572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93" name="Text 91"/>
          <p:cNvSpPr/>
          <p:nvPr/>
        </p:nvSpPr>
        <p:spPr>
          <a:xfrm>
            <a:off x="6669024" y="4462272"/>
            <a:ext cx="10789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ب</a:t>
            </a:r>
            <a:endParaRPr lang="en-US" sz="1500" dirty="0"/>
          </a:p>
        </p:txBody>
      </p:sp>
      <p:sp>
        <p:nvSpPr>
          <p:cNvPr id="94" name="Text 92"/>
          <p:cNvSpPr/>
          <p:nvPr/>
        </p:nvSpPr>
        <p:spPr>
          <a:xfrm>
            <a:off x="4413504" y="4480560"/>
            <a:ext cx="2182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٤٫٥ إلى ٩</a:t>
            </a:r>
            <a:endParaRPr lang="en-US" sz="1100" dirty="0"/>
          </a:p>
        </p:txBody>
      </p:sp>
      <p:sp>
        <p:nvSpPr>
          <p:cNvPr id="95" name="Text 93"/>
          <p:cNvSpPr/>
          <p:nvPr/>
        </p:nvSpPr>
        <p:spPr>
          <a:xfrm>
            <a:off x="4413504" y="4809744"/>
            <a:ext cx="3334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 محطة  ·  ١٢٣٫٥ MLPA</a:t>
            </a:r>
            <a:endParaRPr lang="en-US" sz="1250" dirty="0"/>
          </a:p>
        </p:txBody>
      </p:sp>
      <p:sp>
        <p:nvSpPr>
          <p:cNvPr id="96" name="Shape 94"/>
          <p:cNvSpPr/>
          <p:nvPr/>
        </p:nvSpPr>
        <p:spPr>
          <a:xfrm>
            <a:off x="566928" y="4352544"/>
            <a:ext cx="3553968" cy="960120"/>
          </a:xfrm>
          <a:prstGeom prst="roundRect">
            <a:avLst>
              <a:gd name="adj" fmla="val 4762"/>
            </a:avLst>
          </a:prstGeom>
          <a:solidFill>
            <a:srgbClr val="F7F4EF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566928" y="4352544"/>
            <a:ext cx="3553968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8" name="Text 96"/>
          <p:cNvSpPr/>
          <p:nvPr/>
        </p:nvSpPr>
        <p:spPr>
          <a:xfrm>
            <a:off x="2932176" y="4462272"/>
            <a:ext cx="10789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ج</a:t>
            </a:r>
            <a:endParaRPr lang="en-US" sz="1500" dirty="0"/>
          </a:p>
        </p:txBody>
      </p:sp>
      <p:sp>
        <p:nvSpPr>
          <p:cNvPr id="99" name="Text 97"/>
          <p:cNvSpPr/>
          <p:nvPr/>
        </p:nvSpPr>
        <p:spPr>
          <a:xfrm>
            <a:off x="676656" y="4480560"/>
            <a:ext cx="2182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دون ٤٫٥</a:t>
            </a:r>
            <a:endParaRPr lang="en-US" sz="1100" dirty="0"/>
          </a:p>
        </p:txBody>
      </p:sp>
      <p:sp>
        <p:nvSpPr>
          <p:cNvPr id="100" name="Text 98"/>
          <p:cNvSpPr/>
          <p:nvPr/>
        </p:nvSpPr>
        <p:spPr>
          <a:xfrm>
            <a:off x="676656" y="4809744"/>
            <a:ext cx="3334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 محطة  ·  ٣٥٫٢ MLPA</a:t>
            </a:r>
            <a:endParaRPr lang="en-US" sz="1250" dirty="0"/>
          </a:p>
        </p:txBody>
      </p:sp>
      <p:sp>
        <p:nvSpPr>
          <p:cNvPr id="101" name="Text 99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٥٥١ MLPA على ٥٢ محطة — متوسط ١٠٫٦ للمحطة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القمة والقاع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الإنتاجية اليومية · الترتيب يقود توزيع الجهد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246175" y="1225296"/>
            <a:ext cx="534841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٨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46175" y="1536192"/>
            <a:ext cx="5348417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10043551" y="1536192"/>
            <a:ext cx="155104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508709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439026" y="1536192"/>
            <a:ext cx="106968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850700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262374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معاملات/يوم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781017" y="1536192"/>
            <a:ext cx="4813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46175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المعاملة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246175" y="19019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43551" y="19019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العمرة الجديدة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508709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439026" y="19019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50700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٤٧٫٥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262374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٤٬٢٦١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781017" y="19019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٣٠٫٦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246175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٦٤٫٥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246175" y="22448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043551" y="22448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العوالي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9508709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MK003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439026" y="22448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850700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٣٤٫٦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262374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٣٬٤٩٢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781017" y="22448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٢٧٫٢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46175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٦١٫٤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246175" y="25877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43551" y="25877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عاصفة الصحراء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9508709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MK004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8439026" y="25877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7850700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٣١٫٣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262374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٢٬٢١٠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781017" y="25877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٣٨٫٨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246175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٨١٫١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246175" y="29306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43551" y="29306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الليث - الفضيل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9508709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MK289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8439026" y="29306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7850700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٣١٫٢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7262374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١٬٨٧٨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781017" y="29306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٤٥٫٥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246175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٨٧٫٦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246175" y="32735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043551" y="32735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 - طريق الجنو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9508709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8439026" y="32735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7850700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٢١٫٥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7262374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١٬٨٣٦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6781017" y="32735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٣٢٫١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6246175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٦٨٫٠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6246175" y="36164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0043551" y="36164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القادسية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9508709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MK047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8439026" y="36164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7850700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١٧٫٤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7262374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١٬٦٨٩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6781017" y="36164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٢٨٫٢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6246175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٥٩٫٤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6246175" y="39593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043551" y="39593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الشيباني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9508709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MK005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8439026" y="39593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7850700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١٦٫٧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7262374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١٬٧٣٤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6781017" y="39593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٢٦٫٣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6246175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٥٩٫٨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6246175" y="43022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043551" y="43022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النسيم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9508709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MK015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8439026" y="43022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7850700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١٦٫٠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7262374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١٬٩٩٨</a:t>
            </a:r>
            <a:endParaRPr lang="en-US" sz="950" dirty="0"/>
          </a:p>
        </p:txBody>
      </p:sp>
      <p:sp>
        <p:nvSpPr>
          <p:cNvPr id="79" name="Text 77"/>
          <p:cNvSpPr/>
          <p:nvPr/>
        </p:nvSpPr>
        <p:spPr>
          <a:xfrm>
            <a:off x="6781017" y="43022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٢٢٫٠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6246175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٤٩٫٦</a:t>
            </a:r>
            <a:endParaRPr lang="en-US" sz="950" dirty="0"/>
          </a:p>
        </p:txBody>
      </p:sp>
      <p:sp>
        <p:nvSpPr>
          <p:cNvPr id="81" name="Text 79"/>
          <p:cNvSpPr/>
          <p:nvPr/>
        </p:nvSpPr>
        <p:spPr>
          <a:xfrm>
            <a:off x="566928" y="1225296"/>
            <a:ext cx="534841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أدنى ٨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566928" y="1536192"/>
            <a:ext cx="5348417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83" name="Text 81"/>
          <p:cNvSpPr/>
          <p:nvPr/>
        </p:nvSpPr>
        <p:spPr>
          <a:xfrm>
            <a:off x="4364304" y="1536192"/>
            <a:ext cx="155104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84" name="Text 82"/>
          <p:cNvSpPr/>
          <p:nvPr/>
        </p:nvSpPr>
        <p:spPr>
          <a:xfrm>
            <a:off x="3829462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85" name="Text 83"/>
          <p:cNvSpPr/>
          <p:nvPr/>
        </p:nvSpPr>
        <p:spPr>
          <a:xfrm>
            <a:off x="2759779" y="1536192"/>
            <a:ext cx="106968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50" dirty="0"/>
          </a:p>
        </p:txBody>
      </p:sp>
      <p:sp>
        <p:nvSpPr>
          <p:cNvPr id="86" name="Text 84"/>
          <p:cNvSpPr/>
          <p:nvPr/>
        </p:nvSpPr>
        <p:spPr>
          <a:xfrm>
            <a:off x="2171453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950" dirty="0"/>
          </a:p>
        </p:txBody>
      </p:sp>
      <p:sp>
        <p:nvSpPr>
          <p:cNvPr id="87" name="Text 85"/>
          <p:cNvSpPr/>
          <p:nvPr/>
        </p:nvSpPr>
        <p:spPr>
          <a:xfrm>
            <a:off x="1583127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معاملات/يوم</a:t>
            </a:r>
            <a:endParaRPr lang="en-US" sz="950" dirty="0"/>
          </a:p>
        </p:txBody>
      </p:sp>
      <p:sp>
        <p:nvSpPr>
          <p:cNvPr id="88" name="Text 86"/>
          <p:cNvSpPr/>
          <p:nvPr/>
        </p:nvSpPr>
        <p:spPr>
          <a:xfrm>
            <a:off x="1101770" y="1536192"/>
            <a:ext cx="4813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89" name="Text 87"/>
          <p:cNvSpPr/>
          <p:nvPr/>
        </p:nvSpPr>
        <p:spPr>
          <a:xfrm>
            <a:off x="566928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المعاملة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566928" y="19019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364304" y="19019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المركب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3829462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NJ219</a:t>
            </a:r>
            <a:endParaRPr lang="en-US" sz="950" dirty="0"/>
          </a:p>
        </p:txBody>
      </p:sp>
      <p:sp>
        <p:nvSpPr>
          <p:cNvPr id="93" name="Text 91"/>
          <p:cNvSpPr/>
          <p:nvPr/>
        </p:nvSpPr>
        <p:spPr>
          <a:xfrm>
            <a:off x="2759779" y="19019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950" dirty="0"/>
          </a:p>
        </p:txBody>
      </p:sp>
      <p:sp>
        <p:nvSpPr>
          <p:cNvPr id="94" name="Text 92"/>
          <p:cNvSpPr/>
          <p:nvPr/>
        </p:nvSpPr>
        <p:spPr>
          <a:xfrm>
            <a:off x="2171453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</a:t>
            </a:r>
            <a:endParaRPr lang="en-US" sz="950" dirty="0"/>
          </a:p>
        </p:txBody>
      </p:sp>
      <p:sp>
        <p:nvSpPr>
          <p:cNvPr id="95" name="Text 93"/>
          <p:cNvSpPr/>
          <p:nvPr/>
        </p:nvSpPr>
        <p:spPr>
          <a:xfrm>
            <a:off x="1583127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٢٧٥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1101770" y="19019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٢٢٫٥</a:t>
            </a:r>
            <a:endParaRPr lang="en-US" sz="950" dirty="0"/>
          </a:p>
        </p:txBody>
      </p:sp>
      <p:sp>
        <p:nvSpPr>
          <p:cNvPr id="97" name="Text 95"/>
          <p:cNvSpPr/>
          <p:nvPr/>
        </p:nvSpPr>
        <p:spPr>
          <a:xfrm>
            <a:off x="566928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٤٨٫٥</a:t>
            </a:r>
            <a:endParaRPr lang="en-US" sz="950" dirty="0"/>
          </a:p>
        </p:txBody>
      </p:sp>
      <p:sp>
        <p:nvSpPr>
          <p:cNvPr id="98" name="Shape 96"/>
          <p:cNvSpPr/>
          <p:nvPr/>
        </p:nvSpPr>
        <p:spPr>
          <a:xfrm>
            <a:off x="566928" y="22448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364304" y="22448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السلام</a:t>
            </a:r>
            <a:endParaRPr lang="en-US" sz="950" dirty="0"/>
          </a:p>
        </p:txBody>
      </p:sp>
      <p:sp>
        <p:nvSpPr>
          <p:cNvPr id="100" name="Text 98"/>
          <p:cNvSpPr/>
          <p:nvPr/>
        </p:nvSpPr>
        <p:spPr>
          <a:xfrm>
            <a:off x="3829462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MD009</a:t>
            </a:r>
            <a:endParaRPr lang="en-US" sz="950" dirty="0"/>
          </a:p>
        </p:txBody>
      </p:sp>
      <p:sp>
        <p:nvSpPr>
          <p:cNvPr id="101" name="Text 99"/>
          <p:cNvSpPr/>
          <p:nvPr/>
        </p:nvSpPr>
        <p:spPr>
          <a:xfrm>
            <a:off x="2759779" y="22448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2171453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</a:t>
            </a:r>
            <a:endParaRPr lang="en-US" sz="950" dirty="0"/>
          </a:p>
        </p:txBody>
      </p:sp>
      <p:sp>
        <p:nvSpPr>
          <p:cNvPr id="103" name="Text 101"/>
          <p:cNvSpPr/>
          <p:nvPr/>
        </p:nvSpPr>
        <p:spPr>
          <a:xfrm>
            <a:off x="1583127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٢٣٣</a:t>
            </a:r>
            <a:endParaRPr lang="en-US" sz="950" dirty="0"/>
          </a:p>
        </p:txBody>
      </p:sp>
      <p:sp>
        <p:nvSpPr>
          <p:cNvPr id="104" name="Text 102"/>
          <p:cNvSpPr/>
          <p:nvPr/>
        </p:nvSpPr>
        <p:spPr>
          <a:xfrm>
            <a:off x="1101770" y="22448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٢٧٫٤</a:t>
            </a:r>
            <a:endParaRPr lang="en-US" sz="950" dirty="0"/>
          </a:p>
        </p:txBody>
      </p:sp>
      <p:sp>
        <p:nvSpPr>
          <p:cNvPr id="105" name="Text 103"/>
          <p:cNvSpPr/>
          <p:nvPr/>
        </p:nvSpPr>
        <p:spPr>
          <a:xfrm>
            <a:off x="566928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٥٧٫٥</a:t>
            </a:r>
            <a:endParaRPr lang="en-US" sz="950" dirty="0"/>
          </a:p>
        </p:txBody>
      </p:sp>
      <p:sp>
        <p:nvSpPr>
          <p:cNvPr id="106" name="Shape 104"/>
          <p:cNvSpPr/>
          <p:nvPr/>
        </p:nvSpPr>
        <p:spPr>
          <a:xfrm>
            <a:off x="566928" y="25877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4364304" y="25877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صناعية صامطة</a:t>
            </a:r>
            <a:endParaRPr lang="en-US" sz="950" dirty="0"/>
          </a:p>
        </p:txBody>
      </p:sp>
      <p:sp>
        <p:nvSpPr>
          <p:cNvPr id="108" name="Text 106"/>
          <p:cNvSpPr/>
          <p:nvPr/>
        </p:nvSpPr>
        <p:spPr>
          <a:xfrm>
            <a:off x="3829462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JA060</a:t>
            </a:r>
            <a:endParaRPr lang="en-US" sz="950" dirty="0"/>
          </a:p>
        </p:txBody>
      </p:sp>
      <p:sp>
        <p:nvSpPr>
          <p:cNvPr id="109" name="Text 107"/>
          <p:cNvSpPr/>
          <p:nvPr/>
        </p:nvSpPr>
        <p:spPr>
          <a:xfrm>
            <a:off x="2759779" y="25877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950" dirty="0"/>
          </a:p>
        </p:txBody>
      </p:sp>
      <p:sp>
        <p:nvSpPr>
          <p:cNvPr id="110" name="Text 108"/>
          <p:cNvSpPr/>
          <p:nvPr/>
        </p:nvSpPr>
        <p:spPr>
          <a:xfrm>
            <a:off x="2171453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٢٫٤</a:t>
            </a:r>
            <a:endParaRPr lang="en-US" sz="950" dirty="0"/>
          </a:p>
        </p:txBody>
      </p:sp>
      <p:sp>
        <p:nvSpPr>
          <p:cNvPr id="111" name="Text 109"/>
          <p:cNvSpPr/>
          <p:nvPr/>
        </p:nvSpPr>
        <p:spPr>
          <a:xfrm>
            <a:off x="1583127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٤١٠</a:t>
            </a:r>
            <a:endParaRPr lang="en-US" sz="950" dirty="0"/>
          </a:p>
        </p:txBody>
      </p:sp>
      <p:sp>
        <p:nvSpPr>
          <p:cNvPr id="112" name="Text 110"/>
          <p:cNvSpPr/>
          <p:nvPr/>
        </p:nvSpPr>
        <p:spPr>
          <a:xfrm>
            <a:off x="1101770" y="25877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١٦٫٣</a:t>
            </a:r>
            <a:endParaRPr lang="en-US" sz="950" dirty="0"/>
          </a:p>
        </p:txBody>
      </p:sp>
      <p:sp>
        <p:nvSpPr>
          <p:cNvPr id="113" name="Text 111"/>
          <p:cNvSpPr/>
          <p:nvPr/>
        </p:nvSpPr>
        <p:spPr>
          <a:xfrm>
            <a:off x="566928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٣٤٫٩</a:t>
            </a:r>
            <a:endParaRPr lang="en-US" sz="950" dirty="0"/>
          </a:p>
        </p:txBody>
      </p:sp>
      <p:sp>
        <p:nvSpPr>
          <p:cNvPr id="114" name="Shape 112"/>
          <p:cNvSpPr/>
          <p:nvPr/>
        </p:nvSpPr>
        <p:spPr>
          <a:xfrm>
            <a:off x="566928" y="29306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4364304" y="29306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الروابي - المودة</a:t>
            </a:r>
            <a:endParaRPr lang="en-US" sz="950" dirty="0"/>
          </a:p>
        </p:txBody>
      </p:sp>
      <p:sp>
        <p:nvSpPr>
          <p:cNvPr id="116" name="Text 114"/>
          <p:cNvSpPr/>
          <p:nvPr/>
        </p:nvSpPr>
        <p:spPr>
          <a:xfrm>
            <a:off x="3829462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JA056</a:t>
            </a:r>
            <a:endParaRPr lang="en-US" sz="950" dirty="0"/>
          </a:p>
        </p:txBody>
      </p:sp>
      <p:sp>
        <p:nvSpPr>
          <p:cNvPr id="117" name="Text 115"/>
          <p:cNvSpPr/>
          <p:nvPr/>
        </p:nvSpPr>
        <p:spPr>
          <a:xfrm>
            <a:off x="2759779" y="29306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950" dirty="0"/>
          </a:p>
        </p:txBody>
      </p:sp>
      <p:sp>
        <p:nvSpPr>
          <p:cNvPr id="118" name="Text 116"/>
          <p:cNvSpPr/>
          <p:nvPr/>
        </p:nvSpPr>
        <p:spPr>
          <a:xfrm>
            <a:off x="2171453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٢٫٦</a:t>
            </a:r>
            <a:endParaRPr lang="en-US" sz="950" dirty="0"/>
          </a:p>
        </p:txBody>
      </p:sp>
      <p:sp>
        <p:nvSpPr>
          <p:cNvPr id="119" name="Text 117"/>
          <p:cNvSpPr/>
          <p:nvPr/>
        </p:nvSpPr>
        <p:spPr>
          <a:xfrm>
            <a:off x="1583127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٢٨٦</a:t>
            </a:r>
            <a:endParaRPr lang="en-US" sz="950" dirty="0"/>
          </a:p>
        </p:txBody>
      </p:sp>
      <p:sp>
        <p:nvSpPr>
          <p:cNvPr id="120" name="Text 118"/>
          <p:cNvSpPr/>
          <p:nvPr/>
        </p:nvSpPr>
        <p:spPr>
          <a:xfrm>
            <a:off x="1101770" y="29306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٢٤٫٨</a:t>
            </a:r>
            <a:endParaRPr lang="en-US" sz="950" dirty="0"/>
          </a:p>
        </p:txBody>
      </p:sp>
      <p:sp>
        <p:nvSpPr>
          <p:cNvPr id="121" name="Text 119"/>
          <p:cNvSpPr/>
          <p:nvPr/>
        </p:nvSpPr>
        <p:spPr>
          <a:xfrm>
            <a:off x="566928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٥٣٫٣</a:t>
            </a:r>
            <a:endParaRPr lang="en-US" sz="950" dirty="0"/>
          </a:p>
        </p:txBody>
      </p:sp>
      <p:sp>
        <p:nvSpPr>
          <p:cNvPr id="122" name="Shape 120"/>
          <p:cNvSpPr/>
          <p:nvPr/>
        </p:nvSpPr>
        <p:spPr>
          <a:xfrm>
            <a:off x="566928" y="32735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4364304" y="32735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العريفي</a:t>
            </a:r>
            <a:endParaRPr lang="en-US" sz="950" dirty="0"/>
          </a:p>
        </p:txBody>
      </p:sp>
      <p:sp>
        <p:nvSpPr>
          <p:cNvPr id="124" name="Text 122"/>
          <p:cNvSpPr/>
          <p:nvPr/>
        </p:nvSpPr>
        <p:spPr>
          <a:xfrm>
            <a:off x="3829462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HA043</a:t>
            </a:r>
            <a:endParaRPr lang="en-US" sz="950" dirty="0"/>
          </a:p>
        </p:txBody>
      </p:sp>
      <p:sp>
        <p:nvSpPr>
          <p:cNvPr id="125" name="Text 123"/>
          <p:cNvSpPr/>
          <p:nvPr/>
        </p:nvSpPr>
        <p:spPr>
          <a:xfrm>
            <a:off x="2759779" y="32735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950" dirty="0"/>
          </a:p>
        </p:txBody>
      </p:sp>
      <p:sp>
        <p:nvSpPr>
          <p:cNvPr id="126" name="Text 124"/>
          <p:cNvSpPr/>
          <p:nvPr/>
        </p:nvSpPr>
        <p:spPr>
          <a:xfrm>
            <a:off x="2171453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٢٫٩</a:t>
            </a:r>
            <a:endParaRPr lang="en-US" sz="950" dirty="0"/>
          </a:p>
        </p:txBody>
      </p:sp>
      <p:sp>
        <p:nvSpPr>
          <p:cNvPr id="127" name="Text 125"/>
          <p:cNvSpPr/>
          <p:nvPr/>
        </p:nvSpPr>
        <p:spPr>
          <a:xfrm>
            <a:off x="1583127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٣٢٦</a:t>
            </a:r>
            <a:endParaRPr lang="en-US" sz="950" dirty="0"/>
          </a:p>
        </p:txBody>
      </p:sp>
      <p:sp>
        <p:nvSpPr>
          <p:cNvPr id="128" name="Text 126"/>
          <p:cNvSpPr/>
          <p:nvPr/>
        </p:nvSpPr>
        <p:spPr>
          <a:xfrm>
            <a:off x="1101770" y="32735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٢٤٫١</a:t>
            </a:r>
            <a:endParaRPr lang="en-US" sz="950" dirty="0"/>
          </a:p>
        </p:txBody>
      </p:sp>
      <p:sp>
        <p:nvSpPr>
          <p:cNvPr id="129" name="Text 127"/>
          <p:cNvSpPr/>
          <p:nvPr/>
        </p:nvSpPr>
        <p:spPr>
          <a:xfrm>
            <a:off x="566928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٥٣٫٧</a:t>
            </a:r>
            <a:endParaRPr lang="en-US" sz="950" dirty="0"/>
          </a:p>
        </p:txBody>
      </p:sp>
      <p:sp>
        <p:nvSpPr>
          <p:cNvPr id="130" name="Shape 128"/>
          <p:cNvSpPr/>
          <p:nvPr/>
        </p:nvSpPr>
        <p:spPr>
          <a:xfrm>
            <a:off x="566928" y="36164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4364304" y="36164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الكوثر</a:t>
            </a:r>
            <a:endParaRPr lang="en-US" sz="950" dirty="0"/>
          </a:p>
        </p:txBody>
      </p:sp>
      <p:sp>
        <p:nvSpPr>
          <p:cNvPr id="132" name="Text 130"/>
          <p:cNvSpPr/>
          <p:nvPr/>
        </p:nvSpPr>
        <p:spPr>
          <a:xfrm>
            <a:off x="3829462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MK100</a:t>
            </a:r>
            <a:endParaRPr lang="en-US" sz="950" dirty="0"/>
          </a:p>
        </p:txBody>
      </p:sp>
      <p:sp>
        <p:nvSpPr>
          <p:cNvPr id="133" name="Text 131"/>
          <p:cNvSpPr/>
          <p:nvPr/>
        </p:nvSpPr>
        <p:spPr>
          <a:xfrm>
            <a:off x="2759779" y="36164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134" name="Text 132"/>
          <p:cNvSpPr/>
          <p:nvPr/>
        </p:nvSpPr>
        <p:spPr>
          <a:xfrm>
            <a:off x="2171453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٣٫٢</a:t>
            </a:r>
            <a:endParaRPr lang="en-US" sz="950" dirty="0"/>
          </a:p>
        </p:txBody>
      </p:sp>
      <p:sp>
        <p:nvSpPr>
          <p:cNvPr id="135" name="Text 133"/>
          <p:cNvSpPr/>
          <p:nvPr/>
        </p:nvSpPr>
        <p:spPr>
          <a:xfrm>
            <a:off x="1583127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٣٣٤</a:t>
            </a:r>
            <a:endParaRPr lang="en-US" sz="950" dirty="0"/>
          </a:p>
        </p:txBody>
      </p:sp>
      <p:sp>
        <p:nvSpPr>
          <p:cNvPr id="136" name="Text 134"/>
          <p:cNvSpPr/>
          <p:nvPr/>
        </p:nvSpPr>
        <p:spPr>
          <a:xfrm>
            <a:off x="1101770" y="36164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٢٦٫٦</a:t>
            </a:r>
            <a:endParaRPr lang="en-US" sz="950" dirty="0"/>
          </a:p>
        </p:txBody>
      </p:sp>
      <p:sp>
        <p:nvSpPr>
          <p:cNvPr id="137" name="Text 135"/>
          <p:cNvSpPr/>
          <p:nvPr/>
        </p:nvSpPr>
        <p:spPr>
          <a:xfrm>
            <a:off x="566928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٥٥٫٣</a:t>
            </a:r>
            <a:endParaRPr lang="en-US" sz="950" dirty="0"/>
          </a:p>
        </p:txBody>
      </p:sp>
      <p:sp>
        <p:nvSpPr>
          <p:cNvPr id="138" name="Shape 136"/>
          <p:cNvSpPr/>
          <p:nvPr/>
        </p:nvSpPr>
        <p:spPr>
          <a:xfrm>
            <a:off x="566928" y="39593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4364304" y="39593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البيعة</a:t>
            </a:r>
            <a:endParaRPr lang="en-US" sz="950" dirty="0"/>
          </a:p>
        </p:txBody>
      </p:sp>
      <p:sp>
        <p:nvSpPr>
          <p:cNvPr id="140" name="Text 138"/>
          <p:cNvSpPr/>
          <p:nvPr/>
        </p:nvSpPr>
        <p:spPr>
          <a:xfrm>
            <a:off x="3829462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MK099</a:t>
            </a:r>
            <a:endParaRPr lang="en-US" sz="950" dirty="0"/>
          </a:p>
        </p:txBody>
      </p:sp>
      <p:sp>
        <p:nvSpPr>
          <p:cNvPr id="141" name="Text 139"/>
          <p:cNvSpPr/>
          <p:nvPr/>
        </p:nvSpPr>
        <p:spPr>
          <a:xfrm>
            <a:off x="2759779" y="39593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الأساطيل التجارية</a:t>
            </a:r>
            <a:endParaRPr lang="en-US" sz="950" dirty="0"/>
          </a:p>
        </p:txBody>
      </p:sp>
      <p:sp>
        <p:nvSpPr>
          <p:cNvPr id="142" name="Text 140"/>
          <p:cNvSpPr/>
          <p:nvPr/>
        </p:nvSpPr>
        <p:spPr>
          <a:xfrm>
            <a:off x="2171453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</a:t>
            </a:r>
            <a:endParaRPr lang="en-US" sz="950" dirty="0"/>
          </a:p>
        </p:txBody>
      </p:sp>
      <p:sp>
        <p:nvSpPr>
          <p:cNvPr id="143" name="Text 141"/>
          <p:cNvSpPr/>
          <p:nvPr/>
        </p:nvSpPr>
        <p:spPr>
          <a:xfrm>
            <a:off x="1583127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٤٥٦</a:t>
            </a:r>
            <a:endParaRPr lang="en-US" sz="950" dirty="0"/>
          </a:p>
        </p:txBody>
      </p:sp>
      <p:sp>
        <p:nvSpPr>
          <p:cNvPr id="144" name="Text 142"/>
          <p:cNvSpPr/>
          <p:nvPr/>
        </p:nvSpPr>
        <p:spPr>
          <a:xfrm>
            <a:off x="1101770" y="39593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٢٠٫٦</a:t>
            </a:r>
            <a:endParaRPr lang="en-US" sz="950" dirty="0"/>
          </a:p>
        </p:txBody>
      </p:sp>
      <p:sp>
        <p:nvSpPr>
          <p:cNvPr id="145" name="Text 143"/>
          <p:cNvSpPr/>
          <p:nvPr/>
        </p:nvSpPr>
        <p:spPr>
          <a:xfrm>
            <a:off x="566928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٤٦٫٥</a:t>
            </a:r>
            <a:endParaRPr lang="en-US" sz="950" dirty="0"/>
          </a:p>
        </p:txBody>
      </p:sp>
      <p:sp>
        <p:nvSpPr>
          <p:cNvPr id="146" name="Shape 144"/>
          <p:cNvSpPr/>
          <p:nvPr/>
        </p:nvSpPr>
        <p:spPr>
          <a:xfrm>
            <a:off x="566928" y="43022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4364304" y="43022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جبل ثور - جوهرة الن</a:t>
            </a:r>
            <a:endParaRPr lang="en-US" sz="950" dirty="0"/>
          </a:p>
        </p:txBody>
      </p:sp>
      <p:sp>
        <p:nvSpPr>
          <p:cNvPr id="148" name="Text 146"/>
          <p:cNvSpPr/>
          <p:nvPr/>
        </p:nvSpPr>
        <p:spPr>
          <a:xfrm>
            <a:off x="3829462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MK323</a:t>
            </a:r>
            <a:endParaRPr lang="en-US" sz="950" dirty="0"/>
          </a:p>
        </p:txBody>
      </p:sp>
      <p:sp>
        <p:nvSpPr>
          <p:cNvPr id="149" name="Text 147"/>
          <p:cNvSpPr/>
          <p:nvPr/>
        </p:nvSpPr>
        <p:spPr>
          <a:xfrm>
            <a:off x="2759779" y="43022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950" dirty="0"/>
          </a:p>
        </p:txBody>
      </p:sp>
      <p:sp>
        <p:nvSpPr>
          <p:cNvPr id="150" name="Text 148"/>
          <p:cNvSpPr/>
          <p:nvPr/>
        </p:nvSpPr>
        <p:spPr>
          <a:xfrm>
            <a:off x="2171453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</a:t>
            </a:r>
            <a:endParaRPr lang="en-US" sz="950" dirty="0"/>
          </a:p>
        </p:txBody>
      </p:sp>
      <p:sp>
        <p:nvSpPr>
          <p:cNvPr id="151" name="Text 149"/>
          <p:cNvSpPr/>
          <p:nvPr/>
        </p:nvSpPr>
        <p:spPr>
          <a:xfrm>
            <a:off x="1583127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٤٤٢</a:t>
            </a:r>
            <a:endParaRPr lang="en-US" sz="950" dirty="0"/>
          </a:p>
        </p:txBody>
      </p:sp>
      <p:sp>
        <p:nvSpPr>
          <p:cNvPr id="152" name="Text 150"/>
          <p:cNvSpPr/>
          <p:nvPr/>
        </p:nvSpPr>
        <p:spPr>
          <a:xfrm>
            <a:off x="1101770" y="43022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٢٢٫١</a:t>
            </a:r>
            <a:endParaRPr lang="en-US" sz="950" dirty="0"/>
          </a:p>
        </p:txBody>
      </p:sp>
      <p:sp>
        <p:nvSpPr>
          <p:cNvPr id="153" name="Text 151"/>
          <p:cNvSpPr/>
          <p:nvPr/>
        </p:nvSpPr>
        <p:spPr>
          <a:xfrm>
            <a:off x="566928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٤٩٫٩</a:t>
            </a:r>
            <a:endParaRPr lang="en-US" sz="950" dirty="0"/>
          </a:p>
        </p:txBody>
      </p:sp>
      <p:sp>
        <p:nvSpPr>
          <p:cNvPr id="154" name="Shape 152"/>
          <p:cNvSpPr/>
          <p:nvPr/>
        </p:nvSpPr>
        <p:spPr>
          <a:xfrm>
            <a:off x="6246175" y="4846320"/>
            <a:ext cx="5348417" cy="914400"/>
          </a:xfrm>
          <a:prstGeom prst="roundRect">
            <a:avLst>
              <a:gd name="adj" fmla="val 4000"/>
            </a:avLst>
          </a:prstGeom>
          <a:solidFill>
            <a:srgbClr val="D6E9E1"/>
          </a:solidFill>
          <a:ln w="12700">
            <a:solidFill>
              <a:srgbClr val="2E8B6F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6374191" y="4937760"/>
            <a:ext cx="509238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التركّز شديد</a:t>
            </a:r>
            <a:endParaRPr lang="en-US" sz="1250" dirty="0"/>
          </a:p>
        </p:txBody>
      </p:sp>
      <p:sp>
        <p:nvSpPr>
          <p:cNvPr id="156" name="Text 154"/>
          <p:cNvSpPr/>
          <p:nvPr/>
        </p:nvSpPr>
        <p:spPr>
          <a:xfrm>
            <a:off x="6374191" y="5230368"/>
            <a:ext cx="50923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٥ محطات تصنع ٣٠٪ من الحجم · MK007 وحدها ٤٧٫٥ MLPA</a:t>
            </a:r>
            <a:endParaRPr lang="en-US" sz="1100" dirty="0"/>
          </a:p>
        </p:txBody>
      </p:sp>
      <p:sp>
        <p:nvSpPr>
          <p:cNvPr id="157" name="Shape 155"/>
          <p:cNvSpPr/>
          <p:nvPr/>
        </p:nvSpPr>
        <p:spPr>
          <a:xfrm>
            <a:off x="566928" y="4846320"/>
            <a:ext cx="5348417" cy="914400"/>
          </a:xfrm>
          <a:prstGeom prst="roundRect">
            <a:avLst>
              <a:gd name="adj" fmla="val 4000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694944" y="4937760"/>
            <a:ext cx="509238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القاع ليس فشلاً</a:t>
            </a:r>
            <a:endParaRPr lang="en-US" sz="1250" dirty="0"/>
          </a:p>
        </p:txBody>
      </p:sp>
      <p:sp>
        <p:nvSpPr>
          <p:cNvPr id="159" name="Text 157"/>
          <p:cNvSpPr/>
          <p:nvPr/>
        </p:nvSpPr>
        <p:spPr>
          <a:xfrm>
            <a:off x="694944" y="5230368"/>
            <a:ext cx="50923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 محطات دون ٤٫٥ MLPA لا تصنع سوى ٣٫٩٪ · أولويتها التكلفة والتأجير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الرابع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خطة المبيعات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رافعتان: المعاملات ثم السلة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المنهج — لماذا رافعتان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نطلب من العميل أن يعبّي أكثر مما يحتاج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0700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25272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الحجم  =  المعاملات  ×  متوسط حجم التعبئة        ←  الأولى تشغيلية، والثانية محكومة بمزيج الوقود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90488" y="1874520"/>
            <a:ext cx="5404104" cy="2926080"/>
          </a:xfrm>
          <a:prstGeom prst="roundRect">
            <a:avLst>
              <a:gd name="adj" fmla="val 1563"/>
            </a:avLst>
          </a:prstGeom>
          <a:solidFill>
            <a:srgbClr val="FFFFFF"/>
          </a:solidFill>
          <a:ln w="17780">
            <a:solidFill>
              <a:srgbClr val="2E8B6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90488" y="1874520"/>
            <a:ext cx="5404104" cy="512064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12" name="Text 10"/>
          <p:cNvSpPr/>
          <p:nvPr/>
        </p:nvSpPr>
        <p:spPr>
          <a:xfrm>
            <a:off x="6300216" y="1929384"/>
            <a:ext cx="5184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رافعة (أ) · المعاملات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300216" y="2487168"/>
            <a:ext cx="25374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٧٤٢ معاملة/يوم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947404" y="2523744"/>
            <a:ext cx="25374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٨٦٤ ألف ريال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556248" y="2926080"/>
            <a:ext cx="467258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16" name="Text 14"/>
          <p:cNvSpPr/>
          <p:nvPr/>
        </p:nvSpPr>
        <p:spPr>
          <a:xfrm>
            <a:off x="6336792" y="3035808"/>
            <a:ext cx="5111496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نقارن شكل ساعات المحطة بشكل شريحتها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نحتسب النقص في ساعات ذروتها وحدها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النقص في ساعات الهدوء اختلاف طلب لا فاقد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العلاج: طاقم الذروة وتوفّر المضخات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1874520"/>
            <a:ext cx="5404104" cy="2926080"/>
          </a:xfrm>
          <a:prstGeom prst="roundRect">
            <a:avLst>
              <a:gd name="adj" fmla="val 1563"/>
            </a:avLst>
          </a:prstGeom>
          <a:solidFill>
            <a:srgbClr val="FFFFFF"/>
          </a:solidFill>
          <a:ln w="17780">
            <a:solidFill>
              <a:srgbClr val="F5831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" y="1874520"/>
            <a:ext cx="5404104" cy="51206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1929384"/>
            <a:ext cx="5184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رافعة (ب) · حجم التعبئة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76656" y="2487168"/>
            <a:ext cx="25374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٧٧٬٢١٩ لتر/يوم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323844" y="2523744"/>
            <a:ext cx="25374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٣٬٢٢٤ ألف ريال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32688" y="2926080"/>
            <a:ext cx="467258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3" name="Text 21"/>
          <p:cNvSpPr/>
          <p:nvPr/>
        </p:nvSpPr>
        <p:spPr>
          <a:xfrm>
            <a:off x="713232" y="3035808"/>
            <a:ext cx="5111496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ثلثا تباين التعبئة مزيج وقود لا سلوك — R² ٠٫٦٦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فالمعيار من البواقي: كم تبيع مقابل ما يفسّره مزيجك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 محطة تحت ما يفسّره مزيجها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نغلق ٤٠٪ من الفجوة في ستة أشهر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40624" y="4983480"/>
            <a:ext cx="3553968" cy="868680"/>
          </a:xfrm>
          <a:prstGeom prst="roundRect">
            <a:avLst>
              <a:gd name="adj" fmla="val 4211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132064" y="506577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٤٫١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132064" y="543153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 — الفرصة المؤكَّدة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303776" y="4983480"/>
            <a:ext cx="3553968" cy="868680"/>
          </a:xfrm>
          <a:prstGeom prst="roundRect">
            <a:avLst>
              <a:gd name="adj" fmla="val 4211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95216" y="506577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١١٫٤٤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4395216" y="543153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لكل لتر — هامش الشبكة المشغّلة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" y="4983480"/>
            <a:ext cx="3553968" cy="868680"/>
          </a:xfrm>
          <a:prstGeom prst="roundRect">
            <a:avLst>
              <a:gd name="adj" fmla="val 4211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506577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١٬٨٨٦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58368" y="543153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معاملة/يوم غير مؤكَّدة — تحتاج جدول عمالة بالساعة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المستهدف بالشريحة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بالرافعتين · وستة أشهر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864762" y="1243584"/>
            <a:ext cx="172983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9107962" y="1243584"/>
            <a:ext cx="75680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243047" y="1243584"/>
            <a:ext cx="8649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378132" y="1243584"/>
            <a:ext cx="8649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R² المزيج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405103" y="1243584"/>
            <a:ext cx="97302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دون المتوقَّع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215845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رفع السلة لتر/يوم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026587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قيمتها (ر)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837329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الذروة معاملة/يوم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756186" y="1243584"/>
            <a:ext cx="108114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 (ر)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 (ر)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1609344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64762" y="1609344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07962" y="1609344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43047" y="160934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٣٣٫٠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78132" y="160934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٠٫٦٦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5103" y="1609344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215845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+٣١٬٠٠٦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026587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١٬٢٩٤٬٦٦٩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37329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٢٧٠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756186" y="1609344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٣٩٣٬٩٧٩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١٬٦٨٨٬٦٤٨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66928" y="2029968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64762" y="2029968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الأساطيل التجارية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107962" y="2029968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243047" y="2029968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٢٣٫٨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378132" y="2029968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٠٫٢٣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405103" y="2029968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215845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+٥٬٣٦٥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026587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٢٢٤٬٠١٧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837329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756186" y="2029968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٤٧٬٢٣٣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66928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٢٧١٬٢٥٠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2450592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864762" y="2450592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9107962" y="2450592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243047" y="2450592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٢٢٫٩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378132" y="2450592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٠٫١٦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405103" y="2450592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215845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+٢٨٬٤٨٧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4026587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١٬١٨٩٬٤٩٤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2837329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٢٨٤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756186" y="2450592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٢٩٤٬٨١٨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66928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١٬٤٨٤٬٣١٢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66928" y="2871216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864762" y="2871216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الأحياء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9107962" y="2871216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243047" y="2871216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٢٢٫٣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7378132" y="2871216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٠٫٠٥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6405103" y="2871216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215845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+١٠٬٢٨٣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4026587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٤٢٩٬٣٨٨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2837329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١١٥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1756186" y="2871216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١٠٤٬٣٤٨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566928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٥٣٣٬٧٣٦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66928" y="3291840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864762" y="3291840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9107962" y="3291840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8243047" y="3291840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٢٢٫٦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7378132" y="3291840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٠٫٢٠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6405103" y="3291840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5215845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+٢٬٠٧٩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4026587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٨٦٬٨٠٧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2837329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1756186" y="3291840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٢٣٬٣٦٣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566928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١١٠٬١٧٠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66928" y="3712464"/>
            <a:ext cx="11027664" cy="420624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64762" y="3712464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9107962" y="3712464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8243047" y="371246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٢٥٫٣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7378132" y="371246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—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6405103" y="3712464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5215845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+٧٧٬٢١٩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4026587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٣٬٢٢٤٬٣٧٥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2837329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٧٤٢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1756186" y="3712464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٨٦٣٬٧٤١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566928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٤٬٠٨٨٬١١٦</a:t>
            </a: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566928" y="402336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الفعل التجاري لكل شريحة</a:t>
            </a:r>
            <a:endParaRPr lang="en-US" sz="1350" dirty="0"/>
          </a:p>
        </p:txBody>
      </p:sp>
      <p:sp>
        <p:nvSpPr>
          <p:cNvPr id="86" name="Shape 84"/>
          <p:cNvSpPr/>
          <p:nvPr/>
        </p:nvSpPr>
        <p:spPr>
          <a:xfrm>
            <a:off x="566928" y="4334256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87" name="Text 85"/>
          <p:cNvSpPr/>
          <p:nvPr/>
        </p:nvSpPr>
        <p:spPr>
          <a:xfrm>
            <a:off x="9830166" y="4334256"/>
            <a:ext cx="17644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7845186" y="4334256"/>
            <a:ext cx="198498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المحرّك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2331354" y="4334256"/>
            <a:ext cx="551383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الفعل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566928" y="4334256"/>
            <a:ext cx="17644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 المعاملة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66928" y="4700016"/>
            <a:ext cx="11027664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9830166" y="4700016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50" dirty="0"/>
          </a:p>
        </p:txBody>
      </p:sp>
      <p:sp>
        <p:nvSpPr>
          <p:cNvPr id="93" name="Text 91"/>
          <p:cNvSpPr/>
          <p:nvPr/>
        </p:nvSpPr>
        <p:spPr>
          <a:xfrm>
            <a:off x="7845186" y="4700016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التعبئة والتعاقد</a:t>
            </a:r>
            <a:endParaRPr lang="en-US" sz="1050" dirty="0"/>
          </a:p>
        </p:txBody>
      </p:sp>
      <p:sp>
        <p:nvSpPr>
          <p:cNvPr id="94" name="Text 92"/>
          <p:cNvSpPr/>
          <p:nvPr/>
        </p:nvSpPr>
        <p:spPr>
          <a:xfrm>
            <a:off x="2331354" y="4700016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عقود ديزل متدرجة · خدمات شاحنات · ممر سريع</a:t>
            </a:r>
            <a:endParaRPr lang="en-US" sz="1050" dirty="0"/>
          </a:p>
        </p:txBody>
      </p:sp>
      <p:sp>
        <p:nvSpPr>
          <p:cNvPr id="95" name="Text 93"/>
          <p:cNvSpPr/>
          <p:nvPr/>
        </p:nvSpPr>
        <p:spPr>
          <a:xfrm>
            <a:off x="566928" y="4700016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٢٫٣٤ ر</a:t>
            </a:r>
            <a:endParaRPr lang="en-US" sz="1050" dirty="0"/>
          </a:p>
        </p:txBody>
      </p:sp>
      <p:sp>
        <p:nvSpPr>
          <p:cNvPr id="96" name="Shape 94"/>
          <p:cNvSpPr/>
          <p:nvPr/>
        </p:nvSpPr>
        <p:spPr>
          <a:xfrm>
            <a:off x="566928" y="5010912"/>
            <a:ext cx="11027664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830166" y="5010912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الأساطيل التجارية</a:t>
            </a:r>
            <a:endParaRPr lang="en-US" sz="1050" dirty="0"/>
          </a:p>
        </p:txBody>
      </p:sp>
      <p:sp>
        <p:nvSpPr>
          <p:cNvPr id="98" name="Text 96"/>
          <p:cNvSpPr/>
          <p:nvPr/>
        </p:nvSpPr>
        <p:spPr>
          <a:xfrm>
            <a:off x="7845186" y="5010912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عمق الحساب المؤسسي</a:t>
            </a:r>
            <a:endParaRPr lang="en-US" sz="1050" dirty="0"/>
          </a:p>
        </p:txBody>
      </p:sp>
      <p:sp>
        <p:nvSpPr>
          <p:cNvPr id="99" name="Text 97"/>
          <p:cNvSpPr/>
          <p:nvPr/>
        </p:nvSpPr>
        <p:spPr>
          <a:xfrm>
            <a:off x="2331354" y="5010912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مدير حساب · حدود ائتمان · تقرير استهلاك</a:t>
            </a:r>
            <a:endParaRPr lang="en-US" sz="1050" dirty="0"/>
          </a:p>
        </p:txBody>
      </p:sp>
      <p:sp>
        <p:nvSpPr>
          <p:cNvPr id="100" name="Text 98"/>
          <p:cNvSpPr/>
          <p:nvPr/>
        </p:nvSpPr>
        <p:spPr>
          <a:xfrm>
            <a:off x="566928" y="5010912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١٫٦٩ ر</a:t>
            </a:r>
            <a:endParaRPr lang="en-US" sz="1050" dirty="0"/>
          </a:p>
        </p:txBody>
      </p:sp>
      <p:sp>
        <p:nvSpPr>
          <p:cNvPr id="101" name="Shape 99"/>
          <p:cNvSpPr/>
          <p:nvPr/>
        </p:nvSpPr>
        <p:spPr>
          <a:xfrm>
            <a:off x="566928" y="5321808"/>
            <a:ext cx="11027664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9830166" y="5321808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50" dirty="0"/>
          </a:p>
        </p:txBody>
      </p:sp>
      <p:sp>
        <p:nvSpPr>
          <p:cNvPr id="103" name="Text 101"/>
          <p:cNvSpPr/>
          <p:nvPr/>
        </p:nvSpPr>
        <p:spPr>
          <a:xfrm>
            <a:off x="7845186" y="5321808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ساعات الذروة</a:t>
            </a:r>
            <a:endParaRPr lang="en-US" sz="1050" dirty="0"/>
          </a:p>
        </p:txBody>
      </p:sp>
      <p:sp>
        <p:nvSpPr>
          <p:cNvPr id="104" name="Text 102"/>
          <p:cNvSpPr/>
          <p:nvPr/>
        </p:nvSpPr>
        <p:spPr>
          <a:xfrm>
            <a:off x="2331354" y="5321808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طاقم الذروة · توفّر المضخات · سرعة الخدمة</a:t>
            </a:r>
            <a:endParaRPr lang="en-US" sz="1050" dirty="0"/>
          </a:p>
        </p:txBody>
      </p:sp>
      <p:sp>
        <p:nvSpPr>
          <p:cNvPr id="105" name="Text 103"/>
          <p:cNvSpPr/>
          <p:nvPr/>
        </p:nvSpPr>
        <p:spPr>
          <a:xfrm>
            <a:off x="566928" y="5321808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١٫٦٣ ر</a:t>
            </a:r>
            <a:endParaRPr lang="en-US" sz="1050" dirty="0"/>
          </a:p>
        </p:txBody>
      </p:sp>
      <p:sp>
        <p:nvSpPr>
          <p:cNvPr id="106" name="Shape 104"/>
          <p:cNvSpPr/>
          <p:nvPr/>
        </p:nvSpPr>
        <p:spPr>
          <a:xfrm>
            <a:off x="566928" y="5632704"/>
            <a:ext cx="11027664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9830166" y="5632704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الأحياء</a:t>
            </a:r>
            <a:endParaRPr lang="en-US" sz="1050" dirty="0"/>
          </a:p>
        </p:txBody>
      </p:sp>
      <p:sp>
        <p:nvSpPr>
          <p:cNvPr id="108" name="Text 106"/>
          <p:cNvSpPr/>
          <p:nvPr/>
        </p:nvSpPr>
        <p:spPr>
          <a:xfrm>
            <a:off x="7845186" y="5632704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التردد</a:t>
            </a:r>
            <a:endParaRPr lang="en-US" sz="1050" dirty="0"/>
          </a:p>
        </p:txBody>
      </p:sp>
      <p:sp>
        <p:nvSpPr>
          <p:cNvPr id="109" name="Text 107"/>
          <p:cNvSpPr/>
          <p:nvPr/>
        </p:nvSpPr>
        <p:spPr>
          <a:xfrm>
            <a:off x="2331354" y="5632704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ساعات العمل · مزيج المستأجرين · سرعة الذروة</a:t>
            </a:r>
            <a:endParaRPr lang="en-US" sz="1050" dirty="0"/>
          </a:p>
        </p:txBody>
      </p:sp>
      <p:sp>
        <p:nvSpPr>
          <p:cNvPr id="110" name="Text 108"/>
          <p:cNvSpPr/>
          <p:nvPr/>
        </p:nvSpPr>
        <p:spPr>
          <a:xfrm>
            <a:off x="566928" y="5632704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١٫٥٨ ر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66928" y="5943600"/>
            <a:ext cx="11027664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9830166" y="5943600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1050" dirty="0"/>
          </a:p>
        </p:txBody>
      </p:sp>
      <p:sp>
        <p:nvSpPr>
          <p:cNvPr id="113" name="Text 111"/>
          <p:cNvSpPr/>
          <p:nvPr/>
        </p:nvSpPr>
        <p:spPr>
          <a:xfrm>
            <a:off x="7845186" y="5943600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حماية الربحية</a:t>
            </a:r>
            <a:endParaRPr lang="en-US" sz="1050" dirty="0"/>
          </a:p>
        </p:txBody>
      </p:sp>
      <p:sp>
        <p:nvSpPr>
          <p:cNvPr id="114" name="Text 112"/>
          <p:cNvSpPr/>
          <p:nvPr/>
        </p:nvSpPr>
        <p:spPr>
          <a:xfrm>
            <a:off x="2331354" y="5943600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ضبط العمالة · تأجير الوحدات · لا إنفاق تسويقي</a:t>
            </a:r>
            <a:endParaRPr lang="en-US" sz="1050" dirty="0"/>
          </a:p>
        </p:txBody>
      </p:sp>
      <p:sp>
        <p:nvSpPr>
          <p:cNvPr id="115" name="Text 113"/>
          <p:cNvSpPr/>
          <p:nvPr/>
        </p:nvSpPr>
        <p:spPr>
          <a:xfrm>
            <a:off x="566928" y="5943600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١٫٦١ ر</a:t>
            </a:r>
            <a:endParaRPr lang="en-US" sz="1050" dirty="0"/>
          </a:p>
        </p:txBody>
      </p:sp>
      <p:sp>
        <p:nvSpPr>
          <p:cNvPr id="116" name="Text 114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R² يقيس كم من تباين التعبئة يفسّره مزيج الوقود — كلما ارتفع قلّ ما يملكه التشغيل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أكبر ١٢ فرصة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مرتّبة بالقيمة السنوية · وهي قائمة الأولوية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790065" y="1243584"/>
            <a:ext cx="180452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9088305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785035" y="1243584"/>
            <a:ext cx="130326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983023" y="1243584"/>
            <a:ext cx="8020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080760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المتوقَّع من مزيجها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379000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476736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رفع السلة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574473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الذروة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471706" y="1243584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القيمة السنوية (ر)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1243584"/>
            <a:ext cx="190477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 المرصودة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16093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90065" y="16093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الليث - الفضيلة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088305" y="1609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MK289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85035" y="16093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983023" y="16093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٤٥٫٥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080760" y="1609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٥١٫١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379000" y="1609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؜-٥٫٦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476736" y="1609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+٦٬٧٠٨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574473" y="1609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471706" y="16093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٣٢٠٬٠٩٣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66928" y="16093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 · سلة دون المتوقَّع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19522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790065" y="19522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أبو وافي العمرة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088305" y="1952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MK033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785035" y="19522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83023" y="19522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٣٠٫٩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080760" y="1952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٣٩٫٥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379000" y="1952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؜-٨٫٦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476736" y="1952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+٦٬٧٣٠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574473" y="1952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471706" y="19522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٢٩٨٬٢٥٣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6928" y="19522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 · ديزل مرتفع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66928" y="22951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90065" y="22951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الصفا - أحد المسارحة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088305" y="22951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JA092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85035" y="22951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983023" y="22951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١٩٫٠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080760" y="22951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٢٤٫٣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379000" y="22951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؜-٥٫٣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476736" y="22951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+٦٬٤٣٧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574473" y="22951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2471706" y="22951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٢٧٢٬٩٨٩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566928" y="22951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66928" y="26380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790065" y="26380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الفلاح - فلسطين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088305" y="26380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MK210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7785035" y="26380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6983023" y="26380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٢٤٫٢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080760" y="26380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٣١٫٩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379000" y="26380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؜-٧٫٧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4476736" y="26380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+٥٬٩١٢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3574473" y="26380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2471706" y="26380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٢٦٨٬٣٥٦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566928" y="26380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 · سلة دون المتوقَّع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66928" y="29809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790065" y="29809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جنوب صبيا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9088305" y="29809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JA348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7785035" y="29809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الأحياء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6983023" y="29809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١٥٫٤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6080760" y="29809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٢٢٫٥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5379000" y="29809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؜-٧٫١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4476736" y="29809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+٤٬٨١٧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3574473" y="29809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2471706" y="29809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٢٠٨٬٧٩٦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566928" y="29809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566928" y="33238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790065" y="33238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العمرة الجديدة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9088305" y="33238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7785035" y="33238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6983023" y="33238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٣٠٫٦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6080760" y="33238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٢٨٫٦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5379000" y="33238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٢٫٠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4476736" y="33238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+٢٬٣٠٩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3574473" y="33238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٨٥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2471706" y="33238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٢٠٤٬٦٧٣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566928" y="33238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 · سلة دون المتوقَّع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566928" y="36667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9790065" y="36667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الحسينية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9088305" y="36667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MK008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7785035" y="36667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6983023" y="36667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١٩٫١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6080760" y="36667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٢١٫٧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5379000" y="36667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؜-٢٫٦</a:t>
            </a:r>
            <a:endParaRPr lang="en-US" sz="1000" dirty="0"/>
          </a:p>
        </p:txBody>
      </p:sp>
      <p:sp>
        <p:nvSpPr>
          <p:cNvPr id="92" name="Text 90"/>
          <p:cNvSpPr/>
          <p:nvPr/>
        </p:nvSpPr>
        <p:spPr>
          <a:xfrm>
            <a:off x="4476736" y="36667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+٤٬٠٦٥</a:t>
            </a:r>
            <a:endParaRPr lang="en-US" sz="1000" dirty="0"/>
          </a:p>
        </p:txBody>
      </p:sp>
      <p:sp>
        <p:nvSpPr>
          <p:cNvPr id="93" name="Text 91"/>
          <p:cNvSpPr/>
          <p:nvPr/>
        </p:nvSpPr>
        <p:spPr>
          <a:xfrm>
            <a:off x="3574473" y="36667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2471706" y="36667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١٩٥٬١٠٦</a:t>
            </a:r>
            <a:endParaRPr lang="en-US" sz="1000" dirty="0"/>
          </a:p>
        </p:txBody>
      </p:sp>
      <p:sp>
        <p:nvSpPr>
          <p:cNvPr id="95" name="Text 93"/>
          <p:cNvSpPr/>
          <p:nvPr/>
        </p:nvSpPr>
        <p:spPr>
          <a:xfrm>
            <a:off x="566928" y="36667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فجوة مطابقة · فاقد ذروة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566928" y="40096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790065" y="40096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جبل النور</a:t>
            </a:r>
            <a:endParaRPr lang="en-US" sz="1000" dirty="0"/>
          </a:p>
        </p:txBody>
      </p:sp>
      <p:sp>
        <p:nvSpPr>
          <p:cNvPr id="98" name="Text 96"/>
          <p:cNvSpPr/>
          <p:nvPr/>
        </p:nvSpPr>
        <p:spPr>
          <a:xfrm>
            <a:off x="9088305" y="40096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MK001</a:t>
            </a:r>
            <a:endParaRPr lang="en-US" sz="1000" dirty="0"/>
          </a:p>
        </p:txBody>
      </p:sp>
      <p:sp>
        <p:nvSpPr>
          <p:cNvPr id="99" name="Text 97"/>
          <p:cNvSpPr/>
          <p:nvPr/>
        </p:nvSpPr>
        <p:spPr>
          <a:xfrm>
            <a:off x="7785035" y="40096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6983023" y="40096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١٩٫٣</a:t>
            </a:r>
            <a:endParaRPr lang="en-US" sz="1000" dirty="0"/>
          </a:p>
        </p:txBody>
      </p:sp>
      <p:sp>
        <p:nvSpPr>
          <p:cNvPr id="101" name="Text 99"/>
          <p:cNvSpPr/>
          <p:nvPr/>
        </p:nvSpPr>
        <p:spPr>
          <a:xfrm>
            <a:off x="6080760" y="40096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٢١٫٧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5379000" y="40096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؜-٢٫٤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476736" y="40096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+٤٬٢٨٧</a:t>
            </a:r>
            <a:endParaRPr lang="en-US" sz="1000" dirty="0"/>
          </a:p>
        </p:txBody>
      </p:sp>
      <p:sp>
        <p:nvSpPr>
          <p:cNvPr id="104" name="Text 102"/>
          <p:cNvSpPr/>
          <p:nvPr/>
        </p:nvSpPr>
        <p:spPr>
          <a:xfrm>
            <a:off x="3574473" y="40096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000" dirty="0"/>
          </a:p>
        </p:txBody>
      </p:sp>
      <p:sp>
        <p:nvSpPr>
          <p:cNvPr id="105" name="Text 103"/>
          <p:cNvSpPr/>
          <p:nvPr/>
        </p:nvSpPr>
        <p:spPr>
          <a:xfrm>
            <a:off x="2471706" y="40096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١٨٤٬٥٤٣</a:t>
            </a:r>
            <a:endParaRPr lang="en-US" sz="1000" dirty="0"/>
          </a:p>
        </p:txBody>
      </p:sp>
      <p:sp>
        <p:nvSpPr>
          <p:cNvPr id="106" name="Text 104"/>
          <p:cNvSpPr/>
          <p:nvPr/>
        </p:nvSpPr>
        <p:spPr>
          <a:xfrm>
            <a:off x="566928" y="40096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دفع مفقودة · سلة دون المتوقَّع</a:t>
            </a:r>
            <a:endParaRPr lang="en-US" sz="900" dirty="0"/>
          </a:p>
        </p:txBody>
      </p:sp>
      <p:sp>
        <p:nvSpPr>
          <p:cNvPr id="107" name="Shape 105"/>
          <p:cNvSpPr/>
          <p:nvPr/>
        </p:nvSpPr>
        <p:spPr>
          <a:xfrm>
            <a:off x="566928" y="43525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9790065" y="43525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الرصيفة</a:t>
            </a:r>
            <a:endParaRPr lang="en-US" sz="1000" dirty="0"/>
          </a:p>
        </p:txBody>
      </p:sp>
      <p:sp>
        <p:nvSpPr>
          <p:cNvPr id="109" name="Text 107"/>
          <p:cNvSpPr/>
          <p:nvPr/>
        </p:nvSpPr>
        <p:spPr>
          <a:xfrm>
            <a:off x="9088305" y="43525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MK016</a:t>
            </a:r>
            <a:endParaRPr lang="en-US" sz="1000" dirty="0"/>
          </a:p>
        </p:txBody>
      </p:sp>
      <p:sp>
        <p:nvSpPr>
          <p:cNvPr id="110" name="Text 108"/>
          <p:cNvSpPr/>
          <p:nvPr/>
        </p:nvSpPr>
        <p:spPr>
          <a:xfrm>
            <a:off x="7785035" y="43525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111" name="Text 109"/>
          <p:cNvSpPr/>
          <p:nvPr/>
        </p:nvSpPr>
        <p:spPr>
          <a:xfrm>
            <a:off x="6983023" y="43525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١٩٫٣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080760" y="43525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٢١٫٧</a:t>
            </a:r>
            <a:endParaRPr lang="en-US" sz="1000" dirty="0"/>
          </a:p>
        </p:txBody>
      </p:sp>
      <p:sp>
        <p:nvSpPr>
          <p:cNvPr id="113" name="Text 111"/>
          <p:cNvSpPr/>
          <p:nvPr/>
        </p:nvSpPr>
        <p:spPr>
          <a:xfrm>
            <a:off x="5379000" y="43525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؜-٢٫٤</a:t>
            </a:r>
            <a:endParaRPr lang="en-US" sz="1000" dirty="0"/>
          </a:p>
        </p:txBody>
      </p:sp>
      <p:sp>
        <p:nvSpPr>
          <p:cNvPr id="114" name="Text 112"/>
          <p:cNvSpPr/>
          <p:nvPr/>
        </p:nvSpPr>
        <p:spPr>
          <a:xfrm>
            <a:off x="4476736" y="43525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+٣٬٦١٨</a:t>
            </a:r>
            <a:endParaRPr lang="en-US" sz="1000" dirty="0"/>
          </a:p>
        </p:txBody>
      </p:sp>
      <p:sp>
        <p:nvSpPr>
          <p:cNvPr id="115" name="Text 113"/>
          <p:cNvSpPr/>
          <p:nvPr/>
        </p:nvSpPr>
        <p:spPr>
          <a:xfrm>
            <a:off x="3574473" y="43525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000" dirty="0"/>
          </a:p>
        </p:txBody>
      </p:sp>
      <p:sp>
        <p:nvSpPr>
          <p:cNvPr id="116" name="Text 114"/>
          <p:cNvSpPr/>
          <p:nvPr/>
        </p:nvSpPr>
        <p:spPr>
          <a:xfrm>
            <a:off x="2471706" y="43525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١٥٥٬٨٨٠</a:t>
            </a:r>
            <a:endParaRPr lang="en-US" sz="1000" dirty="0"/>
          </a:p>
        </p:txBody>
      </p:sp>
      <p:sp>
        <p:nvSpPr>
          <p:cNvPr id="117" name="Text 115"/>
          <p:cNvSpPr/>
          <p:nvPr/>
        </p:nvSpPr>
        <p:spPr>
          <a:xfrm>
            <a:off x="566928" y="43525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دفع مفقودة · سلة دون المتوقَّع</a:t>
            </a:r>
            <a:endParaRPr lang="en-US" sz="900" dirty="0"/>
          </a:p>
        </p:txBody>
      </p:sp>
      <p:sp>
        <p:nvSpPr>
          <p:cNvPr id="118" name="Shape 116"/>
          <p:cNvSpPr/>
          <p:nvPr/>
        </p:nvSpPr>
        <p:spPr>
          <a:xfrm>
            <a:off x="566928" y="46954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9790065" y="46954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ممشى الشوقية</a:t>
            </a:r>
            <a:endParaRPr lang="en-US" sz="1000" dirty="0"/>
          </a:p>
        </p:txBody>
      </p:sp>
      <p:sp>
        <p:nvSpPr>
          <p:cNvPr id="120" name="Text 118"/>
          <p:cNvSpPr/>
          <p:nvPr/>
        </p:nvSpPr>
        <p:spPr>
          <a:xfrm>
            <a:off x="9088305" y="46954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MK020</a:t>
            </a:r>
            <a:endParaRPr lang="en-US" sz="1000" dirty="0"/>
          </a:p>
        </p:txBody>
      </p:sp>
      <p:sp>
        <p:nvSpPr>
          <p:cNvPr id="121" name="Text 119"/>
          <p:cNvSpPr/>
          <p:nvPr/>
        </p:nvSpPr>
        <p:spPr>
          <a:xfrm>
            <a:off x="7785035" y="46954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122" name="Text 120"/>
          <p:cNvSpPr/>
          <p:nvPr/>
        </p:nvSpPr>
        <p:spPr>
          <a:xfrm>
            <a:off x="6983023" y="46954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١٩٫٢</a:t>
            </a:r>
            <a:endParaRPr lang="en-US" sz="1000" dirty="0"/>
          </a:p>
        </p:txBody>
      </p:sp>
      <p:sp>
        <p:nvSpPr>
          <p:cNvPr id="123" name="Text 121"/>
          <p:cNvSpPr/>
          <p:nvPr/>
        </p:nvSpPr>
        <p:spPr>
          <a:xfrm>
            <a:off x="6080760" y="46954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٢١٫٧</a:t>
            </a:r>
            <a:endParaRPr lang="en-US" sz="1000" dirty="0"/>
          </a:p>
        </p:txBody>
      </p:sp>
      <p:sp>
        <p:nvSpPr>
          <p:cNvPr id="124" name="Text 122"/>
          <p:cNvSpPr/>
          <p:nvPr/>
        </p:nvSpPr>
        <p:spPr>
          <a:xfrm>
            <a:off x="5379000" y="46954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؜-٢٫٥</a:t>
            </a:r>
            <a:endParaRPr lang="en-US" sz="1000" dirty="0"/>
          </a:p>
        </p:txBody>
      </p:sp>
      <p:sp>
        <p:nvSpPr>
          <p:cNvPr id="125" name="Text 123"/>
          <p:cNvSpPr/>
          <p:nvPr/>
        </p:nvSpPr>
        <p:spPr>
          <a:xfrm>
            <a:off x="4476736" y="46954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+٣٬١٩٩</a:t>
            </a:r>
            <a:endParaRPr lang="en-US" sz="1000" dirty="0"/>
          </a:p>
        </p:txBody>
      </p:sp>
      <p:sp>
        <p:nvSpPr>
          <p:cNvPr id="126" name="Text 124"/>
          <p:cNvSpPr/>
          <p:nvPr/>
        </p:nvSpPr>
        <p:spPr>
          <a:xfrm>
            <a:off x="3574473" y="46954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000" dirty="0"/>
          </a:p>
        </p:txBody>
      </p:sp>
      <p:sp>
        <p:nvSpPr>
          <p:cNvPr id="127" name="Text 125"/>
          <p:cNvSpPr/>
          <p:nvPr/>
        </p:nvSpPr>
        <p:spPr>
          <a:xfrm>
            <a:off x="2471706" y="46954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١٤٣٬٤٤٤</a:t>
            </a:r>
            <a:endParaRPr lang="en-US" sz="1000" dirty="0"/>
          </a:p>
        </p:txBody>
      </p:sp>
      <p:sp>
        <p:nvSpPr>
          <p:cNvPr id="128" name="Text 126"/>
          <p:cNvSpPr/>
          <p:nvPr/>
        </p:nvSpPr>
        <p:spPr>
          <a:xfrm>
            <a:off x="566928" y="46954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دفع مفقودة · سلة دون المتوقَّع</a:t>
            </a:r>
            <a:endParaRPr lang="en-US" sz="900" dirty="0"/>
          </a:p>
        </p:txBody>
      </p:sp>
      <p:sp>
        <p:nvSpPr>
          <p:cNvPr id="129" name="Shape 127"/>
          <p:cNvSpPr/>
          <p:nvPr/>
        </p:nvSpPr>
        <p:spPr>
          <a:xfrm>
            <a:off x="566928" y="50383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9790065" y="50383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الجعرانة</a:t>
            </a:r>
            <a:endParaRPr lang="en-US" sz="1000" dirty="0"/>
          </a:p>
        </p:txBody>
      </p:sp>
      <p:sp>
        <p:nvSpPr>
          <p:cNvPr id="131" name="Text 129"/>
          <p:cNvSpPr/>
          <p:nvPr/>
        </p:nvSpPr>
        <p:spPr>
          <a:xfrm>
            <a:off x="9088305" y="5038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MK064</a:t>
            </a:r>
            <a:endParaRPr lang="en-US" sz="1000" dirty="0"/>
          </a:p>
        </p:txBody>
      </p:sp>
      <p:sp>
        <p:nvSpPr>
          <p:cNvPr id="132" name="Text 130"/>
          <p:cNvSpPr/>
          <p:nvPr/>
        </p:nvSpPr>
        <p:spPr>
          <a:xfrm>
            <a:off x="7785035" y="50383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00" dirty="0"/>
          </a:p>
        </p:txBody>
      </p:sp>
      <p:sp>
        <p:nvSpPr>
          <p:cNvPr id="133" name="Text 131"/>
          <p:cNvSpPr/>
          <p:nvPr/>
        </p:nvSpPr>
        <p:spPr>
          <a:xfrm>
            <a:off x="6983023" y="50383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٢٤٫٥</a:t>
            </a:r>
            <a:endParaRPr lang="en-US" sz="1000" dirty="0"/>
          </a:p>
        </p:txBody>
      </p:sp>
      <p:sp>
        <p:nvSpPr>
          <p:cNvPr id="134" name="Text 132"/>
          <p:cNvSpPr/>
          <p:nvPr/>
        </p:nvSpPr>
        <p:spPr>
          <a:xfrm>
            <a:off x="6080760" y="5038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٢٨٫٦</a:t>
            </a:r>
            <a:endParaRPr lang="en-US" sz="1000" dirty="0"/>
          </a:p>
        </p:txBody>
      </p:sp>
      <p:sp>
        <p:nvSpPr>
          <p:cNvPr id="135" name="Text 133"/>
          <p:cNvSpPr/>
          <p:nvPr/>
        </p:nvSpPr>
        <p:spPr>
          <a:xfrm>
            <a:off x="5379000" y="5038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؜-٤٫١</a:t>
            </a:r>
            <a:endParaRPr lang="en-US" sz="1000" dirty="0"/>
          </a:p>
        </p:txBody>
      </p:sp>
      <p:sp>
        <p:nvSpPr>
          <p:cNvPr id="136" name="Text 134"/>
          <p:cNvSpPr/>
          <p:nvPr/>
        </p:nvSpPr>
        <p:spPr>
          <a:xfrm>
            <a:off x="4476736" y="5038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+٣٬٣٤٩</a:t>
            </a:r>
            <a:endParaRPr lang="en-US" sz="1000" dirty="0"/>
          </a:p>
        </p:txBody>
      </p:sp>
      <p:sp>
        <p:nvSpPr>
          <p:cNvPr id="137" name="Text 135"/>
          <p:cNvSpPr/>
          <p:nvPr/>
        </p:nvSpPr>
        <p:spPr>
          <a:xfrm>
            <a:off x="3574473" y="5038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000" dirty="0"/>
          </a:p>
        </p:txBody>
      </p:sp>
      <p:sp>
        <p:nvSpPr>
          <p:cNvPr id="138" name="Text 136"/>
          <p:cNvSpPr/>
          <p:nvPr/>
        </p:nvSpPr>
        <p:spPr>
          <a:xfrm>
            <a:off x="2471706" y="50383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١٤٣٬٣٦٤</a:t>
            </a:r>
            <a:endParaRPr lang="en-US" sz="1000" dirty="0"/>
          </a:p>
        </p:txBody>
      </p:sp>
      <p:sp>
        <p:nvSpPr>
          <p:cNvPr id="139" name="Text 137"/>
          <p:cNvSpPr/>
          <p:nvPr/>
        </p:nvSpPr>
        <p:spPr>
          <a:xfrm>
            <a:off x="566928" y="50383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 · ديزل مرتفع</a:t>
            </a:r>
            <a:endParaRPr lang="en-US" sz="900" dirty="0"/>
          </a:p>
        </p:txBody>
      </p:sp>
      <p:sp>
        <p:nvSpPr>
          <p:cNvPr id="140" name="Shape 138"/>
          <p:cNvSpPr/>
          <p:nvPr/>
        </p:nvSpPr>
        <p:spPr>
          <a:xfrm>
            <a:off x="566928" y="53812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9790065" y="53812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العوالي</a:t>
            </a:r>
            <a:endParaRPr lang="en-US" sz="1000" dirty="0"/>
          </a:p>
        </p:txBody>
      </p:sp>
      <p:sp>
        <p:nvSpPr>
          <p:cNvPr id="142" name="Text 140"/>
          <p:cNvSpPr/>
          <p:nvPr/>
        </p:nvSpPr>
        <p:spPr>
          <a:xfrm>
            <a:off x="9088305" y="5381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MK003</a:t>
            </a:r>
            <a:endParaRPr lang="en-US" sz="1000" dirty="0"/>
          </a:p>
        </p:txBody>
      </p:sp>
      <p:sp>
        <p:nvSpPr>
          <p:cNvPr id="143" name="Text 141"/>
          <p:cNvSpPr/>
          <p:nvPr/>
        </p:nvSpPr>
        <p:spPr>
          <a:xfrm>
            <a:off x="7785035" y="53812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144" name="Text 142"/>
          <p:cNvSpPr/>
          <p:nvPr/>
        </p:nvSpPr>
        <p:spPr>
          <a:xfrm>
            <a:off x="6983023" y="53812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٢٧٫٢</a:t>
            </a:r>
            <a:endParaRPr lang="en-US" sz="1000" dirty="0"/>
          </a:p>
        </p:txBody>
      </p:sp>
      <p:sp>
        <p:nvSpPr>
          <p:cNvPr id="145" name="Text 143"/>
          <p:cNvSpPr/>
          <p:nvPr/>
        </p:nvSpPr>
        <p:spPr>
          <a:xfrm>
            <a:off x="6080760" y="5381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٢١٫٧</a:t>
            </a:r>
            <a:endParaRPr lang="en-US" sz="1000" dirty="0"/>
          </a:p>
        </p:txBody>
      </p:sp>
      <p:sp>
        <p:nvSpPr>
          <p:cNvPr id="146" name="Text 144"/>
          <p:cNvSpPr/>
          <p:nvPr/>
        </p:nvSpPr>
        <p:spPr>
          <a:xfrm>
            <a:off x="5379000" y="5381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٥٫٤</a:t>
            </a:r>
            <a:endParaRPr lang="en-US" sz="1000" dirty="0"/>
          </a:p>
        </p:txBody>
      </p:sp>
      <p:sp>
        <p:nvSpPr>
          <p:cNvPr id="147" name="Text 145"/>
          <p:cNvSpPr/>
          <p:nvPr/>
        </p:nvSpPr>
        <p:spPr>
          <a:xfrm>
            <a:off x="4476736" y="5381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</a:t>
            </a:r>
            <a:endParaRPr lang="en-US" sz="1000" dirty="0"/>
          </a:p>
        </p:txBody>
      </p:sp>
      <p:sp>
        <p:nvSpPr>
          <p:cNvPr id="148" name="Text 146"/>
          <p:cNvSpPr/>
          <p:nvPr/>
        </p:nvSpPr>
        <p:spPr>
          <a:xfrm>
            <a:off x="3574473" y="5381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١١٩</a:t>
            </a:r>
            <a:endParaRPr lang="en-US" sz="1000" dirty="0"/>
          </a:p>
        </p:txBody>
      </p:sp>
      <p:sp>
        <p:nvSpPr>
          <p:cNvPr id="149" name="Text 147"/>
          <p:cNvSpPr/>
          <p:nvPr/>
        </p:nvSpPr>
        <p:spPr>
          <a:xfrm>
            <a:off x="2471706" y="53812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١٣٤٬٨٨١</a:t>
            </a:r>
            <a:endParaRPr lang="en-US" sz="1000" dirty="0"/>
          </a:p>
        </p:txBody>
      </p:sp>
      <p:sp>
        <p:nvSpPr>
          <p:cNvPr id="150" name="Text 148"/>
          <p:cNvSpPr/>
          <p:nvPr/>
        </p:nvSpPr>
        <p:spPr>
          <a:xfrm>
            <a:off x="566928" y="53812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</a:t>
            </a:r>
            <a:endParaRPr lang="en-US" sz="900" dirty="0"/>
          </a:p>
        </p:txBody>
      </p:sp>
      <p:sp>
        <p:nvSpPr>
          <p:cNvPr id="151" name="Shape 149"/>
          <p:cNvSpPr/>
          <p:nvPr/>
        </p:nvSpPr>
        <p:spPr>
          <a:xfrm>
            <a:off x="566928" y="577900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152" name="Text 150"/>
          <p:cNvSpPr/>
          <p:nvPr/>
        </p:nvSpPr>
        <p:spPr>
          <a:xfrm>
            <a:off x="749808" y="582472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هذه الاثنتا عشرة تحمل ٦٢٪ من الفرصة · والعمرة الجديدة ليست فيها: تعبئتها فوق ما يفسّره مزيجها، وتغطية خزانها ٢٫٥ يوم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مستهدف المحطة إلى مستهدف العامل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 طبقات — الوحدة «معاملة» في الأوليين والريال في الثالثة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15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207008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الاشتقاق — العمرة الجديدة MK007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9198864" y="1883664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9198864" y="1956816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٤٬٢٦١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198864" y="2322576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6D2C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 يومياً — كل المحطة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887968" y="1883664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◀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92240" y="1499616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5F2ED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65392" y="15453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الصباح ٦ص – ٦م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65392" y="1746504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٢٬٠٨٧ معاملة ÷ ١١ عاملاً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565392" y="2011680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= ١٩٠ للعامل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92240" y="2286000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65392" y="2331720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المساء ٦م – ٦ص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65392" y="2532888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٢٬١٧٤ معاملة ÷ ٩ عمال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65392" y="279806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= ٢٤٢ للعامل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181344" y="1883664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◀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785616" y="1883664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5F2ED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58768" y="192938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858768" y="2130552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المساء ٥١٪ من الطلب · ٤٥٪ من الطاقم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3858768" y="23957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المسائي +٢٧٪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474720" y="1883664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◀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078992" y="1883664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5F2ED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52144" y="192938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نطلبه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52144" y="2130552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 وردية المساء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152144" y="23957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 معاملة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66928" y="2962656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الأرقام — كلها بالمعاملة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66928" y="325526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3" name="Text 31"/>
          <p:cNvSpPr/>
          <p:nvPr/>
        </p:nvSpPr>
        <p:spPr>
          <a:xfrm>
            <a:off x="9988622" y="3255264"/>
            <a:ext cx="160597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9132104" y="3255264"/>
            <a:ext cx="85651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847328" y="3255264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 المحطة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776681" y="3255264"/>
            <a:ext cx="107064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منها صباحاً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706034" y="3255264"/>
            <a:ext cx="107064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منها مساءً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742451" y="3255264"/>
            <a:ext cx="96358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عمال ص / م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3671804" y="3255264"/>
            <a:ext cx="107064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عبء الصباحي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2601157" y="3255264"/>
            <a:ext cx="107064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عبء المسائي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1744640" y="3255264"/>
            <a:ext cx="85651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66928" y="3255264"/>
            <a:ext cx="11777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المستهدف اليومي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66928" y="3621024"/>
            <a:ext cx="11027664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988622" y="3621024"/>
            <a:ext cx="1605970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العمرة الجديدة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9132104" y="3621024"/>
            <a:ext cx="856518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847328" y="3621024"/>
            <a:ext cx="128477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٤٬٢٦١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6776681" y="3621024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٢٬٠٨٧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5706034" y="3621024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٢٬١٧٤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4742451" y="3621024"/>
            <a:ext cx="963582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 / ٩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3671804" y="3621024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١٩٠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2601157" y="3621024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٢٤٢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1744640" y="3621024"/>
            <a:ext cx="856518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+٢٧٪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566928" y="3621024"/>
            <a:ext cx="1177712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٨٥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66928" y="3927348"/>
            <a:ext cx="11027664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988622" y="3927348"/>
            <a:ext cx="1605970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الشوقية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9132104" y="3927348"/>
            <a:ext cx="856518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MK017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7847328" y="3927348"/>
            <a:ext cx="128477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١٬٢٦٩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6776681" y="3927348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٥٦٧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5706034" y="3927348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٧٠٢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4742451" y="3927348"/>
            <a:ext cx="963582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/ ٣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3671804" y="3927348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١٨٩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2601157" y="3927348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٢٣٤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1744640" y="3927348"/>
            <a:ext cx="856518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+٢٤٪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566928" y="3927348"/>
            <a:ext cx="1177712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566928" y="4233672"/>
            <a:ext cx="11027664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988622" y="4233672"/>
            <a:ext cx="1605970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9132104" y="4233672"/>
            <a:ext cx="856518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MK002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7847328" y="4233672"/>
            <a:ext cx="128477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٨٦٥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6776681" y="4233672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٤٢٩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5706034" y="4233672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٤٣٦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4742451" y="4233672"/>
            <a:ext cx="963582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 / ٢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3671804" y="4233672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٢١٤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2601157" y="4233672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٢١٨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1744640" y="4233672"/>
            <a:ext cx="856518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+٢٪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566928" y="4233672"/>
            <a:ext cx="1177712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566928" y="4539996"/>
            <a:ext cx="11027664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9988622" y="4539996"/>
            <a:ext cx="1605970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 درويش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9132104" y="4539996"/>
            <a:ext cx="856518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MK023</a:t>
            </a:r>
            <a:endParaRPr lang="en-US" sz="1050" dirty="0"/>
          </a:p>
        </p:txBody>
      </p:sp>
      <p:sp>
        <p:nvSpPr>
          <p:cNvPr id="79" name="Text 77"/>
          <p:cNvSpPr/>
          <p:nvPr/>
        </p:nvSpPr>
        <p:spPr>
          <a:xfrm>
            <a:off x="7847328" y="4539996"/>
            <a:ext cx="128477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٧٩٠</a:t>
            </a:r>
            <a:endParaRPr lang="en-US" sz="1050" dirty="0"/>
          </a:p>
        </p:txBody>
      </p:sp>
      <p:sp>
        <p:nvSpPr>
          <p:cNvPr id="80" name="Text 78"/>
          <p:cNvSpPr/>
          <p:nvPr/>
        </p:nvSpPr>
        <p:spPr>
          <a:xfrm>
            <a:off x="6776681" y="4539996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٣٥٧</a:t>
            </a:r>
            <a:endParaRPr lang="en-US" sz="1050" dirty="0"/>
          </a:p>
        </p:txBody>
      </p:sp>
      <p:sp>
        <p:nvSpPr>
          <p:cNvPr id="81" name="Text 79"/>
          <p:cNvSpPr/>
          <p:nvPr/>
        </p:nvSpPr>
        <p:spPr>
          <a:xfrm>
            <a:off x="5706034" y="4539996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٤٣٤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4742451" y="4539996"/>
            <a:ext cx="963582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 / ٢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3671804" y="4539996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١٧٨</a:t>
            </a:r>
            <a:endParaRPr lang="en-US" sz="1050" dirty="0"/>
          </a:p>
        </p:txBody>
      </p:sp>
      <p:sp>
        <p:nvSpPr>
          <p:cNvPr id="84" name="Text 82"/>
          <p:cNvSpPr/>
          <p:nvPr/>
        </p:nvSpPr>
        <p:spPr>
          <a:xfrm>
            <a:off x="2601157" y="4539996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٢١٧</a:t>
            </a:r>
            <a:endParaRPr lang="en-US" sz="1050" dirty="0"/>
          </a:p>
        </p:txBody>
      </p:sp>
      <p:sp>
        <p:nvSpPr>
          <p:cNvPr id="85" name="Text 83"/>
          <p:cNvSpPr/>
          <p:nvPr/>
        </p:nvSpPr>
        <p:spPr>
          <a:xfrm>
            <a:off x="1744640" y="4539996"/>
            <a:ext cx="856518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+٢٢٪</a:t>
            </a:r>
            <a:endParaRPr lang="en-US" sz="1050" dirty="0"/>
          </a:p>
        </p:txBody>
      </p:sp>
      <p:sp>
        <p:nvSpPr>
          <p:cNvPr id="86" name="Text 84"/>
          <p:cNvSpPr/>
          <p:nvPr/>
        </p:nvSpPr>
        <p:spPr>
          <a:xfrm>
            <a:off x="566928" y="4539996"/>
            <a:ext cx="1177712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</a:t>
            </a:r>
            <a:endParaRPr lang="en-US" sz="1050" dirty="0"/>
          </a:p>
        </p:txBody>
      </p:sp>
      <p:sp>
        <p:nvSpPr>
          <p:cNvPr id="87" name="Shape 85"/>
          <p:cNvSpPr/>
          <p:nvPr/>
        </p:nvSpPr>
        <p:spPr>
          <a:xfrm>
            <a:off x="566928" y="4846320"/>
            <a:ext cx="11027664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9988622" y="4846320"/>
            <a:ext cx="1605970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الشرايع</a:t>
            </a:r>
            <a:endParaRPr lang="en-US" sz="1050" dirty="0"/>
          </a:p>
        </p:txBody>
      </p:sp>
      <p:sp>
        <p:nvSpPr>
          <p:cNvPr id="89" name="Text 87"/>
          <p:cNvSpPr/>
          <p:nvPr/>
        </p:nvSpPr>
        <p:spPr>
          <a:xfrm>
            <a:off x="9132104" y="4846320"/>
            <a:ext cx="856518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MK019</a:t>
            </a:r>
            <a:endParaRPr lang="en-US" sz="1050" dirty="0"/>
          </a:p>
        </p:txBody>
      </p:sp>
      <p:sp>
        <p:nvSpPr>
          <p:cNvPr id="90" name="Text 88"/>
          <p:cNvSpPr/>
          <p:nvPr/>
        </p:nvSpPr>
        <p:spPr>
          <a:xfrm>
            <a:off x="7847328" y="4846320"/>
            <a:ext cx="128477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٤٤٣</a:t>
            </a:r>
            <a:endParaRPr lang="en-US" sz="1050" dirty="0"/>
          </a:p>
        </p:txBody>
      </p:sp>
      <p:sp>
        <p:nvSpPr>
          <p:cNvPr id="91" name="Text 89"/>
          <p:cNvSpPr/>
          <p:nvPr/>
        </p:nvSpPr>
        <p:spPr>
          <a:xfrm>
            <a:off x="6776681" y="4846320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١٩٤</a:t>
            </a:r>
            <a:endParaRPr lang="en-US" sz="1050" dirty="0"/>
          </a:p>
        </p:txBody>
      </p:sp>
      <p:sp>
        <p:nvSpPr>
          <p:cNvPr id="92" name="Text 90"/>
          <p:cNvSpPr/>
          <p:nvPr/>
        </p:nvSpPr>
        <p:spPr>
          <a:xfrm>
            <a:off x="5706034" y="4846320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٢٤٨</a:t>
            </a:r>
            <a:endParaRPr lang="en-US" sz="1050" dirty="0"/>
          </a:p>
        </p:txBody>
      </p:sp>
      <p:sp>
        <p:nvSpPr>
          <p:cNvPr id="93" name="Text 91"/>
          <p:cNvSpPr/>
          <p:nvPr/>
        </p:nvSpPr>
        <p:spPr>
          <a:xfrm>
            <a:off x="4742451" y="4846320"/>
            <a:ext cx="963582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 / ٢</a:t>
            </a:r>
            <a:endParaRPr lang="en-US" sz="1050" dirty="0"/>
          </a:p>
        </p:txBody>
      </p:sp>
      <p:sp>
        <p:nvSpPr>
          <p:cNvPr id="94" name="Text 92"/>
          <p:cNvSpPr/>
          <p:nvPr/>
        </p:nvSpPr>
        <p:spPr>
          <a:xfrm>
            <a:off x="3671804" y="4846320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٩٧</a:t>
            </a:r>
            <a:endParaRPr lang="en-US" sz="1050" dirty="0"/>
          </a:p>
        </p:txBody>
      </p:sp>
      <p:sp>
        <p:nvSpPr>
          <p:cNvPr id="95" name="Text 93"/>
          <p:cNvSpPr/>
          <p:nvPr/>
        </p:nvSpPr>
        <p:spPr>
          <a:xfrm>
            <a:off x="2601157" y="4846320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١٢٤</a:t>
            </a:r>
            <a:endParaRPr lang="en-US" sz="1050" dirty="0"/>
          </a:p>
        </p:txBody>
      </p:sp>
      <p:sp>
        <p:nvSpPr>
          <p:cNvPr id="96" name="Text 94"/>
          <p:cNvSpPr/>
          <p:nvPr/>
        </p:nvSpPr>
        <p:spPr>
          <a:xfrm>
            <a:off x="1744640" y="4846320"/>
            <a:ext cx="856518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+٢٨٪</a:t>
            </a:r>
            <a:endParaRPr lang="en-US" sz="1050" dirty="0"/>
          </a:p>
        </p:txBody>
      </p:sp>
      <p:sp>
        <p:nvSpPr>
          <p:cNvPr id="97" name="Text 95"/>
          <p:cNvSpPr/>
          <p:nvPr/>
        </p:nvSpPr>
        <p:spPr>
          <a:xfrm>
            <a:off x="566928" y="4846320"/>
            <a:ext cx="1177712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50" dirty="0"/>
          </a:p>
        </p:txBody>
      </p:sp>
      <p:sp>
        <p:nvSpPr>
          <p:cNvPr id="98" name="Shape 96"/>
          <p:cNvSpPr/>
          <p:nvPr/>
        </p:nvSpPr>
        <p:spPr>
          <a:xfrm>
            <a:off x="8040624" y="5431536"/>
            <a:ext cx="3553968" cy="822960"/>
          </a:xfrm>
          <a:prstGeom prst="roundRect">
            <a:avLst>
              <a:gd name="adj" fmla="val 5556"/>
            </a:avLst>
          </a:prstGeom>
          <a:solidFill>
            <a:srgbClr val="F7F4EF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8040624" y="5431536"/>
            <a:ext cx="3553968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0" name="Shape 98"/>
          <p:cNvSpPr/>
          <p:nvPr/>
        </p:nvSpPr>
        <p:spPr>
          <a:xfrm>
            <a:off x="8132064" y="5532120"/>
            <a:ext cx="713232" cy="228600"/>
          </a:xfrm>
          <a:prstGeom prst="roundRect">
            <a:avLst>
              <a:gd name="adj" fmla="val 12000"/>
            </a:avLst>
          </a:prstGeom>
          <a:solidFill>
            <a:srgbClr val="55565A"/>
          </a:solidFill>
          <a:ln/>
        </p:spPr>
      </p:sp>
      <p:sp>
        <p:nvSpPr>
          <p:cNvPr id="101" name="Text 99"/>
          <p:cNvSpPr/>
          <p:nvPr/>
        </p:nvSpPr>
        <p:spPr>
          <a:xfrm>
            <a:off x="8132064" y="55321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8955024" y="5522976"/>
            <a:ext cx="2548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 ١ · عبء الوردية</a:t>
            </a:r>
            <a:endParaRPr lang="en-US" sz="1150" dirty="0"/>
          </a:p>
        </p:txBody>
      </p:sp>
      <p:sp>
        <p:nvSpPr>
          <p:cNvPr id="103" name="Text 101"/>
          <p:cNvSpPr/>
          <p:nvPr/>
        </p:nvSpPr>
        <p:spPr>
          <a:xfrm>
            <a:off x="8132064" y="5797296"/>
            <a:ext cx="3371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 الوردية ÷ عمالها. حِمل لا مستهدف — العامل لا يصنع المعاملة.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303776" y="5431536"/>
            <a:ext cx="3553968" cy="822960"/>
          </a:xfrm>
          <a:prstGeom prst="roundRect">
            <a:avLst>
              <a:gd name="adj" fmla="val 5556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4303776" y="5431536"/>
            <a:ext cx="3553968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395216" y="5532120"/>
            <a:ext cx="713232" cy="228600"/>
          </a:xfrm>
          <a:prstGeom prst="roundRect">
            <a:avLst>
              <a:gd name="adj" fmla="val 12000"/>
            </a:avLst>
          </a:prstGeom>
          <a:solidFill>
            <a:srgbClr val="F5831F"/>
          </a:solidFill>
          <a:ln/>
        </p:spPr>
      </p:sp>
      <p:sp>
        <p:nvSpPr>
          <p:cNvPr id="107" name="Text 105"/>
          <p:cNvSpPr/>
          <p:nvPr/>
        </p:nvSpPr>
        <p:spPr>
          <a:xfrm>
            <a:off x="4395216" y="55321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</a:t>
            </a:r>
            <a:endParaRPr lang="en-US" sz="950" dirty="0"/>
          </a:p>
        </p:txBody>
      </p:sp>
      <p:sp>
        <p:nvSpPr>
          <p:cNvPr id="108" name="Text 106"/>
          <p:cNvSpPr/>
          <p:nvPr/>
        </p:nvSpPr>
        <p:spPr>
          <a:xfrm>
            <a:off x="5218176" y="5522976"/>
            <a:ext cx="2548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 ٢ · مستهدف الوردية</a:t>
            </a:r>
            <a:endParaRPr lang="en-US" sz="1150" dirty="0"/>
          </a:p>
        </p:txBody>
      </p:sp>
      <p:sp>
        <p:nvSpPr>
          <p:cNvPr id="109" name="Text 107"/>
          <p:cNvSpPr/>
          <p:nvPr/>
        </p:nvSpPr>
        <p:spPr>
          <a:xfrm>
            <a:off x="4395216" y="5797296"/>
            <a:ext cx="3371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تفقده المحطة في ساعات ذروتها. هذا وحده ما يُطالَب به.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566928" y="5431536"/>
            <a:ext cx="3553968" cy="822960"/>
          </a:xfrm>
          <a:prstGeom prst="roundRect">
            <a:avLst>
              <a:gd name="adj" fmla="val 5556"/>
            </a:avLst>
          </a:prstGeom>
          <a:solidFill>
            <a:srgbClr val="F7F4EF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66928" y="5431536"/>
            <a:ext cx="3553968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58368" y="5532120"/>
            <a:ext cx="713232" cy="228600"/>
          </a:xfrm>
          <a:prstGeom prst="roundRect">
            <a:avLst>
              <a:gd name="adj" fmla="val 12000"/>
            </a:avLst>
          </a:prstGeom>
          <a:solidFill>
            <a:srgbClr val="2E8B6F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8368" y="55321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ريال</a:t>
            </a:r>
            <a:endParaRPr lang="en-US" sz="950" dirty="0"/>
          </a:p>
        </p:txBody>
      </p:sp>
      <p:sp>
        <p:nvSpPr>
          <p:cNvPr id="114" name="Text 112"/>
          <p:cNvSpPr/>
          <p:nvPr/>
        </p:nvSpPr>
        <p:spPr>
          <a:xfrm>
            <a:off x="1481328" y="5522976"/>
            <a:ext cx="2548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 ٣ · الحافز</a:t>
            </a:r>
            <a:endParaRPr lang="en-US" sz="1150" dirty="0"/>
          </a:p>
        </p:txBody>
      </p:sp>
      <p:sp>
        <p:nvSpPr>
          <p:cNvPr id="115" name="Text 113"/>
          <p:cNvSpPr/>
          <p:nvPr/>
        </p:nvSpPr>
        <p:spPr>
          <a:xfrm>
            <a:off x="658368" y="5797296"/>
            <a:ext cx="3371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لترات إضافية × هامش المحطة × نسبة · بوابة جودة وسقف ١٠٠ ريال.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نموذج الحافز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يُدفع من هامش اللتر الإضافي — لا من ميزانية منفصلة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280160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اللترات فوق الأساس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13232" y="1527048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 بين إنتاج العامل وأساس ورديته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1901952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1938528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× هامش المحطة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13232" y="2185416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١٠٫١٥ إلى ١٣٫١١ هللة — لكل محطة رقمها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2560320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2596896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× نسبة المشاركة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13232" y="2843784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العامل من الهامش الإضافي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218688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3255264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 الجودة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13232" y="3502152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غير مستوفاة ← صفر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3877056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3913632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 المحطة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3232" y="4160520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صافيها سالب ← صفر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4535424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" y="4572000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١٠٠ ريال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13232" y="4818888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شهرياً لكل عامل — معتمد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632143" y="1207008"/>
            <a:ext cx="496244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المكافأة في أي حملة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6632143" y="1536192"/>
            <a:ext cx="4962449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8" name="Text 26"/>
          <p:cNvSpPr/>
          <p:nvPr/>
        </p:nvSpPr>
        <p:spPr>
          <a:xfrm>
            <a:off x="9907359" y="1536192"/>
            <a:ext cx="168723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815621" y="1536192"/>
            <a:ext cx="1091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+معاملة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23882" y="1536192"/>
            <a:ext cx="1091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632143" y="1536192"/>
            <a:ext cx="1091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632143" y="1901952"/>
            <a:ext cx="4962449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907359" y="1901952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815621" y="1901952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٢٫٣٤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723882" y="1901952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٤٫٦٨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632143" y="1901952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٧٫٠٢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632143" y="2231136"/>
            <a:ext cx="4962449" cy="32918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907359" y="2231136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الأساطيل التجارية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815621" y="2231136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١٫٦٩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723882" y="2231136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٣٫٣٨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632143" y="2231136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٥٫٠٦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632143" y="2560320"/>
            <a:ext cx="4962449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907359" y="2560320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8815621" y="2560320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١٫٦٣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723882" y="2560320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٣٫٢٦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6632143" y="2560320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٤٫٨٩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632143" y="2889504"/>
            <a:ext cx="4962449" cy="32918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907359" y="2889504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الأحياء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8815621" y="2889504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١٫٥٨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723882" y="2889504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٣٫١٦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6632143" y="2889504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٤٫٧٥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632143" y="3218688"/>
            <a:ext cx="4962449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907359" y="3218688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8815621" y="3218688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١٫٦١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7723882" y="3218688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٣٫٢١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6632143" y="3218688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٤٫٨٢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6632143" y="3493008"/>
            <a:ext cx="496244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يمرّ وما لا يمرّ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6632143" y="3822192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D6E9E1"/>
          </a:solidFill>
          <a:ln/>
        </p:spPr>
      </p:sp>
      <p:sp>
        <p:nvSpPr>
          <p:cNvPr id="59" name="Text 57"/>
          <p:cNvSpPr/>
          <p:nvPr/>
        </p:nvSpPr>
        <p:spPr>
          <a:xfrm>
            <a:off x="6723583" y="3822192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7089343" y="3822192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مناديل</a:t>
            </a:r>
            <a:endParaRPr lang="en-US" sz="1150" dirty="0"/>
          </a:p>
        </p:txBody>
      </p:sp>
      <p:sp>
        <p:nvSpPr>
          <p:cNvPr id="61" name="Text 59"/>
          <p:cNvSpPr/>
          <p:nvPr/>
        </p:nvSpPr>
        <p:spPr>
          <a:xfrm>
            <a:off x="10634472" y="3822192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٠٫٤٥ ر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6632143" y="4224528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D6E9E1"/>
          </a:solidFill>
          <a:ln/>
        </p:spPr>
      </p:sp>
      <p:sp>
        <p:nvSpPr>
          <p:cNvPr id="63" name="Text 61"/>
          <p:cNvSpPr/>
          <p:nvPr/>
        </p:nvSpPr>
        <p:spPr>
          <a:xfrm>
            <a:off x="6723583" y="4224528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7089343" y="4224528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قارورة ماء</a:t>
            </a:r>
            <a:endParaRPr lang="en-US" sz="1150" dirty="0"/>
          </a:p>
        </p:txBody>
      </p:sp>
      <p:sp>
        <p:nvSpPr>
          <p:cNvPr id="65" name="Text 63"/>
          <p:cNvSpPr/>
          <p:nvPr/>
        </p:nvSpPr>
        <p:spPr>
          <a:xfrm>
            <a:off x="10634472" y="422452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١٫٥٠ ر</a:t>
            </a:r>
            <a:endParaRPr lang="en-US" sz="1150" dirty="0"/>
          </a:p>
        </p:txBody>
      </p:sp>
      <p:sp>
        <p:nvSpPr>
          <p:cNvPr id="66" name="Shape 64"/>
          <p:cNvSpPr/>
          <p:nvPr/>
        </p:nvSpPr>
        <p:spPr>
          <a:xfrm>
            <a:off x="6632143" y="4626864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F2DAD4"/>
          </a:solidFill>
          <a:ln/>
        </p:spPr>
      </p:sp>
      <p:sp>
        <p:nvSpPr>
          <p:cNvPr id="67" name="Text 65"/>
          <p:cNvSpPr/>
          <p:nvPr/>
        </p:nvSpPr>
        <p:spPr>
          <a:xfrm>
            <a:off x="6723583" y="4626864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68" name="Text 66"/>
          <p:cNvSpPr/>
          <p:nvPr/>
        </p:nvSpPr>
        <p:spPr>
          <a:xfrm>
            <a:off x="7089343" y="4626864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قهوة</a:t>
            </a:r>
            <a:endParaRPr lang="en-US" sz="1150" dirty="0"/>
          </a:p>
        </p:txBody>
      </p:sp>
      <p:sp>
        <p:nvSpPr>
          <p:cNvPr id="69" name="Text 67"/>
          <p:cNvSpPr/>
          <p:nvPr/>
        </p:nvSpPr>
        <p:spPr>
          <a:xfrm>
            <a:off x="10634472" y="462686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٤٫٠٠ ر</a:t>
            </a:r>
            <a:endParaRPr lang="en-US" sz="1150" dirty="0"/>
          </a:p>
        </p:txBody>
      </p:sp>
      <p:sp>
        <p:nvSpPr>
          <p:cNvPr id="70" name="Shape 68"/>
          <p:cNvSpPr/>
          <p:nvPr/>
        </p:nvSpPr>
        <p:spPr>
          <a:xfrm>
            <a:off x="6632143" y="5029200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F2DAD4"/>
          </a:solidFill>
          <a:ln/>
        </p:spPr>
      </p:sp>
      <p:sp>
        <p:nvSpPr>
          <p:cNvPr id="71" name="Text 69"/>
          <p:cNvSpPr/>
          <p:nvPr/>
        </p:nvSpPr>
        <p:spPr>
          <a:xfrm>
            <a:off x="6723583" y="502920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72" name="Text 70"/>
          <p:cNvSpPr/>
          <p:nvPr/>
        </p:nvSpPr>
        <p:spPr>
          <a:xfrm>
            <a:off x="7089343" y="5029200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 لترات بنزين</a:t>
            </a:r>
            <a:endParaRPr lang="en-US" sz="1150" dirty="0"/>
          </a:p>
        </p:txBody>
      </p:sp>
      <p:sp>
        <p:nvSpPr>
          <p:cNvPr id="73" name="Text 71"/>
          <p:cNvSpPr/>
          <p:nvPr/>
        </p:nvSpPr>
        <p:spPr>
          <a:xfrm>
            <a:off x="10634472" y="50292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١١٫٠٠ ر</a:t>
            </a:r>
            <a:endParaRPr lang="en-US" sz="1150" dirty="0"/>
          </a:p>
        </p:txBody>
      </p:sp>
      <p:sp>
        <p:nvSpPr>
          <p:cNvPr id="74" name="Shape 72"/>
          <p:cNvSpPr/>
          <p:nvPr/>
        </p:nvSpPr>
        <p:spPr>
          <a:xfrm>
            <a:off x="6632143" y="5431536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F2DAD4"/>
          </a:solidFill>
          <a:ln/>
        </p:spPr>
      </p:sp>
      <p:sp>
        <p:nvSpPr>
          <p:cNvPr id="75" name="Text 73"/>
          <p:cNvSpPr/>
          <p:nvPr/>
        </p:nvSpPr>
        <p:spPr>
          <a:xfrm>
            <a:off x="6723583" y="5431536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76" name="Text 74"/>
          <p:cNvSpPr/>
          <p:nvPr/>
        </p:nvSpPr>
        <p:spPr>
          <a:xfrm>
            <a:off x="7089343" y="5431536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غسيل مجاني</a:t>
            </a:r>
            <a:endParaRPr lang="en-US" sz="1150" dirty="0"/>
          </a:p>
        </p:txBody>
      </p:sp>
      <p:sp>
        <p:nvSpPr>
          <p:cNvPr id="77" name="Text 75"/>
          <p:cNvSpPr/>
          <p:nvPr/>
        </p:nvSpPr>
        <p:spPr>
          <a:xfrm>
            <a:off x="10634472" y="543153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٢٥٫٠٠ ر</a:t>
            </a:r>
            <a:endParaRPr lang="en-US" sz="1150" dirty="0"/>
          </a:p>
        </p:txBody>
      </p:sp>
      <p:sp>
        <p:nvSpPr>
          <p:cNvPr id="78" name="Shape 76"/>
          <p:cNvSpPr/>
          <p:nvPr/>
        </p:nvSpPr>
        <p:spPr>
          <a:xfrm>
            <a:off x="566928" y="585216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79" name="Text 77"/>
          <p:cNvSpPr/>
          <p:nvPr/>
        </p:nvSpPr>
        <p:spPr>
          <a:xfrm>
            <a:off x="749808" y="589788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القاعدة: أي مكافأة فوق ١٫٦ ريال لكل معاملة إضافية تُموَّل من معلن أو مستأجر — لا من هامش الوقود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الخامس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التأجير والحملات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باقات تُباع · وحملات تُطلقها حالة مرصودة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الوحدات التأجيرية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سجل ١٨٦ محطة · الوحدة كشك أو محل أو درايف ثرو أو مغسلة أو سوبرماركت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43584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١٬٧٣٣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وحدة مسجّلة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١٨٦ محطة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4358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٦٤١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مؤجَّرة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٣٧٪ إشغال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43584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١٬٠٨٩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شاغرة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الفرصة المباشرة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43584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٢٥٪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إشغال المحلات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٧٦٤ محلاً — المنتج العالق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2798064"/>
            <a:ext cx="66165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الشغور في ثلاث فئات — ولكلٍّ باقتها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566928" y="3108960"/>
            <a:ext cx="6616598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0" name="Text 28"/>
          <p:cNvSpPr/>
          <p:nvPr/>
        </p:nvSpPr>
        <p:spPr>
          <a:xfrm>
            <a:off x="5992539" y="3108960"/>
            <a:ext cx="11909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الفئة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330879" y="3108960"/>
            <a:ext cx="6616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404555" y="3108960"/>
            <a:ext cx="92632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وحدات شاغرة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948903" y="3108960"/>
            <a:ext cx="14556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الباقة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66928" y="3108960"/>
            <a:ext cx="23819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لماذا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6928" y="3474720"/>
            <a:ext cx="6616598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92539" y="3474720"/>
            <a:ext cx="119098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330879" y="3474720"/>
            <a:ext cx="66166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404555" y="3474720"/>
            <a:ext cx="92632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١٣١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948903" y="3474720"/>
            <a:ext cx="145565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نسبة من المبيعات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66928" y="3474720"/>
            <a:ext cx="23819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معلومة وقابلة للقياس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3858768"/>
            <a:ext cx="6616598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92539" y="3858768"/>
            <a:ext cx="119098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330879" y="3858768"/>
            <a:ext cx="66166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404555" y="3858768"/>
            <a:ext cx="92632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٦٨٩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2948903" y="3858768"/>
            <a:ext cx="145565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التدريج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66928" y="3858768"/>
            <a:ext cx="23819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تبدأ من صفر وتنمو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66928" y="4242816"/>
            <a:ext cx="6616598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992539" y="4242816"/>
            <a:ext cx="119098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امتياز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330879" y="4242816"/>
            <a:ext cx="66166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٩١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404555" y="4242816"/>
            <a:ext cx="92632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٢٦٩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2948903" y="4242816"/>
            <a:ext cx="145565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المسوّق الخارجي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66928" y="4242816"/>
            <a:ext cx="23819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فريق لنا هناك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7514356" y="2798064"/>
            <a:ext cx="40802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أكبر الفرص</a:t>
            </a:r>
            <a:endParaRPr lang="en-US" sz="1350" dirty="0"/>
          </a:p>
        </p:txBody>
      </p:sp>
      <p:sp>
        <p:nvSpPr>
          <p:cNvPr id="54" name="Shape 52"/>
          <p:cNvSpPr/>
          <p:nvPr/>
        </p:nvSpPr>
        <p:spPr>
          <a:xfrm>
            <a:off x="7514356" y="3108960"/>
            <a:ext cx="4080236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55" name="Text 53"/>
          <p:cNvSpPr/>
          <p:nvPr/>
        </p:nvSpPr>
        <p:spPr>
          <a:xfrm>
            <a:off x="9962498" y="3108960"/>
            <a:ext cx="163209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9237122" y="3108960"/>
            <a:ext cx="7253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8511747" y="3108960"/>
            <a:ext cx="7253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شاغرة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514356" y="3108960"/>
            <a:ext cx="99739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الفئة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514356" y="3474720"/>
            <a:ext cx="4080236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962498" y="3474720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حلي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9237122" y="3474720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MK036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8511747" y="3474720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٩٢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7514356" y="3474720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7514356" y="3858768"/>
            <a:ext cx="4080236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962498" y="3858768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القديه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9237122" y="3858768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RY073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8511747" y="3858768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7514356" y="3858768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7514356" y="4242816"/>
            <a:ext cx="4080236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962498" y="4242816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الخمرة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9237122" y="4242816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MK104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8511747" y="4242816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7514356" y="4242816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74" name="Shape 72"/>
          <p:cNvSpPr/>
          <p:nvPr/>
        </p:nvSpPr>
        <p:spPr>
          <a:xfrm>
            <a:off x="7514356" y="4626864"/>
            <a:ext cx="4080236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962498" y="4626864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الريان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9237122" y="4626864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MK057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8511747" y="4626864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7514356" y="4626864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7514356" y="5010912"/>
            <a:ext cx="4080236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962498" y="5010912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مدينة الملك عبد ال</a:t>
            </a:r>
            <a:endParaRPr lang="en-US" sz="1050" dirty="0"/>
          </a:p>
        </p:txBody>
      </p:sp>
      <p:sp>
        <p:nvSpPr>
          <p:cNvPr id="81" name="Text 79"/>
          <p:cNvSpPr/>
          <p:nvPr/>
        </p:nvSpPr>
        <p:spPr>
          <a:xfrm>
            <a:off x="9237122" y="5010912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MK045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8511747" y="5010912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٣٩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7514356" y="5010912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84" name="Shape 82"/>
          <p:cNvSpPr/>
          <p:nvPr/>
        </p:nvSpPr>
        <p:spPr>
          <a:xfrm>
            <a:off x="566928" y="548640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85" name="Text 83"/>
          <p:cNvSpPr/>
          <p:nvPr/>
        </p:nvSpPr>
        <p:spPr>
          <a:xfrm>
            <a:off x="749808" y="553212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العاملة إشغالها ٧٩٪ — لا أزمة شغور فيها · الشغور الحقيقي في تحت التنفيذ والامتياز</a:t>
            </a:r>
            <a:endParaRPr lang="en-US" sz="1250" dirty="0"/>
          </a:p>
        </p:txBody>
      </p:sp>
      <p:sp>
        <p:nvSpPr>
          <p:cNvPr id="86" name="Text 84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حلي MK036: ٩٢ وحدة وصفر مؤجّر — لا سوق مستأجرين محلياً بهذا الحجم · والسجل بلا قيمة إيجارية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باقات التأجير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منتج يُباع — لا حملة تُطلق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940442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الباقة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947953" y="1243584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742420" y="1243584"/>
            <a:ext cx="220553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لمن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213567" y="1243584"/>
            <a:ext cx="35288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هي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1243584"/>
            <a:ext cx="26466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تحتاجه لتُطبَّق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1609344"/>
            <a:ext cx="11027664" cy="47548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940442" y="1609344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نسبة من المبيعات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947953" y="1609344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742420" y="1609344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المشغّلة — ١٣١ وحدة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13567" y="1609344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إيجار أساسي منخفض + نسبة من مبيعات المستأجر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66928" y="1609344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ربط نقاط بيع المستأجر أو إقرار مُدقَّق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6928" y="2084832"/>
            <a:ext cx="11027664" cy="47548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940442" y="2084832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التدريج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947953" y="2084832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42420" y="2084832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 — ٦٨٩ وحدة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213567" y="2084832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سنة أولى مخفّضة ترتفع تدريجياً مع نمو الحركة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6928" y="2084832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افتتاحات معتمد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66928" y="2560320"/>
            <a:ext cx="11027664" cy="47548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940442" y="2560320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المسوّق الخارجي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947953" y="2560320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742420" y="2560320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الامتياز — ٢٦٩ وحدة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213567" y="2560320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على العقد المُوقَّع لا على العرض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" y="2560320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 وحدات بأسعارها + عقد وساطة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66928" y="3035808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940442" y="3035808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حد أدنى ونسبة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947953" y="3035808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742420" y="3035808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المشغّلة — بديل النسبة الصافية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13567" y="3035808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أرضية ثابتة تمنع تعطيل الوحدة + نسبة فوق حد المبيعات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66928" y="3035808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قرار تسعير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6928" y="3511296"/>
            <a:ext cx="11027664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940442" y="3511296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إيجار مقابل تجهيز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947953" y="3511296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742420" y="3511296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 — أكبر مخزون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213567" y="3511296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المستأجر يجهّز ويُخصم من الإيجار على سنتين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" y="3511296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كلفة تجهيز معتمد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66928" y="3986784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940442" y="3986784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ترخيص إشغال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947953" y="3986784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742420" y="3986784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٥٧٢ محلاً عالقاً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213567" y="3986784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رسم شهري لعربة أو صرّاف أو خزانة — لا عقد إيجار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66928" y="3986784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نموذج ترخيص قابل للإلغاء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66928" y="4462272"/>
            <a:ext cx="11027664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940442" y="4462272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المستأجر الرئيسي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8947953" y="4462272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6742420" y="4462272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حلي MK036 — ٩٢ وحدة صفر مؤجّر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3213567" y="4462272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 واحد يأخذ كل الوحدات ويؤجّر من الباطن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66928" y="4462272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قرار سعر إجمالي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566928" y="4937760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940442" y="4937760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الموسمي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8947953" y="4937760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742420" y="4937760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مكة والجموم والطائف — ٢١٤ وحدة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3213567" y="4937760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عقد شهرين بسعر مرتفع لموسم الحج والعمرة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566928" y="4937760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نموذج عقد قصير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566928" y="544068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63" name="Text 61"/>
          <p:cNvSpPr/>
          <p:nvPr/>
        </p:nvSpPr>
        <p:spPr>
          <a:xfrm>
            <a:off x="749808" y="548640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الأخضر ثلاث باقات قائمة اليوم · والباقي مقترح يحتاج قرار تسعير أو نموذج عقد — لا موارد جديدة</a:t>
            </a:r>
            <a:endParaRPr lang="en-US" sz="1250" dirty="0"/>
          </a:p>
        </p:txBody>
      </p:sp>
      <p:sp>
        <p:nvSpPr>
          <p:cNvPr id="64" name="Text 62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الإيجارات الحالية والمستهدفة لكل نوع وحدة ومدينة شرط لتسعير أي باقة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التطبيق — قناة الأفراد ومحطات الأحياء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يبدأ أول ديسمبر ٢٠٢٦ في محطات مكة · محفظة وبرنامج ولاء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4358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في مكة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قاعدة الإطلاق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43584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٢٥٦٫٥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٤٧٪ من حجم الشبكة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43584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١٠٫٠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معاملة سنوياً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٢٧٬٣٧٠ يومياً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43584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١٫٨٤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ريال صافي المعاملة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ما يحتمله الولاء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279806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الأداتان — اقتصادهما متعاكس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190488" y="3108960"/>
            <a:ext cx="5404104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7780">
            <a:solidFill>
              <a:srgbClr val="2E8B6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90488" y="3108960"/>
            <a:ext cx="5404104" cy="45720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1" name="Text 29"/>
          <p:cNvSpPr/>
          <p:nvPr/>
        </p:nvSpPr>
        <p:spPr>
          <a:xfrm>
            <a:off x="9582912" y="3163824"/>
            <a:ext cx="190195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المحفظة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300216" y="31729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تكسب لنا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674352" y="3675888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وفر رسوم البطاقة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300216" y="3694176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٢٤٦ إلى ٦١٥ ألف ريال لو تحوّل ٢٠٪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674352" y="4114800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عائم نقدي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300216" y="4133088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رصيد مدفوع مقدماً — وتكلفة تحوّل للمنافس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674352" y="4553712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هوية ١٠٠٪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300216" y="4572000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 معاملة محفظة معروفة الصاحب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66928" y="3108960"/>
            <a:ext cx="5404104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7780">
            <a:solidFill>
              <a:srgbClr val="C0503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66928" y="3108960"/>
            <a:ext cx="5404104" cy="45720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41" name="Text 39"/>
          <p:cNvSpPr/>
          <p:nvPr/>
        </p:nvSpPr>
        <p:spPr>
          <a:xfrm>
            <a:off x="3959352" y="3163824"/>
            <a:ext cx="190195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برنامج الولاء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76656" y="31729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يكلّفنا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4050792" y="3675888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استرداد ٠٫٥٪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676656" y="3694176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٠٫٢٨ ر = ١٥٪ من صافي المعاملة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050792" y="4114800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استرداد ١٪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676656" y="4133088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٠٫٥٦ ر = ٣٠٪ من الصافي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050792" y="4553712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استرداد ٢٪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676656" y="4572000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١٫١٢ ر = ٦١٪ من الصافي — مرفوض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66928" y="5193792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F5831F"/>
          </a:solidFill>
          <a:ln/>
        </p:spPr>
      </p:sp>
      <p:sp>
        <p:nvSpPr>
          <p:cNvPr id="50" name="Text 48"/>
          <p:cNvSpPr/>
          <p:nvPr/>
        </p:nvSpPr>
        <p:spPr>
          <a:xfrm>
            <a:off x="749808" y="5239512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مبدأ التصميم: الاسترداد يُموَّل من وفر رسوم البطاقة لا من هامش الوقود — عند ٠٫٥٪ يكاد يغطّي نفسه</a:t>
            </a:r>
            <a:endParaRPr lang="en-US" sz="1250" dirty="0"/>
          </a:p>
        </p:txBody>
      </p:sp>
      <p:sp>
        <p:nvSpPr>
          <p:cNvPr id="51" name="Text 49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رسوم البطاقة الفعلية تحتاج تأكيد المالية — هي التي تحدد سقف الاسترداد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التطبيق — أربع قواعد قبل الإطلاق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تُثبَّت الآن، لا بعد ديسمبر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181344" y="1243584"/>
            <a:ext cx="5413248" cy="2084832"/>
          </a:xfrm>
          <a:prstGeom prst="roundRect">
            <a:avLst>
              <a:gd name="adj" fmla="val 2193"/>
            </a:avLst>
          </a:prstGeom>
          <a:solidFill>
            <a:srgbClr val="F7F4EF"/>
          </a:solidFill>
          <a:ln w="16510">
            <a:solidFill>
              <a:srgbClr val="F583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27664" y="1389888"/>
            <a:ext cx="402336" cy="402336"/>
          </a:xfrm>
          <a:prstGeom prst="ellipse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11027664" y="1426464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309360" y="1408176"/>
            <a:ext cx="4626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كافئ التردد لا الإنفاق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309360" y="1810512"/>
            <a:ext cx="515721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الاسترداد على الفاتورة يدفع ثمن حجم كان سيأتي بلا مكافأة. المكافأة على الزيارة السادسة في الشهر تدفع ثمن الزيارة الإضافية وحدها.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09360" y="2852928"/>
            <a:ext cx="5157216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2926080"/>
            <a:ext cx="51572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سقفها ١٫٨٤ ريال — صافي المعاملة في مكة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1243584"/>
            <a:ext cx="5413248" cy="2084832"/>
          </a:xfrm>
          <a:prstGeom prst="roundRect">
            <a:avLst>
              <a:gd name="adj" fmla="val 2193"/>
            </a:avLst>
          </a:prstGeom>
          <a:solidFill>
            <a:srgbClr val="F7F4EF"/>
          </a:solidFill>
          <a:ln w="16510">
            <a:solidFill>
              <a:srgbClr val="2E8B6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13248" y="1389888"/>
            <a:ext cx="402336" cy="402336"/>
          </a:xfrm>
          <a:prstGeom prst="ellipse">
            <a:avLst/>
          </a:prstGeom>
          <a:solidFill>
            <a:srgbClr val="2E8B6F"/>
          </a:solidFill>
          <a:ln/>
        </p:spPr>
      </p:sp>
      <p:sp>
        <p:nvSpPr>
          <p:cNvPr id="17" name="Text 15"/>
          <p:cNvSpPr/>
          <p:nvPr/>
        </p:nvSpPr>
        <p:spPr>
          <a:xfrm>
            <a:off x="5413248" y="1426464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94944" y="1408176"/>
            <a:ext cx="4626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المحفظة تموّل الولاء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94944" y="1810512"/>
            <a:ext cx="515721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وفر رسوم البطاقة ٢٤٦ إلى ٦١٥ ألف ريال عند تحوّل ٢٠٪. الاسترداد ٠٫٥٪ على الحجم المتحوّل يكلّف ٣٠٧ ألفاً — فيغطّي نفسه تقريباً.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94944" y="2852928"/>
            <a:ext cx="5157216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1" name="Text 19"/>
          <p:cNvSpPr/>
          <p:nvPr/>
        </p:nvSpPr>
        <p:spPr>
          <a:xfrm>
            <a:off x="694944" y="2926080"/>
            <a:ext cx="51572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الشرط: رسوم البطاقة ٠٫٥٪ فأعلى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81344" y="3529584"/>
            <a:ext cx="5413248" cy="2084832"/>
          </a:xfrm>
          <a:prstGeom prst="roundRect">
            <a:avLst>
              <a:gd name="adj" fmla="val 2193"/>
            </a:avLst>
          </a:prstGeom>
          <a:solidFill>
            <a:srgbClr val="F7F4EF"/>
          </a:solidFill>
          <a:ln w="16510">
            <a:solidFill>
              <a:srgbClr val="3E6E8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027664" y="3675888"/>
            <a:ext cx="402336" cy="402336"/>
          </a:xfrm>
          <a:prstGeom prst="ellipse">
            <a:avLst/>
          </a:prstGeom>
          <a:solidFill>
            <a:srgbClr val="3E6E8E"/>
          </a:solidFill>
          <a:ln/>
        </p:spPr>
      </p:sp>
      <p:sp>
        <p:nvSpPr>
          <p:cNvPr id="24" name="Text 22"/>
          <p:cNvSpPr/>
          <p:nvPr/>
        </p:nvSpPr>
        <p:spPr>
          <a:xfrm>
            <a:off x="11027664" y="3712464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309360" y="3694176"/>
            <a:ext cx="4626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الهوية أولاً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309360" y="4096512"/>
            <a:ext cx="515721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٣٦٪ من الإيراد بلا هوية عميل. كل معاملة محفظة تُغلق هذه الفجوة عند مصدرها — وهذا أثمن ما في التطبيق.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309360" y="5138928"/>
            <a:ext cx="5157216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5212080"/>
            <a:ext cx="51572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المؤشر الأول: نسبة المعاملات المعرَّفة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3529584"/>
            <a:ext cx="5413248" cy="2084832"/>
          </a:xfrm>
          <a:prstGeom prst="roundRect">
            <a:avLst>
              <a:gd name="adj" fmla="val 2193"/>
            </a:avLst>
          </a:prstGeom>
          <a:solidFill>
            <a:srgbClr val="F7F4EF"/>
          </a:solidFill>
          <a:ln w="16510">
            <a:solidFill>
              <a:srgbClr val="55565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13248" y="3675888"/>
            <a:ext cx="402336" cy="402336"/>
          </a:xfrm>
          <a:prstGeom prst="ellipse">
            <a:avLst/>
          </a:prstGeom>
          <a:solidFill>
            <a:srgbClr val="55565A"/>
          </a:solidFill>
          <a:ln/>
        </p:spPr>
      </p:sp>
      <p:sp>
        <p:nvSpPr>
          <p:cNvPr id="31" name="Text 29"/>
          <p:cNvSpPr/>
          <p:nvPr/>
        </p:nvSpPr>
        <p:spPr>
          <a:xfrm>
            <a:off x="5413248" y="3712464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94944" y="3694176"/>
            <a:ext cx="4626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اربطه بالحملات لا بجانبه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94944" y="4096512"/>
            <a:ext cx="515721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 بلا التطبيق تُوزَّع على من كان سيتجاوز العتبة أصلاً. مع التطبيق تُستهدف لمن تعبئته دون معدّله هو.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94944" y="5138928"/>
            <a:ext cx="5157216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35" name="Text 33"/>
          <p:cNvSpPr/>
          <p:nvPr/>
        </p:nvSpPr>
        <p:spPr>
          <a:xfrm>
            <a:off x="694944" y="5212080"/>
            <a:ext cx="51572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ومكافأة المستأجر تُوصَّل بكلفة صفر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585216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37" name="Text 35"/>
          <p:cNvSpPr/>
          <p:nvPr/>
        </p:nvSpPr>
        <p:spPr>
          <a:xfrm>
            <a:off x="749808" y="589788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مكة قاعدة إطلاق لا تجربة: ٢١ محطة و٤٧٪ من حجم الشبكة — فما يُثبَّت هنا يُعمَّم لا يُراجَع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هدية علبة المناديل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 هللة للعلبة · عند تعبئة بخمسين ريالاً فأكثر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4358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 هللة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كلفة العلبة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مؤكَّدة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43584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 ريالاً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العتبة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قرار الإدارة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43584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٦٫٣ لتر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تعادل الهدية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١٣٫٩ ريالاً إضافية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43584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٥٧٫١٨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 اليوم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فوق العتبة أصلاً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190488" y="2798064"/>
            <a:ext cx="5404104" cy="1371600"/>
          </a:xfrm>
          <a:prstGeom prst="roundRect">
            <a:avLst>
              <a:gd name="adj" fmla="val 3333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36792" y="2898648"/>
            <a:ext cx="5111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المشكلة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336792" y="3218688"/>
            <a:ext cx="5111496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فاتورتنا ٥٧٫١٨ ريالاً — فوق العتبة. العلبة تذهب لمن كان سيتجاوزها بلا حملة، ولا ترفع سلة أحد.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2798064"/>
            <a:ext cx="5404104" cy="1371600"/>
          </a:xfrm>
          <a:prstGeom prst="roundRect">
            <a:avLst>
              <a:gd name="adj" fmla="val 3333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3232" y="2898648"/>
            <a:ext cx="5111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 — من منتجنا الخامس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13232" y="3218688"/>
            <a:ext cx="5111496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العلبة مساحة إعلانية. بريال للوجه عند ١٠٪ من المعاملات: دخل ١٥٦٬٥١٨ مقابل كلفة ٧٠٬٤٣٣ شهرياً = صافي ١٫٠٣ مليون سنوياً.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66928" y="435254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شروط الإطلاق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8961120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961120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7" name="Text 35"/>
          <p:cNvSpPr/>
          <p:nvPr/>
        </p:nvSpPr>
        <p:spPr>
          <a:xfrm>
            <a:off x="9052560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مشروطة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9052560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 محطة دون المتوقَّع فقط — لا الشبكة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163056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63056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1" name="Text 39"/>
          <p:cNvSpPr/>
          <p:nvPr/>
        </p:nvSpPr>
        <p:spPr>
          <a:xfrm>
            <a:off x="6254496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مسقوفة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254496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عدد يومي محدد لكل محطة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364992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364992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5" name="Text 43"/>
          <p:cNvSpPr/>
          <p:nvPr/>
        </p:nvSpPr>
        <p:spPr>
          <a:xfrm>
            <a:off x="3456432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ممولة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3456432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وجه العلبة مبيع لمعلن قبل الطباعة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566928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6928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9" name="Text 47"/>
          <p:cNvSpPr/>
          <p:nvPr/>
        </p:nvSpPr>
        <p:spPr>
          <a:xfrm>
            <a:off x="658368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مقيسة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658368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 قبل وبعد — ٤ أسابيع أو تُوقَف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المطلوب لإقرارها: سعر المساحة الإعلانية على العلبة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مصفوفة الأحداث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 تُرصد من البيانات — ولكل حالة فعل واحد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118994" y="1243584"/>
            <a:ext cx="247559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 المرصودة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68450" y="1243584"/>
            <a:ext cx="225054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الفعل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917254" y="1243584"/>
            <a:ext cx="49511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كيف يُنفَّذ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1243584"/>
            <a:ext cx="1350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1609344"/>
            <a:ext cx="11027664" cy="475488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18994" y="1609344"/>
            <a:ext cx="2475598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فجوة مطابقة تتجاوز ٥٪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68450" y="1609344"/>
            <a:ext cx="2250544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تحقيق ورقابة — لا حملة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917254" y="1609344"/>
            <a:ext cx="495119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جرد خزانات · معايرة عدادات · مطابقة إشعارات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66928" y="1609344"/>
            <a:ext cx="135032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رقابة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2084832"/>
            <a:ext cx="11027664" cy="475488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18994" y="2084832"/>
            <a:ext cx="2475598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تغيير مسار أو مدخل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868450" y="2084832"/>
            <a:ext cx="2250544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هندسة وصول — لا حملة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917254" y="2084832"/>
            <a:ext cx="495119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تصحيح المدخل على الخرائط · لافتة على المسار · إعادة تحجيم العمالة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66928" y="2084832"/>
            <a:ext cx="135032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وصول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2560320"/>
            <a:ext cx="11027664" cy="475488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18994" y="2560320"/>
            <a:ext cx="2475598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وسيلة الدفع غير مسجّلة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868450" y="2560320"/>
            <a:ext cx="2250544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تفعيل النظام قبل أي حملة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917254" y="2560320"/>
            <a:ext cx="495119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ضبط نقاط البيع · تدريب الوردية · مؤشر في حافز العامل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66928" y="2560320"/>
            <a:ext cx="135032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3035808"/>
            <a:ext cx="11027664" cy="475488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18994" y="3035808"/>
            <a:ext cx="2475598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خزان دون ٤ أيام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68450" y="3035808"/>
            <a:ext cx="2250544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تأمين الإمداد قبل رفع الطلب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917254" y="3035808"/>
            <a:ext cx="495119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حد أدنى تعاقدي · ناقل بديل · دراسة خزان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66928" y="3035808"/>
            <a:ext cx="135032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إمداد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6928" y="3511296"/>
            <a:ext cx="11027664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18994" y="3511296"/>
            <a:ext cx="2475598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في ساعات الذروة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868450" y="3511296"/>
            <a:ext cx="2250544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لا حملة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917254" y="3511296"/>
            <a:ext cx="495119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طاقم الذروة · فحص المضخات · تدرّج التسليم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66928" y="3511296"/>
            <a:ext cx="135032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66928" y="3986784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18994" y="3986784"/>
            <a:ext cx="2475598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تعبئة دون ما يفسّره مزيجها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868450" y="3986784"/>
            <a:ext cx="2250544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رفع السلة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917254" y="3986784"/>
            <a:ext cx="495119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 عند العتبة · نص موحّد · لوحة عند المضخة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66928" y="3986784"/>
            <a:ext cx="135032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66928" y="4462272"/>
            <a:ext cx="11027664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18994" y="4462272"/>
            <a:ext cx="2475598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الديزل ٣٠٪ فأكثر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868450" y="4462272"/>
            <a:ext cx="2250544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تعاقد أساطيل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1917254" y="4462272"/>
            <a:ext cx="495119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حصر ناقلي المنطقة · سعر متدرج · تسجيل في التطبيق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566928" y="4462272"/>
            <a:ext cx="135032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أساطيل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66928" y="4937760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118994" y="4937760"/>
            <a:ext cx="2475598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عشر وحدات شاغرة فأكثر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6868450" y="4937760"/>
            <a:ext cx="2250544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باقة تأجير حسب الفئة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917254" y="4937760"/>
            <a:ext cx="495119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التدريج لتحت التنفيذ · النسبة للمشغّلة · المسوّق للامتياز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566928" y="4937760"/>
            <a:ext cx="135032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تأجير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66928" y="544068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C0503A"/>
          </a:solidFill>
          <a:ln/>
        </p:spPr>
      </p:sp>
      <p:sp>
        <p:nvSpPr>
          <p:cNvPr id="54" name="Text 52"/>
          <p:cNvSpPr/>
          <p:nvPr/>
        </p:nvSpPr>
        <p:spPr>
          <a:xfrm>
            <a:off x="749808" y="548640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الأحمر أربع بوابات: محطة عليها إحداها لا تدخل أي حملة قبل إقفالها — وإلا أنفقنا على قياس لا نثق به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السادس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التنفيذ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 موجات وبوابة بين كل اثنتين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خارطة ٩٠ يوماً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تبدأ موجة قبل إقفال بوابة سابقتها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052816" y="1225296"/>
            <a:ext cx="3541776" cy="4023360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7780">
            <a:solidFill>
              <a:srgbClr val="C0503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52816" y="1225296"/>
            <a:ext cx="3541776" cy="7315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10" name="Text 8"/>
          <p:cNvSpPr/>
          <p:nvPr/>
        </p:nvSpPr>
        <p:spPr>
          <a:xfrm>
            <a:off x="8144256" y="1271016"/>
            <a:ext cx="3358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أول ٣٠ يوماً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144256" y="1563624"/>
            <a:ext cx="3358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الإقفال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180832" y="2084832"/>
            <a:ext cx="3285744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تحقيق MK008 وRY024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تفعيل تسجيل الدفع في ١٨ محطة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تصحيح مداخل المعيصم والشرائع على الخرائط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توحيد أسماء المحطات على الكود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عمالة بالساعة لكل محطة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إيجارات لكل نوع وحدة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مسح منافسي العقار والإكسسوارات والإعلان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09872" y="1225296"/>
            <a:ext cx="3541776" cy="4023360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7780">
            <a:solidFill>
              <a:srgbClr val="F583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09872" y="1225296"/>
            <a:ext cx="3541776" cy="7315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5" name="Text 13"/>
          <p:cNvSpPr/>
          <p:nvPr/>
        </p:nvSpPr>
        <p:spPr>
          <a:xfrm>
            <a:off x="4401312" y="1271016"/>
            <a:ext cx="3358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اليوم ٣١ إلى ٦٠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401312" y="1563624"/>
            <a:ext cx="3358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الإطلاق المحدود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437888" y="2084832"/>
            <a:ext cx="3285744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المستهدف في أعلى ١٢ محطة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طاقم الذروة في محطات فاقد الذروة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 في ٤ محطات بعد بيع المساحة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تعاقد أساطيل في ٣ محاور طريق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باقة التدريج في ٣ محطات تحت التنفيذ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المستأجر الرئيسي لحلي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1225296"/>
            <a:ext cx="3541776" cy="4023360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7780">
            <a:solidFill>
              <a:srgbClr val="2E8B6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6928" y="1225296"/>
            <a:ext cx="3541776" cy="7315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1271016"/>
            <a:ext cx="3358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اليوم ٦١ إلى ٩٠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1563624"/>
            <a:ext cx="3358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التعميم المشروط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94944" y="2084832"/>
            <a:ext cx="3285744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تعميم ما أثبت أثره ٤ أسابيع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حافز العامل على الشبكة المؤهَّلة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باقات التأجير على كل الفئات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إعادة تحجيم عمالة المعيصم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تثبيت مؤشرات التطبيق قبل إطلاقه أول ديسمبر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مراجعة المستهدف على الأداء الفعلي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541324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24" name="Text 22"/>
          <p:cNvSpPr/>
          <p:nvPr/>
        </p:nvSpPr>
        <p:spPr>
          <a:xfrm>
            <a:off x="749808" y="545896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 الثانية: لا حملة في محطة لم تُقفل حالتها الرقابية · بوابة الثالثة: لا تعميم لآلية لم ترفع رقمها في ٤ أسابيع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لوحة المتابعة الشهرية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ثمانية مؤشرات في صفحة واحدة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25296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52560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أساسي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052560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ساعات الذروة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052560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معاملة/يوم — الهدف صفر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63056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25296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5" name="Text 13"/>
          <p:cNvSpPr/>
          <p:nvPr/>
        </p:nvSpPr>
        <p:spPr>
          <a:xfrm>
            <a:off x="6254496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أساسي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54496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حجم التعبئة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54496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مقابل ما يفسّره المزيج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364992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25296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0" name="Text 18"/>
          <p:cNvSpPr/>
          <p:nvPr/>
        </p:nvSpPr>
        <p:spPr>
          <a:xfrm>
            <a:off x="3456432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456432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تسجيل وسيلة الدفع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456432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٦٤٪ إلى ٩٥٪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928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25296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58368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فجوة المشتريات والمبيعات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8368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±١٪ لكل محطة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961120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961120" y="2523744"/>
            <a:ext cx="2633472" cy="4572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30" name="Text 28"/>
          <p:cNvSpPr/>
          <p:nvPr/>
        </p:nvSpPr>
        <p:spPr>
          <a:xfrm>
            <a:off x="9052560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ضابط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52560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الحافز ÷ الهامش الإضافي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052560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١٥٪ فأقل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163056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63056" y="252374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5" name="Text 33"/>
          <p:cNvSpPr/>
          <p:nvPr/>
        </p:nvSpPr>
        <p:spPr>
          <a:xfrm>
            <a:off x="6254496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254496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إشغال الوحدات بالفئة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254496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 · تحت تنفيذ · امتياز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364992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364992" y="252374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0" name="Text 38"/>
          <p:cNvSpPr/>
          <p:nvPr/>
        </p:nvSpPr>
        <p:spPr>
          <a:xfrm>
            <a:off x="3456432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3456432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الأساطيل الرقمية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3456432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١٫٩٪ صعوداً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66928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66928" y="2523744"/>
            <a:ext cx="2633472" cy="45720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45" name="Text 43"/>
          <p:cNvSpPr/>
          <p:nvPr/>
        </p:nvSpPr>
        <p:spPr>
          <a:xfrm>
            <a:off x="658368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مخاطر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658368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الخزان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58368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أيام — تنبيه دون ٤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66928" y="398678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نحتاجه من الإدارات</a:t>
            </a:r>
            <a:endParaRPr lang="en-US" sz="1350" dirty="0"/>
          </a:p>
        </p:txBody>
      </p:sp>
      <p:sp>
        <p:nvSpPr>
          <p:cNvPr id="49" name="Shape 47"/>
          <p:cNvSpPr/>
          <p:nvPr/>
        </p:nvSpPr>
        <p:spPr>
          <a:xfrm>
            <a:off x="11558016" y="4379976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0" name="Text 48"/>
          <p:cNvSpPr/>
          <p:nvPr/>
        </p:nvSpPr>
        <p:spPr>
          <a:xfrm>
            <a:off x="9902952" y="4334256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العمليات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66928" y="4334256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عمالة بالساعة لكل محطة — لتعميم مستهدف الوردية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11558016" y="4782312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3" name="Text 51"/>
          <p:cNvSpPr/>
          <p:nvPr/>
        </p:nvSpPr>
        <p:spPr>
          <a:xfrm>
            <a:off x="9902952" y="4736592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العقار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566928" y="4736592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الإيجار لكل نوع وحدة — لتسعير الباقات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11558016" y="5184648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6" name="Text 54"/>
          <p:cNvSpPr/>
          <p:nvPr/>
        </p:nvSpPr>
        <p:spPr>
          <a:xfrm>
            <a:off x="9902952" y="513892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المالية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566928" y="5138928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 «مصاريف التشغيل» تغطي الامتياز؟ الجواب يقلب صافي اللتر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11558016" y="5586984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9" name="Text 57"/>
          <p:cNvSpPr/>
          <p:nvPr/>
        </p:nvSpPr>
        <p:spPr>
          <a:xfrm>
            <a:off x="9902952" y="5541264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التسويق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66928" y="5541264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سعر المساحة الإعلانية على علبة المناديل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11558016" y="5989320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62" name="Text 60"/>
          <p:cNvSpPr/>
          <p:nvPr/>
        </p:nvSpPr>
        <p:spPr>
          <a:xfrm>
            <a:off x="9902952" y="5943600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التطوير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566928" y="5943600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مسح منافسي العقار والإكسسوارات والإعلان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5556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9582912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582912" y="9144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DARB FUEL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27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spc="300" kern="0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الإدارة التجارية · درب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2971800"/>
            <a:ext cx="1102766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القرار المطلوب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66928" y="3977640"/>
            <a:ext cx="110276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D6D2C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اعتماد المستهدف برافعتين · إقفال ثغرة البيانات قبل الإنفاق · مسح المنافسين في المنتجات الثلاثة المجهولة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85632" y="4937760"/>
            <a:ext cx="3108960" cy="3200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5120640"/>
            <a:ext cx="11027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الفرصة المؤكَّدة ٤٬٠٨٨٬١١٦ ريال سنوياً — ٧٤٢ معاملة و٧٧٬٢١٩ لتراً يومياً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تحليل المنافذ وخطة المبيعات</dc:title>
  <dc:subject>PptxGenJS Presentation</dc:subject>
  <dc:creator>الإدارة التجارية — درب</dc:creator>
  <cp:lastModifiedBy>الإدارة التجارية — درب</cp:lastModifiedBy>
  <cp:revision>1</cp:revision>
  <dcterms:created xsi:type="dcterms:W3CDTF">2026-08-25T20:09:24Z</dcterms:created>
  <dcterms:modified xsi:type="dcterms:W3CDTF">2026-08-25T20:09:24Z</dcterms:modified>
</cp:coreProperties>
</file>