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النمو +17.5٪ محسوب على 25 محطة بتغطية كاملة 212 يوماً — الإجمالي الخام مضلِّل لأن عدد المحطات المغطاة ارتفع من 39 إلى 55.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556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9582912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582912" y="9144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DARB FUEL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928" y="2514600"/>
            <a:ext cx="11027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spc="300" kern="0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الإدارة التجارية · أغسطس ٢٠٢٦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880360"/>
            <a:ext cx="1102766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تحليل المنافذ وخطة المبيعات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3931920"/>
            <a:ext cx="1102766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 محطة · خمس شرائح سوقية · مستهدف لكل محطة ووردية وعامل · حملات مرتبطة بحالة كل محطة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85632" y="5029200"/>
            <a:ext cx="3108960" cy="3200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5212080"/>
            <a:ext cx="11027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المصادر: كاش إن وناتج (١٠٫٩٦ مليون عملية) · أوامر التحميل · قائمة الدخل يوليو ٢٠٢٦ · سجل الوحدات · مسح المنافسين الميداني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الخلاصة التنفيذية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تقوله البيانات — وما نطلب إقراره اليوم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417320"/>
            <a:ext cx="2633472" cy="1572768"/>
          </a:xfrm>
          <a:prstGeom prst="roundRect">
            <a:avLst>
              <a:gd name="adj" fmla="val 2907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41732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581912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٦٢٦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052560" y="220370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496312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مبيعات ٧ أشهر ، ٥٥ محطة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417320"/>
            <a:ext cx="2633472" cy="1572768"/>
          </a:xfrm>
          <a:prstGeom prst="roundRect">
            <a:avLst>
              <a:gd name="adj" fmla="val 2907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417320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581912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٢٧٧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254496" y="220370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لتر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496312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 مليون زيارة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417320"/>
            <a:ext cx="2633472" cy="1572768"/>
          </a:xfrm>
          <a:prstGeom prst="roundRect">
            <a:avLst>
              <a:gd name="adj" fmla="val 2907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417320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581912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+١٧٫٥٪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3456432" y="220370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 حقيقي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496312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قاعدة ثابتة ٢٥ محطة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417320"/>
            <a:ext cx="2633472" cy="1572768"/>
          </a:xfrm>
          <a:prstGeom prst="roundRect">
            <a:avLst>
              <a:gd name="adj" fmla="val 2907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417320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581912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٤٫٣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658368" y="220370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496312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فرصة سنوية من رفع السلة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3246120"/>
            <a:ext cx="110276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ثلاثة قرارات مطلوبة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566928" y="3703320"/>
            <a:ext cx="11027664" cy="694944"/>
          </a:xfrm>
          <a:prstGeom prst="roundRect">
            <a:avLst>
              <a:gd name="adj" fmla="val 5263"/>
            </a:avLst>
          </a:prstGeom>
          <a:solidFill>
            <a:srgbClr val="FBEEE0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544300" y="3703320"/>
            <a:ext cx="50292" cy="69494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1" name="Text 29"/>
          <p:cNvSpPr/>
          <p:nvPr/>
        </p:nvSpPr>
        <p:spPr>
          <a:xfrm>
            <a:off x="11027664" y="384962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2852928" y="3767328"/>
            <a:ext cx="81473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اعتماد التقسيم والمستهدف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852928" y="4069080"/>
            <a:ext cx="8147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 شرائح · معيار لتر/زيارة داخل كل شريحة ، ٣٩ محطة دون معيارها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6656" y="387705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١٠٤٬٨٣٧ لتر/يوم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66928" y="4489704"/>
            <a:ext cx="11027664" cy="694944"/>
          </a:xfrm>
          <a:prstGeom prst="roundRect">
            <a:avLst>
              <a:gd name="adj" fmla="val 526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1544300" y="4489704"/>
            <a:ext cx="50292" cy="69494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11027664" y="463600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2852928" y="4553712"/>
            <a:ext cx="81473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إقفال ثغرة البيانات قبل الإنفاق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852928" y="4855464"/>
            <a:ext cx="8147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 محطة لا تسجّل وسيلة الدفع — ١٨٣ مليون ريال بلا هوية عميل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76656" y="4663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٢٩٪ من المبيعات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66928" y="5276088"/>
            <a:ext cx="11027664" cy="694944"/>
          </a:xfrm>
          <a:prstGeom prst="roundRect">
            <a:avLst>
              <a:gd name="adj" fmla="val 526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1544300" y="5276088"/>
            <a:ext cx="50292" cy="69494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3" name="Text 41"/>
          <p:cNvSpPr/>
          <p:nvPr/>
        </p:nvSpPr>
        <p:spPr>
          <a:xfrm>
            <a:off x="11027664" y="542239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2852928" y="5340096"/>
            <a:ext cx="81473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تمويل الحملات من المعلن لا من هامش الوقود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2852928" y="5641848"/>
            <a:ext cx="8147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بهامش ١١٫٣ هللة/لتر لا تسترد كلفتها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76656" y="544982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شرط الاعتماد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66928" y="5989320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48" name="Text 46"/>
          <p:cNvSpPr/>
          <p:nvPr/>
        </p:nvSpPr>
        <p:spPr>
          <a:xfrm>
            <a:off x="566928" y="6035040"/>
            <a:ext cx="11027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الأرقام من بيانات نقاط البيع الفعلية من ١ يناير إلى ٣١ يوليو ٢٠٢٦، لا من تقديرات.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194560"/>
            <a:ext cx="54864" cy="219456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148840"/>
            <a:ext cx="107533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الأول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697480"/>
            <a:ext cx="10753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أين نقف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بالأرقام · الاتجاه الحقيقي · من يشتري منّا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بالأرقام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١ يناير إلى ٣١ يوليو ٢٠٢٦ · ٩٬٠٥٨ يوم-محطة مغطّى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463040"/>
            <a:ext cx="6837152" cy="384048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5079448" y="1463040"/>
            <a:ext cx="232463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البند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028303" y="1463040"/>
            <a:ext cx="205114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القيمة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1463040"/>
            <a:ext cx="2461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القراءة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1847088"/>
            <a:ext cx="6837152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79448" y="1847088"/>
            <a:ext cx="2324632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المبيعات (شامل الضريبة)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028303" y="1847088"/>
            <a:ext cx="205114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٦٢٦٬٤٧٧٬٧٣٤ ريال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66928" y="1847088"/>
            <a:ext cx="2461375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١٫٩٦٨ ريال/لتر صافي الضريبة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2249424"/>
            <a:ext cx="6837152" cy="40233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9448" y="2249424"/>
            <a:ext cx="2324632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اللترات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8303" y="2249424"/>
            <a:ext cx="205114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٢٧٦٬٧٨٢٬٧٠٢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6928" y="2249424"/>
            <a:ext cx="2461375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٣٠٬٥٥٧ لتر يومياً للشبكة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2651760"/>
            <a:ext cx="6837152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79448" y="2651760"/>
            <a:ext cx="2324632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الزيارات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028303" y="2651760"/>
            <a:ext cx="205114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١٠٬٩٥٦٬٢٧٧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66928" y="2651760"/>
            <a:ext cx="2461375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١٬٢١٠ زيارة يومياً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054096"/>
            <a:ext cx="6837152" cy="40233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79448" y="3054096"/>
            <a:ext cx="2324632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الفاتورة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028303" y="3054096"/>
            <a:ext cx="205114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٥٧٫٢ ريال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66928" y="3054096"/>
            <a:ext cx="2461375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٢٥٫٦ لتر لكل زيارة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3456432"/>
            <a:ext cx="6837152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79448" y="3456432"/>
            <a:ext cx="2324632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المحطات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028303" y="3456432"/>
            <a:ext cx="205114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66928" y="3456432"/>
            <a:ext cx="2461375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٨٣٪ تغطية زمنية ، ٢٥ محطة بسجل كامل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3858768"/>
            <a:ext cx="6837152" cy="40233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79448" y="3858768"/>
            <a:ext cx="2324632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حجم البيانات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028303" y="3858768"/>
            <a:ext cx="205114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١٠٬٩٥٩٬٧٧٧ عملية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66928" y="3858768"/>
            <a:ext cx="2461375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١٩٣ ملفاً · مستبعَد ٠٫٠٣٪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624633" y="1463040"/>
            <a:ext cx="396995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مزيج الوقود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0324205" y="1828800"/>
            <a:ext cx="127038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٩١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624633" y="2121408"/>
            <a:ext cx="3969959" cy="146304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39" name="Shape 37"/>
          <p:cNvSpPr/>
          <p:nvPr/>
        </p:nvSpPr>
        <p:spPr>
          <a:xfrm>
            <a:off x="9855750" y="2121408"/>
            <a:ext cx="1738842" cy="14630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0" name="Text 38"/>
          <p:cNvSpPr/>
          <p:nvPr/>
        </p:nvSpPr>
        <p:spPr>
          <a:xfrm>
            <a:off x="7624633" y="1828800"/>
            <a:ext cx="2540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٤٣٫٨٪ من الإيراد · ٥٥٫٥٪ من الزيارات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0324205" y="2395728"/>
            <a:ext cx="127038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٩٥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7624633" y="2688336"/>
            <a:ext cx="3969959" cy="146304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43" name="Shape 41"/>
          <p:cNvSpPr/>
          <p:nvPr/>
        </p:nvSpPr>
        <p:spPr>
          <a:xfrm>
            <a:off x="10109827" y="2688336"/>
            <a:ext cx="1484765" cy="14630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4" name="Text 42"/>
          <p:cNvSpPr/>
          <p:nvPr/>
        </p:nvSpPr>
        <p:spPr>
          <a:xfrm>
            <a:off x="7624633" y="2395728"/>
            <a:ext cx="2540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٣٧٫٤٪ من الإيراد · ٣٦٫٠٪ من الزيارات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0324205" y="2962656"/>
            <a:ext cx="127038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7624633" y="3255264"/>
            <a:ext cx="3969959" cy="146304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47" name="Shape 45"/>
          <p:cNvSpPr/>
          <p:nvPr/>
        </p:nvSpPr>
        <p:spPr>
          <a:xfrm>
            <a:off x="10848240" y="3255264"/>
            <a:ext cx="746352" cy="146304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48" name="Text 46"/>
          <p:cNvSpPr/>
          <p:nvPr/>
        </p:nvSpPr>
        <p:spPr>
          <a:xfrm>
            <a:off x="7624633" y="2962656"/>
            <a:ext cx="2540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١٨٫٨٪ من الإيراد · ٨٫٥٪ من الزيارات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0324205" y="3529584"/>
            <a:ext cx="127038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٩٨ وكيروسين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7624633" y="3822192"/>
            <a:ext cx="3969959" cy="146304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51" name="Shape 49"/>
          <p:cNvSpPr/>
          <p:nvPr/>
        </p:nvSpPr>
        <p:spPr>
          <a:xfrm>
            <a:off x="11593401" y="3822192"/>
            <a:ext cx="1191" cy="14630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2" name="Text 50"/>
          <p:cNvSpPr/>
          <p:nvPr/>
        </p:nvSpPr>
        <p:spPr>
          <a:xfrm>
            <a:off x="7624633" y="3529584"/>
            <a:ext cx="2540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 من الإيراد · ٠٫٠٪ من الزيارات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7624633" y="4206240"/>
            <a:ext cx="3969959" cy="960120"/>
          </a:xfrm>
          <a:prstGeom prst="roundRect">
            <a:avLst>
              <a:gd name="adj" fmla="val 3810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752649" y="4315968"/>
            <a:ext cx="3713927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الديزل ٨٫٥٪ من الزيارات و١٨٫٨٪ من الإيراد — فاتورته ١٢٦ ريالاً، ٢٫٨ ضعف المتوسط. هذا عميل مختلف تماماً وتُبنى له خطة مستقلة.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6928" y="5989320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56" name="Text 54"/>
          <p:cNvSpPr/>
          <p:nvPr/>
        </p:nvSpPr>
        <p:spPr>
          <a:xfrm>
            <a:off x="566928" y="6035040"/>
            <a:ext cx="11027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 محطات (MK029 · MK072 · RY075) لتراتها ناقصة في المصدر فاستُبعدت من كل حساب لتر.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الاتجاه الحقيقي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 الخام مضلِّل — عدد المحطات المغطّاة ارتفع من ٣٩ إلى ٥٥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49808" y="1307592"/>
            <a:ext cx="6616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 يومياً · قاعدة ثابتة من ٢٥ محطة بتغطية كاملة ٢١٢ يوماً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600771" y="3947757"/>
            <a:ext cx="586042" cy="852843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6463611" y="3636861"/>
            <a:ext cx="8603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٦٣٣٬٢٩٦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63611" y="4855464"/>
            <a:ext cx="8603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يناير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55543" y="4087935"/>
            <a:ext cx="586042" cy="712665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3" name="Text 11"/>
          <p:cNvSpPr/>
          <p:nvPr/>
        </p:nvSpPr>
        <p:spPr>
          <a:xfrm>
            <a:off x="5518383" y="3777039"/>
            <a:ext cx="8603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٦٢٤٬٥٣٦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518383" y="4855464"/>
            <a:ext cx="8603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فبراير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10315" y="3607043"/>
            <a:ext cx="586042" cy="1193557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6" name="Text 14"/>
          <p:cNvSpPr/>
          <p:nvPr/>
        </p:nvSpPr>
        <p:spPr>
          <a:xfrm>
            <a:off x="4573155" y="3296147"/>
            <a:ext cx="8603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٦٥٤٬٥٨٨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3155" y="4855464"/>
            <a:ext cx="8603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مارس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765086" y="3904536"/>
            <a:ext cx="586042" cy="896064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9" name="Text 17"/>
          <p:cNvSpPr/>
          <p:nvPr/>
        </p:nvSpPr>
        <p:spPr>
          <a:xfrm>
            <a:off x="3627926" y="3593640"/>
            <a:ext cx="8603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٦٣٥٬٩٩٧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27926" y="4855464"/>
            <a:ext cx="8603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أبريل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819858" y="3054446"/>
            <a:ext cx="586042" cy="1746154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2" name="Text 20"/>
          <p:cNvSpPr/>
          <p:nvPr/>
        </p:nvSpPr>
        <p:spPr>
          <a:xfrm>
            <a:off x="2682698" y="2743550"/>
            <a:ext cx="8603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٦٨٩٬١٢١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682698" y="4855464"/>
            <a:ext cx="8603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مايو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874630" y="2657868"/>
            <a:ext cx="586042" cy="2142732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5" name="Text 23"/>
          <p:cNvSpPr/>
          <p:nvPr/>
        </p:nvSpPr>
        <p:spPr>
          <a:xfrm>
            <a:off x="1737470" y="2346972"/>
            <a:ext cx="8603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٧١٣٬٩٠٤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737470" y="4855464"/>
            <a:ext cx="8603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يونيو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29401" y="2177184"/>
            <a:ext cx="586042" cy="2623416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28" name="Text 26"/>
          <p:cNvSpPr/>
          <p:nvPr/>
        </p:nvSpPr>
        <p:spPr>
          <a:xfrm>
            <a:off x="792241" y="1866288"/>
            <a:ext cx="8603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٧٤٣٬٩٤٣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92241" y="4855464"/>
            <a:ext cx="8603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يوليو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49808" y="4800600"/>
            <a:ext cx="6616598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31" name="Shape 29"/>
          <p:cNvSpPr/>
          <p:nvPr/>
        </p:nvSpPr>
        <p:spPr>
          <a:xfrm>
            <a:off x="7624633" y="1481328"/>
            <a:ext cx="3969959" cy="1481328"/>
          </a:xfrm>
          <a:prstGeom prst="roundRect">
            <a:avLst>
              <a:gd name="adj" fmla="val 3086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24633" y="1481328"/>
            <a:ext cx="3969959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3" name="Text 31"/>
          <p:cNvSpPr/>
          <p:nvPr/>
        </p:nvSpPr>
        <p:spPr>
          <a:xfrm>
            <a:off x="7697785" y="1645920"/>
            <a:ext cx="38236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+١٧٫٥٪</a:t>
            </a:r>
            <a:endParaRPr lang="en-US" sz="3000" dirty="0"/>
          </a:p>
        </p:txBody>
      </p:sp>
      <p:sp>
        <p:nvSpPr>
          <p:cNvPr id="34" name="Text 32"/>
          <p:cNvSpPr/>
          <p:nvPr/>
        </p:nvSpPr>
        <p:spPr>
          <a:xfrm>
            <a:off x="7716073" y="2267712"/>
            <a:ext cx="3787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 يناير ← يوليو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716073" y="2560320"/>
            <a:ext cx="3787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نفس المحطات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624633" y="3063240"/>
            <a:ext cx="3969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لكن مكة تسير عكس الشبكة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630473" y="3456432"/>
            <a:ext cx="296411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 MK002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624633" y="345643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−٧٢٫٧٪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630473" y="3840480"/>
            <a:ext cx="296411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 درويش MK023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7624633" y="384048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−١٨٫٥٪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30473" y="4224528"/>
            <a:ext cx="296411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كورنيش جيزان JA069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7624633" y="422452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−٩٫٢٪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8630473" y="4608576"/>
            <a:ext cx="296411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كورنيش الخبر EP051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7624633" y="460857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+٤٨٫١٪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630473" y="4992624"/>
            <a:ext cx="296411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الكر النازل MK084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7624633" y="49926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+٣٣٫٢٪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7624633" y="5440680"/>
            <a:ext cx="3969959" cy="548640"/>
          </a:xfrm>
          <a:prstGeom prst="roundRect">
            <a:avLst>
              <a:gd name="adj" fmla="val 6667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734361" y="5541264"/>
            <a:ext cx="37505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 محطات هابطة ، ٨ مستقرة ، ٩ نامية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566928" y="5989320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50" name="Text 48"/>
          <p:cNvSpPr/>
          <p:nvPr/>
        </p:nvSpPr>
        <p:spPr>
          <a:xfrm>
            <a:off x="566928" y="6035040"/>
            <a:ext cx="11027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القاعدة الثابتة تعزل أثر دخول محطات جديدة على التقارير — وهي القراءة الوحيدة الصالحة للاتجاه.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تقسيم السوق — من يشتري منّا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أربعة عملاء مختلفون داخل نفس المحطة، لكل منهم خطة مختلفة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74836" y="1463040"/>
            <a:ext cx="2619756" cy="2743200"/>
          </a:xfrm>
          <a:prstGeom prst="roundRect">
            <a:avLst>
              <a:gd name="adj" fmla="val 1745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74836" y="1463040"/>
            <a:ext cx="2619756" cy="5029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47988" y="1517904"/>
            <a:ext cx="24734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٩١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066276" y="2103120"/>
            <a:ext cx="2436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٥٥٫٥٪ من الزيارات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066276" y="2450592"/>
            <a:ext cx="24368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٤٥٫١ ريال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066276" y="2889504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الفاتورة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084564" y="3200400"/>
            <a:ext cx="24003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الأكبر عدداً والأصغر سلة — هنا يعمل رفع السلة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1463040"/>
            <a:ext cx="2619756" cy="2743200"/>
          </a:xfrm>
          <a:prstGeom prst="roundRect">
            <a:avLst>
              <a:gd name="adj" fmla="val 1745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2200" y="1463040"/>
            <a:ext cx="2619756" cy="50292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17" name="Text 15"/>
          <p:cNvSpPr/>
          <p:nvPr/>
        </p:nvSpPr>
        <p:spPr>
          <a:xfrm>
            <a:off x="6245352" y="1517904"/>
            <a:ext cx="24734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٩٥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63640" y="2103120"/>
            <a:ext cx="2436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٣٦٫٠٪ من الزيارات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63640" y="2450592"/>
            <a:ext cx="24368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٥٩٫٥ ريال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6263640" y="2889504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الفاتورة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81928" y="3200400"/>
            <a:ext cx="24003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قدرة إنفاق أعلى — قناة الخدمات المضافة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69564" y="1463040"/>
            <a:ext cx="2619756" cy="2743200"/>
          </a:xfrm>
          <a:prstGeom prst="roundRect">
            <a:avLst>
              <a:gd name="adj" fmla="val 1745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69564" y="1463040"/>
            <a:ext cx="2619756" cy="502920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24" name="Text 22"/>
          <p:cNvSpPr/>
          <p:nvPr/>
        </p:nvSpPr>
        <p:spPr>
          <a:xfrm>
            <a:off x="3442716" y="1517904"/>
            <a:ext cx="24734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 الديزل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461004" y="2103120"/>
            <a:ext cx="2436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٨٫٥٪ من الزيارات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461004" y="2450592"/>
            <a:ext cx="24368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١٢٦٫٣ ريال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3461004" y="2889504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الفاتورة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479292" y="3200400"/>
            <a:ext cx="24003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١٨٫٨٪ من الإيراد — يُدار بالتعاقد لا بالحملة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1463040"/>
            <a:ext cx="2619756" cy="2743200"/>
          </a:xfrm>
          <a:prstGeom prst="roundRect">
            <a:avLst>
              <a:gd name="adj" fmla="val 1745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6928" y="1463040"/>
            <a:ext cx="2619756" cy="5029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1517904"/>
            <a:ext cx="24734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 رقمية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58368" y="2103120"/>
            <a:ext cx="2436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٠٫٧٪ من الزيارات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58368" y="2450592"/>
            <a:ext cx="24368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١٤٩ إلى ١٧٢ ريال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658368" y="2889504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الفاتورة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76656" y="3200400"/>
            <a:ext cx="24003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سيارة وبترو — أعلى فاتورة وأقل حصة، فرصة نمو صافية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4407408"/>
            <a:ext cx="11027664" cy="1417320"/>
          </a:xfrm>
          <a:prstGeom prst="roundRect">
            <a:avLst>
              <a:gd name="adj" fmla="val 3226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9808" y="4517136"/>
            <a:ext cx="106619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الثغرة التي تسبق كل خطة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49808" y="4864608"/>
            <a:ext cx="1066190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٣٦٫١٪ من الإيراد (٢٢٦ مليون ريال) مسجّل «وسيلة دفع غير محددة» — و١٨ محطة لا تسجّلها إطلاقاً بإيراد ١٨٣ مليون ريال. أي حملة ولاء أو استهداف عميل تُبنى على بيانات ناقصة بثلثها. التفعيل يسبق الإنفاق.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566928" y="5989320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40" name="Text 38"/>
          <p:cNvSpPr/>
          <p:nvPr/>
        </p:nvSpPr>
        <p:spPr>
          <a:xfrm>
            <a:off x="566928" y="6035040"/>
            <a:ext cx="11027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محفظة كاش إن نفسها: ٣١٨ ريالاً و٨ عمليات في سبعة أشهر — قناة غير مفعّلة عملياً.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194560"/>
            <a:ext cx="54864" cy="219456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148840"/>
            <a:ext cx="107533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الثاني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697480"/>
            <a:ext cx="10753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تقسيم المحطات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 شرائح تُحدَّد من سلوك العميل لا من الجغرافيا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 شرائح — والقاعدة التي تصنّف بها أي محطة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 من البيانات: حصة الديزل ثم الدفع المؤسسي ثم الحجم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463040"/>
            <a:ext cx="11027664" cy="384048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719889" y="1463040"/>
            <a:ext cx="187470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514356" y="1463040"/>
            <a:ext cx="220553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التصنيف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742420" y="1463040"/>
            <a:ext cx="77193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529377" y="1463040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لتر/يوم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36887" y="1463040"/>
            <a:ext cx="99249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٪ الحجم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34121" y="1463040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لتر/زيارة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51908" y="1463040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669694" y="1463040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أسطول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6928" y="1463040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الفاتورة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1847088"/>
            <a:ext cx="11027664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19889" y="1847088"/>
            <a:ext cx="187470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محاور الطريق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514356" y="1847088"/>
            <a:ext cx="220553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الديزل ٣٠٪ فأكثر من الحجم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742420" y="1847088"/>
            <a:ext cx="77193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529377" y="1847088"/>
            <a:ext cx="121304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٦٦٥٬٣٣٢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536887" y="1847088"/>
            <a:ext cx="992490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٤٤٫١٪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434121" y="1847088"/>
            <a:ext cx="110276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٣٣٫٠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551908" y="1847088"/>
            <a:ext cx="88221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٤٣٫١٪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669694" y="1847088"/>
            <a:ext cx="88221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٦٫٧٪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1847088"/>
            <a:ext cx="110276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٦٧٫٩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2249424"/>
            <a:ext cx="11027664" cy="40233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719889" y="2249424"/>
            <a:ext cx="187470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مراكز الأساطيل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514356" y="2249424"/>
            <a:ext cx="220553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الدفع المؤسسي ١٠٪ فأكثر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742420" y="2249424"/>
            <a:ext cx="77193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529377" y="2249424"/>
            <a:ext cx="121304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٩١٬٢٧٢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536887" y="2249424"/>
            <a:ext cx="992490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٦٫٠٪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3434121" y="2249424"/>
            <a:ext cx="110276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٢٣٫٨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2551908" y="2249424"/>
            <a:ext cx="88221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١٥٫٤٪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669694" y="2249424"/>
            <a:ext cx="88221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٢٢٫٩٪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66928" y="2249424"/>
            <a:ext cx="110276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٥١٫٩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66928" y="2651760"/>
            <a:ext cx="11027664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719889" y="2651760"/>
            <a:ext cx="187470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 كبرى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7514356" y="2651760"/>
            <a:ext cx="220553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بنزين، ٢٥ ألف لتر/يوم فأكثر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742420" y="2651760"/>
            <a:ext cx="77193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5529377" y="2651760"/>
            <a:ext cx="121304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٤٨٣٬٥٣٨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536887" y="2651760"/>
            <a:ext cx="992490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٣٢٫٠٪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3434121" y="2651760"/>
            <a:ext cx="110276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2551908" y="2651760"/>
            <a:ext cx="88221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٢٫٠٪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1669694" y="2651760"/>
            <a:ext cx="88221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٢٫٣٪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566928" y="2651760"/>
            <a:ext cx="110276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٥١٫٧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566928" y="3054096"/>
            <a:ext cx="11027664" cy="40233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719889" y="3054096"/>
            <a:ext cx="187470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 متوسطة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7514356" y="3054096"/>
            <a:ext cx="220553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بنزين، من ١٢ إلى ٢٥ ألف لتر/يوم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6742420" y="3054096"/>
            <a:ext cx="77193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5529377" y="3054096"/>
            <a:ext cx="121304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٢٠٩٬٨٢٤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4536887" y="3054096"/>
            <a:ext cx="992490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١٣٫٩٪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3434121" y="3054096"/>
            <a:ext cx="110276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٢٢٫٣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2551908" y="3054096"/>
            <a:ext cx="88221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١٠٫٦٪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1669694" y="3054096"/>
            <a:ext cx="88221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٥٫٤٪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566928" y="3054096"/>
            <a:ext cx="110276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٤٩٫٢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566928" y="3456432"/>
            <a:ext cx="11027664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719889" y="3456432"/>
            <a:ext cx="187470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محلية صغيرة</a:t>
            </a:r>
            <a:endParaRPr lang="en-US" sz="1150" dirty="0"/>
          </a:p>
        </p:txBody>
      </p:sp>
      <p:sp>
        <p:nvSpPr>
          <p:cNvPr id="60" name="Text 58"/>
          <p:cNvSpPr/>
          <p:nvPr/>
        </p:nvSpPr>
        <p:spPr>
          <a:xfrm>
            <a:off x="7514356" y="3456432"/>
            <a:ext cx="220553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أقل من ١٢ ألف لتر/يوم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6742420" y="3456432"/>
            <a:ext cx="77193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5529377" y="3456432"/>
            <a:ext cx="121304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٥٩٬٦١٥</a:t>
            </a:r>
            <a:endParaRPr lang="en-US" sz="1150" dirty="0"/>
          </a:p>
        </p:txBody>
      </p:sp>
      <p:sp>
        <p:nvSpPr>
          <p:cNvPr id="63" name="Text 61"/>
          <p:cNvSpPr/>
          <p:nvPr/>
        </p:nvSpPr>
        <p:spPr>
          <a:xfrm>
            <a:off x="4536887" y="3456432"/>
            <a:ext cx="992490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٣٫٩٪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3434121" y="3456432"/>
            <a:ext cx="110276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٢٢٫٦</a:t>
            </a:r>
            <a:endParaRPr lang="en-US" sz="1150" dirty="0"/>
          </a:p>
        </p:txBody>
      </p:sp>
      <p:sp>
        <p:nvSpPr>
          <p:cNvPr id="65" name="Text 63"/>
          <p:cNvSpPr/>
          <p:nvPr/>
        </p:nvSpPr>
        <p:spPr>
          <a:xfrm>
            <a:off x="2551908" y="3456432"/>
            <a:ext cx="88221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٨٫٣٪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1669694" y="3456432"/>
            <a:ext cx="88221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١٫٨٪</a:t>
            </a:r>
            <a:endParaRPr lang="en-US" sz="1150" dirty="0"/>
          </a:p>
        </p:txBody>
      </p:sp>
      <p:sp>
        <p:nvSpPr>
          <p:cNvPr id="67" name="Text 65"/>
          <p:cNvSpPr/>
          <p:nvPr/>
        </p:nvSpPr>
        <p:spPr>
          <a:xfrm>
            <a:off x="566928" y="3456432"/>
            <a:ext cx="110276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٥٠٫٢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566928" y="3858768"/>
            <a:ext cx="11027664" cy="402336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719889" y="3858768"/>
            <a:ext cx="187470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50" dirty="0"/>
          </a:p>
        </p:txBody>
      </p:sp>
      <p:sp>
        <p:nvSpPr>
          <p:cNvPr id="70" name="Text 68"/>
          <p:cNvSpPr/>
          <p:nvPr/>
        </p:nvSpPr>
        <p:spPr>
          <a:xfrm>
            <a:off x="7514356" y="3858768"/>
            <a:ext cx="220553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6742420" y="3858768"/>
            <a:ext cx="77193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50" dirty="0"/>
          </a:p>
        </p:txBody>
      </p:sp>
      <p:sp>
        <p:nvSpPr>
          <p:cNvPr id="72" name="Text 70"/>
          <p:cNvSpPr/>
          <p:nvPr/>
        </p:nvSpPr>
        <p:spPr>
          <a:xfrm>
            <a:off x="5529377" y="3858768"/>
            <a:ext cx="121304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١٬٥٠٩٬٥٨٢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4536887" y="3858768"/>
            <a:ext cx="992490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١٠٠٪</a:t>
            </a:r>
            <a:endParaRPr lang="en-US" sz="1150" dirty="0"/>
          </a:p>
        </p:txBody>
      </p:sp>
      <p:sp>
        <p:nvSpPr>
          <p:cNvPr id="74" name="Text 72"/>
          <p:cNvSpPr/>
          <p:nvPr/>
        </p:nvSpPr>
        <p:spPr>
          <a:xfrm>
            <a:off x="3434121" y="3858768"/>
            <a:ext cx="110276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٢٥٫٣</a:t>
            </a:r>
            <a:endParaRPr lang="en-US" sz="1150" dirty="0"/>
          </a:p>
        </p:txBody>
      </p:sp>
      <p:sp>
        <p:nvSpPr>
          <p:cNvPr id="75" name="Text 73"/>
          <p:cNvSpPr/>
          <p:nvPr/>
        </p:nvSpPr>
        <p:spPr>
          <a:xfrm>
            <a:off x="2551908" y="3858768"/>
            <a:ext cx="88221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٢٠٪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1669694" y="3858768"/>
            <a:ext cx="88221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٥٫٤٪</a:t>
            </a:r>
            <a:endParaRPr lang="en-US" sz="1150" dirty="0"/>
          </a:p>
        </p:txBody>
      </p:sp>
      <p:sp>
        <p:nvSpPr>
          <p:cNvPr id="77" name="Text 75"/>
          <p:cNvSpPr/>
          <p:nvPr/>
        </p:nvSpPr>
        <p:spPr>
          <a:xfrm>
            <a:off x="566928" y="3858768"/>
            <a:ext cx="110276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٥٧٫٢</a:t>
            </a:r>
            <a:endParaRPr lang="en-US" sz="1150" dirty="0"/>
          </a:p>
        </p:txBody>
      </p:sp>
      <p:sp>
        <p:nvSpPr>
          <p:cNvPr id="78" name="Text 76"/>
          <p:cNvSpPr/>
          <p:nvPr/>
        </p:nvSpPr>
        <p:spPr>
          <a:xfrm>
            <a:off x="566928" y="4389120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هو العميل في كل شريحة</a:t>
            </a:r>
            <a:endParaRPr lang="en-US" sz="1500" dirty="0"/>
          </a:p>
        </p:txBody>
      </p:sp>
      <p:sp>
        <p:nvSpPr>
          <p:cNvPr id="79" name="Shape 77"/>
          <p:cNvSpPr/>
          <p:nvPr/>
        </p:nvSpPr>
        <p:spPr>
          <a:xfrm>
            <a:off x="9491472" y="4718304"/>
            <a:ext cx="2103120" cy="1188720"/>
          </a:xfrm>
          <a:prstGeom prst="roundRect">
            <a:avLst>
              <a:gd name="adj" fmla="val 3077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491472" y="4718304"/>
            <a:ext cx="2103120" cy="36576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81" name="Text 79"/>
          <p:cNvSpPr/>
          <p:nvPr/>
        </p:nvSpPr>
        <p:spPr>
          <a:xfrm>
            <a:off x="9564624" y="480060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محاور الطريق</a:t>
            </a:r>
            <a:endParaRPr lang="en-US" sz="1200" dirty="0"/>
          </a:p>
        </p:txBody>
      </p:sp>
      <p:sp>
        <p:nvSpPr>
          <p:cNvPr id="82" name="Text 80"/>
          <p:cNvSpPr/>
          <p:nvPr/>
        </p:nvSpPr>
        <p:spPr>
          <a:xfrm>
            <a:off x="9582912" y="5102352"/>
            <a:ext cx="19202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شاحنات وأساطيل عابرة · سلة كبيرة · ذروة نهارية</a:t>
            </a:r>
            <a:endParaRPr lang="en-US" sz="1050" dirty="0"/>
          </a:p>
        </p:txBody>
      </p:sp>
      <p:sp>
        <p:nvSpPr>
          <p:cNvPr id="83" name="Shape 81"/>
          <p:cNvSpPr/>
          <p:nvPr/>
        </p:nvSpPr>
        <p:spPr>
          <a:xfrm>
            <a:off x="7260336" y="4718304"/>
            <a:ext cx="2103120" cy="1188720"/>
          </a:xfrm>
          <a:prstGeom prst="roundRect">
            <a:avLst>
              <a:gd name="adj" fmla="val 3077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260336" y="4718304"/>
            <a:ext cx="2103120" cy="36576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85" name="Text 83"/>
          <p:cNvSpPr/>
          <p:nvPr/>
        </p:nvSpPr>
        <p:spPr>
          <a:xfrm>
            <a:off x="7333488" y="480060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مراكز الأساطيل</a:t>
            </a:r>
            <a:endParaRPr lang="en-US" sz="1200" dirty="0"/>
          </a:p>
        </p:txBody>
      </p:sp>
      <p:sp>
        <p:nvSpPr>
          <p:cNvPr id="86" name="Text 84"/>
          <p:cNvSpPr/>
          <p:nvPr/>
        </p:nvSpPr>
        <p:spPr>
          <a:xfrm>
            <a:off x="7351776" y="5102352"/>
            <a:ext cx="19202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عملاء متعاقدون · بطاقات وتطبيقات · تكرار عالٍ</a:t>
            </a:r>
            <a:endParaRPr lang="en-US" sz="1050" dirty="0"/>
          </a:p>
        </p:txBody>
      </p:sp>
      <p:sp>
        <p:nvSpPr>
          <p:cNvPr id="87" name="Shape 85"/>
          <p:cNvSpPr/>
          <p:nvPr/>
        </p:nvSpPr>
        <p:spPr>
          <a:xfrm>
            <a:off x="5029200" y="4718304"/>
            <a:ext cx="2103120" cy="1188720"/>
          </a:xfrm>
          <a:prstGeom prst="roundRect">
            <a:avLst>
              <a:gd name="adj" fmla="val 3077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029200" y="4718304"/>
            <a:ext cx="2103120" cy="36576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89" name="Text 87"/>
          <p:cNvSpPr/>
          <p:nvPr/>
        </p:nvSpPr>
        <p:spPr>
          <a:xfrm>
            <a:off x="5102352" y="480060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 كبرى</a:t>
            </a:r>
            <a:endParaRPr lang="en-US" sz="1200" dirty="0"/>
          </a:p>
        </p:txBody>
      </p:sp>
      <p:sp>
        <p:nvSpPr>
          <p:cNvPr id="90" name="Text 88"/>
          <p:cNvSpPr/>
          <p:nvPr/>
        </p:nvSpPr>
        <p:spPr>
          <a:xfrm>
            <a:off x="5120640" y="5102352"/>
            <a:ext cx="19202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المدينة · تردد عالٍ وسلة صغيرة</a:t>
            </a:r>
            <a:endParaRPr lang="en-US" sz="1050" dirty="0"/>
          </a:p>
        </p:txBody>
      </p:sp>
      <p:sp>
        <p:nvSpPr>
          <p:cNvPr id="91" name="Shape 89"/>
          <p:cNvSpPr/>
          <p:nvPr/>
        </p:nvSpPr>
        <p:spPr>
          <a:xfrm>
            <a:off x="2798064" y="4718304"/>
            <a:ext cx="2103120" cy="1188720"/>
          </a:xfrm>
          <a:prstGeom prst="roundRect">
            <a:avLst>
              <a:gd name="adj" fmla="val 3077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798064" y="4718304"/>
            <a:ext cx="2103120" cy="36576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93" name="Text 91"/>
          <p:cNvSpPr/>
          <p:nvPr/>
        </p:nvSpPr>
        <p:spPr>
          <a:xfrm>
            <a:off x="2871216" y="480060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 متوسطة</a:t>
            </a:r>
            <a:endParaRPr lang="en-US" sz="1200" dirty="0"/>
          </a:p>
        </p:txBody>
      </p:sp>
      <p:sp>
        <p:nvSpPr>
          <p:cNvPr id="94" name="Text 92"/>
          <p:cNvSpPr/>
          <p:nvPr/>
        </p:nvSpPr>
        <p:spPr>
          <a:xfrm>
            <a:off x="2889504" y="5102352"/>
            <a:ext cx="19202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أحياء سكنية · نمو بالتردد لا بالسلة</a:t>
            </a:r>
            <a:endParaRPr lang="en-US" sz="1050" dirty="0"/>
          </a:p>
        </p:txBody>
      </p:sp>
      <p:sp>
        <p:nvSpPr>
          <p:cNvPr id="95" name="Shape 93"/>
          <p:cNvSpPr/>
          <p:nvPr/>
        </p:nvSpPr>
        <p:spPr>
          <a:xfrm>
            <a:off x="566928" y="4718304"/>
            <a:ext cx="2103120" cy="1188720"/>
          </a:xfrm>
          <a:prstGeom prst="roundRect">
            <a:avLst>
              <a:gd name="adj" fmla="val 3077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566928" y="4718304"/>
            <a:ext cx="2103120" cy="36576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97" name="Text 95"/>
          <p:cNvSpPr/>
          <p:nvPr/>
        </p:nvSpPr>
        <p:spPr>
          <a:xfrm>
            <a:off x="640080" y="480060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محلية صغيرة</a:t>
            </a:r>
            <a:endParaRPr lang="en-US" sz="1200" dirty="0"/>
          </a:p>
        </p:txBody>
      </p:sp>
      <p:sp>
        <p:nvSpPr>
          <p:cNvPr id="98" name="Text 96"/>
          <p:cNvSpPr/>
          <p:nvPr/>
        </p:nvSpPr>
        <p:spPr>
          <a:xfrm>
            <a:off x="658368" y="5102352"/>
            <a:ext cx="19202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طلب محدود · الأولوية ضبط التكلفة</a:t>
            </a:r>
            <a:endParaRPr lang="en-US" sz="1050" dirty="0"/>
          </a:p>
        </p:txBody>
      </p:sp>
      <p:sp>
        <p:nvSpPr>
          <p:cNvPr id="99" name="Shape 97"/>
          <p:cNvSpPr/>
          <p:nvPr/>
        </p:nvSpPr>
        <p:spPr>
          <a:xfrm>
            <a:off x="566928" y="5989320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100" name="Text 98"/>
          <p:cNvSpPr/>
          <p:nvPr/>
        </p:nvSpPr>
        <p:spPr>
          <a:xfrm>
            <a:off x="566928" y="6035040"/>
            <a:ext cx="11027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 محطة من ٥٥ دخلت التقسيم — الثلاث المستبعدة لتراتها ناقصة في المصدر.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تحليل المنافذ — القمة والقاع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وأدنى المحطات بالمبيعات اليومية · الترتيب يقود توزيع الجهد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246175" y="1371600"/>
            <a:ext cx="534841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٨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46175" y="1682496"/>
            <a:ext cx="5348417" cy="384048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990067" y="1682496"/>
            <a:ext cx="160452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455225" y="1682496"/>
            <a:ext cx="53484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439026" y="1682496"/>
            <a:ext cx="1016199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797216" y="1682496"/>
            <a:ext cx="64181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لتر/يوم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262374" y="1682496"/>
            <a:ext cx="53484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زيارة/يوم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781017" y="1682496"/>
            <a:ext cx="48135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لتر/زيارة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46175" y="1682496"/>
            <a:ext cx="53484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الفاتورة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46175" y="2066544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90067" y="2066544"/>
            <a:ext cx="1604525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455225" y="20665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439026" y="2066544"/>
            <a:ext cx="101619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محاور الطريق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797216" y="2066544"/>
            <a:ext cx="64181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١٣٠٬٢١٣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262374" y="20665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781017" y="2066544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٣٠٫٦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246175" y="20665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٦٤٫٥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246175" y="2409444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990067" y="2409444"/>
            <a:ext cx="1604525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العوالي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9455225" y="24094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MK003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439026" y="2409444"/>
            <a:ext cx="101619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 كبرى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797216" y="2409444"/>
            <a:ext cx="64181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٩٤٬٨١٣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262374" y="24094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٣٬٤٩٢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81017" y="2409444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٢٧٫٢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46175" y="24094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٦١٫٤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246175" y="2752344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990067" y="2752344"/>
            <a:ext cx="1604525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عاصفة الصحراء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9455225" y="27523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MK004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439026" y="2752344"/>
            <a:ext cx="101619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محاور الطريق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797216" y="2752344"/>
            <a:ext cx="64181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٨٥٬٧٩١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262374" y="27523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٢٬٢١٠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781017" y="2752344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٣٨٫٨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246175" y="27523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٨١٫١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246175" y="3095244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990067" y="3095244"/>
            <a:ext cx="1604525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9455225" y="30952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439026" y="3095244"/>
            <a:ext cx="101619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محاور الطريق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7797216" y="3095244"/>
            <a:ext cx="64181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٨٥٬٥٣٣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262374" y="30952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١٬٨٧٨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781017" y="3095244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٤٥٫٥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246175" y="30952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٨٧٫٦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246175" y="3438144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990067" y="3438144"/>
            <a:ext cx="1604525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الجنو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9455225" y="34381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8439026" y="3438144"/>
            <a:ext cx="101619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محاور الطريق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797216" y="3438144"/>
            <a:ext cx="64181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٥٨٬٩٦٨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262374" y="34381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١٬٨٣٦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781017" y="3438144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٣٢٫١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246175" y="34381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٦٨٫٠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246175" y="3781044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990067" y="3781044"/>
            <a:ext cx="1604525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9455225" y="37810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8439026" y="3781044"/>
            <a:ext cx="101619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محاور الطريق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797216" y="3781044"/>
            <a:ext cx="64181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٤٧٬٥٨٤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7262374" y="37810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١٬٦٨٩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6781017" y="3781044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٢٨٫٢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6246175" y="37810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٥٩٫٤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6246175" y="4123944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990067" y="4123944"/>
            <a:ext cx="1604525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الشيباني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9455225" y="41239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MK005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8439026" y="4123944"/>
            <a:ext cx="101619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 كبرى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7797216" y="4123944"/>
            <a:ext cx="64181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٤٥٬٦٩٠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7262374" y="41239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١٬٧٣٤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6781017" y="4123944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٢٦٫٣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6246175" y="41239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٥٩٫٨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6246175" y="4466844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990067" y="4466844"/>
            <a:ext cx="1604525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النسيم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9455225" y="44668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MK015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8439026" y="4466844"/>
            <a:ext cx="101619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 كبرى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7797216" y="4466844"/>
            <a:ext cx="64181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٤٣٬٩٢٤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7262374" y="44668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١٬٩٩٨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6781017" y="4466844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٢٢٫٠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6246175" y="44668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٤٩٫٦</a:t>
            </a:r>
            <a:endParaRPr lang="en-US" sz="950" dirty="0"/>
          </a:p>
        </p:txBody>
      </p:sp>
      <p:sp>
        <p:nvSpPr>
          <p:cNvPr id="81" name="Text 79"/>
          <p:cNvSpPr/>
          <p:nvPr/>
        </p:nvSpPr>
        <p:spPr>
          <a:xfrm>
            <a:off x="566928" y="1371600"/>
            <a:ext cx="534841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أدنى ٨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566928" y="1682496"/>
            <a:ext cx="5348417" cy="384048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83" name="Text 81"/>
          <p:cNvSpPr/>
          <p:nvPr/>
        </p:nvSpPr>
        <p:spPr>
          <a:xfrm>
            <a:off x="4310820" y="1682496"/>
            <a:ext cx="160452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3775978" y="1682496"/>
            <a:ext cx="53484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2759779" y="1682496"/>
            <a:ext cx="1016199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2117969" y="1682496"/>
            <a:ext cx="64181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لتر/يوم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1583127" y="1682496"/>
            <a:ext cx="53484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زيارة/يوم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1101770" y="1682496"/>
            <a:ext cx="48135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لتر/زيارة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566928" y="1682496"/>
            <a:ext cx="53484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الفاتورة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566928" y="2066544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10820" y="2066544"/>
            <a:ext cx="1604525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المركب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3775978" y="20665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NJ219</a:t>
            </a:r>
            <a:endParaRPr lang="en-US" sz="950" dirty="0"/>
          </a:p>
        </p:txBody>
      </p:sp>
      <p:sp>
        <p:nvSpPr>
          <p:cNvPr id="93" name="Text 91"/>
          <p:cNvSpPr/>
          <p:nvPr/>
        </p:nvSpPr>
        <p:spPr>
          <a:xfrm>
            <a:off x="2759779" y="2066544"/>
            <a:ext cx="101619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محلية صغيرة</a:t>
            </a:r>
            <a:endParaRPr lang="en-US" sz="950" dirty="0"/>
          </a:p>
        </p:txBody>
      </p:sp>
      <p:sp>
        <p:nvSpPr>
          <p:cNvPr id="94" name="Text 92"/>
          <p:cNvSpPr/>
          <p:nvPr/>
        </p:nvSpPr>
        <p:spPr>
          <a:xfrm>
            <a:off x="2117969" y="2066544"/>
            <a:ext cx="64181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٦٬١٦٦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1583127" y="20665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٢٧٥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1101770" y="2066544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٢٢٫٥</a:t>
            </a:r>
            <a:endParaRPr lang="en-US" sz="950" dirty="0"/>
          </a:p>
        </p:txBody>
      </p:sp>
      <p:sp>
        <p:nvSpPr>
          <p:cNvPr id="97" name="Text 95"/>
          <p:cNvSpPr/>
          <p:nvPr/>
        </p:nvSpPr>
        <p:spPr>
          <a:xfrm>
            <a:off x="566928" y="20665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٤٨٫٥</a:t>
            </a:r>
            <a:endParaRPr lang="en-US" sz="950" dirty="0"/>
          </a:p>
        </p:txBody>
      </p:sp>
      <p:sp>
        <p:nvSpPr>
          <p:cNvPr id="98" name="Shape 96"/>
          <p:cNvSpPr/>
          <p:nvPr/>
        </p:nvSpPr>
        <p:spPr>
          <a:xfrm>
            <a:off x="566928" y="2409444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310820" y="2409444"/>
            <a:ext cx="1604525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السلام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3775978" y="24094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MD009</a:t>
            </a:r>
            <a:endParaRPr lang="en-US" sz="950" dirty="0"/>
          </a:p>
        </p:txBody>
      </p:sp>
      <p:sp>
        <p:nvSpPr>
          <p:cNvPr id="101" name="Text 99"/>
          <p:cNvSpPr/>
          <p:nvPr/>
        </p:nvSpPr>
        <p:spPr>
          <a:xfrm>
            <a:off x="2759779" y="2409444"/>
            <a:ext cx="101619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محاور الطريق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2117969" y="2409444"/>
            <a:ext cx="64181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٦٬٣٧٣</a:t>
            </a:r>
            <a:endParaRPr lang="en-US" sz="950" dirty="0"/>
          </a:p>
        </p:txBody>
      </p:sp>
      <p:sp>
        <p:nvSpPr>
          <p:cNvPr id="103" name="Text 101"/>
          <p:cNvSpPr/>
          <p:nvPr/>
        </p:nvSpPr>
        <p:spPr>
          <a:xfrm>
            <a:off x="1583127" y="24094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٢٣٣</a:t>
            </a:r>
            <a:endParaRPr lang="en-US" sz="950" dirty="0"/>
          </a:p>
        </p:txBody>
      </p:sp>
      <p:sp>
        <p:nvSpPr>
          <p:cNvPr id="104" name="Text 102"/>
          <p:cNvSpPr/>
          <p:nvPr/>
        </p:nvSpPr>
        <p:spPr>
          <a:xfrm>
            <a:off x="1101770" y="2409444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٢٧٫٤</a:t>
            </a:r>
            <a:endParaRPr lang="en-US" sz="950" dirty="0"/>
          </a:p>
        </p:txBody>
      </p:sp>
      <p:sp>
        <p:nvSpPr>
          <p:cNvPr id="105" name="Text 103"/>
          <p:cNvSpPr/>
          <p:nvPr/>
        </p:nvSpPr>
        <p:spPr>
          <a:xfrm>
            <a:off x="566928" y="24094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٥٧٫٥</a:t>
            </a:r>
            <a:endParaRPr lang="en-US" sz="950" dirty="0"/>
          </a:p>
        </p:txBody>
      </p:sp>
      <p:sp>
        <p:nvSpPr>
          <p:cNvPr id="106" name="Shape 104"/>
          <p:cNvSpPr/>
          <p:nvPr/>
        </p:nvSpPr>
        <p:spPr>
          <a:xfrm>
            <a:off x="566928" y="2752344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310820" y="2752344"/>
            <a:ext cx="1604525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صناعية صامطة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3775978" y="27523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JA060</a:t>
            </a:r>
            <a:endParaRPr lang="en-US" sz="950" dirty="0"/>
          </a:p>
        </p:txBody>
      </p:sp>
      <p:sp>
        <p:nvSpPr>
          <p:cNvPr id="109" name="Text 107"/>
          <p:cNvSpPr/>
          <p:nvPr/>
        </p:nvSpPr>
        <p:spPr>
          <a:xfrm>
            <a:off x="2759779" y="2752344"/>
            <a:ext cx="101619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محلية صغيرة</a:t>
            </a:r>
            <a:endParaRPr lang="en-US" sz="950" dirty="0"/>
          </a:p>
        </p:txBody>
      </p:sp>
      <p:sp>
        <p:nvSpPr>
          <p:cNvPr id="110" name="Text 108"/>
          <p:cNvSpPr/>
          <p:nvPr/>
        </p:nvSpPr>
        <p:spPr>
          <a:xfrm>
            <a:off x="2117969" y="2752344"/>
            <a:ext cx="64181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٦٬٦٩٦</a:t>
            </a:r>
            <a:endParaRPr lang="en-US" sz="950" dirty="0"/>
          </a:p>
        </p:txBody>
      </p:sp>
      <p:sp>
        <p:nvSpPr>
          <p:cNvPr id="111" name="Text 109"/>
          <p:cNvSpPr/>
          <p:nvPr/>
        </p:nvSpPr>
        <p:spPr>
          <a:xfrm>
            <a:off x="1583127" y="27523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٤١٠</a:t>
            </a:r>
            <a:endParaRPr lang="en-US" sz="950" dirty="0"/>
          </a:p>
        </p:txBody>
      </p:sp>
      <p:sp>
        <p:nvSpPr>
          <p:cNvPr id="112" name="Text 110"/>
          <p:cNvSpPr/>
          <p:nvPr/>
        </p:nvSpPr>
        <p:spPr>
          <a:xfrm>
            <a:off x="1101770" y="2752344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١٦٫٣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566928" y="27523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٣٤٫٩</a:t>
            </a:r>
            <a:endParaRPr lang="en-US" sz="950" dirty="0"/>
          </a:p>
        </p:txBody>
      </p:sp>
      <p:sp>
        <p:nvSpPr>
          <p:cNvPr id="114" name="Shape 112"/>
          <p:cNvSpPr/>
          <p:nvPr/>
        </p:nvSpPr>
        <p:spPr>
          <a:xfrm>
            <a:off x="566928" y="3095244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4310820" y="3095244"/>
            <a:ext cx="1604525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الروابي - المودة</a:t>
            </a:r>
            <a:endParaRPr lang="en-US" sz="950" dirty="0"/>
          </a:p>
        </p:txBody>
      </p:sp>
      <p:sp>
        <p:nvSpPr>
          <p:cNvPr id="116" name="Text 114"/>
          <p:cNvSpPr/>
          <p:nvPr/>
        </p:nvSpPr>
        <p:spPr>
          <a:xfrm>
            <a:off x="3775978" y="30952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JA056</a:t>
            </a:r>
            <a:endParaRPr lang="en-US" sz="950" dirty="0"/>
          </a:p>
        </p:txBody>
      </p:sp>
      <p:sp>
        <p:nvSpPr>
          <p:cNvPr id="117" name="Text 115"/>
          <p:cNvSpPr/>
          <p:nvPr/>
        </p:nvSpPr>
        <p:spPr>
          <a:xfrm>
            <a:off x="2759779" y="3095244"/>
            <a:ext cx="101619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محلية صغيرة</a:t>
            </a:r>
            <a:endParaRPr lang="en-US" sz="950" dirty="0"/>
          </a:p>
        </p:txBody>
      </p:sp>
      <p:sp>
        <p:nvSpPr>
          <p:cNvPr id="118" name="Text 116"/>
          <p:cNvSpPr/>
          <p:nvPr/>
        </p:nvSpPr>
        <p:spPr>
          <a:xfrm>
            <a:off x="2117969" y="3095244"/>
            <a:ext cx="64181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٧٬٠٩٥</a:t>
            </a:r>
            <a:endParaRPr lang="en-US" sz="950" dirty="0"/>
          </a:p>
        </p:txBody>
      </p:sp>
      <p:sp>
        <p:nvSpPr>
          <p:cNvPr id="119" name="Text 117"/>
          <p:cNvSpPr/>
          <p:nvPr/>
        </p:nvSpPr>
        <p:spPr>
          <a:xfrm>
            <a:off x="1583127" y="30952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٢٨٦</a:t>
            </a:r>
            <a:endParaRPr lang="en-US" sz="950" dirty="0"/>
          </a:p>
        </p:txBody>
      </p:sp>
      <p:sp>
        <p:nvSpPr>
          <p:cNvPr id="120" name="Text 118"/>
          <p:cNvSpPr/>
          <p:nvPr/>
        </p:nvSpPr>
        <p:spPr>
          <a:xfrm>
            <a:off x="1101770" y="3095244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٢٤٫٨</a:t>
            </a:r>
            <a:endParaRPr lang="en-US" sz="950" dirty="0"/>
          </a:p>
        </p:txBody>
      </p:sp>
      <p:sp>
        <p:nvSpPr>
          <p:cNvPr id="121" name="Text 119"/>
          <p:cNvSpPr/>
          <p:nvPr/>
        </p:nvSpPr>
        <p:spPr>
          <a:xfrm>
            <a:off x="566928" y="30952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٥٣٫٣</a:t>
            </a:r>
            <a:endParaRPr lang="en-US" sz="950" dirty="0"/>
          </a:p>
        </p:txBody>
      </p:sp>
      <p:sp>
        <p:nvSpPr>
          <p:cNvPr id="122" name="Shape 120"/>
          <p:cNvSpPr/>
          <p:nvPr/>
        </p:nvSpPr>
        <p:spPr>
          <a:xfrm>
            <a:off x="566928" y="3438144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310820" y="3438144"/>
            <a:ext cx="1604525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العريفي</a:t>
            </a:r>
            <a:endParaRPr lang="en-US" sz="950" dirty="0"/>
          </a:p>
        </p:txBody>
      </p:sp>
      <p:sp>
        <p:nvSpPr>
          <p:cNvPr id="124" name="Text 122"/>
          <p:cNvSpPr/>
          <p:nvPr/>
        </p:nvSpPr>
        <p:spPr>
          <a:xfrm>
            <a:off x="3775978" y="34381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HA043</a:t>
            </a:r>
            <a:endParaRPr lang="en-US" sz="950" dirty="0"/>
          </a:p>
        </p:txBody>
      </p:sp>
      <p:sp>
        <p:nvSpPr>
          <p:cNvPr id="125" name="Text 123"/>
          <p:cNvSpPr/>
          <p:nvPr/>
        </p:nvSpPr>
        <p:spPr>
          <a:xfrm>
            <a:off x="2759779" y="3438144"/>
            <a:ext cx="101619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محلية صغيرة</a:t>
            </a:r>
            <a:endParaRPr lang="en-US" sz="950" dirty="0"/>
          </a:p>
        </p:txBody>
      </p:sp>
      <p:sp>
        <p:nvSpPr>
          <p:cNvPr id="126" name="Text 124"/>
          <p:cNvSpPr/>
          <p:nvPr/>
        </p:nvSpPr>
        <p:spPr>
          <a:xfrm>
            <a:off x="2117969" y="3438144"/>
            <a:ext cx="64181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٧٬٨٦٧</a:t>
            </a:r>
            <a:endParaRPr lang="en-US" sz="950" dirty="0"/>
          </a:p>
        </p:txBody>
      </p:sp>
      <p:sp>
        <p:nvSpPr>
          <p:cNvPr id="127" name="Text 125"/>
          <p:cNvSpPr/>
          <p:nvPr/>
        </p:nvSpPr>
        <p:spPr>
          <a:xfrm>
            <a:off x="1583127" y="34381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٣٢٦</a:t>
            </a:r>
            <a:endParaRPr lang="en-US" sz="950" dirty="0"/>
          </a:p>
        </p:txBody>
      </p:sp>
      <p:sp>
        <p:nvSpPr>
          <p:cNvPr id="128" name="Text 126"/>
          <p:cNvSpPr/>
          <p:nvPr/>
        </p:nvSpPr>
        <p:spPr>
          <a:xfrm>
            <a:off x="1101770" y="3438144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٢٤٫١</a:t>
            </a:r>
            <a:endParaRPr lang="en-US" sz="950" dirty="0"/>
          </a:p>
        </p:txBody>
      </p:sp>
      <p:sp>
        <p:nvSpPr>
          <p:cNvPr id="129" name="Text 127"/>
          <p:cNvSpPr/>
          <p:nvPr/>
        </p:nvSpPr>
        <p:spPr>
          <a:xfrm>
            <a:off x="566928" y="34381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٥٣٫٧</a:t>
            </a:r>
            <a:endParaRPr lang="en-US" sz="950" dirty="0"/>
          </a:p>
        </p:txBody>
      </p:sp>
      <p:sp>
        <p:nvSpPr>
          <p:cNvPr id="130" name="Shape 128"/>
          <p:cNvSpPr/>
          <p:nvPr/>
        </p:nvSpPr>
        <p:spPr>
          <a:xfrm>
            <a:off x="566928" y="3781044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310820" y="3781044"/>
            <a:ext cx="1604525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الكوثر</a:t>
            </a:r>
            <a:endParaRPr lang="en-US" sz="950" dirty="0"/>
          </a:p>
        </p:txBody>
      </p:sp>
      <p:sp>
        <p:nvSpPr>
          <p:cNvPr id="132" name="Text 130"/>
          <p:cNvSpPr/>
          <p:nvPr/>
        </p:nvSpPr>
        <p:spPr>
          <a:xfrm>
            <a:off x="3775978" y="37810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MK100</a:t>
            </a:r>
            <a:endParaRPr lang="en-US" sz="950" dirty="0"/>
          </a:p>
        </p:txBody>
      </p:sp>
      <p:sp>
        <p:nvSpPr>
          <p:cNvPr id="133" name="Text 131"/>
          <p:cNvSpPr/>
          <p:nvPr/>
        </p:nvSpPr>
        <p:spPr>
          <a:xfrm>
            <a:off x="2759779" y="3781044"/>
            <a:ext cx="101619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محاور الطريق</a:t>
            </a:r>
            <a:endParaRPr lang="en-US" sz="950" dirty="0"/>
          </a:p>
        </p:txBody>
      </p:sp>
      <p:sp>
        <p:nvSpPr>
          <p:cNvPr id="134" name="Text 132"/>
          <p:cNvSpPr/>
          <p:nvPr/>
        </p:nvSpPr>
        <p:spPr>
          <a:xfrm>
            <a:off x="2117969" y="3781044"/>
            <a:ext cx="64181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٨٬٨٧٥</a:t>
            </a:r>
            <a:endParaRPr lang="en-US" sz="950" dirty="0"/>
          </a:p>
        </p:txBody>
      </p:sp>
      <p:sp>
        <p:nvSpPr>
          <p:cNvPr id="135" name="Text 133"/>
          <p:cNvSpPr/>
          <p:nvPr/>
        </p:nvSpPr>
        <p:spPr>
          <a:xfrm>
            <a:off x="1583127" y="37810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٣٣٤</a:t>
            </a:r>
            <a:endParaRPr lang="en-US" sz="950" dirty="0"/>
          </a:p>
        </p:txBody>
      </p:sp>
      <p:sp>
        <p:nvSpPr>
          <p:cNvPr id="136" name="Text 134"/>
          <p:cNvSpPr/>
          <p:nvPr/>
        </p:nvSpPr>
        <p:spPr>
          <a:xfrm>
            <a:off x="1101770" y="3781044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٢٦٫٦</a:t>
            </a:r>
            <a:endParaRPr lang="en-US" sz="950" dirty="0"/>
          </a:p>
        </p:txBody>
      </p:sp>
      <p:sp>
        <p:nvSpPr>
          <p:cNvPr id="137" name="Text 135"/>
          <p:cNvSpPr/>
          <p:nvPr/>
        </p:nvSpPr>
        <p:spPr>
          <a:xfrm>
            <a:off x="566928" y="37810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٥٥٫٣</a:t>
            </a:r>
            <a:endParaRPr lang="en-US" sz="950" dirty="0"/>
          </a:p>
        </p:txBody>
      </p:sp>
      <p:sp>
        <p:nvSpPr>
          <p:cNvPr id="138" name="Shape 136"/>
          <p:cNvSpPr/>
          <p:nvPr/>
        </p:nvSpPr>
        <p:spPr>
          <a:xfrm>
            <a:off x="566928" y="4123944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4310820" y="4123944"/>
            <a:ext cx="1604525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البيعة</a:t>
            </a:r>
            <a:endParaRPr lang="en-US" sz="950" dirty="0"/>
          </a:p>
        </p:txBody>
      </p:sp>
      <p:sp>
        <p:nvSpPr>
          <p:cNvPr id="140" name="Text 138"/>
          <p:cNvSpPr/>
          <p:nvPr/>
        </p:nvSpPr>
        <p:spPr>
          <a:xfrm>
            <a:off x="3775978" y="41239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MK099</a:t>
            </a:r>
            <a:endParaRPr lang="en-US" sz="950" dirty="0"/>
          </a:p>
        </p:txBody>
      </p:sp>
      <p:sp>
        <p:nvSpPr>
          <p:cNvPr id="141" name="Text 139"/>
          <p:cNvSpPr/>
          <p:nvPr/>
        </p:nvSpPr>
        <p:spPr>
          <a:xfrm>
            <a:off x="2759779" y="4123944"/>
            <a:ext cx="101619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مراكز الأساطيل</a:t>
            </a:r>
            <a:endParaRPr lang="en-US" sz="950" dirty="0"/>
          </a:p>
        </p:txBody>
      </p:sp>
      <p:sp>
        <p:nvSpPr>
          <p:cNvPr id="142" name="Text 140"/>
          <p:cNvSpPr/>
          <p:nvPr/>
        </p:nvSpPr>
        <p:spPr>
          <a:xfrm>
            <a:off x="2117969" y="4123944"/>
            <a:ext cx="64181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٩٬٣٧١</a:t>
            </a:r>
            <a:endParaRPr lang="en-US" sz="950" dirty="0"/>
          </a:p>
        </p:txBody>
      </p:sp>
      <p:sp>
        <p:nvSpPr>
          <p:cNvPr id="143" name="Text 141"/>
          <p:cNvSpPr/>
          <p:nvPr/>
        </p:nvSpPr>
        <p:spPr>
          <a:xfrm>
            <a:off x="1583127" y="41239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٤٥٦</a:t>
            </a:r>
            <a:endParaRPr lang="en-US" sz="950" dirty="0"/>
          </a:p>
        </p:txBody>
      </p:sp>
      <p:sp>
        <p:nvSpPr>
          <p:cNvPr id="144" name="Text 142"/>
          <p:cNvSpPr/>
          <p:nvPr/>
        </p:nvSpPr>
        <p:spPr>
          <a:xfrm>
            <a:off x="1101770" y="4123944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٢٠٫٦</a:t>
            </a:r>
            <a:endParaRPr lang="en-US" sz="950" dirty="0"/>
          </a:p>
        </p:txBody>
      </p:sp>
      <p:sp>
        <p:nvSpPr>
          <p:cNvPr id="145" name="Text 143"/>
          <p:cNvSpPr/>
          <p:nvPr/>
        </p:nvSpPr>
        <p:spPr>
          <a:xfrm>
            <a:off x="566928" y="41239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٤٦٫٥</a:t>
            </a:r>
            <a:endParaRPr lang="en-US" sz="950" dirty="0"/>
          </a:p>
        </p:txBody>
      </p:sp>
      <p:sp>
        <p:nvSpPr>
          <p:cNvPr id="146" name="Shape 144"/>
          <p:cNvSpPr/>
          <p:nvPr/>
        </p:nvSpPr>
        <p:spPr>
          <a:xfrm>
            <a:off x="566928" y="4466844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4310820" y="4466844"/>
            <a:ext cx="1604525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جبل ثور - جوهرة الن</a:t>
            </a:r>
            <a:endParaRPr lang="en-US" sz="950" dirty="0"/>
          </a:p>
        </p:txBody>
      </p:sp>
      <p:sp>
        <p:nvSpPr>
          <p:cNvPr id="148" name="Text 146"/>
          <p:cNvSpPr/>
          <p:nvPr/>
        </p:nvSpPr>
        <p:spPr>
          <a:xfrm>
            <a:off x="3775978" y="44668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MK323</a:t>
            </a:r>
            <a:endParaRPr lang="en-US" sz="950" dirty="0"/>
          </a:p>
        </p:txBody>
      </p:sp>
      <p:sp>
        <p:nvSpPr>
          <p:cNvPr id="149" name="Text 147"/>
          <p:cNvSpPr/>
          <p:nvPr/>
        </p:nvSpPr>
        <p:spPr>
          <a:xfrm>
            <a:off x="2759779" y="4466844"/>
            <a:ext cx="101619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محلية صغيرة</a:t>
            </a:r>
            <a:endParaRPr lang="en-US" sz="950" dirty="0"/>
          </a:p>
        </p:txBody>
      </p:sp>
      <p:sp>
        <p:nvSpPr>
          <p:cNvPr id="150" name="Text 148"/>
          <p:cNvSpPr/>
          <p:nvPr/>
        </p:nvSpPr>
        <p:spPr>
          <a:xfrm>
            <a:off x="2117969" y="4466844"/>
            <a:ext cx="64181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٩٬٧٥٢</a:t>
            </a:r>
            <a:endParaRPr lang="en-US" sz="950" dirty="0"/>
          </a:p>
        </p:txBody>
      </p:sp>
      <p:sp>
        <p:nvSpPr>
          <p:cNvPr id="151" name="Text 149"/>
          <p:cNvSpPr/>
          <p:nvPr/>
        </p:nvSpPr>
        <p:spPr>
          <a:xfrm>
            <a:off x="1583127" y="44668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٤٤٢</a:t>
            </a:r>
            <a:endParaRPr lang="en-US" sz="950" dirty="0"/>
          </a:p>
        </p:txBody>
      </p:sp>
      <p:sp>
        <p:nvSpPr>
          <p:cNvPr id="152" name="Text 150"/>
          <p:cNvSpPr/>
          <p:nvPr/>
        </p:nvSpPr>
        <p:spPr>
          <a:xfrm>
            <a:off x="1101770" y="4466844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٢٢٫١</a:t>
            </a:r>
            <a:endParaRPr lang="en-US" sz="950" dirty="0"/>
          </a:p>
        </p:txBody>
      </p:sp>
      <p:sp>
        <p:nvSpPr>
          <p:cNvPr id="153" name="Text 151"/>
          <p:cNvSpPr/>
          <p:nvPr/>
        </p:nvSpPr>
        <p:spPr>
          <a:xfrm>
            <a:off x="566928" y="44668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٤٩٫٩</a:t>
            </a:r>
            <a:endParaRPr lang="en-US" sz="950" dirty="0"/>
          </a:p>
        </p:txBody>
      </p:sp>
      <p:sp>
        <p:nvSpPr>
          <p:cNvPr id="154" name="Shape 152"/>
          <p:cNvSpPr/>
          <p:nvPr/>
        </p:nvSpPr>
        <p:spPr>
          <a:xfrm>
            <a:off x="6246175" y="4983480"/>
            <a:ext cx="5348417" cy="960120"/>
          </a:xfrm>
          <a:prstGeom prst="roundRect">
            <a:avLst>
              <a:gd name="adj" fmla="val 3810"/>
            </a:avLst>
          </a:prstGeom>
          <a:solidFill>
            <a:srgbClr val="D6E9E1"/>
          </a:solidFill>
          <a:ln w="12700">
            <a:solidFill>
              <a:srgbClr val="2E8B6F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6374191" y="5065776"/>
            <a:ext cx="5092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التركّز شديد</a:t>
            </a:r>
            <a:endParaRPr lang="en-US" sz="1250" dirty="0"/>
          </a:p>
        </p:txBody>
      </p:sp>
      <p:sp>
        <p:nvSpPr>
          <p:cNvPr id="156" name="Text 154"/>
          <p:cNvSpPr/>
          <p:nvPr/>
        </p:nvSpPr>
        <p:spPr>
          <a:xfrm>
            <a:off x="6374191" y="5358384"/>
            <a:ext cx="5092385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٥ محطات تصنع ٣٠٪ من حجم الشبكة. وMK007 وحدها ١٣٠ ألف لتر يومياً — ٤٫٤ أضعاف متوسط المحطة.</a:t>
            </a:r>
            <a:endParaRPr lang="en-US" sz="1100" dirty="0"/>
          </a:p>
        </p:txBody>
      </p:sp>
      <p:sp>
        <p:nvSpPr>
          <p:cNvPr id="157" name="Shape 155"/>
          <p:cNvSpPr/>
          <p:nvPr/>
        </p:nvSpPr>
        <p:spPr>
          <a:xfrm>
            <a:off x="566928" y="4983480"/>
            <a:ext cx="5348417" cy="960120"/>
          </a:xfrm>
          <a:prstGeom prst="roundRect">
            <a:avLst>
              <a:gd name="adj" fmla="val 3810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694944" y="5065776"/>
            <a:ext cx="5092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القاع ليس فشلاً بالضرورة</a:t>
            </a:r>
            <a:endParaRPr lang="en-US" sz="1250" dirty="0"/>
          </a:p>
        </p:txBody>
      </p:sp>
      <p:sp>
        <p:nvSpPr>
          <p:cNvPr id="159" name="Text 157"/>
          <p:cNvSpPr/>
          <p:nvPr/>
        </p:nvSpPr>
        <p:spPr>
          <a:xfrm>
            <a:off x="694944" y="5358384"/>
            <a:ext cx="5092385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 محطات دون ١٢ ألف لتر/يوم لا تصنع سوى ٣٫٩٪ من الحجم. الأولوية فيها ضبط التكلفة والتأجير لا الحملات.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194560"/>
            <a:ext cx="54864" cy="219456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148840"/>
            <a:ext cx="107533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الثالث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697480"/>
            <a:ext cx="10753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المنافسون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نخسر بالقرب لا بالخدمة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الموقف التنافسي — مسح ميداني على خمسة مواقع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تقييمات خرائط جوجل ومسافات فعلية ، ٤٠ منافساً مرصوداً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463040"/>
            <a:ext cx="11027664" cy="384048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629266" y="1463040"/>
            <a:ext cx="196532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55787" y="1463040"/>
            <a:ext cx="87347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554755" y="1463040"/>
            <a:ext cx="120103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 درب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135352" y="1463040"/>
            <a:ext cx="141940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المنافس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15950" y="1463040"/>
            <a:ext cx="141940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منافسون داخل ٥ كم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14917" y="1463040"/>
            <a:ext cx="120103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 منافس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77146" y="1463040"/>
            <a:ext cx="163777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هو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1463040"/>
            <a:ext cx="131021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الكثافة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1847088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29266" y="1847088"/>
            <a:ext cx="196532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الشرائع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755787" y="1847088"/>
            <a:ext cx="87347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MK019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554755" y="1847088"/>
            <a:ext cx="120103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35352" y="1847088"/>
            <a:ext cx="141940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15950" y="1847088"/>
            <a:ext cx="141940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514917" y="1847088"/>
            <a:ext cx="120103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٤٨٨ م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877146" y="1847088"/>
            <a:ext cx="163777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Aldrees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1847088"/>
            <a:ext cx="131021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2231136"/>
            <a:ext cx="11027664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29266" y="2231136"/>
            <a:ext cx="196532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الشوقية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755787" y="2231136"/>
            <a:ext cx="87347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MK017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554755" y="2231136"/>
            <a:ext cx="120103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135352" y="2231136"/>
            <a:ext cx="141940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٤٫١★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15950" y="2231136"/>
            <a:ext cx="141940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514917" y="2231136"/>
            <a:ext cx="120103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٢٬٤٥٠ م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877146" y="2231136"/>
            <a:ext cx="163777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نوفل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66928" y="2231136"/>
            <a:ext cx="131021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متوسطة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66928" y="2615184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629266" y="2615184"/>
            <a:ext cx="196532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الفردوس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755787" y="2615184"/>
            <a:ext cx="87347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554755" y="2615184"/>
            <a:ext cx="120103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35352" y="2615184"/>
            <a:ext cx="141940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715950" y="2615184"/>
            <a:ext cx="141940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514917" y="2615184"/>
            <a:ext cx="120103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٤١١ م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877146" y="2615184"/>
            <a:ext cx="163777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Aldrees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2615184"/>
            <a:ext cx="131021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2999232"/>
            <a:ext cx="11027664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629266" y="2999232"/>
            <a:ext cx="196532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النورية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755787" y="2999232"/>
            <a:ext cx="87347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554755" y="2999232"/>
            <a:ext cx="120103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135352" y="2999232"/>
            <a:ext cx="141940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٤٫٠★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715950" y="2999232"/>
            <a:ext cx="141940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514917" y="2999232"/>
            <a:ext cx="120103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٢٬١٩٤ م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877146" y="2999232"/>
            <a:ext cx="163777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المملكة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66928" y="2999232"/>
            <a:ext cx="131021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منخفضة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66928" y="3383280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629266" y="3383280"/>
            <a:ext cx="196532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755787" y="3383280"/>
            <a:ext cx="87347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MK002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554755" y="3383280"/>
            <a:ext cx="120103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135352" y="3383280"/>
            <a:ext cx="141940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٣٫٧★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15950" y="3383280"/>
            <a:ext cx="141940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514917" y="3383280"/>
            <a:ext cx="120103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١٨١ م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1877146" y="3383280"/>
            <a:ext cx="163777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المعيصم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66928" y="3383280"/>
            <a:ext cx="131021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8040624" y="3913632"/>
            <a:ext cx="3553968" cy="1316736"/>
          </a:xfrm>
          <a:prstGeom prst="roundRect">
            <a:avLst>
              <a:gd name="adj" fmla="val 3472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168640" y="4005072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نتفوّق في كل موقع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8168640" y="4315968"/>
            <a:ext cx="32979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 و٤٫٩ نجمة لنا مقابل ٣٫٦ إلى ٤٫١ للمنافسين. و٥٧٪ من المنافسين المرصودين دون أربع نجوم.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4303776" y="3913632"/>
            <a:ext cx="3553968" cy="1316736"/>
          </a:xfrm>
          <a:prstGeom prst="roundRect">
            <a:avLst>
              <a:gd name="adj" fmla="val 3472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431792" y="4005072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ونخسر بالمسافة</a:t>
            </a:r>
            <a:endParaRPr lang="en-US" sz="1400" dirty="0"/>
          </a:p>
        </p:txBody>
      </p:sp>
      <p:sp>
        <p:nvSpPr>
          <p:cNvPr id="67" name="Text 65"/>
          <p:cNvSpPr/>
          <p:nvPr/>
        </p:nvSpPr>
        <p:spPr>
          <a:xfrm>
            <a:off x="4431792" y="4315968"/>
            <a:ext cx="32979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 منافس على ١٨١ متراً في المعيصم و٤١١ في الفردوس و٤٨٨ في الشرائع — الاعتراض قبل الوصول.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566928" y="3913632"/>
            <a:ext cx="3553968" cy="1316736"/>
          </a:xfrm>
          <a:prstGeom prst="roundRect">
            <a:avLst>
              <a:gd name="adj" fmla="val 3472"/>
            </a:avLst>
          </a:prstGeom>
          <a:solidFill>
            <a:srgbClr val="F5F2ED"/>
          </a:solidFill>
          <a:ln w="15240">
            <a:solidFill>
              <a:srgbClr val="3E6E8E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94944" y="4005072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الدريس هو المنافس</a:t>
            </a:r>
            <a:endParaRPr lang="en-US" sz="1400" dirty="0"/>
          </a:p>
        </p:txBody>
      </p:sp>
      <p:sp>
        <p:nvSpPr>
          <p:cNvPr id="70" name="Text 68"/>
          <p:cNvSpPr/>
          <p:nvPr/>
        </p:nvSpPr>
        <p:spPr>
          <a:xfrm>
            <a:off x="694944" y="4315968"/>
            <a:ext cx="32979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 من ٤٠ موقعاً مرصوداً — ٣٨٪ محلياً مقابل ١٨٫٩٥٪ وطنياً. تركيز مقصود على مكة.</a:t>
            </a:r>
            <a:endParaRPr lang="en-US" sz="1150" dirty="0"/>
          </a:p>
        </p:txBody>
      </p:sp>
      <p:sp>
        <p:nvSpPr>
          <p:cNvPr id="71" name="Shape 69"/>
          <p:cNvSpPr/>
          <p:nvPr/>
        </p:nvSpPr>
        <p:spPr>
          <a:xfrm>
            <a:off x="566928" y="5321808"/>
            <a:ext cx="11027664" cy="566928"/>
          </a:xfrm>
          <a:prstGeom prst="roundRect">
            <a:avLst>
              <a:gd name="adj" fmla="val 6452"/>
            </a:avLst>
          </a:prstGeom>
          <a:solidFill>
            <a:srgbClr val="55565A"/>
          </a:solidFill>
          <a:ln/>
        </p:spPr>
      </p:sp>
      <p:sp>
        <p:nvSpPr>
          <p:cNvPr id="72" name="Text 70"/>
          <p:cNvSpPr/>
          <p:nvPr/>
        </p:nvSpPr>
        <p:spPr>
          <a:xfrm>
            <a:off x="749808" y="5413248"/>
            <a:ext cx="106619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النتيجة التشغيلية: لا تُبنى خطة على تحسين الخدمة — الخدمة أفضل أصلاً. تُبنى على الاعتراض: لافتة، مدخل، سرعة، وإبراز التقييم حيث يقرر السائق قبل ٥٠٠ متر.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حالة تشرح كل شيء — المعيصم MK002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تقييم · أقرب منافس · أسوأ انهيار في الشبكة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417320"/>
            <a:ext cx="61754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 يومياً — MK002 المعيصم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36649" y="1952320"/>
            <a:ext cx="529328" cy="261968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5890345" y="1659712"/>
            <a:ext cx="82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٤٤٬٣٦٠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890345" y="4617720"/>
            <a:ext cx="82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يناير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54436" y="3526313"/>
            <a:ext cx="529328" cy="1045687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3" name="Text 11"/>
          <p:cNvSpPr/>
          <p:nvPr/>
        </p:nvSpPr>
        <p:spPr>
          <a:xfrm>
            <a:off x="5008132" y="3233705"/>
            <a:ext cx="82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١٧٬٧٠٧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008132" y="4617720"/>
            <a:ext cx="82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فبراير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72223" y="3642829"/>
            <a:ext cx="529328" cy="929171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6" name="Text 14"/>
          <p:cNvSpPr/>
          <p:nvPr/>
        </p:nvSpPr>
        <p:spPr>
          <a:xfrm>
            <a:off x="4125919" y="3350221"/>
            <a:ext cx="82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١٥٬٧٣٤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125919" y="4617720"/>
            <a:ext cx="82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مارس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90010" y="3717002"/>
            <a:ext cx="529328" cy="854998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9" name="Text 17"/>
          <p:cNvSpPr/>
          <p:nvPr/>
        </p:nvSpPr>
        <p:spPr>
          <a:xfrm>
            <a:off x="3243706" y="3424394"/>
            <a:ext cx="82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١٤٬٤٧٨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243706" y="4617720"/>
            <a:ext cx="82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أبريل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07797" y="4008674"/>
            <a:ext cx="529328" cy="563326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2" name="Text 20"/>
          <p:cNvSpPr/>
          <p:nvPr/>
        </p:nvSpPr>
        <p:spPr>
          <a:xfrm>
            <a:off x="2361493" y="3716066"/>
            <a:ext cx="82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٩٬٥٣٩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361493" y="4617720"/>
            <a:ext cx="82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مايو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625584" y="3819108"/>
            <a:ext cx="529328" cy="752892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1479280" y="3526500"/>
            <a:ext cx="82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١٢٬٧٤٩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479280" y="4617720"/>
            <a:ext cx="82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يونيو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3371" y="3862631"/>
            <a:ext cx="529328" cy="709369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8" name="Text 26"/>
          <p:cNvSpPr/>
          <p:nvPr/>
        </p:nvSpPr>
        <p:spPr>
          <a:xfrm>
            <a:off x="597067" y="3570023"/>
            <a:ext cx="82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١٢٬٠١٢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97067" y="4617720"/>
            <a:ext cx="82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يوليو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" y="4572000"/>
            <a:ext cx="6175492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31" name="Shape 29"/>
          <p:cNvSpPr/>
          <p:nvPr/>
        </p:nvSpPr>
        <p:spPr>
          <a:xfrm>
            <a:off x="11553444" y="1572768"/>
            <a:ext cx="41148" cy="512064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2" name="Text 30"/>
          <p:cNvSpPr/>
          <p:nvPr/>
        </p:nvSpPr>
        <p:spPr>
          <a:xfrm>
            <a:off x="7183526" y="1572768"/>
            <a:ext cx="426476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التقييم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183526" y="1828800"/>
            <a:ext cx="426476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 مقابل ٣٫٧★ للمنافسين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11553444" y="2176272"/>
            <a:ext cx="41148" cy="512064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35" name="Text 33"/>
          <p:cNvSpPr/>
          <p:nvPr/>
        </p:nvSpPr>
        <p:spPr>
          <a:xfrm>
            <a:off x="7183526" y="2176272"/>
            <a:ext cx="426476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 منافس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183526" y="2432304"/>
            <a:ext cx="426476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١٨١ متراً — الأقرب في الشبكة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11553444" y="2779776"/>
            <a:ext cx="41148" cy="512064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38" name="Text 36"/>
          <p:cNvSpPr/>
          <p:nvPr/>
        </p:nvSpPr>
        <p:spPr>
          <a:xfrm>
            <a:off x="7183526" y="2779776"/>
            <a:ext cx="426476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منافسون داخل ٥ كم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183526" y="3035808"/>
            <a:ext cx="426476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 محطة، كثافة مرتفعة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11553444" y="3383280"/>
            <a:ext cx="41148" cy="512064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41" name="Text 39"/>
          <p:cNvSpPr/>
          <p:nvPr/>
        </p:nvSpPr>
        <p:spPr>
          <a:xfrm>
            <a:off x="7183526" y="3383280"/>
            <a:ext cx="426476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الانهيار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183526" y="3639312"/>
            <a:ext cx="426476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−٧٢٫٧٪ من يناير إلى يوليو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11553444" y="3986784"/>
            <a:ext cx="41148" cy="512064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44" name="Text 42"/>
          <p:cNvSpPr/>
          <p:nvPr/>
        </p:nvSpPr>
        <p:spPr>
          <a:xfrm>
            <a:off x="7183526" y="3986784"/>
            <a:ext cx="426476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مطابقة المشتريات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183526" y="4242816"/>
            <a:ext cx="426476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+٠٫٧١٪ — لا فاقد ولا خلل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7183526" y="4709160"/>
            <a:ext cx="4411066" cy="1143000"/>
          </a:xfrm>
          <a:prstGeom prst="roundRect">
            <a:avLst>
              <a:gd name="adj" fmla="val 4000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11542" y="4809744"/>
            <a:ext cx="41550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التشخيص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7311542" y="5102352"/>
            <a:ext cx="415503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مشكلة تشغيل ولا فاقد ولا خدمة. محطة اعترضت الطريق على ١٨١ متراً. العلاج اعتراضي: لافتة ومدخل وعرض على المسار — لا تدريب ولا تحسين خدمة.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566928" y="5989320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50" name="Text 48"/>
          <p:cNvSpPr/>
          <p:nvPr/>
        </p:nvSpPr>
        <p:spPr>
          <a:xfrm>
            <a:off x="566928" y="6035040"/>
            <a:ext cx="11027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نفس النمط في MK019 الشرائع (−٥٤٪ · أقرب منافس ٤٨٨ م) — الحالة ليست فردية.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المنفذ الثاني — الوحدات التأجيرية داخل المحطة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سجل ١٨٦ محطة · الوحدة = كشك أو محل أو درايف ثرو أو مغسلة أو سوبرماركت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417320"/>
            <a:ext cx="2633472" cy="1463040"/>
          </a:xfrm>
          <a:prstGeom prst="roundRect">
            <a:avLst>
              <a:gd name="adj" fmla="val 3125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417320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581912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١٬٧٣٣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052560" y="220370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وحدة مسجّلة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496312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١٨٦ محطة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417320"/>
            <a:ext cx="2633472" cy="1463040"/>
          </a:xfrm>
          <a:prstGeom prst="roundRect">
            <a:avLst>
              <a:gd name="adj" fmla="val 3125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41732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581912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٦٤١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254496" y="220370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مؤجرة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496312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٣٧٫٠٪ إشغال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417320"/>
            <a:ext cx="2633472" cy="1463040"/>
          </a:xfrm>
          <a:prstGeom prst="roundRect">
            <a:avLst>
              <a:gd name="adj" fmla="val 3125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417320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581912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١٬٠٨٩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3456432" y="220370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496312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المباشرة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417320"/>
            <a:ext cx="2633472" cy="1463040"/>
          </a:xfrm>
          <a:prstGeom prst="roundRect">
            <a:avLst>
              <a:gd name="adj" fmla="val 3125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417320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581912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٢٥٫١٪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658368" y="220370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المحلات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496312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٧٦٤ محلاً — المنتج العالق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6928" y="3154680"/>
            <a:ext cx="6616598" cy="384048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9" name="Text 27"/>
          <p:cNvSpPr/>
          <p:nvPr/>
        </p:nvSpPr>
        <p:spPr>
          <a:xfrm>
            <a:off x="5066215" y="3154680"/>
            <a:ext cx="211731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404555" y="3154680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412065" y="3154680"/>
            <a:ext cx="99249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الفئة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684239" y="3154680"/>
            <a:ext cx="72782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وحدات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956414" y="3154680"/>
            <a:ext cx="72782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مؤجرة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228588" y="3154680"/>
            <a:ext cx="72782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شاغرة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66928" y="3154680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6928" y="3538728"/>
            <a:ext cx="6616598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66215" y="3538728"/>
            <a:ext cx="2117311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حلي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404555" y="3538728"/>
            <a:ext cx="66166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MK036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3412065" y="3538728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2684239" y="3538728"/>
            <a:ext cx="72782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٩٢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1956414" y="3538728"/>
            <a:ext cx="72782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1228588" y="3538728"/>
            <a:ext cx="72782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٩٢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66928" y="3538728"/>
            <a:ext cx="66166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66928" y="3867912"/>
            <a:ext cx="6616598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66215" y="3867912"/>
            <a:ext cx="2117311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القديه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4404555" y="3867912"/>
            <a:ext cx="66166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RY073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3412065" y="3867912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2684239" y="3867912"/>
            <a:ext cx="72782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1956414" y="3867912"/>
            <a:ext cx="72782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1228588" y="3867912"/>
            <a:ext cx="72782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66928" y="3867912"/>
            <a:ext cx="66166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566928" y="4197096"/>
            <a:ext cx="6616598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066215" y="4197096"/>
            <a:ext cx="2117311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الخمرة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4404555" y="4197096"/>
            <a:ext cx="66166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MK104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3412065" y="4197096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2684239" y="4197096"/>
            <a:ext cx="72782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1956414" y="4197096"/>
            <a:ext cx="72782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1228588" y="4197096"/>
            <a:ext cx="72782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566928" y="4197096"/>
            <a:ext cx="66166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566928" y="4526280"/>
            <a:ext cx="6616598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066215" y="4526280"/>
            <a:ext cx="2117311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الريان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4404555" y="4526280"/>
            <a:ext cx="66166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MK057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3412065" y="4526280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2684239" y="4526280"/>
            <a:ext cx="72782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1956414" y="4526280"/>
            <a:ext cx="72782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1228588" y="4526280"/>
            <a:ext cx="72782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566928" y="4526280"/>
            <a:ext cx="66166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566928" y="4855464"/>
            <a:ext cx="6616598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066215" y="4855464"/>
            <a:ext cx="2117311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مدينة الملك عبد الله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4404555" y="4855464"/>
            <a:ext cx="66166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MK045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3412065" y="4855464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2684239" y="4855464"/>
            <a:ext cx="72782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1956414" y="4855464"/>
            <a:ext cx="72782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1228588" y="4855464"/>
            <a:ext cx="72782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٣٩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566928" y="4855464"/>
            <a:ext cx="66166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٤٫٩٪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566928" y="5184648"/>
            <a:ext cx="6616598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066215" y="5184648"/>
            <a:ext cx="2117311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القنفذة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4404555" y="5184648"/>
            <a:ext cx="66166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MK044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3412065" y="5184648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80" name="Text 78"/>
          <p:cNvSpPr/>
          <p:nvPr/>
        </p:nvSpPr>
        <p:spPr>
          <a:xfrm>
            <a:off x="2684239" y="5184648"/>
            <a:ext cx="72782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٦٥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1956414" y="5184648"/>
            <a:ext cx="72782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1228588" y="5184648"/>
            <a:ext cx="72782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566928" y="5184648"/>
            <a:ext cx="66166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٤١٫٥٪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566928" y="2852928"/>
            <a:ext cx="6616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أكبر ست فرص تأجير</a:t>
            </a:r>
            <a:endParaRPr lang="en-US" sz="1300" dirty="0"/>
          </a:p>
        </p:txBody>
      </p:sp>
      <p:sp>
        <p:nvSpPr>
          <p:cNvPr id="85" name="Text 83"/>
          <p:cNvSpPr/>
          <p:nvPr/>
        </p:nvSpPr>
        <p:spPr>
          <a:xfrm>
            <a:off x="7514356" y="2852928"/>
            <a:ext cx="40802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أين الشغور فعلاً</a:t>
            </a:r>
            <a:endParaRPr lang="en-US" sz="1300" dirty="0"/>
          </a:p>
        </p:txBody>
      </p:sp>
      <p:sp>
        <p:nvSpPr>
          <p:cNvPr id="86" name="Text 84"/>
          <p:cNvSpPr/>
          <p:nvPr/>
        </p:nvSpPr>
        <p:spPr>
          <a:xfrm>
            <a:off x="7514356" y="3154680"/>
            <a:ext cx="4080236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العاملة إشغالها ٧٩٪ — لا أزمة شغور في المحطات المفتوحة</a:t>
            </a:r>
            <a:endParaRPr lang="en-US" sz="1150" dirty="0"/>
          </a:p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٦٨٩ وحدة في ٤٣ محطة تحت التنفيذ — التأجير المسبق هو الفرصة الأكبر</a:t>
            </a:r>
            <a:endParaRPr lang="en-US" sz="1150" dirty="0"/>
          </a:p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٢٦٩ وحدة في الامتياز ومحلاته ٥ مؤجرة من ١٤٦ (٣٪)</a:t>
            </a:r>
            <a:endParaRPr lang="en-US" sz="1150" dirty="0"/>
          </a:p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السجل لا يحمل قيمة إيجارية — لا يمكن تسعير الفرصة بالريال منه وحده</a:t>
            </a:r>
            <a:endParaRPr lang="en-US" sz="1150" dirty="0"/>
          </a:p>
        </p:txBody>
      </p:sp>
      <p:sp>
        <p:nvSpPr>
          <p:cNvPr id="87" name="Shape 85"/>
          <p:cNvSpPr/>
          <p:nvPr/>
        </p:nvSpPr>
        <p:spPr>
          <a:xfrm>
            <a:off x="566928" y="5989320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88" name="Text 86"/>
          <p:cNvSpPr/>
          <p:nvPr/>
        </p:nvSpPr>
        <p:spPr>
          <a:xfrm>
            <a:off x="566928" y="6035040"/>
            <a:ext cx="11027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الوحدات مرتبطة بالوقود: مستأجر نشط يولّد زيارات، والزيارة تولّد لتراً — وهذا أساس حملات المستأجرين.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194560"/>
            <a:ext cx="54864" cy="219456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148840"/>
            <a:ext cx="107533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الرابع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697480"/>
            <a:ext cx="10753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خطة المبيعات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مستهدف لكل محطة ثم لكل وردية ثم لكل عامل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منهج المستهدف — لماذا اللتر لكل زيارة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نستهدف نمواً مطلقاً، بل إغلاق فجوة مثبتة داخل الشريحة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463040"/>
            <a:ext cx="6947428" cy="822960"/>
          </a:xfrm>
          <a:prstGeom prst="roundRect">
            <a:avLst>
              <a:gd name="adj" fmla="val 4444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5988" y="1664208"/>
            <a:ext cx="420624" cy="420624"/>
          </a:xfrm>
          <a:prstGeom prst="ellipse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6855988" y="1700784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94944" y="1554480"/>
            <a:ext cx="60787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الحجم = زيارات × لتر لكل زيارة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94944" y="1847088"/>
            <a:ext cx="60787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الزيارات تحكمها الجغرافيا والمنافسة — بطيئة التغيّر. اللتر لكل زيارة يحكمه سلوك العامل والعرض — يتحرك خلال أسابيع.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2395728"/>
            <a:ext cx="6947428" cy="822960"/>
          </a:xfrm>
          <a:prstGeom prst="roundRect">
            <a:avLst>
              <a:gd name="adj" fmla="val 4444"/>
            </a:avLst>
          </a:prstGeom>
          <a:solidFill>
            <a:srgbClr val="FBEEE0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5988" y="2596896"/>
            <a:ext cx="420624" cy="420624"/>
          </a:xfrm>
          <a:prstGeom prst="ellipse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6855988" y="2633472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94944" y="2487168"/>
            <a:ext cx="60787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المعيار من داخل الشريحة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94944" y="2779776"/>
            <a:ext cx="60787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الربيع الأعلى للتر/زيارة بين محطات نفس الشريحة. محطة طريق لا تُقاس بمحطة حي.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3328416"/>
            <a:ext cx="6947428" cy="822960"/>
          </a:xfrm>
          <a:prstGeom prst="roundRect">
            <a:avLst>
              <a:gd name="adj" fmla="val 4444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5988" y="3529584"/>
            <a:ext cx="420624" cy="420624"/>
          </a:xfrm>
          <a:prstGeom prst="ellipse">
            <a:avLst/>
          </a:prstGeom>
          <a:solidFill>
            <a:srgbClr val="F5831F"/>
          </a:solidFill>
          <a:ln/>
        </p:spPr>
      </p:sp>
      <p:sp>
        <p:nvSpPr>
          <p:cNvPr id="20" name="Text 18"/>
          <p:cNvSpPr/>
          <p:nvPr/>
        </p:nvSpPr>
        <p:spPr>
          <a:xfrm>
            <a:off x="6855988" y="3566160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94944" y="3419856"/>
            <a:ext cx="60787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نغلق ٤٠٪ من الفجوة في ٦ أشهر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94944" y="3712464"/>
            <a:ext cx="60787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نطلب الوصول للمعيار دفعة واحدة. الفارق مثبت أن غيرنا حقّقه في نفس الظروف.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4261104"/>
            <a:ext cx="6947428" cy="822960"/>
          </a:xfrm>
          <a:prstGeom prst="roundRect">
            <a:avLst>
              <a:gd name="adj" fmla="val 4444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55988" y="4462272"/>
            <a:ext cx="420624" cy="420624"/>
          </a:xfrm>
          <a:prstGeom prst="ellipse">
            <a:avLst/>
          </a:prstGeom>
          <a:solidFill>
            <a:srgbClr val="F5831F"/>
          </a:solidFill>
          <a:ln/>
        </p:spPr>
      </p:sp>
      <p:sp>
        <p:nvSpPr>
          <p:cNvPr id="25" name="Text 23"/>
          <p:cNvSpPr/>
          <p:nvPr/>
        </p:nvSpPr>
        <p:spPr>
          <a:xfrm>
            <a:off x="6855988" y="4498848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94944" y="4352544"/>
            <a:ext cx="60787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القيمة بهامش الشبكة الفعلي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94944" y="4645152"/>
            <a:ext cx="60787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١١٫٣ هللة لكل لتر — من قائمة دخل يوليو للشبكة المشغّلة، لا افتراض.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845186" y="1463040"/>
            <a:ext cx="3749406" cy="3657600"/>
          </a:xfrm>
          <a:prstGeom prst="roundRect">
            <a:avLst>
              <a:gd name="adj" fmla="val 1250"/>
            </a:avLst>
          </a:prstGeom>
          <a:solidFill>
            <a:srgbClr val="55565A"/>
          </a:solidFill>
          <a:ln/>
        </p:spPr>
      </p:sp>
      <p:sp>
        <p:nvSpPr>
          <p:cNvPr id="29" name="Text 27"/>
          <p:cNvSpPr/>
          <p:nvPr/>
        </p:nvSpPr>
        <p:spPr>
          <a:xfrm>
            <a:off x="7991490" y="1600200"/>
            <a:ext cx="34567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النتيجة على الشبكة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991490" y="2057400"/>
            <a:ext cx="34567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C9C4B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القاعدة اليوم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991490" y="2276856"/>
            <a:ext cx="34567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١٬٥٠٩٬٥٨٢ لتر/يوم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991490" y="2624328"/>
            <a:ext cx="34567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C9C4B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 دون معيارها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991490" y="2843784"/>
            <a:ext cx="34567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٣٩ من ٥٢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991490" y="3191256"/>
            <a:ext cx="34567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C9C4B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الرفع المستهدف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991490" y="3410712"/>
            <a:ext cx="34567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+١٠٤٬٨٣٧ لتر/يوم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991490" y="3758184"/>
            <a:ext cx="34567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C9C4B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الرفع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991490" y="3977640"/>
            <a:ext cx="34567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+٦٫٩٪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991490" y="4325112"/>
            <a:ext cx="34567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C9C4B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القيمة السنوية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7991490" y="4544568"/>
            <a:ext cx="34567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٤٬٣٢٧٬٨١٠ ريال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566928" y="5989320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41" name="Text 39"/>
          <p:cNvSpPr/>
          <p:nvPr/>
        </p:nvSpPr>
        <p:spPr>
          <a:xfrm>
            <a:off x="566928" y="6035040"/>
            <a:ext cx="11027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الرفع محسوب محطة بمحطة ثم جُمع — لا نسبة مسقطة على الشبكة.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 بالشريحة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معيار لتر/زيارة داخل كل شريحة · والرفع المطلوب خلال ستة أشهر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463040"/>
            <a:ext cx="11027664" cy="384048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473887" y="1463040"/>
            <a:ext cx="212070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519570" y="1463040"/>
            <a:ext cx="954317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035077" y="1463040"/>
            <a:ext cx="148449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لتر/زيارة اليوم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868690" y="1463040"/>
            <a:ext cx="11663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المعيار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96267" y="1463040"/>
            <a:ext cx="127242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المعيار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17809" y="1463040"/>
            <a:ext cx="137845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الرفع لتر/يوم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263492" y="1463040"/>
            <a:ext cx="954317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٪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1463040"/>
            <a:ext cx="169656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القيمة السنوية (ر)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1847088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73887" y="1847088"/>
            <a:ext cx="212070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محاور الطريق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519570" y="1847088"/>
            <a:ext cx="954317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035077" y="1847088"/>
            <a:ext cx="148449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٣٣٫٠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868690" y="1847088"/>
            <a:ext cx="116638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٣٨٫٤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96267" y="1847088"/>
            <a:ext cx="127242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217809" y="1847088"/>
            <a:ext cx="13784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+٥١٬٧٨٣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263492" y="1847088"/>
            <a:ext cx="954317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+٧٫٨٪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66928" y="1847088"/>
            <a:ext cx="169656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٢٬١٣٧٬٦٦١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2267712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473887" y="2267712"/>
            <a:ext cx="212070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مراكز الأساطيل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519570" y="2267712"/>
            <a:ext cx="954317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035077" y="2267712"/>
            <a:ext cx="148449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٢٣٫٨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868690" y="2267712"/>
            <a:ext cx="116638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٢٦٫٧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596267" y="2267712"/>
            <a:ext cx="127242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3217809" y="2267712"/>
            <a:ext cx="13784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+٥٬٣١١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2263492" y="2267712"/>
            <a:ext cx="954317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+٥٫٨٪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66928" y="2267712"/>
            <a:ext cx="169656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٢١٩٬٢٢٩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66928" y="2688336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473887" y="2688336"/>
            <a:ext cx="212070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 كبرى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519570" y="2688336"/>
            <a:ext cx="954317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035077" y="2688336"/>
            <a:ext cx="148449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868690" y="2688336"/>
            <a:ext cx="116638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٢٦٫٠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4596267" y="2688336"/>
            <a:ext cx="127242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3217809" y="2688336"/>
            <a:ext cx="13784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+٣٠٬٥٨٦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2263492" y="2688336"/>
            <a:ext cx="954317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+٦٫٣٪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566928" y="2688336"/>
            <a:ext cx="169656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١٬٢٦٢٬٦١٧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66928" y="3108960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473887" y="3108960"/>
            <a:ext cx="212070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 متوسطة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8519570" y="3108960"/>
            <a:ext cx="954317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7035077" y="3108960"/>
            <a:ext cx="148449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٢٢٫٣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5868690" y="3108960"/>
            <a:ext cx="116638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٢٤٫٩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4596267" y="3108960"/>
            <a:ext cx="127242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3217809" y="3108960"/>
            <a:ext cx="13784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+١٤٬٦٢٦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2263492" y="3108960"/>
            <a:ext cx="954317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+٧٫٠٪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566928" y="3108960"/>
            <a:ext cx="169656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٦٠٣٬٧٩٥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566928" y="3529584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473887" y="3529584"/>
            <a:ext cx="212070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محلية صغيرة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8519570" y="3529584"/>
            <a:ext cx="954317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7035077" y="3529584"/>
            <a:ext cx="148449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٢٢٫٦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5868690" y="3529584"/>
            <a:ext cx="116638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٢٤٫٨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4596267" y="3529584"/>
            <a:ext cx="127242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150" dirty="0"/>
          </a:p>
        </p:txBody>
      </p:sp>
      <p:sp>
        <p:nvSpPr>
          <p:cNvPr id="59" name="Text 57"/>
          <p:cNvSpPr/>
          <p:nvPr/>
        </p:nvSpPr>
        <p:spPr>
          <a:xfrm>
            <a:off x="3217809" y="3529584"/>
            <a:ext cx="13784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+٢٬٥٣٢</a:t>
            </a:r>
            <a:endParaRPr lang="en-US" sz="1150" dirty="0"/>
          </a:p>
        </p:txBody>
      </p:sp>
      <p:sp>
        <p:nvSpPr>
          <p:cNvPr id="60" name="Text 58"/>
          <p:cNvSpPr/>
          <p:nvPr/>
        </p:nvSpPr>
        <p:spPr>
          <a:xfrm>
            <a:off x="2263492" y="3529584"/>
            <a:ext cx="954317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+٤٫٢٪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566928" y="3529584"/>
            <a:ext cx="169656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١٠٤٬٥٠٨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566928" y="3950208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473887" y="3950208"/>
            <a:ext cx="212070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8519570" y="3950208"/>
            <a:ext cx="954317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50" dirty="0"/>
          </a:p>
        </p:txBody>
      </p:sp>
      <p:sp>
        <p:nvSpPr>
          <p:cNvPr id="65" name="Text 63"/>
          <p:cNvSpPr/>
          <p:nvPr/>
        </p:nvSpPr>
        <p:spPr>
          <a:xfrm>
            <a:off x="7035077" y="3950208"/>
            <a:ext cx="148449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٢٥٫٣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5868690" y="3950208"/>
            <a:ext cx="116638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—</a:t>
            </a:r>
            <a:endParaRPr lang="en-US" sz="1150" dirty="0"/>
          </a:p>
        </p:txBody>
      </p:sp>
      <p:sp>
        <p:nvSpPr>
          <p:cNvPr id="67" name="Text 65"/>
          <p:cNvSpPr/>
          <p:nvPr/>
        </p:nvSpPr>
        <p:spPr>
          <a:xfrm>
            <a:off x="4596267" y="3950208"/>
            <a:ext cx="127242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٣٩</a:t>
            </a:r>
            <a:endParaRPr lang="en-US" sz="1150" dirty="0"/>
          </a:p>
        </p:txBody>
      </p:sp>
      <p:sp>
        <p:nvSpPr>
          <p:cNvPr id="68" name="Text 66"/>
          <p:cNvSpPr/>
          <p:nvPr/>
        </p:nvSpPr>
        <p:spPr>
          <a:xfrm>
            <a:off x="3217809" y="3950208"/>
            <a:ext cx="13784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+١٠٤٬٨٣٧</a:t>
            </a:r>
            <a:endParaRPr lang="en-US" sz="1150" dirty="0"/>
          </a:p>
        </p:txBody>
      </p:sp>
      <p:sp>
        <p:nvSpPr>
          <p:cNvPr id="69" name="Text 67"/>
          <p:cNvSpPr/>
          <p:nvPr/>
        </p:nvSpPr>
        <p:spPr>
          <a:xfrm>
            <a:off x="2263492" y="3950208"/>
            <a:ext cx="954317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+٦٫٩٪</a:t>
            </a:r>
            <a:endParaRPr lang="en-US" sz="1150" dirty="0"/>
          </a:p>
        </p:txBody>
      </p:sp>
      <p:sp>
        <p:nvSpPr>
          <p:cNvPr id="70" name="Text 68"/>
          <p:cNvSpPr/>
          <p:nvPr/>
        </p:nvSpPr>
        <p:spPr>
          <a:xfrm>
            <a:off x="566928" y="3950208"/>
            <a:ext cx="169656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٤٬٣٢٧٬٨١٠</a:t>
            </a:r>
            <a:endParaRPr lang="en-US" sz="1150" dirty="0"/>
          </a:p>
        </p:txBody>
      </p:sp>
      <p:sp>
        <p:nvSpPr>
          <p:cNvPr id="71" name="Shape 69"/>
          <p:cNvSpPr/>
          <p:nvPr/>
        </p:nvSpPr>
        <p:spPr>
          <a:xfrm>
            <a:off x="566928" y="4617720"/>
            <a:ext cx="11027664" cy="1207008"/>
          </a:xfrm>
          <a:prstGeom prst="roundRect">
            <a:avLst>
              <a:gd name="adj" fmla="val 3788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49808" y="4718304"/>
            <a:ext cx="10661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كيف تُقرأ</a:t>
            </a:r>
            <a:endParaRPr lang="en-US" sz="1350" dirty="0"/>
          </a:p>
        </p:txBody>
      </p:sp>
      <p:sp>
        <p:nvSpPr>
          <p:cNvPr id="73" name="Text 71"/>
          <p:cNvSpPr/>
          <p:nvPr/>
        </p:nvSpPr>
        <p:spPr>
          <a:xfrm>
            <a:off x="749808" y="5029200"/>
            <a:ext cx="1066190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محاور الطريق تحمل نصف الفرصة (+٥١٬٧٨٣ لتراً يومياً) لأن سلتها الكبيرة تجعل كل نقطة تحسّن أثمن · الحضرية الكبرى تليها بحجمها لا بفجوتها · أما المحلية الصغيرة فقيمتها ١٠٤ آلاف ريال سنوياً — لا تستحق حملة، وخطتها ضبط التكلفة والتأجير.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خطة كل شريحة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شريحة محرّك واحد وفعل تجاري واحد وحملة واحدة — لا خطة عامة للشبكة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463040"/>
            <a:ext cx="11027664" cy="384048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940442" y="1463040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065740" y="1463040"/>
            <a:ext cx="187470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المحرّك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434121" y="1463040"/>
            <a:ext cx="4631619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 التجاري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66928" y="1463040"/>
            <a:ext cx="286719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الحملة الأنسب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1847088"/>
            <a:ext cx="11027664" cy="65836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940442" y="1847088"/>
            <a:ext cx="1654150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محاور الطريق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065740" y="1847088"/>
            <a:ext cx="1874703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سلة التعبئة والتعاقد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34121" y="1847088"/>
            <a:ext cx="4631619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عقود ديزل بأسعار متدرجة · خدمات الشاحنات (إطارات وزيوت واستراحة) · ممر تعبئة سريع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6928" y="1847088"/>
            <a:ext cx="2867193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مناديل عند ٥٠ لتراً فأكثر · كوبون استراحة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2505456"/>
            <a:ext cx="11027664" cy="65836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40442" y="2505456"/>
            <a:ext cx="1654150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مراكز الأساطيل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065740" y="2505456"/>
            <a:ext cx="1874703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تعميق الحساب المؤسسي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434121" y="2505456"/>
            <a:ext cx="4631619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مدير حساب لكل عميل · حدود ائتمان · تقرير استهلاك شهري للعميل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2505456"/>
            <a:ext cx="2867193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عرض تسجيل أسطول: خصم خدمات للمركبة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3163824"/>
            <a:ext cx="11027664" cy="65836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940442" y="3163824"/>
            <a:ext cx="1654150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 كبرى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065740" y="3163824"/>
            <a:ext cx="1874703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اللتر لكل زيارة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434121" y="3163824"/>
            <a:ext cx="4631619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توجيه الممتاز ٩٥ · تعبئة كاملة بدل جزئية · ربط المتجر والمغسلة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6928" y="3163824"/>
            <a:ext cx="2867193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مناديل عند ٣٠ لتراً فأكثر · باقة غسيل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3822192"/>
            <a:ext cx="11027664" cy="65836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940442" y="3822192"/>
            <a:ext cx="1654150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 متوسطة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065740" y="3822192"/>
            <a:ext cx="1874703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التردد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434121" y="3822192"/>
            <a:ext cx="4631619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حملة حي · شراكات مع مستأجري المحطة · ساعات ذروة مدعّمة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66928" y="3822192"/>
            <a:ext cx="2867193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بطاقة الحي: الزيارة الخامسة غسيل مجاني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" y="4480560"/>
            <a:ext cx="11027664" cy="65836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940442" y="4480560"/>
            <a:ext cx="1654150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محلية صغيرة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065740" y="4480560"/>
            <a:ext cx="1874703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حماية الربحية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434121" y="4480560"/>
            <a:ext cx="4631619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ضبط العمالة على الطلب · تأجير الوحدات الشاغرة · لا إنفاق تسويقي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66928" y="4480560"/>
            <a:ext cx="2867193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فعالية مجتمعية واحدة كل ربع بتمويل مورّد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66928" y="5166360"/>
            <a:ext cx="11027664" cy="1143000"/>
          </a:xfrm>
          <a:prstGeom prst="roundRect">
            <a:avLst>
              <a:gd name="adj" fmla="val 4000"/>
            </a:avLst>
          </a:prstGeom>
          <a:solidFill>
            <a:srgbClr val="55565A"/>
          </a:solidFill>
          <a:ln/>
        </p:spPr>
      </p:sp>
      <p:sp>
        <p:nvSpPr>
          <p:cNvPr id="39" name="Text 37"/>
          <p:cNvSpPr/>
          <p:nvPr/>
        </p:nvSpPr>
        <p:spPr>
          <a:xfrm>
            <a:off x="749808" y="5266944"/>
            <a:ext cx="10661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القاعدة التي تحكم كل ما سبق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49808" y="5577840"/>
            <a:ext cx="106619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العميل يحدد الخطة لا الجغرافيا. محطتان متجاورتان في مكة قد تنتميان لشريحتين مختلفتين إن كانت إحداهما على مسار الشاحنات والأخرى داخل حي سكني — فتُدار كل واحدة بأدوات مختلفة تماماً.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أكبر ١٤ فرصة — بالمحطة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مرتّبة بحجم الرفع اليومي · وهي قائمة الأولوية التنفيذية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417320"/>
            <a:ext cx="11027664" cy="384048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636409" y="1417320"/>
            <a:ext cx="195818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914973" y="1417320"/>
            <a:ext cx="72143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72101" y="1417320"/>
            <a:ext cx="144287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44540" y="1417320"/>
            <a:ext cx="92756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لتر/زيارة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720042" y="1417320"/>
            <a:ext cx="82449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المعيار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792481" y="1417320"/>
            <a:ext cx="92756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761859" y="1417320"/>
            <a:ext cx="103062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الرفع/يوم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28174" y="1417320"/>
            <a:ext cx="113368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القيمة السنوية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66928" y="1417320"/>
            <a:ext cx="206124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المرصودة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66928" y="1801368"/>
            <a:ext cx="11027664" cy="2834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36409" y="1801368"/>
            <a:ext cx="195818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914973" y="1801368"/>
            <a:ext cx="72143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472101" y="1801368"/>
            <a:ext cx="144287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محاور الطريق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544540" y="1801368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٣٠٫٦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720042" y="1801368"/>
            <a:ext cx="824498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٣٨٫٤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792481" y="1801368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٣٣٫٧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761859" y="1801368"/>
            <a:ext cx="103062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+١٣٬٤٣٤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628174" y="1801368"/>
            <a:ext cx="1133685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٥٥٤٬٥٦٥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928" y="1801368"/>
            <a:ext cx="206124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المعيار · ديزل مرتفع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66928" y="2084832"/>
            <a:ext cx="11027664" cy="28346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36409" y="2084832"/>
            <a:ext cx="195818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فلسطين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914973" y="2084832"/>
            <a:ext cx="72143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472101" y="2084832"/>
            <a:ext cx="144287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محاور الطريق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544540" y="2084832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٢٤٫٢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720042" y="2084832"/>
            <a:ext cx="824498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٣٨٫٤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792481" y="2084832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٢٩٫٩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761859" y="2084832"/>
            <a:ext cx="103062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+٧٬٦٤٥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628174" y="2084832"/>
            <a:ext cx="1133685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٣١٥٬٦٠٦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66928" y="2084832"/>
            <a:ext cx="206124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المعيار · ديزل مرتفع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66928" y="2368296"/>
            <a:ext cx="11027664" cy="2834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36409" y="2368296"/>
            <a:ext cx="195818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914973" y="2368296"/>
            <a:ext cx="72143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472101" y="2368296"/>
            <a:ext cx="144287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محاور الطريق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44540" y="2368296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٢٨٫٢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720042" y="2368296"/>
            <a:ext cx="824498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٣٨٫٤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92481" y="2368296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٣٢٫٣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3761859" y="2368296"/>
            <a:ext cx="103062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+٦٬٩٣٩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628174" y="2368296"/>
            <a:ext cx="1133685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٢٨٦٬٤٦٩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66928" y="2368296"/>
            <a:ext cx="206124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المعيار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66928" y="2651760"/>
            <a:ext cx="11027664" cy="28346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636409" y="2651760"/>
            <a:ext cx="195818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الجعرانة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914973" y="2651760"/>
            <a:ext cx="72143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7472101" y="2651760"/>
            <a:ext cx="144287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محاور الطريق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544540" y="2651760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٢٤٫٥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720042" y="2651760"/>
            <a:ext cx="824498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٣٨٫٤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792481" y="2651760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٣٠٫١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3761859" y="2651760"/>
            <a:ext cx="103062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+٦٬٢٧٩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2628174" y="2651760"/>
            <a:ext cx="1133685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٢٥٩٬٢١٧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566928" y="2651760"/>
            <a:ext cx="206124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المعيار · ديزل مرتفع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566928" y="2935224"/>
            <a:ext cx="11027664" cy="2834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636409" y="2935224"/>
            <a:ext cx="195818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جنوب صبيا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914973" y="2935224"/>
            <a:ext cx="72143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JA348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7472101" y="2935224"/>
            <a:ext cx="144287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 متوسطة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544540" y="2935224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١٥٫٤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720042" y="2935224"/>
            <a:ext cx="824498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٢٤٫٩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4792481" y="2935224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١٩٫٢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3761859" y="2935224"/>
            <a:ext cx="103062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+٥٬٤٢٣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2628174" y="2935224"/>
            <a:ext cx="1133685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٢٢٣٬٨٧٩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566928" y="2935224"/>
            <a:ext cx="206124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المعيار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566928" y="3218688"/>
            <a:ext cx="11027664" cy="28346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636409" y="3218688"/>
            <a:ext cx="195818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الصفا - أحد المسارحة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8914973" y="3218688"/>
            <a:ext cx="72143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JA092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7472101" y="3218688"/>
            <a:ext cx="144287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 كبرى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6544540" y="3218688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١٩٫٠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5720042" y="3218688"/>
            <a:ext cx="824498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٢٦٫٠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4792481" y="3218688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٢١٫٨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3761859" y="3218688"/>
            <a:ext cx="103062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+٥٬٢١٣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2628174" y="3218688"/>
            <a:ext cx="1133685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٢١٥٬١٨٥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566928" y="3218688"/>
            <a:ext cx="206124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المعيار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566928" y="3502152"/>
            <a:ext cx="11027664" cy="2834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636409" y="3502152"/>
            <a:ext cx="195818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جبل النور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8914973" y="3502152"/>
            <a:ext cx="72143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MK001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7472101" y="3502152"/>
            <a:ext cx="144287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 كبرى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6544540" y="3502152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١٩٫٣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5720042" y="3502152"/>
            <a:ext cx="824498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٢٦٫٠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4792481" y="3502152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٢٢٫٠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3761859" y="3502152"/>
            <a:ext cx="103062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+٤٬٩٨٥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2628174" y="3502152"/>
            <a:ext cx="1133685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٢٠٥٬٧٨١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566928" y="3502152"/>
            <a:ext cx="206124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المعيار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566928" y="3785616"/>
            <a:ext cx="11027664" cy="28346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9636409" y="3785616"/>
            <a:ext cx="195818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الحسينية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8914973" y="3785616"/>
            <a:ext cx="72143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MK008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7472101" y="3785616"/>
            <a:ext cx="144287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 كبرى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6544540" y="3785616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١٩٫١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5720042" y="3785616"/>
            <a:ext cx="824498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٢٦٫٠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4792481" y="3785616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٢١٫٩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3761859" y="3785616"/>
            <a:ext cx="103062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+٤٬٧٠٤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2628174" y="3785616"/>
            <a:ext cx="1133685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١٩٤٬١٩٨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566928" y="3785616"/>
            <a:ext cx="206124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مطابقة · سلة دون المعيار</a:t>
            </a:r>
            <a:endParaRPr lang="en-US" sz="950" dirty="0"/>
          </a:p>
        </p:txBody>
      </p:sp>
      <p:sp>
        <p:nvSpPr>
          <p:cNvPr id="98" name="Shape 96"/>
          <p:cNvSpPr/>
          <p:nvPr/>
        </p:nvSpPr>
        <p:spPr>
          <a:xfrm>
            <a:off x="566928" y="4069080"/>
            <a:ext cx="11027664" cy="2834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9636409" y="4069080"/>
            <a:ext cx="195818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الجنوب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8914973" y="4069080"/>
            <a:ext cx="72143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1000" dirty="0"/>
          </a:p>
        </p:txBody>
      </p:sp>
      <p:sp>
        <p:nvSpPr>
          <p:cNvPr id="101" name="Text 99"/>
          <p:cNvSpPr/>
          <p:nvPr/>
        </p:nvSpPr>
        <p:spPr>
          <a:xfrm>
            <a:off x="7472101" y="4069080"/>
            <a:ext cx="144287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محاور الطريق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6544540" y="4069080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٣٢٫١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5720042" y="4069080"/>
            <a:ext cx="824498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٣٨٫٤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4792481" y="4069080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٣٤٫٧</a:t>
            </a:r>
            <a:endParaRPr lang="en-US" sz="1000" dirty="0"/>
          </a:p>
        </p:txBody>
      </p:sp>
      <p:sp>
        <p:nvSpPr>
          <p:cNvPr id="105" name="Text 103"/>
          <p:cNvSpPr/>
          <p:nvPr/>
        </p:nvSpPr>
        <p:spPr>
          <a:xfrm>
            <a:off x="3761859" y="4069080"/>
            <a:ext cx="103062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+٤٬٦٤١</a:t>
            </a:r>
            <a:endParaRPr lang="en-US" sz="1000" dirty="0"/>
          </a:p>
        </p:txBody>
      </p:sp>
      <p:sp>
        <p:nvSpPr>
          <p:cNvPr id="106" name="Text 104"/>
          <p:cNvSpPr/>
          <p:nvPr/>
        </p:nvSpPr>
        <p:spPr>
          <a:xfrm>
            <a:off x="2628174" y="4069080"/>
            <a:ext cx="1133685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١٩١٬٥٧٩</a:t>
            </a:r>
            <a:endParaRPr lang="en-US" sz="1000" dirty="0"/>
          </a:p>
        </p:txBody>
      </p:sp>
      <p:sp>
        <p:nvSpPr>
          <p:cNvPr id="107" name="Text 105"/>
          <p:cNvSpPr/>
          <p:nvPr/>
        </p:nvSpPr>
        <p:spPr>
          <a:xfrm>
            <a:off x="566928" y="4069080"/>
            <a:ext cx="206124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المعيار · ديزل مرتفع</a:t>
            </a:r>
            <a:endParaRPr lang="en-US" sz="950" dirty="0"/>
          </a:p>
        </p:txBody>
      </p:sp>
      <p:sp>
        <p:nvSpPr>
          <p:cNvPr id="108" name="Shape 106"/>
          <p:cNvSpPr/>
          <p:nvPr/>
        </p:nvSpPr>
        <p:spPr>
          <a:xfrm>
            <a:off x="566928" y="4352544"/>
            <a:ext cx="11027664" cy="28346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9636409" y="4352544"/>
            <a:ext cx="195818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أبو وافي العمرة</a:t>
            </a:r>
            <a:endParaRPr lang="en-US" sz="1000" dirty="0"/>
          </a:p>
        </p:txBody>
      </p:sp>
      <p:sp>
        <p:nvSpPr>
          <p:cNvPr id="110" name="Text 108"/>
          <p:cNvSpPr/>
          <p:nvPr/>
        </p:nvSpPr>
        <p:spPr>
          <a:xfrm>
            <a:off x="8914973" y="4352544"/>
            <a:ext cx="72143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MK033</a:t>
            </a:r>
            <a:endParaRPr lang="en-US" sz="1000" dirty="0"/>
          </a:p>
        </p:txBody>
      </p:sp>
      <p:sp>
        <p:nvSpPr>
          <p:cNvPr id="111" name="Text 109"/>
          <p:cNvSpPr/>
          <p:nvPr/>
        </p:nvSpPr>
        <p:spPr>
          <a:xfrm>
            <a:off x="7472101" y="4352544"/>
            <a:ext cx="144287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محاور الطريق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544540" y="4352544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٣٠٫٩</a:t>
            </a:r>
            <a:endParaRPr lang="en-US" sz="1000" dirty="0"/>
          </a:p>
        </p:txBody>
      </p:sp>
      <p:sp>
        <p:nvSpPr>
          <p:cNvPr id="113" name="Text 111"/>
          <p:cNvSpPr/>
          <p:nvPr/>
        </p:nvSpPr>
        <p:spPr>
          <a:xfrm>
            <a:off x="5720042" y="4352544"/>
            <a:ext cx="824498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٣٨٫٤</a:t>
            </a:r>
            <a:endParaRPr lang="en-US" sz="1000" dirty="0"/>
          </a:p>
        </p:txBody>
      </p:sp>
      <p:sp>
        <p:nvSpPr>
          <p:cNvPr id="114" name="Text 112"/>
          <p:cNvSpPr/>
          <p:nvPr/>
        </p:nvSpPr>
        <p:spPr>
          <a:xfrm>
            <a:off x="4792481" y="4352544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٣٣٫٩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3761859" y="4352544"/>
            <a:ext cx="103062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+٤٬٢٧٢</a:t>
            </a:r>
            <a:endParaRPr lang="en-US" sz="1000" dirty="0"/>
          </a:p>
        </p:txBody>
      </p:sp>
      <p:sp>
        <p:nvSpPr>
          <p:cNvPr id="116" name="Text 114"/>
          <p:cNvSpPr/>
          <p:nvPr/>
        </p:nvSpPr>
        <p:spPr>
          <a:xfrm>
            <a:off x="2628174" y="4352544"/>
            <a:ext cx="1133685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١٧٦٬٣٧٠</a:t>
            </a:r>
            <a:endParaRPr lang="en-US" sz="1000" dirty="0"/>
          </a:p>
        </p:txBody>
      </p:sp>
      <p:sp>
        <p:nvSpPr>
          <p:cNvPr id="117" name="Text 115"/>
          <p:cNvSpPr/>
          <p:nvPr/>
        </p:nvSpPr>
        <p:spPr>
          <a:xfrm>
            <a:off x="566928" y="4352544"/>
            <a:ext cx="206124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المعيار · ديزل مرتفع</a:t>
            </a:r>
            <a:endParaRPr lang="en-US" sz="950" dirty="0"/>
          </a:p>
        </p:txBody>
      </p:sp>
      <p:sp>
        <p:nvSpPr>
          <p:cNvPr id="118" name="Shape 116"/>
          <p:cNvSpPr/>
          <p:nvPr/>
        </p:nvSpPr>
        <p:spPr>
          <a:xfrm>
            <a:off x="566928" y="4636008"/>
            <a:ext cx="11027664" cy="2834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9636409" y="4636008"/>
            <a:ext cx="195818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الرصيفة</a:t>
            </a:r>
            <a:endParaRPr lang="en-US" sz="1000" dirty="0"/>
          </a:p>
        </p:txBody>
      </p:sp>
      <p:sp>
        <p:nvSpPr>
          <p:cNvPr id="120" name="Text 118"/>
          <p:cNvSpPr/>
          <p:nvPr/>
        </p:nvSpPr>
        <p:spPr>
          <a:xfrm>
            <a:off x="8914973" y="4636008"/>
            <a:ext cx="72143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MK016</a:t>
            </a:r>
            <a:endParaRPr lang="en-US" sz="1000" dirty="0"/>
          </a:p>
        </p:txBody>
      </p:sp>
      <p:sp>
        <p:nvSpPr>
          <p:cNvPr id="121" name="Text 119"/>
          <p:cNvSpPr/>
          <p:nvPr/>
        </p:nvSpPr>
        <p:spPr>
          <a:xfrm>
            <a:off x="7472101" y="4636008"/>
            <a:ext cx="144287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 كبرى</a:t>
            </a:r>
            <a:endParaRPr lang="en-US" sz="1000" dirty="0"/>
          </a:p>
        </p:txBody>
      </p:sp>
      <p:sp>
        <p:nvSpPr>
          <p:cNvPr id="122" name="Text 120"/>
          <p:cNvSpPr/>
          <p:nvPr/>
        </p:nvSpPr>
        <p:spPr>
          <a:xfrm>
            <a:off x="6544540" y="4636008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١٩٫٣</a:t>
            </a:r>
            <a:endParaRPr lang="en-US" sz="1000" dirty="0"/>
          </a:p>
        </p:txBody>
      </p:sp>
      <p:sp>
        <p:nvSpPr>
          <p:cNvPr id="123" name="Text 121"/>
          <p:cNvSpPr/>
          <p:nvPr/>
        </p:nvSpPr>
        <p:spPr>
          <a:xfrm>
            <a:off x="5720042" y="4636008"/>
            <a:ext cx="824498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٢٦٫٠</a:t>
            </a:r>
            <a:endParaRPr lang="en-US" sz="1000" dirty="0"/>
          </a:p>
        </p:txBody>
      </p:sp>
      <p:sp>
        <p:nvSpPr>
          <p:cNvPr id="124" name="Text 122"/>
          <p:cNvSpPr/>
          <p:nvPr/>
        </p:nvSpPr>
        <p:spPr>
          <a:xfrm>
            <a:off x="4792481" y="4636008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٢٢٫٠</a:t>
            </a:r>
            <a:endParaRPr lang="en-US" sz="1000" dirty="0"/>
          </a:p>
        </p:txBody>
      </p:sp>
      <p:sp>
        <p:nvSpPr>
          <p:cNvPr id="125" name="Text 123"/>
          <p:cNvSpPr/>
          <p:nvPr/>
        </p:nvSpPr>
        <p:spPr>
          <a:xfrm>
            <a:off x="3761859" y="4636008"/>
            <a:ext cx="103062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+٤٬٢٠٧</a:t>
            </a:r>
            <a:endParaRPr lang="en-US" sz="1000" dirty="0"/>
          </a:p>
        </p:txBody>
      </p:sp>
      <p:sp>
        <p:nvSpPr>
          <p:cNvPr id="126" name="Text 124"/>
          <p:cNvSpPr/>
          <p:nvPr/>
        </p:nvSpPr>
        <p:spPr>
          <a:xfrm>
            <a:off x="2628174" y="4636008"/>
            <a:ext cx="1133685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١٧٣٬٦٦٨</a:t>
            </a:r>
            <a:endParaRPr lang="en-US" sz="1000" dirty="0"/>
          </a:p>
        </p:txBody>
      </p:sp>
      <p:sp>
        <p:nvSpPr>
          <p:cNvPr id="127" name="Text 125"/>
          <p:cNvSpPr/>
          <p:nvPr/>
        </p:nvSpPr>
        <p:spPr>
          <a:xfrm>
            <a:off x="566928" y="4636008"/>
            <a:ext cx="206124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المعيار</a:t>
            </a:r>
            <a:endParaRPr lang="en-US" sz="950" dirty="0"/>
          </a:p>
        </p:txBody>
      </p:sp>
      <p:sp>
        <p:nvSpPr>
          <p:cNvPr id="128" name="Shape 126"/>
          <p:cNvSpPr/>
          <p:nvPr/>
        </p:nvSpPr>
        <p:spPr>
          <a:xfrm>
            <a:off x="566928" y="4919472"/>
            <a:ext cx="11027664" cy="28346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9636409" y="4919472"/>
            <a:ext cx="195818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ممشى الشوقية</a:t>
            </a:r>
            <a:endParaRPr lang="en-US" sz="1000" dirty="0"/>
          </a:p>
        </p:txBody>
      </p:sp>
      <p:sp>
        <p:nvSpPr>
          <p:cNvPr id="130" name="Text 128"/>
          <p:cNvSpPr/>
          <p:nvPr/>
        </p:nvSpPr>
        <p:spPr>
          <a:xfrm>
            <a:off x="8914973" y="4919472"/>
            <a:ext cx="72143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MK020</a:t>
            </a:r>
            <a:endParaRPr lang="en-US" sz="1000" dirty="0"/>
          </a:p>
        </p:txBody>
      </p:sp>
      <p:sp>
        <p:nvSpPr>
          <p:cNvPr id="131" name="Text 129"/>
          <p:cNvSpPr/>
          <p:nvPr/>
        </p:nvSpPr>
        <p:spPr>
          <a:xfrm>
            <a:off x="7472101" y="4919472"/>
            <a:ext cx="144287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 كبرى</a:t>
            </a:r>
            <a:endParaRPr lang="en-US" sz="1000" dirty="0"/>
          </a:p>
        </p:txBody>
      </p:sp>
      <p:sp>
        <p:nvSpPr>
          <p:cNvPr id="132" name="Text 130"/>
          <p:cNvSpPr/>
          <p:nvPr/>
        </p:nvSpPr>
        <p:spPr>
          <a:xfrm>
            <a:off x="6544540" y="4919472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١٩٫٢</a:t>
            </a:r>
            <a:endParaRPr lang="en-US" sz="1000" dirty="0"/>
          </a:p>
        </p:txBody>
      </p:sp>
      <p:sp>
        <p:nvSpPr>
          <p:cNvPr id="133" name="Text 131"/>
          <p:cNvSpPr/>
          <p:nvPr/>
        </p:nvSpPr>
        <p:spPr>
          <a:xfrm>
            <a:off x="5720042" y="4919472"/>
            <a:ext cx="824498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٢٦٫٠</a:t>
            </a:r>
            <a:endParaRPr lang="en-US" sz="1000" dirty="0"/>
          </a:p>
        </p:txBody>
      </p:sp>
      <p:sp>
        <p:nvSpPr>
          <p:cNvPr id="134" name="Text 132"/>
          <p:cNvSpPr/>
          <p:nvPr/>
        </p:nvSpPr>
        <p:spPr>
          <a:xfrm>
            <a:off x="4792481" y="4919472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٢١٫٩</a:t>
            </a:r>
            <a:endParaRPr lang="en-US" sz="1000" dirty="0"/>
          </a:p>
        </p:txBody>
      </p:sp>
      <p:sp>
        <p:nvSpPr>
          <p:cNvPr id="135" name="Text 133"/>
          <p:cNvSpPr/>
          <p:nvPr/>
        </p:nvSpPr>
        <p:spPr>
          <a:xfrm>
            <a:off x="3761859" y="4919472"/>
            <a:ext cx="103062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+٣٬٧١١</a:t>
            </a:r>
            <a:endParaRPr lang="en-US" sz="1000" dirty="0"/>
          </a:p>
        </p:txBody>
      </p:sp>
      <p:sp>
        <p:nvSpPr>
          <p:cNvPr id="136" name="Text 134"/>
          <p:cNvSpPr/>
          <p:nvPr/>
        </p:nvSpPr>
        <p:spPr>
          <a:xfrm>
            <a:off x="2628174" y="4919472"/>
            <a:ext cx="1133685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١٥٣٬٢١٤</a:t>
            </a:r>
            <a:endParaRPr lang="en-US" sz="1000" dirty="0"/>
          </a:p>
        </p:txBody>
      </p:sp>
      <p:sp>
        <p:nvSpPr>
          <p:cNvPr id="137" name="Text 135"/>
          <p:cNvSpPr/>
          <p:nvPr/>
        </p:nvSpPr>
        <p:spPr>
          <a:xfrm>
            <a:off x="566928" y="4919472"/>
            <a:ext cx="206124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المعيار</a:t>
            </a:r>
            <a:endParaRPr lang="en-US" sz="950" dirty="0"/>
          </a:p>
        </p:txBody>
      </p:sp>
      <p:sp>
        <p:nvSpPr>
          <p:cNvPr id="138" name="Shape 136"/>
          <p:cNvSpPr/>
          <p:nvPr/>
        </p:nvSpPr>
        <p:spPr>
          <a:xfrm>
            <a:off x="566928" y="5202936"/>
            <a:ext cx="11027664" cy="2834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9636409" y="5202936"/>
            <a:ext cx="195818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النسيم</a:t>
            </a:r>
            <a:endParaRPr lang="en-US" sz="1000" dirty="0"/>
          </a:p>
        </p:txBody>
      </p:sp>
      <p:sp>
        <p:nvSpPr>
          <p:cNvPr id="140" name="Text 138"/>
          <p:cNvSpPr/>
          <p:nvPr/>
        </p:nvSpPr>
        <p:spPr>
          <a:xfrm>
            <a:off x="8914973" y="5202936"/>
            <a:ext cx="72143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MK015</a:t>
            </a:r>
            <a:endParaRPr lang="en-US" sz="1000" dirty="0"/>
          </a:p>
        </p:txBody>
      </p:sp>
      <p:sp>
        <p:nvSpPr>
          <p:cNvPr id="141" name="Text 139"/>
          <p:cNvSpPr/>
          <p:nvPr/>
        </p:nvSpPr>
        <p:spPr>
          <a:xfrm>
            <a:off x="7472101" y="5202936"/>
            <a:ext cx="144287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 كبرى</a:t>
            </a:r>
            <a:endParaRPr lang="en-US" sz="1000" dirty="0"/>
          </a:p>
        </p:txBody>
      </p:sp>
      <p:sp>
        <p:nvSpPr>
          <p:cNvPr id="142" name="Text 140"/>
          <p:cNvSpPr/>
          <p:nvPr/>
        </p:nvSpPr>
        <p:spPr>
          <a:xfrm>
            <a:off x="6544540" y="5202936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٢٢٫٠</a:t>
            </a:r>
            <a:endParaRPr lang="en-US" sz="1000" dirty="0"/>
          </a:p>
        </p:txBody>
      </p:sp>
      <p:sp>
        <p:nvSpPr>
          <p:cNvPr id="143" name="Text 141"/>
          <p:cNvSpPr/>
          <p:nvPr/>
        </p:nvSpPr>
        <p:spPr>
          <a:xfrm>
            <a:off x="5720042" y="5202936"/>
            <a:ext cx="824498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٢٦٫٠</a:t>
            </a:r>
            <a:endParaRPr lang="en-US" sz="1000" dirty="0"/>
          </a:p>
        </p:txBody>
      </p:sp>
      <p:sp>
        <p:nvSpPr>
          <p:cNvPr id="144" name="Text 142"/>
          <p:cNvSpPr/>
          <p:nvPr/>
        </p:nvSpPr>
        <p:spPr>
          <a:xfrm>
            <a:off x="4792481" y="5202936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٢٣٫٦</a:t>
            </a:r>
            <a:endParaRPr lang="en-US" sz="1000" dirty="0"/>
          </a:p>
        </p:txBody>
      </p:sp>
      <p:sp>
        <p:nvSpPr>
          <p:cNvPr id="145" name="Text 143"/>
          <p:cNvSpPr/>
          <p:nvPr/>
        </p:nvSpPr>
        <p:spPr>
          <a:xfrm>
            <a:off x="3761859" y="5202936"/>
            <a:ext cx="103062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+٣٬٢٣٤</a:t>
            </a:r>
            <a:endParaRPr lang="en-US" sz="1000" dirty="0"/>
          </a:p>
        </p:txBody>
      </p:sp>
      <p:sp>
        <p:nvSpPr>
          <p:cNvPr id="146" name="Text 144"/>
          <p:cNvSpPr/>
          <p:nvPr/>
        </p:nvSpPr>
        <p:spPr>
          <a:xfrm>
            <a:off x="2628174" y="5202936"/>
            <a:ext cx="1133685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١٣٣٬٥٠٢</a:t>
            </a:r>
            <a:endParaRPr lang="en-US" sz="1000" dirty="0"/>
          </a:p>
        </p:txBody>
      </p:sp>
      <p:sp>
        <p:nvSpPr>
          <p:cNvPr id="147" name="Text 145"/>
          <p:cNvSpPr/>
          <p:nvPr/>
        </p:nvSpPr>
        <p:spPr>
          <a:xfrm>
            <a:off x="566928" y="5202936"/>
            <a:ext cx="206124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المعيار</a:t>
            </a:r>
            <a:endParaRPr lang="en-US" sz="950" dirty="0"/>
          </a:p>
        </p:txBody>
      </p:sp>
      <p:sp>
        <p:nvSpPr>
          <p:cNvPr id="148" name="Shape 146"/>
          <p:cNvSpPr/>
          <p:nvPr/>
        </p:nvSpPr>
        <p:spPr>
          <a:xfrm>
            <a:off x="566928" y="5486400"/>
            <a:ext cx="11027664" cy="28346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9636409" y="5486400"/>
            <a:ext cx="195818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بطحاء قريش 1</a:t>
            </a:r>
            <a:endParaRPr lang="en-US" sz="1000" dirty="0"/>
          </a:p>
        </p:txBody>
      </p:sp>
      <p:sp>
        <p:nvSpPr>
          <p:cNvPr id="150" name="Text 148"/>
          <p:cNvSpPr/>
          <p:nvPr/>
        </p:nvSpPr>
        <p:spPr>
          <a:xfrm>
            <a:off x="8914973" y="5486400"/>
            <a:ext cx="72143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MK022</a:t>
            </a:r>
            <a:endParaRPr lang="en-US" sz="1000" dirty="0"/>
          </a:p>
        </p:txBody>
      </p:sp>
      <p:sp>
        <p:nvSpPr>
          <p:cNvPr id="151" name="Text 149"/>
          <p:cNvSpPr/>
          <p:nvPr/>
        </p:nvSpPr>
        <p:spPr>
          <a:xfrm>
            <a:off x="7472101" y="5486400"/>
            <a:ext cx="144287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محاور الطريق</a:t>
            </a:r>
            <a:endParaRPr lang="en-US" sz="1000" dirty="0"/>
          </a:p>
        </p:txBody>
      </p:sp>
      <p:sp>
        <p:nvSpPr>
          <p:cNvPr id="152" name="Text 150"/>
          <p:cNvSpPr/>
          <p:nvPr/>
        </p:nvSpPr>
        <p:spPr>
          <a:xfrm>
            <a:off x="6544540" y="5486400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٣٠٫٥</a:t>
            </a:r>
            <a:endParaRPr lang="en-US" sz="1000" dirty="0"/>
          </a:p>
        </p:txBody>
      </p:sp>
      <p:sp>
        <p:nvSpPr>
          <p:cNvPr id="153" name="Text 151"/>
          <p:cNvSpPr/>
          <p:nvPr/>
        </p:nvSpPr>
        <p:spPr>
          <a:xfrm>
            <a:off x="5720042" y="5486400"/>
            <a:ext cx="824498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٣٨٫٤</a:t>
            </a:r>
            <a:endParaRPr lang="en-US" sz="1000" dirty="0"/>
          </a:p>
        </p:txBody>
      </p:sp>
      <p:sp>
        <p:nvSpPr>
          <p:cNvPr id="154" name="Text 152"/>
          <p:cNvSpPr/>
          <p:nvPr/>
        </p:nvSpPr>
        <p:spPr>
          <a:xfrm>
            <a:off x="4792481" y="5486400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٣٣٫٧</a:t>
            </a:r>
            <a:endParaRPr lang="en-US" sz="1000" dirty="0"/>
          </a:p>
        </p:txBody>
      </p:sp>
      <p:sp>
        <p:nvSpPr>
          <p:cNvPr id="155" name="Text 153"/>
          <p:cNvSpPr/>
          <p:nvPr/>
        </p:nvSpPr>
        <p:spPr>
          <a:xfrm>
            <a:off x="3761859" y="5486400"/>
            <a:ext cx="103062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+٢٬٥٦٧</a:t>
            </a:r>
            <a:endParaRPr lang="en-US" sz="1000" dirty="0"/>
          </a:p>
        </p:txBody>
      </p:sp>
      <p:sp>
        <p:nvSpPr>
          <p:cNvPr id="156" name="Text 154"/>
          <p:cNvSpPr/>
          <p:nvPr/>
        </p:nvSpPr>
        <p:spPr>
          <a:xfrm>
            <a:off x="2628174" y="5486400"/>
            <a:ext cx="1133685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١٠٥٬٩٨٠</a:t>
            </a:r>
            <a:endParaRPr lang="en-US" sz="1000" dirty="0"/>
          </a:p>
        </p:txBody>
      </p:sp>
      <p:sp>
        <p:nvSpPr>
          <p:cNvPr id="157" name="Text 155"/>
          <p:cNvSpPr/>
          <p:nvPr/>
        </p:nvSpPr>
        <p:spPr>
          <a:xfrm>
            <a:off x="566928" y="5486400"/>
            <a:ext cx="206124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المعيار</a:t>
            </a:r>
            <a:endParaRPr lang="en-US" sz="950" dirty="0"/>
          </a:p>
        </p:txBody>
      </p:sp>
      <p:sp>
        <p:nvSpPr>
          <p:cNvPr id="158" name="Shape 156"/>
          <p:cNvSpPr/>
          <p:nvPr/>
        </p:nvSpPr>
        <p:spPr>
          <a:xfrm>
            <a:off x="566928" y="5870448"/>
            <a:ext cx="11027664" cy="475488"/>
          </a:xfrm>
          <a:prstGeom prst="roundRect">
            <a:avLst>
              <a:gd name="adj" fmla="val 769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713232" y="5943600"/>
            <a:ext cx="107350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هذه الأربع عشرة محطة تحمل ٧٣٫٧٪ من الفرصة كلها — فالجهد يبدأ منها لا من الشبكة دفعة واحدة.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مستهدف المحطة إلى مستهدف العامل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الوردية تأخذ حصتها من منحنى الطلب الفعلي، والعامل يأخذ حصته من الوردية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371600"/>
            <a:ext cx="11027664" cy="658368"/>
          </a:xfrm>
          <a:prstGeom prst="roundRect">
            <a:avLst>
              <a:gd name="adj" fmla="val 5556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481328"/>
            <a:ext cx="10661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مستهدف العامل  =  ( زيارات المحطة × حصة الوردية ) ÷ عمال الوردية      ×      مستهدف اللتر لكل زيارة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2331720"/>
            <a:ext cx="11027664" cy="384048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1" name="Text 9"/>
          <p:cNvSpPr/>
          <p:nvPr/>
        </p:nvSpPr>
        <p:spPr>
          <a:xfrm>
            <a:off x="9830166" y="2331720"/>
            <a:ext cx="176442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947953" y="2331720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845186" y="2331720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زيارة/يوم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42420" y="2331720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المساء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39653" y="2331720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عمال ص/م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206057" y="2331720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مستهدف الصباحي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772461" y="2331720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مستهدف المسائي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669694" y="2331720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لتر/زيارة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66928" y="2331720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2715768"/>
            <a:ext cx="11027664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30166" y="2715768"/>
            <a:ext cx="17644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947953" y="2715768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845186" y="2715768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742420" y="2715768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٥١٫٠٪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39653" y="2715768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 / ٩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206057" y="2715768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١٩٠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772461" y="2715768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٢٤٢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669694" y="2715768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٣٠٫٦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2715768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٣٣٫٧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3081528"/>
            <a:ext cx="11027664" cy="36576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30166" y="3081528"/>
            <a:ext cx="17644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الشوقية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947953" y="3081528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MK017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845186" y="3081528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١٬٢٦٩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42420" y="3081528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٥٥٫٣٪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39653" y="3081528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/ ٣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206057" y="3081528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١٨٩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772461" y="3081528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٢٣٤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669694" y="3081528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٢١٫١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66928" y="3081528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٢٣٫١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66928" y="3447288"/>
            <a:ext cx="11027664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830166" y="3447288"/>
            <a:ext cx="17644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947953" y="3447288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MK002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845186" y="3447288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٨٦٥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742420" y="3447288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٥٠٫٤٪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639653" y="3447288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/ ٢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206057" y="3447288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٢١٤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2772461" y="3447288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٢١٨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1669694" y="3447288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٢١٫٠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66928" y="3447288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٢٢٫٥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566928" y="3813048"/>
            <a:ext cx="11027664" cy="36576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830166" y="3813048"/>
            <a:ext cx="17644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 درويش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947953" y="3813048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MK023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7845186" y="3813048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٧٩٠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6742420" y="3813048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٥٤٫٩٪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639653" y="3813048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/ ٢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4206057" y="3813048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١٧٨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2772461" y="3813048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٢١٧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1669694" y="3813048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٢٠٫٠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66928" y="3813048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٢١٫٩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66928" y="4178808"/>
            <a:ext cx="11027664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830166" y="4178808"/>
            <a:ext cx="17644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الشرايع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8947953" y="4178808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MK019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7845186" y="4178808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٤٤٣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6742420" y="4178808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٥٦٫١٪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5639653" y="4178808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/ ٢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4206057" y="4178808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٩٧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2772461" y="4178808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١٢٤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1669694" y="4178808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٢٣٫٢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66928" y="4178808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٢٣٫٨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566928" y="2057400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زيارات الوردية لكل عامل · والسلة المستهدفة من معيار الشريحة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566928" y="4617720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مؤشرات العامل الخمسة</a:t>
            </a:r>
            <a:endParaRPr lang="en-US" sz="1500" dirty="0"/>
          </a:p>
        </p:txBody>
      </p:sp>
      <p:sp>
        <p:nvSpPr>
          <p:cNvPr id="72" name="Shape 70"/>
          <p:cNvSpPr/>
          <p:nvPr/>
        </p:nvSpPr>
        <p:spPr>
          <a:xfrm>
            <a:off x="9506102" y="4956048"/>
            <a:ext cx="2088490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579254" y="5010912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٤٠٪</a:t>
            </a:r>
            <a:endParaRPr lang="en-US" sz="1500" dirty="0"/>
          </a:p>
        </p:txBody>
      </p:sp>
      <p:sp>
        <p:nvSpPr>
          <p:cNvPr id="74" name="Text 72"/>
          <p:cNvSpPr/>
          <p:nvPr/>
        </p:nvSpPr>
        <p:spPr>
          <a:xfrm>
            <a:off x="9579254" y="5303520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زيارات الوردية</a:t>
            </a:r>
            <a:endParaRPr lang="en-US" sz="1150" dirty="0"/>
          </a:p>
        </p:txBody>
      </p:sp>
      <p:sp>
        <p:nvSpPr>
          <p:cNvPr id="75" name="Text 73"/>
          <p:cNvSpPr/>
          <p:nvPr/>
        </p:nvSpPr>
        <p:spPr>
          <a:xfrm>
            <a:off x="9579254" y="55869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منحنى الطلب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7271309" y="4956048"/>
            <a:ext cx="2088490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344461" y="5010912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٣٠٪</a:t>
            </a:r>
            <a:endParaRPr lang="en-US" sz="1500" dirty="0"/>
          </a:p>
        </p:txBody>
      </p:sp>
      <p:sp>
        <p:nvSpPr>
          <p:cNvPr id="78" name="Text 76"/>
          <p:cNvSpPr/>
          <p:nvPr/>
        </p:nvSpPr>
        <p:spPr>
          <a:xfrm>
            <a:off x="7344461" y="5303520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اللتر لكل زيارة</a:t>
            </a:r>
            <a:endParaRPr lang="en-US" sz="1150" dirty="0"/>
          </a:p>
        </p:txBody>
      </p:sp>
      <p:sp>
        <p:nvSpPr>
          <p:cNvPr id="79" name="Text 77"/>
          <p:cNvSpPr/>
          <p:nvPr/>
        </p:nvSpPr>
        <p:spPr>
          <a:xfrm>
            <a:off x="7344461" y="55869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معيار الشريحة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5036515" y="4956048"/>
            <a:ext cx="2088490" cy="960120"/>
          </a:xfrm>
          <a:prstGeom prst="roundRect">
            <a:avLst>
              <a:gd name="adj" fmla="val 3810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5109667" y="5010912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</a:t>
            </a:r>
            <a:endParaRPr lang="en-US" sz="1500" dirty="0"/>
          </a:p>
        </p:txBody>
      </p:sp>
      <p:sp>
        <p:nvSpPr>
          <p:cNvPr id="82" name="Text 80"/>
          <p:cNvSpPr/>
          <p:nvPr/>
        </p:nvSpPr>
        <p:spPr>
          <a:xfrm>
            <a:off x="5109667" y="5303520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جودة الخدمة</a:t>
            </a:r>
            <a:endParaRPr lang="en-US" sz="1150" dirty="0"/>
          </a:p>
        </p:txBody>
      </p:sp>
      <p:sp>
        <p:nvSpPr>
          <p:cNvPr id="83" name="Text 81"/>
          <p:cNvSpPr/>
          <p:nvPr/>
        </p:nvSpPr>
        <p:spPr>
          <a:xfrm>
            <a:off x="5109667" y="55869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— لا حافز دونها</a:t>
            </a: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2801722" y="4956048"/>
            <a:ext cx="2088490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874874" y="5010912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١٥٪</a:t>
            </a:r>
            <a:endParaRPr lang="en-US" sz="1500" dirty="0"/>
          </a:p>
        </p:txBody>
      </p:sp>
      <p:sp>
        <p:nvSpPr>
          <p:cNvPr id="86" name="Text 84"/>
          <p:cNvSpPr/>
          <p:nvPr/>
        </p:nvSpPr>
        <p:spPr>
          <a:xfrm>
            <a:off x="2874874" y="5303520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تسجيل وسيلة الدفع</a:t>
            </a:r>
            <a:endParaRPr lang="en-US" sz="1150" dirty="0"/>
          </a:p>
        </p:txBody>
      </p:sp>
      <p:sp>
        <p:nvSpPr>
          <p:cNvPr id="87" name="Text 85"/>
          <p:cNvSpPr/>
          <p:nvPr/>
        </p:nvSpPr>
        <p:spPr>
          <a:xfrm>
            <a:off x="2874874" y="55869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يقفل ثغرة الـ٣٦٪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566928" y="4956048"/>
            <a:ext cx="2088490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40080" y="5010912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١٥٪</a:t>
            </a:r>
            <a:endParaRPr lang="en-US" sz="1500" dirty="0"/>
          </a:p>
        </p:txBody>
      </p:sp>
      <p:sp>
        <p:nvSpPr>
          <p:cNvPr id="90" name="Text 88"/>
          <p:cNvSpPr/>
          <p:nvPr/>
        </p:nvSpPr>
        <p:spPr>
          <a:xfrm>
            <a:off x="640080" y="5303520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تحويل الحملة</a:t>
            </a:r>
            <a:endParaRPr lang="en-US" sz="1150" dirty="0"/>
          </a:p>
        </p:txBody>
      </p:sp>
      <p:sp>
        <p:nvSpPr>
          <p:cNvPr id="91" name="Text 89"/>
          <p:cNvSpPr/>
          <p:nvPr/>
        </p:nvSpPr>
        <p:spPr>
          <a:xfrm>
            <a:off x="640080" y="55869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هدايا مسلّمة/١٠٠ زيارة</a:t>
            </a:r>
            <a:endParaRPr lang="en-US" sz="950" dirty="0"/>
          </a:p>
        </p:txBody>
      </p:sp>
      <p:sp>
        <p:nvSpPr>
          <p:cNvPr id="92" name="Shape 90"/>
          <p:cNvSpPr/>
          <p:nvPr/>
        </p:nvSpPr>
        <p:spPr>
          <a:xfrm>
            <a:off x="566928" y="5989320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93" name="Text 91"/>
          <p:cNvSpPr/>
          <p:nvPr/>
        </p:nvSpPr>
        <p:spPr>
          <a:xfrm>
            <a:off x="566928" y="6035040"/>
            <a:ext cx="11027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أعداد العمال متاحة لخمس محطات فقط — تعميم المستهدف على الشبكة يتطلب جدول عمالة لكل محطة ووردية.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الحافز — معتمد ومطبَّق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الحافز يُدفع من هامش اللتر الإضافي، لا من ميزانية منفصلة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463040"/>
            <a:ext cx="6065215" cy="603504"/>
          </a:xfrm>
          <a:prstGeom prst="roundRect">
            <a:avLst>
              <a:gd name="adj" fmla="val 6061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508760"/>
            <a:ext cx="57726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اللترات فوق الأساس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1773936"/>
            <a:ext cx="577260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 بين إنتاج العامل وأساس ورديته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176272"/>
            <a:ext cx="6065215" cy="603504"/>
          </a:xfrm>
          <a:prstGeom prst="roundRect">
            <a:avLst>
              <a:gd name="adj" fmla="val 6061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221992"/>
            <a:ext cx="57726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× هامش المحطة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13232" y="2487168"/>
            <a:ext cx="577260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هللة/لتر الفعلي لكل محطة — ١٠٫١٥ إلى ١٣٫١١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889504"/>
            <a:ext cx="6065215" cy="603504"/>
          </a:xfrm>
          <a:prstGeom prst="roundRect">
            <a:avLst>
              <a:gd name="adj" fmla="val 6061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935224"/>
            <a:ext cx="57726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× نسبة المشاركة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13232" y="3200400"/>
            <a:ext cx="577260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العامل من الهامش الإضافي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602736"/>
            <a:ext cx="6065215" cy="603504"/>
          </a:xfrm>
          <a:prstGeom prst="roundRect">
            <a:avLst>
              <a:gd name="adj" fmla="val 6061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3648456"/>
            <a:ext cx="57726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الجودة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3232" y="3913632"/>
            <a:ext cx="577260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مستوفاة ← صفر مهما بلغ الإنتاج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315968"/>
            <a:ext cx="6065215" cy="603504"/>
          </a:xfrm>
          <a:prstGeom prst="roundRect">
            <a:avLst>
              <a:gd name="adj" fmla="val 6061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4361688"/>
            <a:ext cx="57726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١٠٠ ريال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3232" y="4626864"/>
            <a:ext cx="577260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حد شهري لكل عامل — معتمد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962973" y="1463040"/>
            <a:ext cx="463161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لماذا السقف والبوابات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962973" y="1810512"/>
            <a:ext cx="4631619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الحافز يُحتسب لكل عامل بينما الشركة تجني الصافي — بلا سقف تجاوزت نسبة الحافز إلى الهامش ٤٥٪ في المحاكاة مقابل ١٥٪ المعتمدة</a:t>
            </a:r>
            <a:endParaRPr lang="en-US" sz="1150" dirty="0"/>
          </a:p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الجودة تمنع شراء الحجم على حساب الخدمة — وخدمتنا هي ميزتنا الوحيدة على المنافس</a:t>
            </a:r>
            <a:endParaRPr lang="en-US" sz="1150" dirty="0"/>
          </a:p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المحطة: لا حافز في محطة صافيها سالب مهما بلغ إنتاج الفرد</a:t>
            </a:r>
            <a:endParaRPr lang="en-US" sz="1150" dirty="0"/>
          </a:p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المؤشر الحاكم في اللوحة: الحافز ÷ الهامش الإضافي — يُراجَع شهرياً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962973" y="4526280"/>
            <a:ext cx="4631619" cy="1325880"/>
          </a:xfrm>
          <a:prstGeom prst="roundRect">
            <a:avLst>
              <a:gd name="adj" fmla="val 3448"/>
            </a:avLst>
          </a:prstGeom>
          <a:solidFill>
            <a:srgbClr val="55565A"/>
          </a:solidFill>
          <a:ln/>
        </p:spPr>
      </p:sp>
      <p:sp>
        <p:nvSpPr>
          <p:cNvPr id="26" name="Text 24"/>
          <p:cNvSpPr/>
          <p:nvPr/>
        </p:nvSpPr>
        <p:spPr>
          <a:xfrm>
            <a:off x="7109277" y="4626864"/>
            <a:ext cx="43390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الملف جاهز ومسلَّم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109277" y="4956048"/>
            <a:ext cx="4339011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«نموذج العامل» — ورقة إدخال تفاعلية تحتسب الأساس والحافز لكل عامل، ونسخة ويب على الجوال. تحتاج فقط جدول عمالة كل محطة لتعميمها.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194560"/>
            <a:ext cx="54864" cy="219456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148840"/>
            <a:ext cx="107533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الخامس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697480"/>
            <a:ext cx="10753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الحملات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حملة عامة — كل حملة تُطلق بحالة مرصودة في محطة بعينها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حملات المستأجرين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يولّد زيارة، والزيارة تولّد لتراً — القناتان تُداران معاً لا منفصلتين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417320"/>
            <a:ext cx="2633472" cy="3200400"/>
          </a:xfrm>
          <a:prstGeom prst="roundRect">
            <a:avLst>
              <a:gd name="adj" fmla="val 1736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417320"/>
            <a:ext cx="2633472" cy="54864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481328"/>
            <a:ext cx="2487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مساحة مقابل نسبة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052560" y="2084832"/>
            <a:ext cx="24505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٥٧٢ محلاً شاغراً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281160" y="2560320"/>
            <a:ext cx="1993392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13" name="Text 11"/>
          <p:cNvSpPr/>
          <p:nvPr/>
        </p:nvSpPr>
        <p:spPr>
          <a:xfrm>
            <a:off x="9070848" y="2670048"/>
            <a:ext cx="2414016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بدل إيجار ثابت مرتفع يعطّل الوحدة: إيجار أساسي منخفض + نسبة من المبيعات. يقلّل حاجز الدخول ويربط دخلنا بنجاح المستأجر.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63056" y="1417320"/>
            <a:ext cx="2633472" cy="3200400"/>
          </a:xfrm>
          <a:prstGeom prst="roundRect">
            <a:avLst>
              <a:gd name="adj" fmla="val 1736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63056" y="1417320"/>
            <a:ext cx="2633472" cy="548640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16" name="Text 14"/>
          <p:cNvSpPr/>
          <p:nvPr/>
        </p:nvSpPr>
        <p:spPr>
          <a:xfrm>
            <a:off x="6236208" y="1481328"/>
            <a:ext cx="2487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التأجير المسبق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54496" y="2084832"/>
            <a:ext cx="24505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٦٨٩ وحدة في ٤٣ محطة تحت التنفيذ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83096" y="2560320"/>
            <a:ext cx="1993392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19" name="Text 17"/>
          <p:cNvSpPr/>
          <p:nvPr/>
        </p:nvSpPr>
        <p:spPr>
          <a:xfrm>
            <a:off x="6272784" y="2670048"/>
            <a:ext cx="2414016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التسويق يبدأ قبل الافتتاح بثلاثة أشهر بباقة «مستأجر مؤسِّس»: أفضلية موقع + إعفاء أول شهرين. الوحدة تفتح مؤجَّرة لا شاغرة.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364992" y="1417320"/>
            <a:ext cx="2633472" cy="3200400"/>
          </a:xfrm>
          <a:prstGeom prst="roundRect">
            <a:avLst>
              <a:gd name="adj" fmla="val 1736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64992" y="1417320"/>
            <a:ext cx="2633472" cy="54864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2" name="Text 20"/>
          <p:cNvSpPr/>
          <p:nvPr/>
        </p:nvSpPr>
        <p:spPr>
          <a:xfrm>
            <a:off x="3438144" y="1481328"/>
            <a:ext cx="2487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الكوبون المتبادل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456432" y="2084832"/>
            <a:ext cx="24505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 محطة بمستأجر نشط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85032" y="2560320"/>
            <a:ext cx="1993392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5" name="Text 23"/>
          <p:cNvSpPr/>
          <p:nvPr/>
        </p:nvSpPr>
        <p:spPr>
          <a:xfrm>
            <a:off x="3474720" y="2670048"/>
            <a:ext cx="2414016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تعبئة تبلغ العتبة تعطي كوبون المستأجر · وفاتورة المستأجر تعطي خصم غسيل. حركة تتبادل بين القناتين بلا كلفة نقدية.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1417320"/>
            <a:ext cx="2633472" cy="3200400"/>
          </a:xfrm>
          <a:prstGeom prst="roundRect">
            <a:avLst>
              <a:gd name="adj" fmla="val 1736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66928" y="1417320"/>
            <a:ext cx="2633472" cy="54864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1481328"/>
            <a:ext cx="2487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شبكة الوسطاء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8368" y="2084832"/>
            <a:ext cx="24505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الامتياز وتحت التنفيذ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86968" y="2560320"/>
            <a:ext cx="1993392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2670048"/>
            <a:ext cx="2414016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للوسيط المحلي على العقد المُوقَّع لا على العرض. تُوجَّه للامتياز حيث إشغال المحلات ٣٪ فقط، لا للمحطات العاملة حيث الإشغال ٧٩٪.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" y="4800600"/>
            <a:ext cx="11027664" cy="1051560"/>
          </a:xfrm>
          <a:prstGeom prst="roundRect">
            <a:avLst>
              <a:gd name="adj" fmla="val 4348"/>
            </a:avLst>
          </a:prstGeom>
          <a:solidFill>
            <a:srgbClr val="FCE7C8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9808" y="4901184"/>
            <a:ext cx="10661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ينقص لتسعير هذه الحملات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49808" y="5212080"/>
            <a:ext cx="106619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سجل الوحدات يحمل الأعداد لا القيم الإيجارية. لا يمكن قول «الفرصة تساوي كذا مليوناً» قبل جدول إيجارات لكل نوع وحدة ومدينة. المطلوب: جدول الإيجار الحالي والمستهدف لكل نوع — ثم تُسعَّر الـ٦٨٩ وحدة والـ٥٧٢ محلاً خلال أسبوع.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هدايا علب المناديل — التصميم واقتصادياته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المكافأة يجب أن تسترد كلفتها من اللتر الإضافي، وإلا فهي إنفاق لا حملة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371600"/>
            <a:ext cx="48521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الحساب الحاكم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1691640"/>
            <a:ext cx="4852172" cy="384048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4157535" y="1691640"/>
            <a:ext cx="126156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كلفة العلبة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13710" y="1691640"/>
            <a:ext cx="184382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اللترات الإضافية للتعادل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1691640"/>
            <a:ext cx="174678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مقابل الرفع الواقعي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2075688"/>
            <a:ext cx="4852172" cy="34747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57535" y="2075688"/>
            <a:ext cx="1261565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 ريال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313710" y="2075688"/>
            <a:ext cx="1843825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١٧٫٧ لتر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2075688"/>
            <a:ext cx="174678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٨٫٩ ضعفاً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2423160"/>
            <a:ext cx="4852172" cy="34747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57535" y="2423160"/>
            <a:ext cx="1261565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٢٫٥ ريال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313710" y="2423160"/>
            <a:ext cx="1843825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٢٢٫١ لتر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66928" y="2423160"/>
            <a:ext cx="174678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١١٫١ ضعفاً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2770632"/>
            <a:ext cx="4852172" cy="34747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57535" y="2770632"/>
            <a:ext cx="1261565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٣٫٠ ريال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13710" y="2770632"/>
            <a:ext cx="1843825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٢٦٫٥ لتر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" y="2770632"/>
            <a:ext cx="174678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١٣٫٣ ضعفاً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3118104"/>
            <a:ext cx="4852172" cy="34747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57535" y="3118104"/>
            <a:ext cx="1261565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٣٫٥ ريال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313710" y="3118104"/>
            <a:ext cx="1843825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٣٠٫٩ لتر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3118104"/>
            <a:ext cx="174678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١٥٫٥ ضعفاً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3584448"/>
            <a:ext cx="4852172" cy="1371600"/>
          </a:xfrm>
          <a:prstGeom prst="roundRect">
            <a:avLst>
              <a:gd name="adj" fmla="val 3333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4944" y="3685032"/>
            <a:ext cx="45961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الخلاصة الصريحة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94944" y="3977640"/>
            <a:ext cx="45961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الرفع المستهدف للسلة +١٫٢ إلى +٣٫١ لتر لكل زيارة. عند هامش ١١٫٣ هللة لا تسترد علبة بريالين كلفتها إلا بـ١٧٫٧ لتراً إضافياً — أي تسعة إلى خمسة عشر ضعف الرفع الواقعي. الهدية الممولة من هامش الوقود تخسر.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749930" y="1371600"/>
            <a:ext cx="584466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التصميم المعتمد — العلبة تموّل نفسها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749930" y="1691640"/>
            <a:ext cx="5844662" cy="932688"/>
          </a:xfrm>
          <a:prstGeom prst="roundRect">
            <a:avLst>
              <a:gd name="adj" fmla="val 3922"/>
            </a:avLst>
          </a:prstGeom>
          <a:solidFill>
            <a:srgbClr val="D6E9E1"/>
          </a:solidFill>
          <a:ln w="12700">
            <a:solidFill>
              <a:srgbClr val="2E8B6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1045952" y="1947672"/>
            <a:ext cx="402336" cy="402336"/>
          </a:xfrm>
          <a:prstGeom prst="ellipse">
            <a:avLst/>
          </a:prstGeom>
          <a:solidFill>
            <a:srgbClr val="2E8B6F"/>
          </a:solidFill>
          <a:ln/>
        </p:spPr>
      </p:sp>
      <p:sp>
        <p:nvSpPr>
          <p:cNvPr id="35" name="Text 33"/>
          <p:cNvSpPr/>
          <p:nvPr/>
        </p:nvSpPr>
        <p:spPr>
          <a:xfrm>
            <a:off x="11045952" y="1984248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77946" y="1783080"/>
            <a:ext cx="509485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العلبة مساحة إعلانية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5877946" y="2057400"/>
            <a:ext cx="509485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تُطبع بعلامة معلن — مستأجر أو مورّد زيوت أو تأمين أو اتصالات. الكلفة تنتقل للمعلن وتتحول لدخل.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749930" y="2734056"/>
            <a:ext cx="5844662" cy="932688"/>
          </a:xfrm>
          <a:prstGeom prst="roundRect">
            <a:avLst>
              <a:gd name="adj" fmla="val 392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045952" y="2990088"/>
            <a:ext cx="402336" cy="402336"/>
          </a:xfrm>
          <a:prstGeom prst="ellipse">
            <a:avLst/>
          </a:prstGeom>
          <a:solidFill>
            <a:srgbClr val="F5831F"/>
          </a:solidFill>
          <a:ln/>
        </p:spPr>
      </p:sp>
      <p:sp>
        <p:nvSpPr>
          <p:cNvPr id="40" name="Text 38"/>
          <p:cNvSpPr/>
          <p:nvPr/>
        </p:nvSpPr>
        <p:spPr>
          <a:xfrm>
            <a:off x="11045952" y="30266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877946" y="2825496"/>
            <a:ext cx="509485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توزيع مشروط لا عام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5877946" y="3099816"/>
            <a:ext cx="509485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تُعطى لكل زيارة: فقط في ٣٩ محطة دون معيارها، وفقط عند بلوغ عتبة الشريحة: ٥٠ لتراً في محاور الطريق و٣٠ لتراً في الحضرية.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749930" y="3776472"/>
            <a:ext cx="5844662" cy="932688"/>
          </a:xfrm>
          <a:prstGeom prst="roundRect">
            <a:avLst>
              <a:gd name="adj" fmla="val 392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045952" y="4032504"/>
            <a:ext cx="402336" cy="402336"/>
          </a:xfrm>
          <a:prstGeom prst="ellipse">
            <a:avLst/>
          </a:prstGeom>
          <a:solidFill>
            <a:srgbClr val="F5831F"/>
          </a:solidFill>
          <a:ln/>
        </p:spPr>
      </p:sp>
      <p:sp>
        <p:nvSpPr>
          <p:cNvPr id="45" name="Text 43"/>
          <p:cNvSpPr/>
          <p:nvPr/>
        </p:nvSpPr>
        <p:spPr>
          <a:xfrm>
            <a:off x="11045952" y="4069080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5877946" y="3867912"/>
            <a:ext cx="509485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يومي لكل محطة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5877946" y="4142232"/>
            <a:ext cx="509485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عدد محدد يومياً يمنع الانفلات ويجعل الهدية محدودة — والندرة نفسها محرّك سلوك.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5749930" y="4818888"/>
            <a:ext cx="5844662" cy="932688"/>
          </a:xfrm>
          <a:prstGeom prst="roundRect">
            <a:avLst>
              <a:gd name="adj" fmla="val 392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1045952" y="5074920"/>
            <a:ext cx="402336" cy="402336"/>
          </a:xfrm>
          <a:prstGeom prst="ellipse">
            <a:avLst/>
          </a:prstGeom>
          <a:solidFill>
            <a:srgbClr val="F5831F"/>
          </a:solidFill>
          <a:ln/>
        </p:spPr>
      </p:sp>
      <p:sp>
        <p:nvSpPr>
          <p:cNvPr id="50" name="Text 48"/>
          <p:cNvSpPr/>
          <p:nvPr/>
        </p:nvSpPr>
        <p:spPr>
          <a:xfrm>
            <a:off x="11045952" y="5111496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5877946" y="4910328"/>
            <a:ext cx="509485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القياس أسبوعي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5877946" y="5184648"/>
            <a:ext cx="509485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لتر/زيارة قبل وبعد في نفس المحطة. لا تمديد لحملة لم ترفع السلة خلال ٤ أسابيع.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66928" y="5989320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54" name="Text 52"/>
          <p:cNvSpPr/>
          <p:nvPr/>
        </p:nvSpPr>
        <p:spPr>
          <a:xfrm>
            <a:off x="566928" y="6035040"/>
            <a:ext cx="11027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المطلوب لإقرار الحملة: عرض سعر طباعة العلبة، وسعر المساحة الإعلانية عليها. عندها تُحسم جدواها برقم لا برأي.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مصفوفة الأحداث — الحالة تختار الفعل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 حالة تُرصد آلياً من بيانات المحطة، ولكل حالة فعل واحد محدد ومالك واحد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417320"/>
            <a:ext cx="11027664" cy="384048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067419" y="1417320"/>
            <a:ext cx="252717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المرصودة في البيانات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769989" y="1417320"/>
            <a:ext cx="229743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945386" y="1417320"/>
            <a:ext cx="482460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كيف يُنفَّذ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66928" y="1417320"/>
            <a:ext cx="137845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1801368"/>
            <a:ext cx="11027664" cy="402336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67419" y="1801368"/>
            <a:ext cx="252717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مطابقة تتجاوز ٥٪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769989" y="1801368"/>
            <a:ext cx="2297430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تحقيق ورقابة — لا حملة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945386" y="1801368"/>
            <a:ext cx="482460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جرد خزانات فوري · معايرة عدادات · مطابقة إشعارات الاستلام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66928" y="1801368"/>
            <a:ext cx="1378458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رقابة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2203704"/>
            <a:ext cx="11027664" cy="40233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67419" y="2203704"/>
            <a:ext cx="252717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انهيار حجم يتجاوز ٢٠٪ في ٧ أشهر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69989" y="2203704"/>
            <a:ext cx="2297430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حملة استرجاع موجّهة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945386" y="2203704"/>
            <a:ext cx="482460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المنافس الأقرب · عرض سعري/خدمي ٦ أسابيع · قياس أسبوعي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66928" y="2203704"/>
            <a:ext cx="1378458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استرجاع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2606040"/>
            <a:ext cx="11027664" cy="402336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67419" y="2606040"/>
            <a:ext cx="252717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وسيلة الدفع غير مسجّلة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769989" y="2606040"/>
            <a:ext cx="2297430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تفعيل النظام قبل أي حملة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945386" y="2606040"/>
            <a:ext cx="482460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ضبط إعداد نقاط البيع · تدريب الوردية · مؤشر تسجيل في حافز العامل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928" y="2606040"/>
            <a:ext cx="1378458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3008376"/>
            <a:ext cx="11027664" cy="40233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67419" y="3008376"/>
            <a:ext cx="252717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لتر/زيارة دون معيار الشريحة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69989" y="3008376"/>
            <a:ext cx="2297430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حملة رفع السلة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945386" y="3008376"/>
            <a:ext cx="482460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مناديل عند العتبة · نص موحّد للعامل · لوحة عتبة عند المضخة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66928" y="3008376"/>
            <a:ext cx="1378458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" y="3410712"/>
            <a:ext cx="11027664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67419" y="3410712"/>
            <a:ext cx="252717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الديزل ٣٠٪ فأكثر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769989" y="3410712"/>
            <a:ext cx="2297430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تعاقد أساطيل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945386" y="3410712"/>
            <a:ext cx="482460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حصر ناقلي المنطقة · عرض تعاقد بسعر متدرج · تسجيل في التطبيق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66928" y="3410712"/>
            <a:ext cx="1378458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66928" y="3813048"/>
            <a:ext cx="11027664" cy="40233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067419" y="3813048"/>
            <a:ext cx="252717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 دون ٥٠٠ متر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769989" y="3813048"/>
            <a:ext cx="2297430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تفوق خدمي معلن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945386" y="3813048"/>
            <a:ext cx="482460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سرعة تعبئة مضمونة · نظافة دورات المياه · إبراز التقييم على الخرائط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6928" y="3813048"/>
            <a:ext cx="1378458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تنافس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6928" y="4215384"/>
            <a:ext cx="11027664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067419" y="4215384"/>
            <a:ext cx="252717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عشر وحدات شاغرة فأكثر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769989" y="4215384"/>
            <a:ext cx="2297430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يوم مفتوح للمستأجرين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1945386" y="4215384"/>
            <a:ext cx="482460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عرض مساحة مقابل نسبة · وسيط محلي · باقة افتتاح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66928" y="4215384"/>
            <a:ext cx="1378458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تأجير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66928" y="4617720"/>
            <a:ext cx="11027664" cy="402336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067419" y="4617720"/>
            <a:ext cx="252717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خزان دون ٤ أيام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769989" y="4617720"/>
            <a:ext cx="2297430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تأمين الإمداد قبل رفع الطلب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945386" y="4617720"/>
            <a:ext cx="482460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حد أدنى تعاقدي للتحميلات · ناقل بديل مؤهّل · دراسة خزان إضافي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566928" y="4617720"/>
            <a:ext cx="1378458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إمداد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66928" y="5020056"/>
            <a:ext cx="11027664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067419" y="5020056"/>
            <a:ext cx="252717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تحت التنفيذ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769989" y="5020056"/>
            <a:ext cx="2297430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تأجير مسبق قبل الافتتاح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1945386" y="5020056"/>
            <a:ext cx="482460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تسويق الوحدات من الشهر −٣ · باقة مستأجر مؤسِّس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566928" y="5020056"/>
            <a:ext cx="1378458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تأجير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566928" y="5532120"/>
            <a:ext cx="11027664" cy="777240"/>
          </a:xfrm>
          <a:prstGeom prst="roundRect">
            <a:avLst>
              <a:gd name="adj" fmla="val 4706"/>
            </a:avLst>
          </a:prstGeom>
          <a:solidFill>
            <a:srgbClr val="55565A"/>
          </a:solidFill>
          <a:ln/>
        </p:spPr>
      </p:sp>
      <p:sp>
        <p:nvSpPr>
          <p:cNvPr id="59" name="Text 57"/>
          <p:cNvSpPr/>
          <p:nvPr/>
        </p:nvSpPr>
        <p:spPr>
          <a:xfrm>
            <a:off x="749808" y="5650992"/>
            <a:ext cx="10661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الأولوية: الرقابة والبيانات قبل الحملة. محطة عليها فجوة مطابقة أو لا تسجّل وسيلة الدفع لا تدخل أي حملة قبل إقفال حالتها — وإلا أنفقنا على قياس لا نثق به.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خارطة ٩٠ يوماً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 موجات — لا تبدأ الثانية قبل إقفال بوابة الأولى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052816" y="1417320"/>
            <a:ext cx="3541776" cy="361188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C050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52816" y="1417320"/>
            <a:ext cx="3541776" cy="749808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0" name="Text 8"/>
          <p:cNvSpPr/>
          <p:nvPr/>
        </p:nvSpPr>
        <p:spPr>
          <a:xfrm>
            <a:off x="8144256" y="1463040"/>
            <a:ext cx="3358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أول ٣٠ يوماً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144256" y="1773936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الإقفال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180832" y="2331720"/>
            <a:ext cx="3285744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تحقيق MK008 وRY024 — جرد ومعايرة</a:t>
            </a:r>
            <a:endParaRPr lang="en-US" sz="1150" dirty="0"/>
          </a:p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تفعيل تسجيل وسيلة الدفع في ١٨ محطة</a:t>
            </a:r>
            <a:endParaRPr lang="en-US" sz="1150" dirty="0"/>
          </a:p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توحيد أسماء المحطات على الكود</a:t>
            </a:r>
            <a:endParaRPr lang="en-US" sz="1150" dirty="0"/>
          </a:p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عمالة لكل محطة ووردية</a:t>
            </a:r>
            <a:endParaRPr lang="en-US" sz="1150" dirty="0"/>
          </a:p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الإيجارات لكل نوع وحدة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09872" y="1417320"/>
            <a:ext cx="3541776" cy="361188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F583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09872" y="1417320"/>
            <a:ext cx="3541776" cy="7498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4401312" y="1463040"/>
            <a:ext cx="3358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اليوم ٣١ إلى ٦٠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401312" y="1773936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الإطلاق المحدود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437888" y="2331720"/>
            <a:ext cx="3285744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 في أعلى ١٤ محطة فقط</a:t>
            </a:r>
            <a:endParaRPr lang="en-US" sz="1150" dirty="0"/>
          </a:p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في ٤ محطات تجريبية</a:t>
            </a:r>
            <a:endParaRPr lang="en-US" sz="1150" dirty="0"/>
          </a:p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عرض المعلن على العلبة — تعاقد أول</a:t>
            </a:r>
            <a:endParaRPr lang="en-US" sz="1150" dirty="0"/>
          </a:p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تعاقد أساطيل في ٣ محاور طريق</a:t>
            </a:r>
            <a:endParaRPr lang="en-US" sz="1150" dirty="0"/>
          </a:p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يوم مفتوح للمستأجرين في أعلى ٣ شواغر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1417320"/>
            <a:ext cx="3541776" cy="361188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" y="1417320"/>
            <a:ext cx="3541776" cy="74980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1463040"/>
            <a:ext cx="3358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اليوم ٦١ إلى ٩٠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1773936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التعميم المشروط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94944" y="2331720"/>
            <a:ext cx="3285744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تعميم ما أثبت رفع السلة ٤ أسابيع</a:t>
            </a:r>
            <a:endParaRPr lang="en-US" sz="1150" dirty="0"/>
          </a:p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حافز العامل على الشبكة المؤهَّلة</a:t>
            </a:r>
            <a:endParaRPr lang="en-US" sz="1150" dirty="0"/>
          </a:p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التأجير المسبق في تحت التنفيذ</a:t>
            </a:r>
            <a:endParaRPr lang="en-US" sz="1150" dirty="0"/>
          </a:p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خطة الاعتراض في المعيصم والشرائع</a:t>
            </a:r>
            <a:endParaRPr lang="en-US" sz="1150" dirty="0"/>
          </a:p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مراجعة المستهدف على الأداء الفعلي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257800"/>
            <a:ext cx="11027664" cy="841248"/>
          </a:xfrm>
          <a:prstGeom prst="roundRect">
            <a:avLst>
              <a:gd name="adj" fmla="val 4348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9808" y="5376672"/>
            <a:ext cx="106619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الموجة الثانية: لا حملة في محطة لم تُقفل حالتها الرقابية والبياناتية.   ·   بوابة الثالثة: لا تعميم لآلية لم ترفع لتر/زيارة قياساً بأربعة أسابيع سابقة في نفس المحطة.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لوحة المتابعة الشهرية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ثمانية مؤشرات — تُقرأ في صفحة واحدة كل شهر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463040"/>
            <a:ext cx="2633472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4630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52560" y="1572768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الأساسي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052560" y="1847088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 لكل زيارة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بالشريحة مقابل معيارها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63056" y="1463040"/>
            <a:ext cx="2633472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4630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6254496" y="1572768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الأساسي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54496" y="1847088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الرفع المتحقق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لتر/يوم مقابل +١٠٤٬٨٣٧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64992" y="1463040"/>
            <a:ext cx="2633472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463040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3456432" y="1572768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456432" y="1847088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تسجيل وسيلة الدفع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٦٤٪ إلى ٩٥٪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928" y="1463040"/>
            <a:ext cx="2633472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463040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1572768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58368" y="1847088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المشتريات/المبيعات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±١٪ لكل محطة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961120" y="2880360"/>
            <a:ext cx="2633472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61120" y="2880360"/>
            <a:ext cx="2633472" cy="4572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30" name="Text 28"/>
          <p:cNvSpPr/>
          <p:nvPr/>
        </p:nvSpPr>
        <p:spPr>
          <a:xfrm>
            <a:off x="9052560" y="2990088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ضابط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52560" y="3264408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الحافز ÷ الهامش الإضافي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9052560" y="36667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١٥٪ فأقل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63056" y="2880360"/>
            <a:ext cx="2633472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63056" y="288036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5" name="Text 33"/>
          <p:cNvSpPr/>
          <p:nvPr/>
        </p:nvSpPr>
        <p:spPr>
          <a:xfrm>
            <a:off x="6254496" y="2990088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254496" y="3264408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الوحدات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254496" y="36667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بالفئة — مشغّلة وتحت تنفيذ وامتياز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364992" y="2880360"/>
            <a:ext cx="2633472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64992" y="288036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0" name="Text 38"/>
          <p:cNvSpPr/>
          <p:nvPr/>
        </p:nvSpPr>
        <p:spPr>
          <a:xfrm>
            <a:off x="3456432" y="2990088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3456432" y="3264408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الأساطيل الرقمية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3456432" y="36667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١٫٩٪ صعوداً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2880360"/>
            <a:ext cx="2633472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66928" y="2880360"/>
            <a:ext cx="2633472" cy="45720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45" name="Text 43"/>
          <p:cNvSpPr/>
          <p:nvPr/>
        </p:nvSpPr>
        <p:spPr>
          <a:xfrm>
            <a:off x="658368" y="2990088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مخاطر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58368" y="3264408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الخزان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58368" y="36667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أيام — تنبيه دون ٤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66928" y="4434840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نحتاجه من الإدارات لإكمال الخطة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11558016" y="4837176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0" name="Text 48"/>
          <p:cNvSpPr/>
          <p:nvPr/>
        </p:nvSpPr>
        <p:spPr>
          <a:xfrm>
            <a:off x="9902952" y="4800600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العمليات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66928" y="4800600"/>
            <a:ext cx="9198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عمالة كل محطة ووردية — لتعميم مستهدف العامل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11558016" y="5221224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3" name="Text 51"/>
          <p:cNvSpPr/>
          <p:nvPr/>
        </p:nvSpPr>
        <p:spPr>
          <a:xfrm>
            <a:off x="9902952" y="518464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العقار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66928" y="5184648"/>
            <a:ext cx="9198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الإيجار الحالي والمستهدف لكل نوع وحدة — لتسعير ٦٨٩ وحدة و٥٧٢ محلاً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11558016" y="5605272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6" name="Text 54"/>
          <p:cNvSpPr/>
          <p:nvPr/>
        </p:nvSpPr>
        <p:spPr>
          <a:xfrm>
            <a:off x="9902952" y="5568696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المالية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566928" y="5568696"/>
            <a:ext cx="9198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هامش المحطة الفعلي لكل محطة — الحافز يُحتسب عليه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11558016" y="5989320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9" name="Text 57"/>
          <p:cNvSpPr/>
          <p:nvPr/>
        </p:nvSpPr>
        <p:spPr>
          <a:xfrm>
            <a:off x="9902952" y="5952744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التسويق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5952744"/>
            <a:ext cx="9198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عرض طباعة علبة المناديل وسعر مساحتها الإعلانية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5556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9582912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582912" y="9144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DARB FUEL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928" y="2514600"/>
            <a:ext cx="11027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spc="300" kern="0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الإدارة التجارية · درب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880360"/>
            <a:ext cx="1102766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القرار المطلوب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3931920"/>
            <a:ext cx="1102766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اعتماد التقسيم والمستهدف · إقفال ثغرة البيانات قبل أي إنفاق · تمويل الحملات من المعلن لا من هامش الوقود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85632" y="5029200"/>
            <a:ext cx="3108960" cy="3200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5212080"/>
            <a:ext cx="11027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المحسوبة: ٤٬٣٢٧٬٨١٠ ريال سنوياً من رفع اللتر لكل زيارة في ٣٩ محطة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تحليل المنافذ وخطة المبيعات</dc:title>
  <dc:subject>PptxGenJS Presentation</dc:subject>
  <dc:creator>الإدارة التجارية — درب</dc:creator>
  <cp:lastModifiedBy>الإدارة التجارية — درب</cp:lastModifiedBy>
  <cp:revision>1</cp:revision>
  <dcterms:created xsi:type="dcterms:W3CDTF">2026-08-25T11:56:41Z</dcterms:created>
  <dcterms:modified xsi:type="dcterms:W3CDTF">2026-08-25T11:56:41Z</dcterms:modified>
</cp:coreProperties>
</file>