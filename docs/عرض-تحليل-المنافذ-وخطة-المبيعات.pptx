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tl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</p:sldIdLst>
  <p:notesMasterIdLst>
    <p:notesMasterId r:id="rId3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notesMaster" Target="notesMasters/notesMaster1.xml"/><Relationship Id="rId37" Type="http://schemas.openxmlformats.org/officeDocument/2006/relationships/presProps" Target="presProps.xml"/><Relationship Id="rId38" Type="http://schemas.openxmlformats.org/officeDocument/2006/relationships/viewProps" Target="viewProps.xml"/><Relationship Id="rId39" Type="http://schemas.openxmlformats.org/officeDocument/2006/relationships/theme" Target="theme/theme1.xml"/><Relationship Id="rId4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55565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00584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9582912" y="45720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9582912" y="91440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spc="200" kern="0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DARB FUEL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6928" y="2606040"/>
            <a:ext cx="1102766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00" spc="300" kern="0" dirty="0">
                <a:solidFill>
                  <a:srgbClr val="F7A94B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الإدارة التجارية · أغسطس ٢٠٢٦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66928" y="2971800"/>
            <a:ext cx="11027664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تحليل المنافذ وخطة المبيعات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566928" y="3977640"/>
            <a:ext cx="1102766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500" dirty="0">
                <a:solidFill>
                  <a:srgbClr val="D6D2C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٥٥ محطة · ٥٥١ MLPA · خمس شرائح · مستهدف لكل محطة ووردية · باقات تأجير وحملات تُطلقها حالة مرصودة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8485632" y="4937760"/>
            <a:ext cx="3108960" cy="32004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5120640"/>
            <a:ext cx="1102766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كاش إن وناتج ١٠٫٩٦ مليون معاملة · أوامر التحميل · قائمة الدخل يوليو ٢٠٢٦ · سجل الوحدات · مسح المنافسين الميداني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74320"/>
            <a:ext cx="10113264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الخلاصة التنفيذية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01132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ما تقوله البيانات — وما نطلب إقراره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133856"/>
            <a:ext cx="1102766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64373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 · الإدارة التجارية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45952" y="6437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1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8961120" y="1261872"/>
            <a:ext cx="2633472" cy="1389888"/>
          </a:xfrm>
          <a:prstGeom prst="roundRect">
            <a:avLst>
              <a:gd name="adj" fmla="val 3289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961120" y="1261872"/>
            <a:ext cx="2633472" cy="4572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10" name="Text 8"/>
          <p:cNvSpPr/>
          <p:nvPr/>
        </p:nvSpPr>
        <p:spPr>
          <a:xfrm>
            <a:off x="9034272" y="1408176"/>
            <a:ext cx="24871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٦٢٦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9052560" y="1993392"/>
            <a:ext cx="24505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مليون ريال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9052560" y="2267712"/>
            <a:ext cx="2450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مبيعات ٧ أشهر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6163056" y="1261872"/>
            <a:ext cx="2633472" cy="1389888"/>
          </a:xfrm>
          <a:prstGeom prst="roundRect">
            <a:avLst>
              <a:gd name="adj" fmla="val 3289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163056" y="1261872"/>
            <a:ext cx="2633472" cy="4572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15" name="Text 13"/>
          <p:cNvSpPr/>
          <p:nvPr/>
        </p:nvSpPr>
        <p:spPr>
          <a:xfrm>
            <a:off x="6236208" y="1408176"/>
            <a:ext cx="24871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٥٥١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6254496" y="1993392"/>
            <a:ext cx="24505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MLPA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254496" y="2267712"/>
            <a:ext cx="2450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١٠٫٦ للمحطة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3364992" y="1261872"/>
            <a:ext cx="2633472" cy="1389888"/>
          </a:xfrm>
          <a:prstGeom prst="roundRect">
            <a:avLst>
              <a:gd name="adj" fmla="val 3289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364992" y="1261872"/>
            <a:ext cx="2633472" cy="45720"/>
          </a:xfrm>
          <a:prstGeom prst="rect">
            <a:avLst/>
          </a:prstGeom>
          <a:solidFill>
            <a:srgbClr val="2E8B6F"/>
          </a:solidFill>
          <a:ln/>
        </p:spPr>
      </p:sp>
      <p:sp>
        <p:nvSpPr>
          <p:cNvPr id="20" name="Text 18"/>
          <p:cNvSpPr/>
          <p:nvPr/>
        </p:nvSpPr>
        <p:spPr>
          <a:xfrm>
            <a:off x="3438144" y="1408176"/>
            <a:ext cx="24871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E8B6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+١٧٫٥٪</a:t>
            </a:r>
            <a:endParaRPr lang="en-US" sz="2800" dirty="0"/>
          </a:p>
        </p:txBody>
      </p:sp>
      <p:sp>
        <p:nvSpPr>
          <p:cNvPr id="21" name="Text 19"/>
          <p:cNvSpPr/>
          <p:nvPr/>
        </p:nvSpPr>
        <p:spPr>
          <a:xfrm>
            <a:off x="3456432" y="1993392"/>
            <a:ext cx="24505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نمو حقيقي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3456432" y="2267712"/>
            <a:ext cx="2450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قاعدة ثابتة ٢٥ محطة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66928" y="1261872"/>
            <a:ext cx="2633472" cy="1389888"/>
          </a:xfrm>
          <a:prstGeom prst="roundRect">
            <a:avLst>
              <a:gd name="adj" fmla="val 3289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66928" y="1261872"/>
            <a:ext cx="2633472" cy="45720"/>
          </a:xfrm>
          <a:prstGeom prst="rect">
            <a:avLst/>
          </a:prstGeom>
          <a:solidFill>
            <a:srgbClr val="2E8B6F"/>
          </a:solidFill>
          <a:ln/>
        </p:spPr>
      </p:sp>
      <p:sp>
        <p:nvSpPr>
          <p:cNvPr id="25" name="Text 23"/>
          <p:cNvSpPr/>
          <p:nvPr/>
        </p:nvSpPr>
        <p:spPr>
          <a:xfrm>
            <a:off x="640080" y="1408176"/>
            <a:ext cx="24871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E8B6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٤٫٠</a:t>
            </a:r>
            <a:endParaRPr lang="en-US" sz="2800" dirty="0"/>
          </a:p>
        </p:txBody>
      </p:sp>
      <p:sp>
        <p:nvSpPr>
          <p:cNvPr id="26" name="Text 24"/>
          <p:cNvSpPr/>
          <p:nvPr/>
        </p:nvSpPr>
        <p:spPr>
          <a:xfrm>
            <a:off x="658368" y="1993392"/>
            <a:ext cx="24505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مليون ريال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658368" y="2267712"/>
            <a:ext cx="2450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الفرصة المؤكَّدة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566928" y="2926080"/>
            <a:ext cx="110276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ثلاثة قرارات</a:t>
            </a:r>
            <a:endParaRPr lang="en-US" sz="1350" dirty="0"/>
          </a:p>
        </p:txBody>
      </p:sp>
      <p:sp>
        <p:nvSpPr>
          <p:cNvPr id="29" name="Shape 27"/>
          <p:cNvSpPr/>
          <p:nvPr/>
        </p:nvSpPr>
        <p:spPr>
          <a:xfrm>
            <a:off x="566928" y="3291840"/>
            <a:ext cx="11027664" cy="713232"/>
          </a:xfrm>
          <a:prstGeom prst="roundRect">
            <a:avLst>
              <a:gd name="adj" fmla="val 5128"/>
            </a:avLst>
          </a:prstGeom>
          <a:solidFill>
            <a:srgbClr val="FBEEE0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1544300" y="3291840"/>
            <a:ext cx="50292" cy="713232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1" name="Text 29"/>
          <p:cNvSpPr/>
          <p:nvPr/>
        </p:nvSpPr>
        <p:spPr>
          <a:xfrm>
            <a:off x="11027664" y="3447288"/>
            <a:ext cx="457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1</a:t>
            </a:r>
            <a:endParaRPr lang="en-US" sz="1700" dirty="0"/>
          </a:p>
        </p:txBody>
      </p:sp>
      <p:sp>
        <p:nvSpPr>
          <p:cNvPr id="32" name="Text 30"/>
          <p:cNvSpPr/>
          <p:nvPr/>
        </p:nvSpPr>
        <p:spPr>
          <a:xfrm>
            <a:off x="2670048" y="3364992"/>
            <a:ext cx="833018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اعتماد المستهدف برافعتين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2670048" y="3666744"/>
            <a:ext cx="83301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المعاملات ثم السلة — لا نطلب من العميل أن يعبّي أكثر مما يحتاج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676656" y="347472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٣٬٩٦٣ ألف ر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566928" y="4096512"/>
            <a:ext cx="11027664" cy="713232"/>
          </a:xfrm>
          <a:prstGeom prst="roundRect">
            <a:avLst>
              <a:gd name="adj" fmla="val 5128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11544300" y="4096512"/>
            <a:ext cx="50292" cy="713232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7" name="Text 35"/>
          <p:cNvSpPr/>
          <p:nvPr/>
        </p:nvSpPr>
        <p:spPr>
          <a:xfrm>
            <a:off x="11027664" y="4251960"/>
            <a:ext cx="457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2</a:t>
            </a:r>
            <a:endParaRPr lang="en-US" sz="1700" dirty="0"/>
          </a:p>
        </p:txBody>
      </p:sp>
      <p:sp>
        <p:nvSpPr>
          <p:cNvPr id="38" name="Text 36"/>
          <p:cNvSpPr/>
          <p:nvPr/>
        </p:nvSpPr>
        <p:spPr>
          <a:xfrm>
            <a:off x="2670048" y="4169664"/>
            <a:ext cx="833018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إقفال ثغرة البيانات قبل الإنفاق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2670048" y="4471416"/>
            <a:ext cx="83301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١٨ محطة لا تسجّل وسيلة الدفع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676656" y="4279392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١٨٣ مليون ر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566928" y="4901184"/>
            <a:ext cx="11027664" cy="713232"/>
          </a:xfrm>
          <a:prstGeom prst="roundRect">
            <a:avLst>
              <a:gd name="adj" fmla="val 5128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1544300" y="4901184"/>
            <a:ext cx="50292" cy="713232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43" name="Text 41"/>
          <p:cNvSpPr/>
          <p:nvPr/>
        </p:nvSpPr>
        <p:spPr>
          <a:xfrm>
            <a:off x="11027664" y="5056632"/>
            <a:ext cx="457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3</a:t>
            </a:r>
            <a:endParaRPr lang="en-US" sz="1700" dirty="0"/>
          </a:p>
        </p:txBody>
      </p:sp>
      <p:sp>
        <p:nvSpPr>
          <p:cNvPr id="44" name="Text 42"/>
          <p:cNvSpPr/>
          <p:nvPr/>
        </p:nvSpPr>
        <p:spPr>
          <a:xfrm>
            <a:off x="2670048" y="4974336"/>
            <a:ext cx="833018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مسح المنافسين في ثلاثة منتجات</a:t>
            </a:r>
            <a:endParaRPr lang="en-US" sz="1400" dirty="0"/>
          </a:p>
        </p:txBody>
      </p:sp>
      <p:sp>
        <p:nvSpPr>
          <p:cNvPr id="45" name="Text 43"/>
          <p:cNvSpPr/>
          <p:nvPr/>
        </p:nvSpPr>
        <p:spPr>
          <a:xfrm>
            <a:off x="2670048" y="5276088"/>
            <a:ext cx="83301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العقار والإكسسوارات والإعلان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676656" y="5084064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 من ٥</a:t>
            </a:r>
            <a:endParaRPr lang="en-US" sz="1300" dirty="0"/>
          </a:p>
        </p:txBody>
      </p:sp>
      <p:sp>
        <p:nvSpPr>
          <p:cNvPr id="47" name="Text 45"/>
          <p:cNvSpPr/>
          <p:nvPr/>
        </p:nvSpPr>
        <p:spPr>
          <a:xfrm>
            <a:off x="566928" y="6144768"/>
            <a:ext cx="110276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95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بيانات نقاط بيع فعلية من ١ يناير إلى ٣١ يوليو ٢٠٢٦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539728" y="2286000"/>
            <a:ext cx="54864" cy="20116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240280"/>
            <a:ext cx="107533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500" b="1" spc="300" kern="0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القسم الأول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566928" y="2743200"/>
            <a:ext cx="10753344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3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أين نقف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566928" y="3611880"/>
            <a:ext cx="107533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الشبكة · الاتجاه · قيمة اللتر · من يشتري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74320"/>
            <a:ext cx="10113264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الشبكة بالأرقام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01132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من ١ يناير إلى ٣١ يوليو ٢٠٢٦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133856"/>
            <a:ext cx="1102766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64373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 · الإدارة التجارية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45952" y="6437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2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9506102" y="1243584"/>
            <a:ext cx="2088490" cy="1371600"/>
          </a:xfrm>
          <a:prstGeom prst="roundRect">
            <a:avLst>
              <a:gd name="adj" fmla="val 3333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506102" y="1243584"/>
            <a:ext cx="2088490" cy="4572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10" name="Text 8"/>
          <p:cNvSpPr/>
          <p:nvPr/>
        </p:nvSpPr>
        <p:spPr>
          <a:xfrm>
            <a:off x="9579254" y="1389888"/>
            <a:ext cx="194218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٦٢٦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9597542" y="1975104"/>
            <a:ext cx="190561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مليون ريال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9597542" y="2249424"/>
            <a:ext cx="190561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شامل الضريبة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7271309" y="1243584"/>
            <a:ext cx="2088490" cy="1371600"/>
          </a:xfrm>
          <a:prstGeom prst="roundRect">
            <a:avLst>
              <a:gd name="adj" fmla="val 3333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271309" y="1243584"/>
            <a:ext cx="2088490" cy="4572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15" name="Text 13"/>
          <p:cNvSpPr/>
          <p:nvPr/>
        </p:nvSpPr>
        <p:spPr>
          <a:xfrm>
            <a:off x="7344461" y="1389888"/>
            <a:ext cx="194218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٥٥١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362749" y="1975104"/>
            <a:ext cx="190561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MLPA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7362749" y="2249424"/>
            <a:ext cx="190561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١٠٫٦ للمحطة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5036515" y="1243584"/>
            <a:ext cx="2088490" cy="1371600"/>
          </a:xfrm>
          <a:prstGeom prst="roundRect">
            <a:avLst>
              <a:gd name="adj" fmla="val 3333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036515" y="1243584"/>
            <a:ext cx="2088490" cy="4572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20" name="Text 18"/>
          <p:cNvSpPr/>
          <p:nvPr/>
        </p:nvSpPr>
        <p:spPr>
          <a:xfrm>
            <a:off x="5109667" y="1389888"/>
            <a:ext cx="194218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١١٫٠</a:t>
            </a:r>
            <a:endParaRPr lang="en-US" sz="2800" dirty="0"/>
          </a:p>
        </p:txBody>
      </p:sp>
      <p:sp>
        <p:nvSpPr>
          <p:cNvPr id="21" name="Text 19"/>
          <p:cNvSpPr/>
          <p:nvPr/>
        </p:nvSpPr>
        <p:spPr>
          <a:xfrm>
            <a:off x="5127955" y="1975104"/>
            <a:ext cx="190561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مليون معاملة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5127955" y="2249424"/>
            <a:ext cx="190561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٢٥٫٦ لتراً لكل واحدة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2801722" y="1243584"/>
            <a:ext cx="2088490" cy="1371600"/>
          </a:xfrm>
          <a:prstGeom prst="roundRect">
            <a:avLst>
              <a:gd name="adj" fmla="val 3333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801722" y="1243584"/>
            <a:ext cx="2088490" cy="4572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25" name="Text 23"/>
          <p:cNvSpPr/>
          <p:nvPr/>
        </p:nvSpPr>
        <p:spPr>
          <a:xfrm>
            <a:off x="2874874" y="1389888"/>
            <a:ext cx="194218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٥٧٫٢</a:t>
            </a:r>
            <a:endParaRPr lang="en-US" sz="2800" dirty="0"/>
          </a:p>
        </p:txBody>
      </p:sp>
      <p:sp>
        <p:nvSpPr>
          <p:cNvPr id="26" name="Text 24"/>
          <p:cNvSpPr/>
          <p:nvPr/>
        </p:nvSpPr>
        <p:spPr>
          <a:xfrm>
            <a:off x="2893162" y="1975104"/>
            <a:ext cx="190561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ريال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2893162" y="2249424"/>
            <a:ext cx="190561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قيمة المعاملة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566928" y="1243584"/>
            <a:ext cx="2088490" cy="1371600"/>
          </a:xfrm>
          <a:prstGeom prst="roundRect">
            <a:avLst>
              <a:gd name="adj" fmla="val 3333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66928" y="1243584"/>
            <a:ext cx="2088490" cy="4572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30" name="Text 28"/>
          <p:cNvSpPr/>
          <p:nvPr/>
        </p:nvSpPr>
        <p:spPr>
          <a:xfrm>
            <a:off x="640080" y="1389888"/>
            <a:ext cx="194218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٥٥</a:t>
            </a:r>
            <a:endParaRPr lang="en-US" sz="2800" dirty="0"/>
          </a:p>
        </p:txBody>
      </p:sp>
      <p:sp>
        <p:nvSpPr>
          <p:cNvPr id="31" name="Text 29"/>
          <p:cNvSpPr/>
          <p:nvPr/>
        </p:nvSpPr>
        <p:spPr>
          <a:xfrm>
            <a:off x="658368" y="1975104"/>
            <a:ext cx="190561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محطة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658368" y="2249424"/>
            <a:ext cx="190561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٨٣٪ تغطية زمنية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566928" y="2834640"/>
            <a:ext cx="110276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مزيج الوقود</a:t>
            </a:r>
            <a:endParaRPr lang="en-US" sz="1350" dirty="0"/>
          </a:p>
        </p:txBody>
      </p:sp>
      <p:sp>
        <p:nvSpPr>
          <p:cNvPr id="34" name="Text 32"/>
          <p:cNvSpPr/>
          <p:nvPr/>
        </p:nvSpPr>
        <p:spPr>
          <a:xfrm>
            <a:off x="7127565" y="3200400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بنزين ٩١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566928" y="3493008"/>
            <a:ext cx="6396045" cy="182880"/>
          </a:xfrm>
          <a:prstGeom prst="rect">
            <a:avLst/>
          </a:prstGeom>
          <a:solidFill>
            <a:srgbClr val="F5F2ED"/>
          </a:solidFill>
          <a:ln/>
        </p:spPr>
      </p:sp>
      <p:sp>
        <p:nvSpPr>
          <p:cNvPr id="36" name="Shape 34"/>
          <p:cNvSpPr/>
          <p:nvPr/>
        </p:nvSpPr>
        <p:spPr>
          <a:xfrm>
            <a:off x="4161505" y="3493008"/>
            <a:ext cx="2801468" cy="1828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7" name="Text 35"/>
          <p:cNvSpPr/>
          <p:nvPr/>
        </p:nvSpPr>
        <p:spPr>
          <a:xfrm>
            <a:off x="566928" y="3200400"/>
            <a:ext cx="47970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٤٣٫٨٪ من الإيراد · ٥٥٫٥٪ من المعاملات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7127565" y="3877056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بنزين ٩٥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566928" y="4169664"/>
            <a:ext cx="6396045" cy="182880"/>
          </a:xfrm>
          <a:prstGeom prst="rect">
            <a:avLst/>
          </a:prstGeom>
          <a:solidFill>
            <a:srgbClr val="F5F2ED"/>
          </a:solidFill>
          <a:ln/>
        </p:spPr>
      </p:sp>
      <p:sp>
        <p:nvSpPr>
          <p:cNvPr id="40" name="Shape 38"/>
          <p:cNvSpPr/>
          <p:nvPr/>
        </p:nvSpPr>
        <p:spPr>
          <a:xfrm>
            <a:off x="4570852" y="4169664"/>
            <a:ext cx="2392121" cy="182880"/>
          </a:xfrm>
          <a:prstGeom prst="rect">
            <a:avLst/>
          </a:prstGeom>
          <a:solidFill>
            <a:srgbClr val="F7A94B"/>
          </a:solidFill>
          <a:ln/>
        </p:spPr>
      </p:sp>
      <p:sp>
        <p:nvSpPr>
          <p:cNvPr id="41" name="Text 39"/>
          <p:cNvSpPr/>
          <p:nvPr/>
        </p:nvSpPr>
        <p:spPr>
          <a:xfrm>
            <a:off x="566928" y="3877056"/>
            <a:ext cx="47970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٣٧٫٤٪ من الإيراد · ٣٦٫٠٪ من المعاملات</a:t>
            </a:r>
            <a:endParaRPr lang="en-US" sz="1050" dirty="0"/>
          </a:p>
        </p:txBody>
      </p:sp>
      <p:sp>
        <p:nvSpPr>
          <p:cNvPr id="42" name="Text 40"/>
          <p:cNvSpPr/>
          <p:nvPr/>
        </p:nvSpPr>
        <p:spPr>
          <a:xfrm>
            <a:off x="7127565" y="4553712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ديزل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566928" y="4846320"/>
            <a:ext cx="6396045" cy="182880"/>
          </a:xfrm>
          <a:prstGeom prst="rect">
            <a:avLst/>
          </a:prstGeom>
          <a:solidFill>
            <a:srgbClr val="F5F2ED"/>
          </a:solidFill>
          <a:ln/>
        </p:spPr>
      </p:sp>
      <p:sp>
        <p:nvSpPr>
          <p:cNvPr id="44" name="Shape 42"/>
          <p:cNvSpPr/>
          <p:nvPr/>
        </p:nvSpPr>
        <p:spPr>
          <a:xfrm>
            <a:off x="5760517" y="4846320"/>
            <a:ext cx="1202456" cy="182880"/>
          </a:xfrm>
          <a:prstGeom prst="rect">
            <a:avLst/>
          </a:prstGeom>
          <a:solidFill>
            <a:srgbClr val="3E6E8E"/>
          </a:solidFill>
          <a:ln/>
        </p:spPr>
      </p:sp>
      <p:sp>
        <p:nvSpPr>
          <p:cNvPr id="45" name="Text 43"/>
          <p:cNvSpPr/>
          <p:nvPr/>
        </p:nvSpPr>
        <p:spPr>
          <a:xfrm>
            <a:off x="566928" y="4553712"/>
            <a:ext cx="47970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١٨٫٨٪ من الإيراد · ٨٫٥٪ من المعاملات</a:t>
            </a:r>
            <a:endParaRPr lang="en-US" sz="1050" dirty="0"/>
          </a:p>
        </p:txBody>
      </p:sp>
      <p:sp>
        <p:nvSpPr>
          <p:cNvPr id="46" name="Shape 44"/>
          <p:cNvSpPr/>
          <p:nvPr/>
        </p:nvSpPr>
        <p:spPr>
          <a:xfrm>
            <a:off x="7845186" y="3163824"/>
            <a:ext cx="3749406" cy="2011680"/>
          </a:xfrm>
          <a:prstGeom prst="roundRect">
            <a:avLst>
              <a:gd name="adj" fmla="val 2273"/>
            </a:avLst>
          </a:prstGeom>
          <a:solidFill>
            <a:srgbClr val="FBEEE0"/>
          </a:solidFill>
          <a:ln w="15240">
            <a:solidFill>
              <a:srgbClr val="F5831F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991490" y="3273552"/>
            <a:ext cx="345679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الديزل عميل مختلف</a:t>
            </a:r>
            <a:endParaRPr lang="en-US" sz="1400" dirty="0"/>
          </a:p>
        </p:txBody>
      </p:sp>
      <p:sp>
        <p:nvSpPr>
          <p:cNvPr id="48" name="Text 46"/>
          <p:cNvSpPr/>
          <p:nvPr/>
        </p:nvSpPr>
        <p:spPr>
          <a:xfrm>
            <a:off x="10177272" y="3703320"/>
            <a:ext cx="12801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٨٫٥٪</a:t>
            </a:r>
            <a:endParaRPr lang="en-US" sz="1400" dirty="0"/>
          </a:p>
        </p:txBody>
      </p:sp>
      <p:sp>
        <p:nvSpPr>
          <p:cNvPr id="49" name="Text 47"/>
          <p:cNvSpPr/>
          <p:nvPr/>
        </p:nvSpPr>
        <p:spPr>
          <a:xfrm>
            <a:off x="7991490" y="3721608"/>
            <a:ext cx="210348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من المعاملات</a:t>
            </a:r>
            <a:endParaRPr lang="en-US" sz="1100" dirty="0"/>
          </a:p>
        </p:txBody>
      </p:sp>
      <p:sp>
        <p:nvSpPr>
          <p:cNvPr id="50" name="Text 48"/>
          <p:cNvSpPr/>
          <p:nvPr/>
        </p:nvSpPr>
        <p:spPr>
          <a:xfrm>
            <a:off x="10177272" y="4160520"/>
            <a:ext cx="12801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١٨٫٨٪</a:t>
            </a:r>
            <a:endParaRPr lang="en-US" sz="1400" dirty="0"/>
          </a:p>
        </p:txBody>
      </p:sp>
      <p:sp>
        <p:nvSpPr>
          <p:cNvPr id="51" name="Text 49"/>
          <p:cNvSpPr/>
          <p:nvPr/>
        </p:nvSpPr>
        <p:spPr>
          <a:xfrm>
            <a:off x="7991490" y="4178808"/>
            <a:ext cx="210348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من الإيراد</a:t>
            </a:r>
            <a:endParaRPr lang="en-US" sz="1100" dirty="0"/>
          </a:p>
        </p:txBody>
      </p:sp>
      <p:sp>
        <p:nvSpPr>
          <p:cNvPr id="52" name="Text 50"/>
          <p:cNvSpPr/>
          <p:nvPr/>
        </p:nvSpPr>
        <p:spPr>
          <a:xfrm>
            <a:off x="10177272" y="4617720"/>
            <a:ext cx="12801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١٢٦ ريالاً</a:t>
            </a:r>
            <a:endParaRPr lang="en-US" sz="1400" dirty="0"/>
          </a:p>
        </p:txBody>
      </p:sp>
      <p:sp>
        <p:nvSpPr>
          <p:cNvPr id="53" name="Text 51"/>
          <p:cNvSpPr/>
          <p:nvPr/>
        </p:nvSpPr>
        <p:spPr>
          <a:xfrm>
            <a:off x="7991490" y="4636008"/>
            <a:ext cx="210348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قيمة المعاملة — ٢٫٨ ضعف</a:t>
            </a:r>
            <a:endParaRPr lang="en-US" sz="1100" dirty="0"/>
          </a:p>
        </p:txBody>
      </p:sp>
      <p:sp>
        <p:nvSpPr>
          <p:cNvPr id="54" name="Text 52"/>
          <p:cNvSpPr/>
          <p:nvPr/>
        </p:nvSpPr>
        <p:spPr>
          <a:xfrm>
            <a:off x="566928" y="6144768"/>
            <a:ext cx="110276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95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 محطات لتراتها ناقصة في المصدر فاستُبعدت من حسابات اللتر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74320"/>
            <a:ext cx="10113264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الاتجاه الحقيقي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01132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على قاعدة ثابتة من ٢٥ محطة بتغطية كاملة ٢١٢ يوماً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133856"/>
            <a:ext cx="1102766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64373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 · الإدارة التجارية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45952" y="6437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3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6612924" y="3853252"/>
            <a:ext cx="605576" cy="828476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9" name="Text 7"/>
          <p:cNvSpPr/>
          <p:nvPr/>
        </p:nvSpPr>
        <p:spPr>
          <a:xfrm>
            <a:off x="6475764" y="3578932"/>
            <a:ext cx="879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٦٣٣٬٢٩٦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475764" y="4727448"/>
            <a:ext cx="879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يناير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636188" y="3989425"/>
            <a:ext cx="605576" cy="692303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12" name="Text 10"/>
          <p:cNvSpPr/>
          <p:nvPr/>
        </p:nvSpPr>
        <p:spPr>
          <a:xfrm>
            <a:off x="5499028" y="3715105"/>
            <a:ext cx="879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٦٢٤٬٥٣٦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5499028" y="4727448"/>
            <a:ext cx="879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فبراير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659452" y="3522272"/>
            <a:ext cx="605576" cy="1159456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15" name="Text 13"/>
          <p:cNvSpPr/>
          <p:nvPr/>
        </p:nvSpPr>
        <p:spPr>
          <a:xfrm>
            <a:off x="4522292" y="3247952"/>
            <a:ext cx="879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٦٥٤٬٥٨٨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22292" y="4727448"/>
            <a:ext cx="879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مارس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3682716" y="3811266"/>
            <a:ext cx="605576" cy="870462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18" name="Text 16"/>
          <p:cNvSpPr/>
          <p:nvPr/>
        </p:nvSpPr>
        <p:spPr>
          <a:xfrm>
            <a:off x="3545556" y="3536946"/>
            <a:ext cx="879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٦٣٥٬٩٩٧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3545556" y="4727448"/>
            <a:ext cx="879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أبريل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2705980" y="2985464"/>
            <a:ext cx="605576" cy="1696264"/>
          </a:xfrm>
          <a:prstGeom prst="rect">
            <a:avLst/>
          </a:prstGeom>
          <a:solidFill>
            <a:srgbClr val="F7A94B"/>
          </a:solidFill>
          <a:ln/>
        </p:spPr>
      </p:sp>
      <p:sp>
        <p:nvSpPr>
          <p:cNvPr id="21" name="Text 19"/>
          <p:cNvSpPr/>
          <p:nvPr/>
        </p:nvSpPr>
        <p:spPr>
          <a:xfrm>
            <a:off x="2568820" y="2711144"/>
            <a:ext cx="879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٦٨٩٬١٢١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2568820" y="4727448"/>
            <a:ext cx="879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مايو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1729244" y="2600217"/>
            <a:ext cx="605576" cy="2081511"/>
          </a:xfrm>
          <a:prstGeom prst="rect">
            <a:avLst/>
          </a:prstGeom>
          <a:solidFill>
            <a:srgbClr val="F7A94B"/>
          </a:solidFill>
          <a:ln/>
        </p:spPr>
      </p:sp>
      <p:sp>
        <p:nvSpPr>
          <p:cNvPr id="24" name="Text 22"/>
          <p:cNvSpPr/>
          <p:nvPr/>
        </p:nvSpPr>
        <p:spPr>
          <a:xfrm>
            <a:off x="1592084" y="2325897"/>
            <a:ext cx="879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٧١٣٬٩٠٤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1592084" y="4727448"/>
            <a:ext cx="879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يونيو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752508" y="2133267"/>
            <a:ext cx="605576" cy="2548461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27" name="Text 25"/>
          <p:cNvSpPr/>
          <p:nvPr/>
        </p:nvSpPr>
        <p:spPr>
          <a:xfrm>
            <a:off x="615348" y="1858947"/>
            <a:ext cx="879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٧٤٣٬٩٤٣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615348" y="4727448"/>
            <a:ext cx="879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يوليو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566928" y="4681728"/>
            <a:ext cx="6837152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30" name="Text 28"/>
          <p:cNvSpPr/>
          <p:nvPr/>
        </p:nvSpPr>
        <p:spPr>
          <a:xfrm>
            <a:off x="566928" y="1261872"/>
            <a:ext cx="683715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لتراً يومياً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7955463" y="1280160"/>
            <a:ext cx="3639129" cy="1371600"/>
          </a:xfrm>
          <a:prstGeom prst="roundRect">
            <a:avLst>
              <a:gd name="adj" fmla="val 3333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955463" y="1280160"/>
            <a:ext cx="3639129" cy="45720"/>
          </a:xfrm>
          <a:prstGeom prst="rect">
            <a:avLst/>
          </a:prstGeom>
          <a:solidFill>
            <a:srgbClr val="2E8B6F"/>
          </a:solidFill>
          <a:ln/>
        </p:spPr>
      </p:sp>
      <p:sp>
        <p:nvSpPr>
          <p:cNvPr id="33" name="Text 31"/>
          <p:cNvSpPr/>
          <p:nvPr/>
        </p:nvSpPr>
        <p:spPr>
          <a:xfrm>
            <a:off x="8028615" y="1426464"/>
            <a:ext cx="349282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E8B6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+١٧٫٥٪</a:t>
            </a:r>
            <a:endParaRPr lang="en-US" sz="2800" dirty="0"/>
          </a:p>
        </p:txBody>
      </p:sp>
      <p:sp>
        <p:nvSpPr>
          <p:cNvPr id="34" name="Text 32"/>
          <p:cNvSpPr/>
          <p:nvPr/>
        </p:nvSpPr>
        <p:spPr>
          <a:xfrm>
            <a:off x="8046903" y="2011680"/>
            <a:ext cx="345624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يناير ← يوليو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8046903" y="2286000"/>
            <a:ext cx="34562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على نفس المحطات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7955463" y="2852928"/>
            <a:ext cx="363912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rgbClr val="C0503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ومحطتان تسيران عكسها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7955463" y="3200400"/>
            <a:ext cx="3639129" cy="603504"/>
          </a:xfrm>
          <a:prstGeom prst="roundRect">
            <a:avLst>
              <a:gd name="adj" fmla="val 6061"/>
            </a:avLst>
          </a:prstGeom>
          <a:solidFill>
            <a:srgbClr val="F2DAD4"/>
          </a:solidFill>
          <a:ln w="12700">
            <a:solidFill>
              <a:srgbClr val="C0503A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8065191" y="3236976"/>
            <a:ext cx="263328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المعيصم MK002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10680192" y="3236976"/>
            <a:ext cx="804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−٧٠٪</a:t>
            </a:r>
            <a:endParaRPr lang="en-US" sz="1300" dirty="0"/>
          </a:p>
        </p:txBody>
      </p:sp>
      <p:sp>
        <p:nvSpPr>
          <p:cNvPr id="40" name="Text 38"/>
          <p:cNvSpPr/>
          <p:nvPr/>
        </p:nvSpPr>
        <p:spPr>
          <a:xfrm>
            <a:off x="8065191" y="3511296"/>
            <a:ext cx="3419673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تغيير مسار ٧–٨ فبراير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7955463" y="3877056"/>
            <a:ext cx="3639129" cy="603504"/>
          </a:xfrm>
          <a:prstGeom prst="roundRect">
            <a:avLst>
              <a:gd name="adj" fmla="val 6061"/>
            </a:avLst>
          </a:prstGeom>
          <a:solidFill>
            <a:srgbClr val="F2DAD4"/>
          </a:solidFill>
          <a:ln w="12700">
            <a:solidFill>
              <a:srgbClr val="C0503A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8065191" y="3913632"/>
            <a:ext cx="263328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الشرايع MK019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10680192" y="3913632"/>
            <a:ext cx="804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−٥٢٪</a:t>
            </a:r>
            <a:endParaRPr lang="en-US" sz="1300" dirty="0"/>
          </a:p>
        </p:txBody>
      </p:sp>
      <p:sp>
        <p:nvSpPr>
          <p:cNvPr id="44" name="Text 42"/>
          <p:cNvSpPr/>
          <p:nvPr/>
        </p:nvSpPr>
        <p:spPr>
          <a:xfrm>
            <a:off x="8065191" y="4187952"/>
            <a:ext cx="3419673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تغيير مسار ٤–٥ فبراير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7955463" y="4626864"/>
            <a:ext cx="3639129" cy="731520"/>
          </a:xfrm>
          <a:prstGeom prst="roundRect">
            <a:avLst>
              <a:gd name="adj" fmla="val 5000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8065191" y="4718304"/>
            <a:ext cx="341967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 هابطة · ٨ مستقرة · ٩ نامية</a:t>
            </a:r>
            <a:endParaRPr lang="en-US" sz="1200" dirty="0"/>
          </a:p>
        </p:txBody>
      </p:sp>
      <p:sp>
        <p:nvSpPr>
          <p:cNvPr id="47" name="Text 45"/>
          <p:cNvSpPr/>
          <p:nvPr/>
        </p:nvSpPr>
        <p:spPr>
          <a:xfrm>
            <a:off x="8065191" y="5010912"/>
            <a:ext cx="341967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من ٢١ محطة بتغطية كاملة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566928" y="6144768"/>
            <a:ext cx="110276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95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الإجمالي الخام مضلِّل — المحطات المغطّاة ارتفعت من ٣٩ إلى ٥٥ خلال الفترة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74320"/>
            <a:ext cx="10113264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قيمة اللتر الواحد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01132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من سعر المضخة إلى الصافي — وما تحتمله الحملة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133856"/>
            <a:ext cx="1102766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64373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 · الإدارة التجارية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45952" y="6437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4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66928" y="1225296"/>
            <a:ext cx="11027664" cy="512064"/>
          </a:xfrm>
          <a:prstGeom prst="roundRect">
            <a:avLst>
              <a:gd name="adj" fmla="val 7143"/>
            </a:avLst>
          </a:prstGeom>
          <a:solidFill>
            <a:srgbClr val="55565A"/>
          </a:solidFill>
          <a:ln/>
        </p:spPr>
      </p:sp>
      <p:sp>
        <p:nvSpPr>
          <p:cNvPr id="9" name="Text 7"/>
          <p:cNvSpPr/>
          <p:nvPr/>
        </p:nvSpPr>
        <p:spPr>
          <a:xfrm>
            <a:off x="749808" y="1271016"/>
            <a:ext cx="1066190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سعر المضخة  ←  ناقص الضريبة ١٥٪  ←  هامش المساهمة ١١٫٠٩ هللة  ←  ناقص التشغيل ٤٫٨٦  =  صافي ٦٫٢٣ هللة لكل لتر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66928" y="1920240"/>
            <a:ext cx="110276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تعبئة بخمسين ريالاً — العتبة المعتمدة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566928" y="2212848"/>
            <a:ext cx="11027664" cy="36576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12" name="Text 10"/>
          <p:cNvSpPr/>
          <p:nvPr/>
        </p:nvSpPr>
        <p:spPr>
          <a:xfrm>
            <a:off x="10322169" y="2212848"/>
            <a:ext cx="1272423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المنتج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9261817" y="2212848"/>
            <a:ext cx="106035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سعر المضخة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8201465" y="2212848"/>
            <a:ext cx="106035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صافي الضريبة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7035077" y="2212848"/>
            <a:ext cx="1166388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لتر بـ٥٠ ريالاً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5868690" y="2212848"/>
            <a:ext cx="1166388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هامش المساهمة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4808337" y="2212848"/>
            <a:ext cx="106035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خصم التشغيل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3854020" y="2212848"/>
            <a:ext cx="954317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الصافي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2793668" y="2212848"/>
            <a:ext cx="106035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علبة المناديل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1839351" y="2212848"/>
            <a:ext cx="954317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بعد الهدية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566928" y="2212848"/>
            <a:ext cx="1272423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الهدية من الصافي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566928" y="2578608"/>
            <a:ext cx="11027664" cy="365760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0322169" y="2578608"/>
            <a:ext cx="1272423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بنزين ٩١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9261817" y="2578608"/>
            <a:ext cx="106035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٢٫١٩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8201465" y="2578608"/>
            <a:ext cx="106035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١٫٩١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7035077" y="2578608"/>
            <a:ext cx="1166388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٢٢٫٨٢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5868690" y="2578608"/>
            <a:ext cx="1166388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٢٫٥٣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4808337" y="2578608"/>
            <a:ext cx="106035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١٫١١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3854020" y="2578608"/>
            <a:ext cx="954317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١٫٤٢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2793668" y="2578608"/>
            <a:ext cx="106035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٠٫٦٢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1839351" y="2578608"/>
            <a:ext cx="954317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A8681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٠٫٨٠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566928" y="2578608"/>
            <a:ext cx="1272423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٤٤٪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566928" y="2944368"/>
            <a:ext cx="11027664" cy="365760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0322169" y="2944368"/>
            <a:ext cx="1272423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بنزين ٩٥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9261817" y="2944368"/>
            <a:ext cx="106035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٢٫٣٤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8201465" y="2944368"/>
            <a:ext cx="106035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٢٫٠٣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7035077" y="2944368"/>
            <a:ext cx="1166388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٢١٫٣٧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5868690" y="2944368"/>
            <a:ext cx="1166388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٢٫٣٧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4808337" y="2944368"/>
            <a:ext cx="106035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١٫٠٤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3854020" y="2944368"/>
            <a:ext cx="954317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١٫٣٣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2793668" y="2944368"/>
            <a:ext cx="106035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٠٫٦٢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1839351" y="2944368"/>
            <a:ext cx="954317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A8681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٠٫٧١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566928" y="2944368"/>
            <a:ext cx="1272423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٤٧٪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566928" y="3310128"/>
            <a:ext cx="11027664" cy="365760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10322169" y="3310128"/>
            <a:ext cx="1272423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ديزل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9261817" y="3310128"/>
            <a:ext cx="106035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١٫٨٠</a:t>
            </a:r>
            <a:endParaRPr lang="en-US" sz="1100" dirty="0"/>
          </a:p>
        </p:txBody>
      </p:sp>
      <p:sp>
        <p:nvSpPr>
          <p:cNvPr id="47" name="Text 45"/>
          <p:cNvSpPr/>
          <p:nvPr/>
        </p:nvSpPr>
        <p:spPr>
          <a:xfrm>
            <a:off x="8201465" y="3310128"/>
            <a:ext cx="106035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١٫٥٦</a:t>
            </a:r>
            <a:endParaRPr lang="en-US" sz="1100" dirty="0"/>
          </a:p>
        </p:txBody>
      </p:sp>
      <p:sp>
        <p:nvSpPr>
          <p:cNvPr id="48" name="Text 46"/>
          <p:cNvSpPr/>
          <p:nvPr/>
        </p:nvSpPr>
        <p:spPr>
          <a:xfrm>
            <a:off x="7035077" y="3310128"/>
            <a:ext cx="1166388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٢٧٫٨٤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5868690" y="3310128"/>
            <a:ext cx="1166388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٣٫٠٩</a:t>
            </a:r>
            <a:endParaRPr lang="en-US" sz="1100" dirty="0"/>
          </a:p>
        </p:txBody>
      </p:sp>
      <p:sp>
        <p:nvSpPr>
          <p:cNvPr id="50" name="Text 48"/>
          <p:cNvSpPr/>
          <p:nvPr/>
        </p:nvSpPr>
        <p:spPr>
          <a:xfrm>
            <a:off x="4808337" y="3310128"/>
            <a:ext cx="106035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١٫٣٥</a:t>
            </a:r>
            <a:endParaRPr lang="en-US" sz="1100" dirty="0"/>
          </a:p>
        </p:txBody>
      </p:sp>
      <p:sp>
        <p:nvSpPr>
          <p:cNvPr id="51" name="Text 49"/>
          <p:cNvSpPr/>
          <p:nvPr/>
        </p:nvSpPr>
        <p:spPr>
          <a:xfrm>
            <a:off x="3854020" y="3310128"/>
            <a:ext cx="954317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١٫٧٣</a:t>
            </a:r>
            <a:endParaRPr lang="en-US" sz="1100" dirty="0"/>
          </a:p>
        </p:txBody>
      </p:sp>
      <p:sp>
        <p:nvSpPr>
          <p:cNvPr id="52" name="Text 50"/>
          <p:cNvSpPr/>
          <p:nvPr/>
        </p:nvSpPr>
        <p:spPr>
          <a:xfrm>
            <a:off x="2793668" y="3310128"/>
            <a:ext cx="106035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٠٫٦٢</a:t>
            </a:r>
            <a:endParaRPr lang="en-US" sz="1100" dirty="0"/>
          </a:p>
        </p:txBody>
      </p:sp>
      <p:sp>
        <p:nvSpPr>
          <p:cNvPr id="53" name="Text 51"/>
          <p:cNvSpPr/>
          <p:nvPr/>
        </p:nvSpPr>
        <p:spPr>
          <a:xfrm>
            <a:off x="1839351" y="3310128"/>
            <a:ext cx="954317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A8681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١٫١١</a:t>
            </a:r>
            <a:endParaRPr lang="en-US" sz="1100" dirty="0"/>
          </a:p>
        </p:txBody>
      </p:sp>
      <p:sp>
        <p:nvSpPr>
          <p:cNvPr id="54" name="Text 52"/>
          <p:cNvSpPr/>
          <p:nvPr/>
        </p:nvSpPr>
        <p:spPr>
          <a:xfrm>
            <a:off x="566928" y="3310128"/>
            <a:ext cx="1272423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٣٦٪</a:t>
            </a:r>
            <a:endParaRPr lang="en-US" sz="1100" dirty="0"/>
          </a:p>
        </p:txBody>
      </p:sp>
      <p:sp>
        <p:nvSpPr>
          <p:cNvPr id="55" name="Shape 53"/>
          <p:cNvSpPr/>
          <p:nvPr/>
        </p:nvSpPr>
        <p:spPr>
          <a:xfrm>
            <a:off x="566928" y="3675888"/>
            <a:ext cx="11027664" cy="365760"/>
          </a:xfrm>
          <a:prstGeom prst="rect">
            <a:avLst/>
          </a:prstGeom>
          <a:solidFill>
            <a:srgbClr val="EDE7DE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10322169" y="3675888"/>
            <a:ext cx="1272423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المرجّح</a:t>
            </a:r>
            <a:endParaRPr lang="en-US" sz="1100" dirty="0"/>
          </a:p>
        </p:txBody>
      </p:sp>
      <p:sp>
        <p:nvSpPr>
          <p:cNvPr id="57" name="Text 55"/>
          <p:cNvSpPr/>
          <p:nvPr/>
        </p:nvSpPr>
        <p:spPr>
          <a:xfrm>
            <a:off x="9261817" y="3675888"/>
            <a:ext cx="106035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٢٫٢٠</a:t>
            </a:r>
            <a:endParaRPr lang="en-US" sz="1100" dirty="0"/>
          </a:p>
        </p:txBody>
      </p:sp>
      <p:sp>
        <p:nvSpPr>
          <p:cNvPr id="58" name="Text 56"/>
          <p:cNvSpPr/>
          <p:nvPr/>
        </p:nvSpPr>
        <p:spPr>
          <a:xfrm>
            <a:off x="8201465" y="3675888"/>
            <a:ext cx="106035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١٫٩١</a:t>
            </a:r>
            <a:endParaRPr lang="en-US" sz="1100" dirty="0"/>
          </a:p>
        </p:txBody>
      </p:sp>
      <p:sp>
        <p:nvSpPr>
          <p:cNvPr id="59" name="Text 57"/>
          <p:cNvSpPr/>
          <p:nvPr/>
        </p:nvSpPr>
        <p:spPr>
          <a:xfrm>
            <a:off x="7035077" y="3675888"/>
            <a:ext cx="1166388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٢٢٫٧٢</a:t>
            </a:r>
            <a:endParaRPr lang="en-US" sz="1100" dirty="0"/>
          </a:p>
        </p:txBody>
      </p:sp>
      <p:sp>
        <p:nvSpPr>
          <p:cNvPr id="60" name="Text 58"/>
          <p:cNvSpPr/>
          <p:nvPr/>
        </p:nvSpPr>
        <p:spPr>
          <a:xfrm>
            <a:off x="5868690" y="3675888"/>
            <a:ext cx="1166388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٢٫٥٢</a:t>
            </a:r>
            <a:endParaRPr lang="en-US" sz="1100" dirty="0"/>
          </a:p>
        </p:txBody>
      </p:sp>
      <p:sp>
        <p:nvSpPr>
          <p:cNvPr id="61" name="Text 59"/>
          <p:cNvSpPr/>
          <p:nvPr/>
        </p:nvSpPr>
        <p:spPr>
          <a:xfrm>
            <a:off x="4808337" y="3675888"/>
            <a:ext cx="106035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١٫١٠</a:t>
            </a:r>
            <a:endParaRPr lang="en-US" sz="1100" dirty="0"/>
          </a:p>
        </p:txBody>
      </p:sp>
      <p:sp>
        <p:nvSpPr>
          <p:cNvPr id="62" name="Text 60"/>
          <p:cNvSpPr/>
          <p:nvPr/>
        </p:nvSpPr>
        <p:spPr>
          <a:xfrm>
            <a:off x="3854020" y="3675888"/>
            <a:ext cx="954317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١٫٤٢</a:t>
            </a:r>
            <a:endParaRPr lang="en-US" sz="1100" dirty="0"/>
          </a:p>
        </p:txBody>
      </p:sp>
      <p:sp>
        <p:nvSpPr>
          <p:cNvPr id="63" name="Text 61"/>
          <p:cNvSpPr/>
          <p:nvPr/>
        </p:nvSpPr>
        <p:spPr>
          <a:xfrm>
            <a:off x="2793668" y="3675888"/>
            <a:ext cx="106035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٠٫٦٢</a:t>
            </a:r>
            <a:endParaRPr lang="en-US" sz="1100" dirty="0"/>
          </a:p>
        </p:txBody>
      </p:sp>
      <p:sp>
        <p:nvSpPr>
          <p:cNvPr id="64" name="Text 62"/>
          <p:cNvSpPr/>
          <p:nvPr/>
        </p:nvSpPr>
        <p:spPr>
          <a:xfrm>
            <a:off x="1839351" y="3675888"/>
            <a:ext cx="954317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٠٫٨٠</a:t>
            </a:r>
            <a:endParaRPr lang="en-US" sz="1100" dirty="0"/>
          </a:p>
        </p:txBody>
      </p:sp>
      <p:sp>
        <p:nvSpPr>
          <p:cNvPr id="65" name="Text 63"/>
          <p:cNvSpPr/>
          <p:nvPr/>
        </p:nvSpPr>
        <p:spPr>
          <a:xfrm>
            <a:off x="566928" y="3675888"/>
            <a:ext cx="1272423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٤٤٪</a:t>
            </a:r>
            <a:endParaRPr lang="en-US" sz="1100" dirty="0"/>
          </a:p>
        </p:txBody>
      </p:sp>
      <p:sp>
        <p:nvSpPr>
          <p:cNvPr id="66" name="Shape 64"/>
          <p:cNvSpPr/>
          <p:nvPr/>
        </p:nvSpPr>
        <p:spPr>
          <a:xfrm>
            <a:off x="8040624" y="4343400"/>
            <a:ext cx="3553968" cy="1188720"/>
          </a:xfrm>
          <a:prstGeom prst="roundRect">
            <a:avLst>
              <a:gd name="adj" fmla="val 3846"/>
            </a:avLst>
          </a:prstGeom>
          <a:solidFill>
            <a:srgbClr val="F7F4EF"/>
          </a:solidFill>
          <a:ln w="15240">
            <a:solidFill>
              <a:srgbClr val="F5831F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8132064" y="4453128"/>
            <a:ext cx="33710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٦٢ هللة</a:t>
            </a:r>
            <a:endParaRPr lang="en-US" sz="2100" dirty="0"/>
          </a:p>
        </p:txBody>
      </p:sp>
      <p:sp>
        <p:nvSpPr>
          <p:cNvPr id="68" name="Text 66"/>
          <p:cNvSpPr/>
          <p:nvPr/>
        </p:nvSpPr>
        <p:spPr>
          <a:xfrm>
            <a:off x="8132064" y="4864608"/>
            <a:ext cx="33710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كلفة العلبة</a:t>
            </a:r>
            <a:endParaRPr lang="en-US" sz="1200" dirty="0"/>
          </a:p>
        </p:txBody>
      </p:sp>
      <p:sp>
        <p:nvSpPr>
          <p:cNvPr id="69" name="Text 67"/>
          <p:cNvSpPr/>
          <p:nvPr/>
        </p:nvSpPr>
        <p:spPr>
          <a:xfrm>
            <a:off x="8132064" y="5148072"/>
            <a:ext cx="33710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مؤكَّدة من الإدارة</a:t>
            </a:r>
            <a:endParaRPr lang="en-US" sz="1000" dirty="0"/>
          </a:p>
        </p:txBody>
      </p:sp>
      <p:sp>
        <p:nvSpPr>
          <p:cNvPr id="70" name="Shape 68"/>
          <p:cNvSpPr/>
          <p:nvPr/>
        </p:nvSpPr>
        <p:spPr>
          <a:xfrm>
            <a:off x="4303776" y="4343400"/>
            <a:ext cx="3553968" cy="1188720"/>
          </a:xfrm>
          <a:prstGeom prst="roundRect">
            <a:avLst>
              <a:gd name="adj" fmla="val 3846"/>
            </a:avLst>
          </a:prstGeom>
          <a:solidFill>
            <a:srgbClr val="F2DAD4"/>
          </a:solidFill>
          <a:ln w="15240">
            <a:solidFill>
              <a:srgbClr val="C0503A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4395216" y="4453128"/>
            <a:ext cx="33710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C0503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١٠٫٠ لتر</a:t>
            </a:r>
            <a:endParaRPr lang="en-US" sz="2100" dirty="0"/>
          </a:p>
        </p:txBody>
      </p:sp>
      <p:sp>
        <p:nvSpPr>
          <p:cNvPr id="72" name="Text 70"/>
          <p:cNvSpPr/>
          <p:nvPr/>
        </p:nvSpPr>
        <p:spPr>
          <a:xfrm>
            <a:off x="4395216" y="4864608"/>
            <a:ext cx="33710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تعادل الهدية</a:t>
            </a:r>
            <a:endParaRPr lang="en-US" sz="1200" dirty="0"/>
          </a:p>
        </p:txBody>
      </p:sp>
      <p:sp>
        <p:nvSpPr>
          <p:cNvPr id="73" name="Text 71"/>
          <p:cNvSpPr/>
          <p:nvPr/>
        </p:nvSpPr>
        <p:spPr>
          <a:xfrm>
            <a:off x="4395216" y="5148072"/>
            <a:ext cx="33710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٢١٫٩ ريالاً إنفاقاً إضافياً — تعذَّر</a:t>
            </a:r>
            <a:endParaRPr lang="en-US" sz="1000" dirty="0"/>
          </a:p>
        </p:txBody>
      </p:sp>
      <p:sp>
        <p:nvSpPr>
          <p:cNvPr id="74" name="Shape 72"/>
          <p:cNvSpPr/>
          <p:nvPr/>
        </p:nvSpPr>
        <p:spPr>
          <a:xfrm>
            <a:off x="566928" y="4343400"/>
            <a:ext cx="3553968" cy="1188720"/>
          </a:xfrm>
          <a:prstGeom prst="roundRect">
            <a:avLst>
              <a:gd name="adj" fmla="val 3846"/>
            </a:avLst>
          </a:prstGeom>
          <a:solidFill>
            <a:srgbClr val="F7F4EF"/>
          </a:solidFill>
          <a:ln w="15240">
            <a:solidFill>
              <a:srgbClr val="2E8B6F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658368" y="4453128"/>
            <a:ext cx="33710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2E8B6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١٫٤٣ ريالاً</a:t>
            </a:r>
            <a:endParaRPr lang="en-US" sz="2100" dirty="0"/>
          </a:p>
        </p:txBody>
      </p:sp>
      <p:sp>
        <p:nvSpPr>
          <p:cNvPr id="76" name="Text 74"/>
          <p:cNvSpPr/>
          <p:nvPr/>
        </p:nvSpPr>
        <p:spPr>
          <a:xfrm>
            <a:off x="658368" y="4864608"/>
            <a:ext cx="33710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صافي المعاملة الإضافية</a:t>
            </a:r>
            <a:endParaRPr lang="en-US" sz="1200" dirty="0"/>
          </a:p>
        </p:txBody>
      </p:sp>
      <p:sp>
        <p:nvSpPr>
          <p:cNvPr id="77" name="Text 75"/>
          <p:cNvSpPr/>
          <p:nvPr/>
        </p:nvSpPr>
        <p:spPr>
          <a:xfrm>
            <a:off x="658368" y="5148072"/>
            <a:ext cx="33710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الهدية تُغطَّى بزيارة لا بتعبئة أكبر</a:t>
            </a:r>
            <a:endParaRPr lang="en-US" sz="1000" dirty="0"/>
          </a:p>
        </p:txBody>
      </p:sp>
      <p:sp>
        <p:nvSpPr>
          <p:cNvPr id="78" name="Text 76"/>
          <p:cNvSpPr/>
          <p:nvPr/>
        </p:nvSpPr>
        <p:spPr>
          <a:xfrm>
            <a:off x="566928" y="6144768"/>
            <a:ext cx="110276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95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الهامش والتشغيل مقيسان من دفاتر ٢٦ محطة مشغّلة في الربع الثاني ٢٠٢٦ — لا موزَّعين من قائمة الدخل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74320"/>
            <a:ext cx="10113264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ربحية محطات التشغيل — الربع الثاني ٢٠٢٦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01132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٢٦ محطة في ٦ مناطق · مقيس لا مقدَّر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133856"/>
            <a:ext cx="1102766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64373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 · الإدارة التجارية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45952" y="6437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5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9506102" y="1243584"/>
            <a:ext cx="2088490" cy="1371600"/>
          </a:xfrm>
          <a:prstGeom prst="roundRect">
            <a:avLst>
              <a:gd name="adj" fmla="val 3333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506102" y="1243584"/>
            <a:ext cx="2088490" cy="4572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10" name="Text 8"/>
          <p:cNvSpPr/>
          <p:nvPr/>
        </p:nvSpPr>
        <p:spPr>
          <a:xfrm>
            <a:off x="9579254" y="1389888"/>
            <a:ext cx="194218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٩٧٫٠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9597542" y="1975104"/>
            <a:ext cx="190561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مليون ريال مبيعات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9597542" y="2249424"/>
            <a:ext cx="190561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+٨٫٥٪ عن الربع الأول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7271309" y="1243584"/>
            <a:ext cx="2088490" cy="1371600"/>
          </a:xfrm>
          <a:prstGeom prst="roundRect">
            <a:avLst>
              <a:gd name="adj" fmla="val 3333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271309" y="1243584"/>
            <a:ext cx="2088490" cy="4572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15" name="Text 13"/>
          <p:cNvSpPr/>
          <p:nvPr/>
        </p:nvSpPr>
        <p:spPr>
          <a:xfrm>
            <a:off x="7344461" y="1389888"/>
            <a:ext cx="194218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٥٦٫٤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362749" y="1975104"/>
            <a:ext cx="190561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مليون لتر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7362749" y="2249424"/>
            <a:ext cx="190561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+٧٫٤٪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5036515" y="1243584"/>
            <a:ext cx="2088490" cy="1371600"/>
          </a:xfrm>
          <a:prstGeom prst="roundRect">
            <a:avLst>
              <a:gd name="adj" fmla="val 3333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036515" y="1243584"/>
            <a:ext cx="2088490" cy="45720"/>
          </a:xfrm>
          <a:prstGeom prst="rect">
            <a:avLst/>
          </a:prstGeom>
          <a:solidFill>
            <a:srgbClr val="F7A94B"/>
          </a:solidFill>
          <a:ln/>
        </p:spPr>
      </p:sp>
      <p:sp>
        <p:nvSpPr>
          <p:cNvPr id="20" name="Text 18"/>
          <p:cNvSpPr/>
          <p:nvPr/>
        </p:nvSpPr>
        <p:spPr>
          <a:xfrm>
            <a:off x="5109667" y="1389888"/>
            <a:ext cx="194218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7A94B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٣٫٤٢</a:t>
            </a:r>
            <a:endParaRPr lang="en-US" sz="2800" dirty="0"/>
          </a:p>
        </p:txBody>
      </p:sp>
      <p:sp>
        <p:nvSpPr>
          <p:cNvPr id="21" name="Text 19"/>
          <p:cNvSpPr/>
          <p:nvPr/>
        </p:nvSpPr>
        <p:spPr>
          <a:xfrm>
            <a:off x="5127955" y="1975104"/>
            <a:ext cx="190561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مليون ريال صافي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5127955" y="2249424"/>
            <a:ext cx="190561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+٤٫٦٪ — أبطأ من المبيعات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2801722" y="1243584"/>
            <a:ext cx="2088490" cy="1371600"/>
          </a:xfrm>
          <a:prstGeom prst="roundRect">
            <a:avLst>
              <a:gd name="adj" fmla="val 3333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801722" y="1243584"/>
            <a:ext cx="2088490" cy="45720"/>
          </a:xfrm>
          <a:prstGeom prst="rect">
            <a:avLst/>
          </a:prstGeom>
          <a:solidFill>
            <a:srgbClr val="C0503A"/>
          </a:solidFill>
          <a:ln/>
        </p:spPr>
      </p:sp>
      <p:sp>
        <p:nvSpPr>
          <p:cNvPr id="25" name="Text 23"/>
          <p:cNvSpPr/>
          <p:nvPr/>
        </p:nvSpPr>
        <p:spPr>
          <a:xfrm>
            <a:off x="2874874" y="1389888"/>
            <a:ext cx="194218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C0503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٣٫٢٧٪</a:t>
            </a:r>
            <a:endParaRPr lang="en-US" sz="2800" dirty="0"/>
          </a:p>
        </p:txBody>
      </p:sp>
      <p:sp>
        <p:nvSpPr>
          <p:cNvPr id="26" name="Text 24"/>
          <p:cNvSpPr/>
          <p:nvPr/>
        </p:nvSpPr>
        <p:spPr>
          <a:xfrm>
            <a:off x="2893162" y="1975104"/>
            <a:ext cx="190561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هامش صافي الربح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2893162" y="2249424"/>
            <a:ext cx="190561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٠٫٠٩ نقطة تحت الربع الأول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566928" y="1243584"/>
            <a:ext cx="2088490" cy="1371600"/>
          </a:xfrm>
          <a:prstGeom prst="roundRect">
            <a:avLst>
              <a:gd name="adj" fmla="val 3333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66928" y="1243584"/>
            <a:ext cx="2088490" cy="45720"/>
          </a:xfrm>
          <a:prstGeom prst="rect">
            <a:avLst/>
          </a:prstGeom>
          <a:solidFill>
            <a:srgbClr val="2E8B6F"/>
          </a:solidFill>
          <a:ln/>
        </p:spPr>
      </p:sp>
      <p:sp>
        <p:nvSpPr>
          <p:cNvPr id="30" name="Text 28"/>
          <p:cNvSpPr/>
          <p:nvPr/>
        </p:nvSpPr>
        <p:spPr>
          <a:xfrm>
            <a:off x="640080" y="1389888"/>
            <a:ext cx="194218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E8B6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٥٠٨</a:t>
            </a:r>
            <a:endParaRPr lang="en-US" sz="2800" dirty="0"/>
          </a:p>
        </p:txBody>
      </p:sp>
      <p:sp>
        <p:nvSpPr>
          <p:cNvPr id="31" name="Text 29"/>
          <p:cNvSpPr/>
          <p:nvPr/>
        </p:nvSpPr>
        <p:spPr>
          <a:xfrm>
            <a:off x="658368" y="1975104"/>
            <a:ext cx="190561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عاملاً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658368" y="2249424"/>
            <a:ext cx="190561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−٥ · ربح العامل +٦٫٧٪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566928" y="2798064"/>
            <a:ext cx="110276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وهذا يصحّح ثوابت الخطة — من موزَّعة إلى مقيسة</a:t>
            </a:r>
            <a:endParaRPr lang="en-US" sz="1350" dirty="0"/>
          </a:p>
        </p:txBody>
      </p:sp>
      <p:sp>
        <p:nvSpPr>
          <p:cNvPr id="34" name="Shape 32"/>
          <p:cNvSpPr/>
          <p:nvPr/>
        </p:nvSpPr>
        <p:spPr>
          <a:xfrm>
            <a:off x="566928" y="3108960"/>
            <a:ext cx="7498812" cy="36576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35" name="Text 33"/>
          <p:cNvSpPr/>
          <p:nvPr/>
        </p:nvSpPr>
        <p:spPr>
          <a:xfrm>
            <a:off x="6416001" y="3108960"/>
            <a:ext cx="1649739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البند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5291179" y="3108960"/>
            <a:ext cx="112482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ما كنت أستعمله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4166358" y="3108960"/>
            <a:ext cx="112482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المقيس فعلياً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3116524" y="3108960"/>
            <a:ext cx="1049834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الفارق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566928" y="3108960"/>
            <a:ext cx="2549596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المصدر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566928" y="3474720"/>
            <a:ext cx="7498812" cy="420624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416001" y="3474720"/>
            <a:ext cx="1649739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مجمل الربح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5291179" y="3474720"/>
            <a:ext cx="1124822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١١٫٤٤ هللة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4166358" y="3474720"/>
            <a:ext cx="1124822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١١٫٠٩ هللة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3116524" y="3474720"/>
            <a:ext cx="1049834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−٠٫٣٥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566928" y="3474720"/>
            <a:ext cx="2549596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من قائمة الدخل ← من دفاتر المحطات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566928" y="3895344"/>
            <a:ext cx="7498812" cy="420624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416001" y="3895344"/>
            <a:ext cx="1649739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المصاريف التشغيلية</a:t>
            </a:r>
            <a:endParaRPr lang="en-US" sz="1100" dirty="0"/>
          </a:p>
        </p:txBody>
      </p:sp>
      <p:sp>
        <p:nvSpPr>
          <p:cNvPr id="48" name="Text 46"/>
          <p:cNvSpPr/>
          <p:nvPr/>
        </p:nvSpPr>
        <p:spPr>
          <a:xfrm>
            <a:off x="5291179" y="3895344"/>
            <a:ext cx="1124822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٤٫٣٤ هللة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4166358" y="3895344"/>
            <a:ext cx="1124822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٤٫٨٦ هللة</a:t>
            </a:r>
            <a:endParaRPr lang="en-US" sz="1100" dirty="0"/>
          </a:p>
        </p:txBody>
      </p:sp>
      <p:sp>
        <p:nvSpPr>
          <p:cNvPr id="50" name="Text 48"/>
          <p:cNvSpPr/>
          <p:nvPr/>
        </p:nvSpPr>
        <p:spPr>
          <a:xfrm>
            <a:off x="3116524" y="3895344"/>
            <a:ext cx="1049834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+٠٫٥٢</a:t>
            </a:r>
            <a:endParaRPr lang="en-US" sz="1100" dirty="0"/>
          </a:p>
        </p:txBody>
      </p:sp>
      <p:sp>
        <p:nvSpPr>
          <p:cNvPr id="51" name="Text 49"/>
          <p:cNvSpPr/>
          <p:nvPr/>
        </p:nvSpPr>
        <p:spPr>
          <a:xfrm>
            <a:off x="566928" y="3895344"/>
            <a:ext cx="2549596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كانت موزَّعة على كل الشبكة</a:t>
            </a:r>
            <a:endParaRPr lang="en-US" sz="1100" dirty="0"/>
          </a:p>
        </p:txBody>
      </p:sp>
      <p:sp>
        <p:nvSpPr>
          <p:cNvPr id="52" name="Shape 50"/>
          <p:cNvSpPr/>
          <p:nvPr/>
        </p:nvSpPr>
        <p:spPr>
          <a:xfrm>
            <a:off x="566928" y="4315968"/>
            <a:ext cx="7498812" cy="420624"/>
          </a:xfrm>
          <a:prstGeom prst="rect">
            <a:avLst/>
          </a:prstGeom>
          <a:solidFill>
            <a:srgbClr val="F2DAD4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416001" y="4315968"/>
            <a:ext cx="1649739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صافي اللتر</a:t>
            </a:r>
            <a:endParaRPr lang="en-US" sz="1100" dirty="0"/>
          </a:p>
        </p:txBody>
      </p:sp>
      <p:sp>
        <p:nvSpPr>
          <p:cNvPr id="54" name="Text 52"/>
          <p:cNvSpPr/>
          <p:nvPr/>
        </p:nvSpPr>
        <p:spPr>
          <a:xfrm>
            <a:off x="5291179" y="4315968"/>
            <a:ext cx="1124822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٧٫١٠ هللة</a:t>
            </a:r>
            <a:endParaRPr lang="en-US" sz="1100" dirty="0"/>
          </a:p>
        </p:txBody>
      </p:sp>
      <p:sp>
        <p:nvSpPr>
          <p:cNvPr id="55" name="Text 53"/>
          <p:cNvSpPr/>
          <p:nvPr/>
        </p:nvSpPr>
        <p:spPr>
          <a:xfrm>
            <a:off x="4166358" y="4315968"/>
            <a:ext cx="1124822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٦٫٢٣ هللة</a:t>
            </a:r>
            <a:endParaRPr lang="en-US" sz="1100" dirty="0"/>
          </a:p>
        </p:txBody>
      </p:sp>
      <p:sp>
        <p:nvSpPr>
          <p:cNvPr id="56" name="Text 54"/>
          <p:cNvSpPr/>
          <p:nvPr/>
        </p:nvSpPr>
        <p:spPr>
          <a:xfrm>
            <a:off x="3116524" y="4315968"/>
            <a:ext cx="1049834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−٠٫٨٧ (−١٢٪)</a:t>
            </a:r>
            <a:endParaRPr lang="en-US" sz="1100" dirty="0"/>
          </a:p>
        </p:txBody>
      </p:sp>
      <p:sp>
        <p:nvSpPr>
          <p:cNvPr id="57" name="Text 55"/>
          <p:cNvSpPr/>
          <p:nvPr/>
        </p:nvSpPr>
        <p:spPr>
          <a:xfrm>
            <a:off x="566928" y="4315968"/>
            <a:ext cx="2549596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سقف كل مكافأة ينزل بنفس النسبة</a:t>
            </a:r>
            <a:endParaRPr lang="en-US" sz="1100" dirty="0"/>
          </a:p>
        </p:txBody>
      </p:sp>
      <p:sp>
        <p:nvSpPr>
          <p:cNvPr id="58" name="Shape 56"/>
          <p:cNvSpPr/>
          <p:nvPr/>
        </p:nvSpPr>
        <p:spPr>
          <a:xfrm>
            <a:off x="8396569" y="3108960"/>
            <a:ext cx="3198023" cy="1682496"/>
          </a:xfrm>
          <a:prstGeom prst="roundRect">
            <a:avLst>
              <a:gd name="adj" fmla="val 2717"/>
            </a:avLst>
          </a:prstGeom>
          <a:solidFill>
            <a:srgbClr val="FBEEE0"/>
          </a:solidFill>
          <a:ln w="15240">
            <a:solidFill>
              <a:srgbClr val="F5831F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8524585" y="3200400"/>
            <a:ext cx="2941991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أين ذهب النمو</a:t>
            </a:r>
            <a:endParaRPr lang="en-US" sz="1300" dirty="0"/>
          </a:p>
        </p:txBody>
      </p:sp>
      <p:sp>
        <p:nvSpPr>
          <p:cNvPr id="60" name="Text 58"/>
          <p:cNvSpPr/>
          <p:nvPr/>
        </p:nvSpPr>
        <p:spPr>
          <a:xfrm>
            <a:off x="8524585" y="3511296"/>
            <a:ext cx="2941991" cy="11704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المبيعات +٨٫٥٪ والصافي +٤٫٦٪ فقط. المصاريف التشغيلية ارتفعت ١٤٫١٪ — من ٢٫٢٦ إلى ٢٫٥٨ مليون — وأكبر بنودها الكهرباء والمياه.</a:t>
            </a:r>
            <a:endParaRPr lang="en-US" sz="1100" dirty="0"/>
          </a:p>
        </p:txBody>
      </p:sp>
      <p:sp>
        <p:nvSpPr>
          <p:cNvPr id="61" name="Shape 59"/>
          <p:cNvSpPr/>
          <p:nvPr/>
        </p:nvSpPr>
        <p:spPr>
          <a:xfrm>
            <a:off x="566928" y="5029200"/>
            <a:ext cx="11027664" cy="512064"/>
          </a:xfrm>
          <a:prstGeom prst="roundRect">
            <a:avLst>
              <a:gd name="adj" fmla="val 7143"/>
            </a:avLst>
          </a:prstGeom>
          <a:solidFill>
            <a:srgbClr val="55565A"/>
          </a:solidFill>
          <a:ln/>
        </p:spPr>
      </p:sp>
      <p:sp>
        <p:nvSpPr>
          <p:cNvPr id="62" name="Text 60"/>
          <p:cNvSpPr/>
          <p:nvPr/>
        </p:nvSpPr>
        <p:spPr>
          <a:xfrm>
            <a:off x="749808" y="5074920"/>
            <a:ext cx="1066190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على أساس مماثل (٢٤ محطة) النمو +١٫٠٪ فقط — و+١١٨٫٥ ألف من الجديدتين «القسوم» و«مدخل محايل»</a:t>
            </a:r>
            <a:endParaRPr lang="en-US" sz="1250" dirty="0"/>
          </a:p>
        </p:txBody>
      </p:sp>
      <p:sp>
        <p:nvSpPr>
          <p:cNvPr id="63" name="Text 61"/>
          <p:cNvSpPr/>
          <p:nvPr/>
        </p:nvSpPr>
        <p:spPr>
          <a:xfrm>
            <a:off x="566928" y="6144768"/>
            <a:ext cx="110276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95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١٣ محطة تحسّنت بـ+٣٠٩٫٨ ألف و١١ تراجعت بـ−٢٧٦٫٧ ألف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74320"/>
            <a:ext cx="10113264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هيكل العمولة — أكبر رقم في الخطة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01132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لا يحتاج حملة ولا لتراً إضافياً · تفاوض عقود فقط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133856"/>
            <a:ext cx="1102766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64373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 · الإدارة التجارية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45952" y="6437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6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66928" y="1243584"/>
            <a:ext cx="11027664" cy="36576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9" name="Text 7"/>
          <p:cNvSpPr/>
          <p:nvPr/>
        </p:nvSpPr>
        <p:spPr>
          <a:xfrm>
            <a:off x="8947953" y="1243584"/>
            <a:ext cx="2646639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نوع العقد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955463" y="1243584"/>
            <a:ext cx="992490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محطات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521867" y="1243584"/>
            <a:ext cx="1433596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لتر الربع الثاني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977994" y="1243584"/>
            <a:ext cx="1543873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حصة درب الفعلية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323844" y="1243584"/>
            <a:ext cx="1654150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بالعمولة المعيارية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2000524" y="1243584"/>
            <a:ext cx="1323320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الفجوة ربعياً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566928" y="1243584"/>
            <a:ext cx="1433596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الفجوة سنوياً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66928" y="1609344"/>
            <a:ext cx="11027664" cy="420624"/>
          </a:xfrm>
          <a:prstGeom prst="rect">
            <a:avLst/>
          </a:prstGeom>
          <a:solidFill>
            <a:srgbClr val="F2DAD4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947953" y="1609344"/>
            <a:ext cx="2646639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نسبة ثابتة من الصافي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7955463" y="1609344"/>
            <a:ext cx="99249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١٢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521867" y="1609344"/>
            <a:ext cx="1433596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٢٢٫٩م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977994" y="1609344"/>
            <a:ext cx="1543873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٢٧٦٬٤٧٦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3323844" y="1609344"/>
            <a:ext cx="165415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٦١٠٬٠٧٠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2000524" y="1609344"/>
            <a:ext cx="132332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؜-٣٣٣٬٥٩٤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566928" y="1609344"/>
            <a:ext cx="1433596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؜-١٬٣٣٤٬٣٧٧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66928" y="2029968"/>
            <a:ext cx="11027664" cy="420624"/>
          </a:xfrm>
          <a:prstGeom prst="rect">
            <a:avLst/>
          </a:prstGeom>
          <a:solidFill>
            <a:srgbClr val="F2DAD4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947953" y="2029968"/>
            <a:ext cx="2646639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عمولة دون المعياري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7955463" y="2029968"/>
            <a:ext cx="99249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6521867" y="2029968"/>
            <a:ext cx="1433596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١٠٫١م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4977994" y="2029968"/>
            <a:ext cx="1543873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٢٠١٬٦٤٦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3323844" y="2029968"/>
            <a:ext cx="165415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٢٧٣٬٤٩١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2000524" y="2029968"/>
            <a:ext cx="132332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؜-٧١٬٨٤٥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566928" y="2029968"/>
            <a:ext cx="1433596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؜-٢٨٧٬٣٧٨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566928" y="2450592"/>
            <a:ext cx="11027664" cy="420624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947953" y="2450592"/>
            <a:ext cx="2646639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عمولة معيارية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7955463" y="2450592"/>
            <a:ext cx="99249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٧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6521867" y="2450592"/>
            <a:ext cx="1433596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١٨٫٦م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4977994" y="2450592"/>
            <a:ext cx="1543873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٤٨٩٬٦٥٤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3323844" y="2450592"/>
            <a:ext cx="165415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٤٩٠٬٩٧٩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2000524" y="2450592"/>
            <a:ext cx="132332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؜-١٬٣٢٥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566928" y="2450592"/>
            <a:ext cx="1433596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؜-٥٬٣٠٠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566928" y="2871216"/>
            <a:ext cx="11027664" cy="420624"/>
          </a:xfrm>
          <a:prstGeom prst="rect">
            <a:avLst/>
          </a:prstGeom>
          <a:solidFill>
            <a:srgbClr val="D6E9E1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8947953" y="2871216"/>
            <a:ext cx="2646639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عمولة أعلى من المعياري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7955463" y="2871216"/>
            <a:ext cx="99249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6521867" y="2871216"/>
            <a:ext cx="1433596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٤٫٧م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4977994" y="2871216"/>
            <a:ext cx="1543873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٢٤٠٬٦٩٤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3323844" y="2871216"/>
            <a:ext cx="165415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١١٧٬١٤٨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2000524" y="2871216"/>
            <a:ext cx="132332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+١٢٣٬٥٤٦</a:t>
            </a:r>
            <a:endParaRPr lang="en-US" sz="1100" dirty="0"/>
          </a:p>
        </p:txBody>
      </p:sp>
      <p:sp>
        <p:nvSpPr>
          <p:cNvPr id="47" name="Text 45"/>
          <p:cNvSpPr/>
          <p:nvPr/>
        </p:nvSpPr>
        <p:spPr>
          <a:xfrm>
            <a:off x="566928" y="2871216"/>
            <a:ext cx="1433596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+٤٩٤٬١٨٢</a:t>
            </a:r>
            <a:endParaRPr lang="en-US" sz="1100" dirty="0"/>
          </a:p>
        </p:txBody>
      </p:sp>
      <p:sp>
        <p:nvSpPr>
          <p:cNvPr id="48" name="Shape 46"/>
          <p:cNvSpPr/>
          <p:nvPr/>
        </p:nvSpPr>
        <p:spPr>
          <a:xfrm>
            <a:off x="566928" y="3291840"/>
            <a:ext cx="11027664" cy="420624"/>
          </a:xfrm>
          <a:prstGeom prst="rect">
            <a:avLst/>
          </a:prstGeom>
          <a:solidFill>
            <a:srgbClr val="EDE7DE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8947953" y="3291840"/>
            <a:ext cx="2646639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الإجمالي</a:t>
            </a:r>
            <a:endParaRPr lang="en-US" sz="1100" dirty="0"/>
          </a:p>
        </p:txBody>
      </p:sp>
      <p:sp>
        <p:nvSpPr>
          <p:cNvPr id="50" name="Text 48"/>
          <p:cNvSpPr/>
          <p:nvPr/>
        </p:nvSpPr>
        <p:spPr>
          <a:xfrm>
            <a:off x="7955463" y="3291840"/>
            <a:ext cx="99249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٢٦</a:t>
            </a:r>
            <a:endParaRPr lang="en-US" sz="1100" dirty="0"/>
          </a:p>
        </p:txBody>
      </p:sp>
      <p:sp>
        <p:nvSpPr>
          <p:cNvPr id="51" name="Text 49"/>
          <p:cNvSpPr/>
          <p:nvPr/>
        </p:nvSpPr>
        <p:spPr>
          <a:xfrm>
            <a:off x="6521867" y="3291840"/>
            <a:ext cx="1433596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٥٦٫٤م</a:t>
            </a:r>
            <a:endParaRPr lang="en-US" sz="1100" dirty="0"/>
          </a:p>
        </p:txBody>
      </p:sp>
      <p:sp>
        <p:nvSpPr>
          <p:cNvPr id="52" name="Text 50"/>
          <p:cNvSpPr/>
          <p:nvPr/>
        </p:nvSpPr>
        <p:spPr>
          <a:xfrm>
            <a:off x="4977994" y="3291840"/>
            <a:ext cx="1543873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١٬٢٠٨٬٤٧٠</a:t>
            </a:r>
            <a:endParaRPr lang="en-US" sz="1100" dirty="0"/>
          </a:p>
        </p:txBody>
      </p:sp>
      <p:sp>
        <p:nvSpPr>
          <p:cNvPr id="53" name="Text 51"/>
          <p:cNvSpPr/>
          <p:nvPr/>
        </p:nvSpPr>
        <p:spPr>
          <a:xfrm>
            <a:off x="3323844" y="3291840"/>
            <a:ext cx="165415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١٬٤٩١٬٦٨٨</a:t>
            </a:r>
            <a:endParaRPr lang="en-US" sz="1100" dirty="0"/>
          </a:p>
        </p:txBody>
      </p:sp>
      <p:sp>
        <p:nvSpPr>
          <p:cNvPr id="54" name="Text 52"/>
          <p:cNvSpPr/>
          <p:nvPr/>
        </p:nvSpPr>
        <p:spPr>
          <a:xfrm>
            <a:off x="2000524" y="3291840"/>
            <a:ext cx="132332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؜-٢٨٣٬٢١٨</a:t>
            </a:r>
            <a:endParaRPr lang="en-US" sz="1100" dirty="0"/>
          </a:p>
        </p:txBody>
      </p:sp>
      <p:sp>
        <p:nvSpPr>
          <p:cNvPr id="55" name="Text 53"/>
          <p:cNvSpPr/>
          <p:nvPr/>
        </p:nvSpPr>
        <p:spPr>
          <a:xfrm>
            <a:off x="566928" y="3291840"/>
            <a:ext cx="1433596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؜-١٬١٣٢٬٨٧٢</a:t>
            </a:r>
            <a:endParaRPr lang="en-US" sz="1100" dirty="0"/>
          </a:p>
        </p:txBody>
      </p:sp>
      <p:sp>
        <p:nvSpPr>
          <p:cNvPr id="56" name="Text 54"/>
          <p:cNvSpPr/>
          <p:nvPr/>
        </p:nvSpPr>
        <p:spPr>
          <a:xfrm>
            <a:off x="566928" y="3803904"/>
            <a:ext cx="110276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لماذا تخسر النسبة الثابتة — الدليل من محطة واحدة</a:t>
            </a:r>
            <a:endParaRPr lang="en-US" sz="1350" dirty="0"/>
          </a:p>
        </p:txBody>
      </p:sp>
      <p:sp>
        <p:nvSpPr>
          <p:cNvPr id="57" name="Shape 55"/>
          <p:cNvSpPr/>
          <p:nvPr/>
        </p:nvSpPr>
        <p:spPr>
          <a:xfrm>
            <a:off x="8040624" y="4114800"/>
            <a:ext cx="3553968" cy="1280160"/>
          </a:xfrm>
          <a:prstGeom prst="roundRect">
            <a:avLst>
              <a:gd name="adj" fmla="val 3571"/>
            </a:avLst>
          </a:prstGeom>
          <a:solidFill>
            <a:srgbClr val="F2DAD4"/>
          </a:solidFill>
          <a:ln w="15240">
            <a:solidFill>
              <a:srgbClr val="C0503A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8168640" y="4187952"/>
            <a:ext cx="329793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بريدة القصيم</a:t>
            </a:r>
            <a:endParaRPr lang="en-US" sz="1350" dirty="0"/>
          </a:p>
        </p:txBody>
      </p:sp>
      <p:sp>
        <p:nvSpPr>
          <p:cNvPr id="59" name="Text 57"/>
          <p:cNvSpPr/>
          <p:nvPr/>
        </p:nvSpPr>
        <p:spPr>
          <a:xfrm>
            <a:off x="8168640" y="4462272"/>
            <a:ext cx="329793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النسبة الثابتة</a:t>
            </a:r>
            <a:endParaRPr lang="en-US" sz="1000" dirty="0"/>
          </a:p>
        </p:txBody>
      </p:sp>
      <p:sp>
        <p:nvSpPr>
          <p:cNvPr id="60" name="Text 58"/>
          <p:cNvSpPr/>
          <p:nvPr/>
        </p:nvSpPr>
        <p:spPr>
          <a:xfrm>
            <a:off x="8168640" y="4700016"/>
            <a:ext cx="329793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الكميات +٣٫٤٪ · وحصة درب −٥٥٪. المصاريف قفزت ٤١٪ وأبرزها الكهرباء من ٣٬٨٠٠ إلى ٢٣٬٥٠٠ — فدفعنا فاتورة المالك.</a:t>
            </a:r>
            <a:endParaRPr lang="en-US" sz="1100" dirty="0"/>
          </a:p>
        </p:txBody>
      </p:sp>
      <p:sp>
        <p:nvSpPr>
          <p:cNvPr id="61" name="Shape 59"/>
          <p:cNvSpPr/>
          <p:nvPr/>
        </p:nvSpPr>
        <p:spPr>
          <a:xfrm>
            <a:off x="4303776" y="4114800"/>
            <a:ext cx="3553968" cy="1280160"/>
          </a:xfrm>
          <a:prstGeom prst="roundRect">
            <a:avLst>
              <a:gd name="adj" fmla="val 3571"/>
            </a:avLst>
          </a:prstGeom>
          <a:solidFill>
            <a:srgbClr val="F7F4EF"/>
          </a:solidFill>
          <a:ln w="15240">
            <a:solidFill>
              <a:srgbClr val="F7A94B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4431792" y="4187952"/>
            <a:ext cx="329793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A8681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حائل العريفي</a:t>
            </a:r>
            <a:endParaRPr lang="en-US" sz="1350" dirty="0"/>
          </a:p>
        </p:txBody>
      </p:sp>
      <p:sp>
        <p:nvSpPr>
          <p:cNvPr id="63" name="Text 61"/>
          <p:cNvSpPr/>
          <p:nvPr/>
        </p:nvSpPr>
        <p:spPr>
          <a:xfrm>
            <a:off x="4431792" y="4462272"/>
            <a:ext cx="329793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العمولة المعيارية</a:t>
            </a:r>
            <a:endParaRPr lang="en-US" sz="1000" dirty="0"/>
          </a:p>
        </p:txBody>
      </p:sp>
      <p:sp>
        <p:nvSpPr>
          <p:cNvPr id="64" name="Text 62"/>
          <p:cNvSpPr/>
          <p:nvPr/>
        </p:nvSpPr>
        <p:spPr>
          <a:xfrm>
            <a:off x="4431792" y="4700016"/>
            <a:ext cx="329793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العمولة ٢٠٬٤١١ تتجاوز الربح التشغيلي ٦٬٥٢١ — فصافي المالك سالب في الربعين. عقد غير مستدام.</a:t>
            </a:r>
            <a:endParaRPr lang="en-US" sz="1100" dirty="0"/>
          </a:p>
        </p:txBody>
      </p:sp>
      <p:sp>
        <p:nvSpPr>
          <p:cNvPr id="65" name="Shape 63"/>
          <p:cNvSpPr/>
          <p:nvPr/>
        </p:nvSpPr>
        <p:spPr>
          <a:xfrm>
            <a:off x="566928" y="4114800"/>
            <a:ext cx="3553968" cy="1280160"/>
          </a:xfrm>
          <a:prstGeom prst="roundRect">
            <a:avLst>
              <a:gd name="adj" fmla="val 3571"/>
            </a:avLst>
          </a:prstGeom>
          <a:solidFill>
            <a:srgbClr val="F2DAD4"/>
          </a:solidFill>
          <a:ln w="15240">
            <a:solidFill>
              <a:srgbClr val="C0503A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694944" y="4187952"/>
            <a:ext cx="329793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الذكرى الخالدة</a:t>
            </a:r>
            <a:endParaRPr lang="en-US" sz="1350" dirty="0"/>
          </a:p>
        </p:txBody>
      </p:sp>
      <p:sp>
        <p:nvSpPr>
          <p:cNvPr id="67" name="Text 65"/>
          <p:cNvSpPr/>
          <p:nvPr/>
        </p:nvSpPr>
        <p:spPr>
          <a:xfrm>
            <a:off x="694944" y="4462272"/>
            <a:ext cx="329793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عمولة ٠٫٠١٥ / ٠٫٠٠٥</a:t>
            </a:r>
            <a:endParaRPr lang="en-US" sz="1000" dirty="0"/>
          </a:p>
        </p:txBody>
      </p:sp>
      <p:sp>
        <p:nvSpPr>
          <p:cNvPr id="68" name="Text 66"/>
          <p:cNvSpPr/>
          <p:nvPr/>
        </p:nvSpPr>
        <p:spPr>
          <a:xfrm>
            <a:off x="694944" y="4700016"/>
            <a:ext cx="329793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نصف المعياري على ٣٫٨٦ مليون لتر — أكبر محطة بأدنى عمولة في الشبكة. ٢١٩٬٤٨٥ ريالاً سنوياً.</a:t>
            </a:r>
            <a:endParaRPr lang="en-US" sz="1100" dirty="0"/>
          </a:p>
        </p:txBody>
      </p:sp>
      <p:sp>
        <p:nvSpPr>
          <p:cNvPr id="69" name="Shape 67"/>
          <p:cNvSpPr/>
          <p:nvPr/>
        </p:nvSpPr>
        <p:spPr>
          <a:xfrm>
            <a:off x="566928" y="5504688"/>
            <a:ext cx="11027664" cy="512064"/>
          </a:xfrm>
          <a:prstGeom prst="roundRect">
            <a:avLst>
              <a:gd name="adj" fmla="val 7143"/>
            </a:avLst>
          </a:prstGeom>
          <a:solidFill>
            <a:srgbClr val="F5831F"/>
          </a:solidFill>
          <a:ln/>
        </p:spPr>
      </p:sp>
      <p:sp>
        <p:nvSpPr>
          <p:cNvPr id="70" name="Text 68"/>
          <p:cNvSpPr/>
          <p:nvPr/>
        </p:nvSpPr>
        <p:spPr>
          <a:xfrm>
            <a:off x="749808" y="5550408"/>
            <a:ext cx="1066190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حصة درب الحقيقية ١٬٢٠٨٬٤٧٠ ريالاً (٣٥٫٤٪) لا ٩٦٧٬٧٧٧ (٢٨٫٣٪) — لأن عمولة ثلاث محطات مقيَّدة تحت «نسبة المالك»</a:t>
            </a:r>
            <a:endParaRPr lang="en-US" sz="1250" dirty="0"/>
          </a:p>
        </p:txBody>
      </p:sp>
      <p:sp>
        <p:nvSpPr>
          <p:cNvPr id="71" name="Text 69"/>
          <p:cNvSpPr/>
          <p:nvPr/>
        </p:nvSpPr>
        <p:spPr>
          <a:xfrm>
            <a:off x="566928" y="6144768"/>
            <a:ext cx="110276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95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المقارنة بالعمولة المعيارية ٠٫٠٣ بنزين و٠٫٠١٥ ديزل · وحصص الديزل من بيانات نقاط البيع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74320"/>
            <a:ext cx="10113264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من يشتري منّا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01132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أربعة عملاء داخل نفس المحطة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133856"/>
            <a:ext cx="1102766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64373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 · الإدارة التجارية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45952" y="6437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7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8974836" y="1243584"/>
            <a:ext cx="2619756" cy="2468880"/>
          </a:xfrm>
          <a:prstGeom prst="roundRect">
            <a:avLst>
              <a:gd name="adj" fmla="val 1852"/>
            </a:avLst>
          </a:prstGeom>
          <a:solidFill>
            <a:srgbClr val="FFFFF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974836" y="1243584"/>
            <a:ext cx="2619756" cy="493776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10" name="Text 8"/>
          <p:cNvSpPr/>
          <p:nvPr/>
        </p:nvSpPr>
        <p:spPr>
          <a:xfrm>
            <a:off x="9047988" y="1298448"/>
            <a:ext cx="24734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أفراد ٩١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9066276" y="1828800"/>
            <a:ext cx="24368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٥٥٫٥٪ من المعاملات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9066276" y="2139696"/>
            <a:ext cx="24368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٤٥٫١ ريالاً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9066276" y="2560320"/>
            <a:ext cx="24368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قيمة المعاملة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9084564" y="2871216"/>
            <a:ext cx="24003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الأكبر عدداً والأصغر سلة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172200" y="1243584"/>
            <a:ext cx="2619756" cy="2468880"/>
          </a:xfrm>
          <a:prstGeom prst="roundRect">
            <a:avLst>
              <a:gd name="adj" fmla="val 1852"/>
            </a:avLst>
          </a:prstGeom>
          <a:solidFill>
            <a:srgbClr val="FFFFF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172200" y="1243584"/>
            <a:ext cx="2619756" cy="493776"/>
          </a:xfrm>
          <a:prstGeom prst="rect">
            <a:avLst/>
          </a:prstGeom>
          <a:solidFill>
            <a:srgbClr val="F7A94B"/>
          </a:solidFill>
          <a:ln/>
        </p:spPr>
      </p:sp>
      <p:sp>
        <p:nvSpPr>
          <p:cNvPr id="17" name="Text 15"/>
          <p:cNvSpPr/>
          <p:nvPr/>
        </p:nvSpPr>
        <p:spPr>
          <a:xfrm>
            <a:off x="6245352" y="1298448"/>
            <a:ext cx="24734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أفراد ٩٥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263640" y="1828800"/>
            <a:ext cx="24368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٣٦٫٠٪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6263640" y="2139696"/>
            <a:ext cx="24368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7A94B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٥٩٫٥ ريالاً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6263640" y="2560320"/>
            <a:ext cx="24368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قيمة المعاملة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6281928" y="2871216"/>
            <a:ext cx="24003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قدرة إنفاق أعلى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369564" y="1243584"/>
            <a:ext cx="2619756" cy="2468880"/>
          </a:xfrm>
          <a:prstGeom prst="roundRect">
            <a:avLst>
              <a:gd name="adj" fmla="val 1852"/>
            </a:avLst>
          </a:prstGeom>
          <a:solidFill>
            <a:srgbClr val="FFFFF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369564" y="1243584"/>
            <a:ext cx="2619756" cy="493776"/>
          </a:xfrm>
          <a:prstGeom prst="rect">
            <a:avLst/>
          </a:prstGeom>
          <a:solidFill>
            <a:srgbClr val="3E6E8E"/>
          </a:solidFill>
          <a:ln/>
        </p:spPr>
      </p:sp>
      <p:sp>
        <p:nvSpPr>
          <p:cNvPr id="24" name="Text 22"/>
          <p:cNvSpPr/>
          <p:nvPr/>
        </p:nvSpPr>
        <p:spPr>
          <a:xfrm>
            <a:off x="3442716" y="1298448"/>
            <a:ext cx="24734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أساطيل الديزل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3461004" y="1828800"/>
            <a:ext cx="24368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٨٫٥٪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3461004" y="2139696"/>
            <a:ext cx="24368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E6E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١٢٦٫٣ ريالاً</a:t>
            </a:r>
            <a:endParaRPr lang="en-US" sz="2000" dirty="0"/>
          </a:p>
        </p:txBody>
      </p:sp>
      <p:sp>
        <p:nvSpPr>
          <p:cNvPr id="27" name="Text 25"/>
          <p:cNvSpPr/>
          <p:nvPr/>
        </p:nvSpPr>
        <p:spPr>
          <a:xfrm>
            <a:off x="3461004" y="2560320"/>
            <a:ext cx="24368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قيمة المعاملة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3479292" y="2871216"/>
            <a:ext cx="24003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١٩٪ من الإيراد — بالتعاقد لا بالحملة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566928" y="1243584"/>
            <a:ext cx="2619756" cy="2468880"/>
          </a:xfrm>
          <a:prstGeom prst="roundRect">
            <a:avLst>
              <a:gd name="adj" fmla="val 1852"/>
            </a:avLst>
          </a:prstGeom>
          <a:solidFill>
            <a:srgbClr val="FFFFF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66928" y="1243584"/>
            <a:ext cx="2619756" cy="493776"/>
          </a:xfrm>
          <a:prstGeom prst="rect">
            <a:avLst/>
          </a:prstGeom>
          <a:solidFill>
            <a:srgbClr val="2E8B6F"/>
          </a:solidFill>
          <a:ln/>
        </p:spPr>
      </p:sp>
      <p:sp>
        <p:nvSpPr>
          <p:cNvPr id="31" name="Text 29"/>
          <p:cNvSpPr/>
          <p:nvPr/>
        </p:nvSpPr>
        <p:spPr>
          <a:xfrm>
            <a:off x="640080" y="1298448"/>
            <a:ext cx="24734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أساطيل رقمية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658368" y="1828800"/>
            <a:ext cx="24368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٠٫٧٪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658368" y="2139696"/>
            <a:ext cx="24368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E8B6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١٤٩–١٧٢ ريالاً</a:t>
            </a:r>
            <a:endParaRPr lang="en-US" sz="2000" dirty="0"/>
          </a:p>
        </p:txBody>
      </p:sp>
      <p:sp>
        <p:nvSpPr>
          <p:cNvPr id="34" name="Text 32"/>
          <p:cNvSpPr/>
          <p:nvPr/>
        </p:nvSpPr>
        <p:spPr>
          <a:xfrm>
            <a:off x="658368" y="2560320"/>
            <a:ext cx="24368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قيمة المعاملة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676656" y="2871216"/>
            <a:ext cx="24003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أعلى فاتورة وأقل حصة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566928" y="3931920"/>
            <a:ext cx="11027664" cy="1188720"/>
          </a:xfrm>
          <a:prstGeom prst="roundRect">
            <a:avLst>
              <a:gd name="adj" fmla="val 3846"/>
            </a:avLst>
          </a:prstGeom>
          <a:solidFill>
            <a:srgbClr val="F2DAD4"/>
          </a:solidFill>
          <a:ln w="15240">
            <a:solidFill>
              <a:srgbClr val="C0503A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49808" y="4041648"/>
            <a:ext cx="1066190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٣٦٪ من الإيراد بلا هوية عميل</a:t>
            </a:r>
            <a:endParaRPr lang="en-US" sz="1500" dirty="0"/>
          </a:p>
        </p:txBody>
      </p:sp>
      <p:sp>
        <p:nvSpPr>
          <p:cNvPr id="38" name="Text 36"/>
          <p:cNvSpPr/>
          <p:nvPr/>
        </p:nvSpPr>
        <p:spPr>
          <a:xfrm>
            <a:off x="749808" y="4389120"/>
            <a:ext cx="1066190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٢٢٦ مليون ريال «وسيلة دفع غير محددة» · ١٨ محطة لا تسجّلها إطلاقاً بإيراد ١٨٣ مليوناً · التفعيل يسبق الإنفاق</a:t>
            </a:r>
            <a:endParaRPr lang="en-US" sz="1250" dirty="0"/>
          </a:p>
        </p:txBody>
      </p:sp>
      <p:sp>
        <p:nvSpPr>
          <p:cNvPr id="39" name="Text 37"/>
          <p:cNvSpPr/>
          <p:nvPr/>
        </p:nvSpPr>
        <p:spPr>
          <a:xfrm>
            <a:off x="566928" y="6144768"/>
            <a:ext cx="110276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95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محفظة كاش إن: ٣١٨ ريالاً و٨ عمليات في سبعة أشهر — قناة غير مفعّلة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74320"/>
            <a:ext cx="10113264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وقود الشركات — خطة التعاقد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01132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لكل محطة قائمة صيد · وعملتان للدفع: هللة أو خدمة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133856"/>
            <a:ext cx="1102766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64373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 · الإدارة التجارية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45952" y="6437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8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66928" y="1207008"/>
            <a:ext cx="11027664" cy="512064"/>
          </a:xfrm>
          <a:prstGeom prst="roundRect">
            <a:avLst>
              <a:gd name="adj" fmla="val 7143"/>
            </a:avLst>
          </a:prstGeom>
          <a:solidFill>
            <a:srgbClr val="55565A"/>
          </a:solidFill>
          <a:ln/>
        </p:spPr>
      </p:sp>
      <p:sp>
        <p:nvSpPr>
          <p:cNvPr id="9" name="Text 7"/>
          <p:cNvSpPr/>
          <p:nvPr/>
        </p:nvSpPr>
        <p:spPr>
          <a:xfrm>
            <a:off x="749808" y="1252728"/>
            <a:ext cx="1066190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٨١ مليون ريال ديزل يُشترى نقداً أو بالبطاقة — ٤٥٫٢ مليون لتر بلا تعاقد · هامشها ٥٬١٦٩٬٠٦٠ ريال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66928" y="1883664"/>
            <a:ext cx="61754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① قائمة الصيد — أعلى ١٠ محطات ديزلاً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566928" y="2176272"/>
            <a:ext cx="6175492" cy="36576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12" name="Text 10"/>
          <p:cNvSpPr/>
          <p:nvPr/>
        </p:nvSpPr>
        <p:spPr>
          <a:xfrm>
            <a:off x="5198547" y="2176272"/>
            <a:ext cx="1543873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المحطة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4545370" y="2176272"/>
            <a:ext cx="653177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الكود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3654674" y="2176272"/>
            <a:ext cx="890696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ديزل لتر/يوم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3060877" y="2176272"/>
            <a:ext cx="593797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حصته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2288940" y="2176272"/>
            <a:ext cx="771936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الدفع المؤسسي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1576383" y="2176272"/>
            <a:ext cx="712557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وحدات خدمة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566928" y="2176272"/>
            <a:ext cx="1009455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العملة الممكنة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566928" y="2542032"/>
            <a:ext cx="6175492" cy="306324"/>
          </a:xfrm>
          <a:prstGeom prst="rect">
            <a:avLst/>
          </a:prstGeom>
          <a:solidFill>
            <a:srgbClr val="F2DAD4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198547" y="2542032"/>
            <a:ext cx="1543873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طريق الليث - الفضيل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4545370" y="2542032"/>
            <a:ext cx="65317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MK289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3654674" y="2542032"/>
            <a:ext cx="890696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٥٩٬٨٢٦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3060877" y="2542032"/>
            <a:ext cx="59379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٧٠٪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2288940" y="2542032"/>
            <a:ext cx="771936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٧٫٨٪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1576383" y="2542032"/>
            <a:ext cx="71255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لا يوجد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566928" y="2542032"/>
            <a:ext cx="1009455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هللة فقط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566928" y="2848356"/>
            <a:ext cx="6175492" cy="306324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198547" y="2848356"/>
            <a:ext cx="1543873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العمرة الجديدة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4545370" y="2848356"/>
            <a:ext cx="65317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MK007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3654674" y="2848356"/>
            <a:ext cx="890696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٤٢٬٨٧٩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3060877" y="2848356"/>
            <a:ext cx="59379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٣٣٪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2288940" y="2848356"/>
            <a:ext cx="771936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٥٫٣٪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1576383" y="2848356"/>
            <a:ext cx="71255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566928" y="2848356"/>
            <a:ext cx="1009455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خدمات + هللة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566928" y="3154680"/>
            <a:ext cx="6175492" cy="306324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198547" y="3154680"/>
            <a:ext cx="1543873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عاصفة الصحراء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4545370" y="3154680"/>
            <a:ext cx="65317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MK004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3654674" y="3154680"/>
            <a:ext cx="890696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٣٤٬١١٤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3060877" y="3154680"/>
            <a:ext cx="59379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٤٠٪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2288940" y="3154680"/>
            <a:ext cx="771936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١٠٫٥٪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1576383" y="3154680"/>
            <a:ext cx="71255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566928" y="3154680"/>
            <a:ext cx="1009455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خدمات + هللة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566928" y="3461004"/>
            <a:ext cx="6175492" cy="306324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198547" y="3461004"/>
            <a:ext cx="1543873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أبو وافي العمرة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4545370" y="3461004"/>
            <a:ext cx="65317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MK033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3654674" y="3461004"/>
            <a:ext cx="890696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٢٢٬١٢٩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3060877" y="3461004"/>
            <a:ext cx="59379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٥١٪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2288940" y="3461004"/>
            <a:ext cx="771936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٧٫٩٪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1576383" y="3461004"/>
            <a:ext cx="71255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566928" y="3461004"/>
            <a:ext cx="1009455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خدمات + هللة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566928" y="3767328"/>
            <a:ext cx="6175492" cy="306324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5198547" y="3767328"/>
            <a:ext cx="1543873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الحليس - طريق الجنو</a:t>
            </a:r>
            <a:endParaRPr lang="en-US" sz="1000" dirty="0"/>
          </a:p>
        </p:txBody>
      </p:sp>
      <p:sp>
        <p:nvSpPr>
          <p:cNvPr id="53" name="Text 51"/>
          <p:cNvSpPr/>
          <p:nvPr/>
        </p:nvSpPr>
        <p:spPr>
          <a:xfrm>
            <a:off x="4545370" y="3767328"/>
            <a:ext cx="65317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MK046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3654674" y="3767328"/>
            <a:ext cx="890696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١٩٬٥٢٧</a:t>
            </a:r>
            <a:endParaRPr lang="en-US" sz="1000" dirty="0"/>
          </a:p>
        </p:txBody>
      </p:sp>
      <p:sp>
        <p:nvSpPr>
          <p:cNvPr id="55" name="Text 53"/>
          <p:cNvSpPr/>
          <p:nvPr/>
        </p:nvSpPr>
        <p:spPr>
          <a:xfrm>
            <a:off x="3060877" y="3767328"/>
            <a:ext cx="59379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٣٣٪</a:t>
            </a:r>
            <a:endParaRPr lang="en-US" sz="1000" dirty="0"/>
          </a:p>
        </p:txBody>
      </p:sp>
      <p:sp>
        <p:nvSpPr>
          <p:cNvPr id="56" name="Text 54"/>
          <p:cNvSpPr/>
          <p:nvPr/>
        </p:nvSpPr>
        <p:spPr>
          <a:xfrm>
            <a:off x="2288940" y="3767328"/>
            <a:ext cx="771936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٦٫٠٪</a:t>
            </a:r>
            <a:endParaRPr lang="en-US" sz="1000" dirty="0"/>
          </a:p>
        </p:txBody>
      </p:sp>
      <p:sp>
        <p:nvSpPr>
          <p:cNvPr id="57" name="Text 55"/>
          <p:cNvSpPr/>
          <p:nvPr/>
        </p:nvSpPr>
        <p:spPr>
          <a:xfrm>
            <a:off x="1576383" y="3767328"/>
            <a:ext cx="71255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</a:t>
            </a:r>
            <a:endParaRPr lang="en-US" sz="1000" dirty="0"/>
          </a:p>
        </p:txBody>
      </p:sp>
      <p:sp>
        <p:nvSpPr>
          <p:cNvPr id="58" name="Text 56"/>
          <p:cNvSpPr/>
          <p:nvPr/>
        </p:nvSpPr>
        <p:spPr>
          <a:xfrm>
            <a:off x="566928" y="3767328"/>
            <a:ext cx="1009455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خدمات + هللة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566928" y="4073652"/>
            <a:ext cx="6175492" cy="306324"/>
          </a:xfrm>
          <a:prstGeom prst="rect">
            <a:avLst/>
          </a:prstGeom>
          <a:solidFill>
            <a:srgbClr val="F2DAD4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5198547" y="4073652"/>
            <a:ext cx="1543873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القادسية</a:t>
            </a:r>
            <a:endParaRPr lang="en-US" sz="1000" dirty="0"/>
          </a:p>
        </p:txBody>
      </p:sp>
      <p:sp>
        <p:nvSpPr>
          <p:cNvPr id="61" name="Text 59"/>
          <p:cNvSpPr/>
          <p:nvPr/>
        </p:nvSpPr>
        <p:spPr>
          <a:xfrm>
            <a:off x="4545370" y="4073652"/>
            <a:ext cx="65317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MK047</a:t>
            </a:r>
            <a:endParaRPr lang="en-US" sz="1000" dirty="0"/>
          </a:p>
        </p:txBody>
      </p:sp>
      <p:sp>
        <p:nvSpPr>
          <p:cNvPr id="62" name="Text 60"/>
          <p:cNvSpPr/>
          <p:nvPr/>
        </p:nvSpPr>
        <p:spPr>
          <a:xfrm>
            <a:off x="3654674" y="4073652"/>
            <a:ext cx="890696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١٥٬٥١٣</a:t>
            </a:r>
            <a:endParaRPr lang="en-US" sz="1000" dirty="0"/>
          </a:p>
        </p:txBody>
      </p:sp>
      <p:sp>
        <p:nvSpPr>
          <p:cNvPr id="63" name="Text 61"/>
          <p:cNvSpPr/>
          <p:nvPr/>
        </p:nvSpPr>
        <p:spPr>
          <a:xfrm>
            <a:off x="3060877" y="4073652"/>
            <a:ext cx="59379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٣٣٪</a:t>
            </a:r>
            <a:endParaRPr lang="en-US" sz="1000" dirty="0"/>
          </a:p>
        </p:txBody>
      </p:sp>
      <p:sp>
        <p:nvSpPr>
          <p:cNvPr id="64" name="Text 62"/>
          <p:cNvSpPr/>
          <p:nvPr/>
        </p:nvSpPr>
        <p:spPr>
          <a:xfrm>
            <a:off x="2288940" y="4073652"/>
            <a:ext cx="771936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٠٫٠٪</a:t>
            </a:r>
            <a:endParaRPr lang="en-US" sz="1000" dirty="0"/>
          </a:p>
        </p:txBody>
      </p:sp>
      <p:sp>
        <p:nvSpPr>
          <p:cNvPr id="65" name="Text 63"/>
          <p:cNvSpPr/>
          <p:nvPr/>
        </p:nvSpPr>
        <p:spPr>
          <a:xfrm>
            <a:off x="1576383" y="4073652"/>
            <a:ext cx="71255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لا يوجد</a:t>
            </a:r>
            <a:endParaRPr lang="en-US" sz="1000" dirty="0"/>
          </a:p>
        </p:txBody>
      </p:sp>
      <p:sp>
        <p:nvSpPr>
          <p:cNvPr id="66" name="Text 64"/>
          <p:cNvSpPr/>
          <p:nvPr/>
        </p:nvSpPr>
        <p:spPr>
          <a:xfrm>
            <a:off x="566928" y="4073652"/>
            <a:ext cx="1009455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هللة فقط</a:t>
            </a:r>
            <a:endParaRPr lang="en-US" sz="1000" dirty="0"/>
          </a:p>
        </p:txBody>
      </p:sp>
      <p:sp>
        <p:nvSpPr>
          <p:cNvPr id="67" name="Shape 65"/>
          <p:cNvSpPr/>
          <p:nvPr/>
        </p:nvSpPr>
        <p:spPr>
          <a:xfrm>
            <a:off x="566928" y="4379976"/>
            <a:ext cx="6175492" cy="306324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5198547" y="4379976"/>
            <a:ext cx="1543873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خليص</a:t>
            </a:r>
            <a:endParaRPr lang="en-US" sz="1000" dirty="0"/>
          </a:p>
        </p:txBody>
      </p:sp>
      <p:sp>
        <p:nvSpPr>
          <p:cNvPr id="69" name="Text 67"/>
          <p:cNvSpPr/>
          <p:nvPr/>
        </p:nvSpPr>
        <p:spPr>
          <a:xfrm>
            <a:off x="4545370" y="4379976"/>
            <a:ext cx="65317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MK014</a:t>
            </a:r>
            <a:endParaRPr lang="en-US" sz="1000" dirty="0"/>
          </a:p>
        </p:txBody>
      </p:sp>
      <p:sp>
        <p:nvSpPr>
          <p:cNvPr id="70" name="Text 68"/>
          <p:cNvSpPr/>
          <p:nvPr/>
        </p:nvSpPr>
        <p:spPr>
          <a:xfrm>
            <a:off x="3654674" y="4379976"/>
            <a:ext cx="890696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١٤٬٩٩٤</a:t>
            </a:r>
            <a:endParaRPr lang="en-US" sz="1000" dirty="0"/>
          </a:p>
        </p:txBody>
      </p:sp>
      <p:sp>
        <p:nvSpPr>
          <p:cNvPr id="71" name="Text 69"/>
          <p:cNvSpPr/>
          <p:nvPr/>
        </p:nvSpPr>
        <p:spPr>
          <a:xfrm>
            <a:off x="3060877" y="4379976"/>
            <a:ext cx="59379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٦٣٪</a:t>
            </a:r>
            <a:endParaRPr lang="en-US" sz="1000" dirty="0"/>
          </a:p>
        </p:txBody>
      </p:sp>
      <p:sp>
        <p:nvSpPr>
          <p:cNvPr id="72" name="Text 70"/>
          <p:cNvSpPr/>
          <p:nvPr/>
        </p:nvSpPr>
        <p:spPr>
          <a:xfrm>
            <a:off x="2288940" y="4379976"/>
            <a:ext cx="771936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٢٨٫٥٪</a:t>
            </a:r>
            <a:endParaRPr lang="en-US" sz="1000" dirty="0"/>
          </a:p>
        </p:txBody>
      </p:sp>
      <p:sp>
        <p:nvSpPr>
          <p:cNvPr id="73" name="Text 71"/>
          <p:cNvSpPr/>
          <p:nvPr/>
        </p:nvSpPr>
        <p:spPr>
          <a:xfrm>
            <a:off x="1576383" y="4379976"/>
            <a:ext cx="71255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</a:t>
            </a:r>
            <a:endParaRPr lang="en-US" sz="1000" dirty="0"/>
          </a:p>
        </p:txBody>
      </p:sp>
      <p:sp>
        <p:nvSpPr>
          <p:cNvPr id="74" name="Text 72"/>
          <p:cNvSpPr/>
          <p:nvPr/>
        </p:nvSpPr>
        <p:spPr>
          <a:xfrm>
            <a:off x="566928" y="4379976"/>
            <a:ext cx="1009455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خدمات + هللة</a:t>
            </a:r>
            <a:endParaRPr lang="en-US" sz="1000" dirty="0"/>
          </a:p>
        </p:txBody>
      </p:sp>
      <p:sp>
        <p:nvSpPr>
          <p:cNvPr id="75" name="Shape 73"/>
          <p:cNvSpPr/>
          <p:nvPr/>
        </p:nvSpPr>
        <p:spPr>
          <a:xfrm>
            <a:off x="566928" y="4686300"/>
            <a:ext cx="6175492" cy="306324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5198547" y="4686300"/>
            <a:ext cx="1543873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طريق السيل</a:t>
            </a:r>
            <a:endParaRPr lang="en-US" sz="1000" dirty="0"/>
          </a:p>
        </p:txBody>
      </p:sp>
      <p:sp>
        <p:nvSpPr>
          <p:cNvPr id="77" name="Text 75"/>
          <p:cNvSpPr/>
          <p:nvPr/>
        </p:nvSpPr>
        <p:spPr>
          <a:xfrm>
            <a:off x="4545370" y="4686300"/>
            <a:ext cx="65317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MK054</a:t>
            </a:r>
            <a:endParaRPr lang="en-US" sz="1000" dirty="0"/>
          </a:p>
        </p:txBody>
      </p:sp>
      <p:sp>
        <p:nvSpPr>
          <p:cNvPr id="78" name="Text 76"/>
          <p:cNvSpPr/>
          <p:nvPr/>
        </p:nvSpPr>
        <p:spPr>
          <a:xfrm>
            <a:off x="3654674" y="4686300"/>
            <a:ext cx="890696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١٣٬١٥٩</a:t>
            </a:r>
            <a:endParaRPr lang="en-US" sz="1000" dirty="0"/>
          </a:p>
        </p:txBody>
      </p:sp>
      <p:sp>
        <p:nvSpPr>
          <p:cNvPr id="79" name="Text 77"/>
          <p:cNvSpPr/>
          <p:nvPr/>
        </p:nvSpPr>
        <p:spPr>
          <a:xfrm>
            <a:off x="3060877" y="4686300"/>
            <a:ext cx="59379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٤٤٪</a:t>
            </a:r>
            <a:endParaRPr lang="en-US" sz="1000" dirty="0"/>
          </a:p>
        </p:txBody>
      </p:sp>
      <p:sp>
        <p:nvSpPr>
          <p:cNvPr id="80" name="Text 78"/>
          <p:cNvSpPr/>
          <p:nvPr/>
        </p:nvSpPr>
        <p:spPr>
          <a:xfrm>
            <a:off x="2288940" y="4686300"/>
            <a:ext cx="771936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١٠٫٨٪</a:t>
            </a:r>
            <a:endParaRPr lang="en-US" sz="1000" dirty="0"/>
          </a:p>
        </p:txBody>
      </p:sp>
      <p:sp>
        <p:nvSpPr>
          <p:cNvPr id="81" name="Text 79"/>
          <p:cNvSpPr/>
          <p:nvPr/>
        </p:nvSpPr>
        <p:spPr>
          <a:xfrm>
            <a:off x="1576383" y="4686300"/>
            <a:ext cx="71255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</a:t>
            </a:r>
            <a:endParaRPr lang="en-US" sz="1000" dirty="0"/>
          </a:p>
        </p:txBody>
      </p:sp>
      <p:sp>
        <p:nvSpPr>
          <p:cNvPr id="82" name="Text 80"/>
          <p:cNvSpPr/>
          <p:nvPr/>
        </p:nvSpPr>
        <p:spPr>
          <a:xfrm>
            <a:off x="566928" y="4686300"/>
            <a:ext cx="1009455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خدمات + هللة</a:t>
            </a:r>
            <a:endParaRPr lang="en-US" sz="1000" dirty="0"/>
          </a:p>
        </p:txBody>
      </p:sp>
      <p:sp>
        <p:nvSpPr>
          <p:cNvPr id="83" name="Shape 81"/>
          <p:cNvSpPr/>
          <p:nvPr/>
        </p:nvSpPr>
        <p:spPr>
          <a:xfrm>
            <a:off x="566928" y="4992624"/>
            <a:ext cx="6175492" cy="306324"/>
          </a:xfrm>
          <a:prstGeom prst="rect">
            <a:avLst/>
          </a:prstGeom>
          <a:solidFill>
            <a:srgbClr val="F2DAD4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5198547" y="4992624"/>
            <a:ext cx="1543873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الفلاح - فلسطين</a:t>
            </a:r>
            <a:endParaRPr lang="en-US" sz="1000" dirty="0"/>
          </a:p>
        </p:txBody>
      </p:sp>
      <p:sp>
        <p:nvSpPr>
          <p:cNvPr id="85" name="Text 83"/>
          <p:cNvSpPr/>
          <p:nvPr/>
        </p:nvSpPr>
        <p:spPr>
          <a:xfrm>
            <a:off x="4545370" y="4992624"/>
            <a:ext cx="65317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MK210</a:t>
            </a:r>
            <a:endParaRPr lang="en-US" sz="1000" dirty="0"/>
          </a:p>
        </p:txBody>
      </p:sp>
      <p:sp>
        <p:nvSpPr>
          <p:cNvPr id="86" name="Text 84"/>
          <p:cNvSpPr/>
          <p:nvPr/>
        </p:nvSpPr>
        <p:spPr>
          <a:xfrm>
            <a:off x="3654674" y="4992624"/>
            <a:ext cx="890696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١٢٬٤٣٨</a:t>
            </a:r>
            <a:endParaRPr lang="en-US" sz="1000" dirty="0"/>
          </a:p>
        </p:txBody>
      </p:sp>
      <p:sp>
        <p:nvSpPr>
          <p:cNvPr id="87" name="Text 85"/>
          <p:cNvSpPr/>
          <p:nvPr/>
        </p:nvSpPr>
        <p:spPr>
          <a:xfrm>
            <a:off x="3060877" y="4992624"/>
            <a:ext cx="59379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٣٨٪</a:t>
            </a:r>
            <a:endParaRPr lang="en-US" sz="1000" dirty="0"/>
          </a:p>
        </p:txBody>
      </p:sp>
      <p:sp>
        <p:nvSpPr>
          <p:cNvPr id="88" name="Text 86"/>
          <p:cNvSpPr/>
          <p:nvPr/>
        </p:nvSpPr>
        <p:spPr>
          <a:xfrm>
            <a:off x="2288940" y="4992624"/>
            <a:ext cx="771936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٠٫٠٪</a:t>
            </a:r>
            <a:endParaRPr lang="en-US" sz="1000" dirty="0"/>
          </a:p>
        </p:txBody>
      </p:sp>
      <p:sp>
        <p:nvSpPr>
          <p:cNvPr id="89" name="Text 87"/>
          <p:cNvSpPr/>
          <p:nvPr/>
        </p:nvSpPr>
        <p:spPr>
          <a:xfrm>
            <a:off x="1576383" y="4992624"/>
            <a:ext cx="71255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لا يوجد</a:t>
            </a:r>
            <a:endParaRPr lang="en-US" sz="1000" dirty="0"/>
          </a:p>
        </p:txBody>
      </p:sp>
      <p:sp>
        <p:nvSpPr>
          <p:cNvPr id="90" name="Text 88"/>
          <p:cNvSpPr/>
          <p:nvPr/>
        </p:nvSpPr>
        <p:spPr>
          <a:xfrm>
            <a:off x="566928" y="4992624"/>
            <a:ext cx="1009455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هللة فقط</a:t>
            </a:r>
            <a:endParaRPr lang="en-US" sz="1000" dirty="0"/>
          </a:p>
        </p:txBody>
      </p:sp>
      <p:sp>
        <p:nvSpPr>
          <p:cNvPr id="91" name="Shape 89"/>
          <p:cNvSpPr/>
          <p:nvPr/>
        </p:nvSpPr>
        <p:spPr>
          <a:xfrm>
            <a:off x="566928" y="5298948"/>
            <a:ext cx="6175492" cy="306324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5198547" y="5298948"/>
            <a:ext cx="1543873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الجعرانة</a:t>
            </a:r>
            <a:endParaRPr lang="en-US" sz="1000" dirty="0"/>
          </a:p>
        </p:txBody>
      </p:sp>
      <p:sp>
        <p:nvSpPr>
          <p:cNvPr id="93" name="Text 91"/>
          <p:cNvSpPr/>
          <p:nvPr/>
        </p:nvSpPr>
        <p:spPr>
          <a:xfrm>
            <a:off x="4545370" y="5298948"/>
            <a:ext cx="65317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MK064</a:t>
            </a:r>
            <a:endParaRPr lang="en-US" sz="1000" dirty="0"/>
          </a:p>
        </p:txBody>
      </p:sp>
      <p:sp>
        <p:nvSpPr>
          <p:cNvPr id="94" name="Text 92"/>
          <p:cNvSpPr/>
          <p:nvPr/>
        </p:nvSpPr>
        <p:spPr>
          <a:xfrm>
            <a:off x="3654674" y="5298948"/>
            <a:ext cx="890696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٩٬٠٤٩</a:t>
            </a:r>
            <a:endParaRPr lang="en-US" sz="1000" dirty="0"/>
          </a:p>
        </p:txBody>
      </p:sp>
      <p:sp>
        <p:nvSpPr>
          <p:cNvPr id="95" name="Text 93"/>
          <p:cNvSpPr/>
          <p:nvPr/>
        </p:nvSpPr>
        <p:spPr>
          <a:xfrm>
            <a:off x="3060877" y="5298948"/>
            <a:ext cx="59379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٣٣٪</a:t>
            </a:r>
            <a:endParaRPr lang="en-US" sz="1000" dirty="0"/>
          </a:p>
        </p:txBody>
      </p:sp>
      <p:sp>
        <p:nvSpPr>
          <p:cNvPr id="96" name="Text 94"/>
          <p:cNvSpPr/>
          <p:nvPr/>
        </p:nvSpPr>
        <p:spPr>
          <a:xfrm>
            <a:off x="2288940" y="5298948"/>
            <a:ext cx="771936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٩٫٣٪</a:t>
            </a:r>
            <a:endParaRPr lang="en-US" sz="1000" dirty="0"/>
          </a:p>
        </p:txBody>
      </p:sp>
      <p:sp>
        <p:nvSpPr>
          <p:cNvPr id="97" name="Text 95"/>
          <p:cNvSpPr/>
          <p:nvPr/>
        </p:nvSpPr>
        <p:spPr>
          <a:xfrm>
            <a:off x="1576383" y="5298948"/>
            <a:ext cx="71255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</a:t>
            </a:r>
            <a:endParaRPr lang="en-US" sz="1000" dirty="0"/>
          </a:p>
        </p:txBody>
      </p:sp>
      <p:sp>
        <p:nvSpPr>
          <p:cNvPr id="98" name="Text 96"/>
          <p:cNvSpPr/>
          <p:nvPr/>
        </p:nvSpPr>
        <p:spPr>
          <a:xfrm>
            <a:off x="566928" y="5298948"/>
            <a:ext cx="1009455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خدمات + هللة</a:t>
            </a:r>
            <a:endParaRPr lang="en-US" sz="1000" dirty="0"/>
          </a:p>
        </p:txBody>
      </p:sp>
      <p:sp>
        <p:nvSpPr>
          <p:cNvPr id="99" name="Text 97"/>
          <p:cNvSpPr/>
          <p:nvPr/>
        </p:nvSpPr>
        <p:spPr>
          <a:xfrm>
            <a:off x="7073250" y="1883664"/>
            <a:ext cx="452134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② بأي عملة ندفع</a:t>
            </a:r>
            <a:endParaRPr lang="en-US" sz="1350" dirty="0"/>
          </a:p>
        </p:txBody>
      </p:sp>
      <p:sp>
        <p:nvSpPr>
          <p:cNvPr id="100" name="Shape 98"/>
          <p:cNvSpPr/>
          <p:nvPr/>
        </p:nvSpPr>
        <p:spPr>
          <a:xfrm>
            <a:off x="7073250" y="2176272"/>
            <a:ext cx="4521342" cy="36576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101" name="Text 99"/>
          <p:cNvSpPr/>
          <p:nvPr/>
        </p:nvSpPr>
        <p:spPr>
          <a:xfrm>
            <a:off x="10057336" y="2176272"/>
            <a:ext cx="1537256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الخصم</a:t>
            </a:r>
            <a:endParaRPr lang="en-US" sz="1000" dirty="0"/>
          </a:p>
        </p:txBody>
      </p:sp>
      <p:sp>
        <p:nvSpPr>
          <p:cNvPr id="102" name="Text 100"/>
          <p:cNvSpPr/>
          <p:nvPr/>
        </p:nvSpPr>
        <p:spPr>
          <a:xfrm>
            <a:off x="8429652" y="2176272"/>
            <a:ext cx="1627683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يبقى من الصافي</a:t>
            </a:r>
            <a:endParaRPr lang="en-US" sz="1000" dirty="0"/>
          </a:p>
        </p:txBody>
      </p:sp>
      <p:sp>
        <p:nvSpPr>
          <p:cNvPr id="103" name="Text 101"/>
          <p:cNvSpPr/>
          <p:nvPr/>
        </p:nvSpPr>
        <p:spPr>
          <a:xfrm>
            <a:off x="7073250" y="2176272"/>
            <a:ext cx="1356403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ما نتنازل عنه</a:t>
            </a:r>
            <a:endParaRPr lang="en-US" sz="1000" dirty="0"/>
          </a:p>
        </p:txBody>
      </p:sp>
      <p:sp>
        <p:nvSpPr>
          <p:cNvPr id="104" name="Shape 102"/>
          <p:cNvSpPr/>
          <p:nvPr/>
        </p:nvSpPr>
        <p:spPr>
          <a:xfrm>
            <a:off x="7073250" y="2542032"/>
            <a:ext cx="4521342" cy="310896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105" name="Text 103"/>
          <p:cNvSpPr/>
          <p:nvPr/>
        </p:nvSpPr>
        <p:spPr>
          <a:xfrm>
            <a:off x="10057336" y="2542032"/>
            <a:ext cx="1537256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 هللة</a:t>
            </a:r>
            <a:endParaRPr lang="en-US" sz="1050" dirty="0"/>
          </a:p>
        </p:txBody>
      </p:sp>
      <p:sp>
        <p:nvSpPr>
          <p:cNvPr id="106" name="Text 104"/>
          <p:cNvSpPr/>
          <p:nvPr/>
        </p:nvSpPr>
        <p:spPr>
          <a:xfrm>
            <a:off x="8429652" y="2542032"/>
            <a:ext cx="1627683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٥٫٢٣ هللة</a:t>
            </a:r>
            <a:endParaRPr lang="en-US" sz="1050" dirty="0"/>
          </a:p>
        </p:txBody>
      </p:sp>
      <p:sp>
        <p:nvSpPr>
          <p:cNvPr id="107" name="Text 105"/>
          <p:cNvSpPr/>
          <p:nvPr/>
        </p:nvSpPr>
        <p:spPr>
          <a:xfrm>
            <a:off x="7073250" y="2542032"/>
            <a:ext cx="1356403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١٦٪</a:t>
            </a:r>
            <a:endParaRPr lang="en-US" sz="1050" dirty="0"/>
          </a:p>
        </p:txBody>
      </p:sp>
      <p:sp>
        <p:nvSpPr>
          <p:cNvPr id="108" name="Shape 106"/>
          <p:cNvSpPr/>
          <p:nvPr/>
        </p:nvSpPr>
        <p:spPr>
          <a:xfrm>
            <a:off x="7073250" y="2852928"/>
            <a:ext cx="4521342" cy="310896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109" name="Text 107"/>
          <p:cNvSpPr/>
          <p:nvPr/>
        </p:nvSpPr>
        <p:spPr>
          <a:xfrm>
            <a:off x="10057336" y="2852928"/>
            <a:ext cx="1537256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 هللة</a:t>
            </a:r>
            <a:endParaRPr lang="en-US" sz="1050" dirty="0"/>
          </a:p>
        </p:txBody>
      </p:sp>
      <p:sp>
        <p:nvSpPr>
          <p:cNvPr id="110" name="Text 108"/>
          <p:cNvSpPr/>
          <p:nvPr/>
        </p:nvSpPr>
        <p:spPr>
          <a:xfrm>
            <a:off x="8429652" y="2852928"/>
            <a:ext cx="1627683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٤٫٢٣ هللة</a:t>
            </a:r>
            <a:endParaRPr lang="en-US" sz="1050" dirty="0"/>
          </a:p>
        </p:txBody>
      </p:sp>
      <p:sp>
        <p:nvSpPr>
          <p:cNvPr id="111" name="Text 109"/>
          <p:cNvSpPr/>
          <p:nvPr/>
        </p:nvSpPr>
        <p:spPr>
          <a:xfrm>
            <a:off x="7073250" y="2852928"/>
            <a:ext cx="1356403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٣٢٪</a:t>
            </a:r>
            <a:endParaRPr lang="en-US" sz="1050" dirty="0"/>
          </a:p>
        </p:txBody>
      </p:sp>
      <p:sp>
        <p:nvSpPr>
          <p:cNvPr id="112" name="Shape 110"/>
          <p:cNvSpPr/>
          <p:nvPr/>
        </p:nvSpPr>
        <p:spPr>
          <a:xfrm>
            <a:off x="7073250" y="3163824"/>
            <a:ext cx="4521342" cy="310896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113" name="Text 111"/>
          <p:cNvSpPr/>
          <p:nvPr/>
        </p:nvSpPr>
        <p:spPr>
          <a:xfrm>
            <a:off x="10057336" y="3163824"/>
            <a:ext cx="1537256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 هللة</a:t>
            </a:r>
            <a:endParaRPr lang="en-US" sz="1050" dirty="0"/>
          </a:p>
        </p:txBody>
      </p:sp>
      <p:sp>
        <p:nvSpPr>
          <p:cNvPr id="114" name="Text 112"/>
          <p:cNvSpPr/>
          <p:nvPr/>
        </p:nvSpPr>
        <p:spPr>
          <a:xfrm>
            <a:off x="8429652" y="3163824"/>
            <a:ext cx="1627683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٣٫٢٣ هللة</a:t>
            </a:r>
            <a:endParaRPr lang="en-US" sz="1050" dirty="0"/>
          </a:p>
        </p:txBody>
      </p:sp>
      <p:sp>
        <p:nvSpPr>
          <p:cNvPr id="115" name="Text 113"/>
          <p:cNvSpPr/>
          <p:nvPr/>
        </p:nvSpPr>
        <p:spPr>
          <a:xfrm>
            <a:off x="7073250" y="3163824"/>
            <a:ext cx="1356403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٤٨٪</a:t>
            </a:r>
            <a:endParaRPr lang="en-US" sz="1050" dirty="0"/>
          </a:p>
        </p:txBody>
      </p:sp>
      <p:sp>
        <p:nvSpPr>
          <p:cNvPr id="116" name="Shape 114"/>
          <p:cNvSpPr/>
          <p:nvPr/>
        </p:nvSpPr>
        <p:spPr>
          <a:xfrm>
            <a:off x="7073250" y="3474720"/>
            <a:ext cx="4521342" cy="310896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117" name="Text 115"/>
          <p:cNvSpPr/>
          <p:nvPr/>
        </p:nvSpPr>
        <p:spPr>
          <a:xfrm>
            <a:off x="10057336" y="3474720"/>
            <a:ext cx="1537256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 هللة</a:t>
            </a:r>
            <a:endParaRPr lang="en-US" sz="1050" dirty="0"/>
          </a:p>
        </p:txBody>
      </p:sp>
      <p:sp>
        <p:nvSpPr>
          <p:cNvPr id="118" name="Text 116"/>
          <p:cNvSpPr/>
          <p:nvPr/>
        </p:nvSpPr>
        <p:spPr>
          <a:xfrm>
            <a:off x="8429652" y="3474720"/>
            <a:ext cx="1627683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١٫٢٣ هللة</a:t>
            </a:r>
            <a:endParaRPr lang="en-US" sz="1050" dirty="0"/>
          </a:p>
        </p:txBody>
      </p:sp>
      <p:sp>
        <p:nvSpPr>
          <p:cNvPr id="119" name="Text 117"/>
          <p:cNvSpPr/>
          <p:nvPr/>
        </p:nvSpPr>
        <p:spPr>
          <a:xfrm>
            <a:off x="7073250" y="3474720"/>
            <a:ext cx="1356403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٨٠٪</a:t>
            </a:r>
            <a:endParaRPr lang="en-US" sz="1050" dirty="0"/>
          </a:p>
        </p:txBody>
      </p:sp>
      <p:sp>
        <p:nvSpPr>
          <p:cNvPr id="120" name="Text 118"/>
          <p:cNvSpPr/>
          <p:nvPr/>
        </p:nvSpPr>
        <p:spPr>
          <a:xfrm>
            <a:off x="7073250" y="3785616"/>
            <a:ext cx="452134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أسطول نموذجي: ٢٠ شاحنة · ١٦٬٠٠٠ لتر شهرياً · صافيه لنا ١٬١٣٦ ريالاً</a:t>
            </a:r>
            <a:endParaRPr lang="en-US" sz="1050" dirty="0"/>
          </a:p>
        </p:txBody>
      </p:sp>
      <p:sp>
        <p:nvSpPr>
          <p:cNvPr id="121" name="Shape 119"/>
          <p:cNvSpPr/>
          <p:nvPr/>
        </p:nvSpPr>
        <p:spPr>
          <a:xfrm>
            <a:off x="9416217" y="4078224"/>
            <a:ext cx="2178375" cy="1389888"/>
          </a:xfrm>
          <a:prstGeom prst="roundRect">
            <a:avLst>
              <a:gd name="adj" fmla="val 3289"/>
            </a:avLst>
          </a:prstGeom>
          <a:solidFill>
            <a:srgbClr val="F7F4EF"/>
          </a:solidFill>
          <a:ln w="15240">
            <a:solidFill>
              <a:srgbClr val="55565A"/>
            </a:solidFill>
            <a:prstDash val="solid"/>
          </a:ln>
        </p:spPr>
      </p:sp>
      <p:sp>
        <p:nvSpPr>
          <p:cNvPr id="122" name="Text 120"/>
          <p:cNvSpPr/>
          <p:nvPr/>
        </p:nvSpPr>
        <p:spPr>
          <a:xfrm>
            <a:off x="9489369" y="4142232"/>
            <a:ext cx="203207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خصم ٢ هللة</a:t>
            </a:r>
            <a:endParaRPr lang="en-US" sz="1300" dirty="0"/>
          </a:p>
        </p:txBody>
      </p:sp>
      <p:sp>
        <p:nvSpPr>
          <p:cNvPr id="123" name="Text 121"/>
          <p:cNvSpPr/>
          <p:nvPr/>
        </p:nvSpPr>
        <p:spPr>
          <a:xfrm>
            <a:off x="9489369" y="4443984"/>
            <a:ext cx="2032071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كلفتها علينا</a:t>
            </a:r>
            <a:endParaRPr lang="en-US" sz="900" dirty="0"/>
          </a:p>
        </p:txBody>
      </p:sp>
      <p:sp>
        <p:nvSpPr>
          <p:cNvPr id="124" name="Text 122"/>
          <p:cNvSpPr/>
          <p:nvPr/>
        </p:nvSpPr>
        <p:spPr>
          <a:xfrm>
            <a:off x="9489369" y="4581144"/>
            <a:ext cx="2032071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٣٢٠ ر</a:t>
            </a:r>
            <a:endParaRPr lang="en-US" sz="1200" dirty="0"/>
          </a:p>
        </p:txBody>
      </p:sp>
      <p:sp>
        <p:nvSpPr>
          <p:cNvPr id="125" name="Text 123"/>
          <p:cNvSpPr/>
          <p:nvPr/>
        </p:nvSpPr>
        <p:spPr>
          <a:xfrm>
            <a:off x="9489369" y="4773168"/>
            <a:ext cx="2032071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قيمتها للعميل</a:t>
            </a:r>
            <a:endParaRPr lang="en-US" sz="900" dirty="0"/>
          </a:p>
        </p:txBody>
      </p:sp>
      <p:sp>
        <p:nvSpPr>
          <p:cNvPr id="126" name="Text 124"/>
          <p:cNvSpPr/>
          <p:nvPr/>
        </p:nvSpPr>
        <p:spPr>
          <a:xfrm>
            <a:off x="9489369" y="4910328"/>
            <a:ext cx="2032071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٣٢٠ ر</a:t>
            </a:r>
            <a:endParaRPr lang="en-US" sz="1200" dirty="0"/>
          </a:p>
        </p:txBody>
      </p:sp>
      <p:sp>
        <p:nvSpPr>
          <p:cNvPr id="127" name="Text 125"/>
          <p:cNvSpPr/>
          <p:nvPr/>
        </p:nvSpPr>
        <p:spPr>
          <a:xfrm>
            <a:off x="9489369" y="5102352"/>
            <a:ext cx="2032071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لكل ريال ننفقه</a:t>
            </a:r>
            <a:endParaRPr lang="en-US" sz="900" dirty="0"/>
          </a:p>
        </p:txBody>
      </p:sp>
      <p:sp>
        <p:nvSpPr>
          <p:cNvPr id="128" name="Text 126"/>
          <p:cNvSpPr/>
          <p:nvPr/>
        </p:nvSpPr>
        <p:spPr>
          <a:xfrm>
            <a:off x="9489369" y="5239512"/>
            <a:ext cx="2032071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١٫٠٠ ر قيمة</a:t>
            </a:r>
            <a:endParaRPr lang="en-US" sz="1200" dirty="0"/>
          </a:p>
        </p:txBody>
      </p:sp>
      <p:sp>
        <p:nvSpPr>
          <p:cNvPr id="129" name="Shape 127"/>
          <p:cNvSpPr/>
          <p:nvPr/>
        </p:nvSpPr>
        <p:spPr>
          <a:xfrm>
            <a:off x="7073250" y="4078224"/>
            <a:ext cx="2178375" cy="1389888"/>
          </a:xfrm>
          <a:prstGeom prst="roundRect">
            <a:avLst>
              <a:gd name="adj" fmla="val 3289"/>
            </a:avLst>
          </a:prstGeom>
          <a:solidFill>
            <a:srgbClr val="D6E9E1"/>
          </a:solidFill>
          <a:ln w="15240">
            <a:solidFill>
              <a:srgbClr val="2E8B6F"/>
            </a:solidFill>
            <a:prstDash val="solid"/>
          </a:ln>
        </p:spPr>
      </p:sp>
      <p:sp>
        <p:nvSpPr>
          <p:cNvPr id="130" name="Text 128"/>
          <p:cNvSpPr/>
          <p:nvPr/>
        </p:nvSpPr>
        <p:spPr>
          <a:xfrm>
            <a:off x="7146402" y="4142232"/>
            <a:ext cx="203207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٢٠ غسلة</a:t>
            </a:r>
            <a:endParaRPr lang="en-US" sz="1300" dirty="0"/>
          </a:p>
        </p:txBody>
      </p:sp>
      <p:sp>
        <p:nvSpPr>
          <p:cNvPr id="131" name="Text 129"/>
          <p:cNvSpPr/>
          <p:nvPr/>
        </p:nvSpPr>
        <p:spPr>
          <a:xfrm>
            <a:off x="7146402" y="4443984"/>
            <a:ext cx="2032071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كلفتها علينا</a:t>
            </a:r>
            <a:endParaRPr lang="en-US" sz="900" dirty="0"/>
          </a:p>
        </p:txBody>
      </p:sp>
      <p:sp>
        <p:nvSpPr>
          <p:cNvPr id="132" name="Text 130"/>
          <p:cNvSpPr/>
          <p:nvPr/>
        </p:nvSpPr>
        <p:spPr>
          <a:xfrm>
            <a:off x="7146402" y="4581144"/>
            <a:ext cx="2032071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٣٠٠ ر</a:t>
            </a:r>
            <a:endParaRPr lang="en-US" sz="1200" dirty="0"/>
          </a:p>
        </p:txBody>
      </p:sp>
      <p:sp>
        <p:nvSpPr>
          <p:cNvPr id="133" name="Text 131"/>
          <p:cNvSpPr/>
          <p:nvPr/>
        </p:nvSpPr>
        <p:spPr>
          <a:xfrm>
            <a:off x="7146402" y="4773168"/>
            <a:ext cx="2032071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قيمتها للعميل</a:t>
            </a:r>
            <a:endParaRPr lang="en-US" sz="900" dirty="0"/>
          </a:p>
        </p:txBody>
      </p:sp>
      <p:sp>
        <p:nvSpPr>
          <p:cNvPr id="134" name="Text 132"/>
          <p:cNvSpPr/>
          <p:nvPr/>
        </p:nvSpPr>
        <p:spPr>
          <a:xfrm>
            <a:off x="7146402" y="4910328"/>
            <a:ext cx="2032071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٥٦٠ ر</a:t>
            </a:r>
            <a:endParaRPr lang="en-US" sz="1200" dirty="0"/>
          </a:p>
        </p:txBody>
      </p:sp>
      <p:sp>
        <p:nvSpPr>
          <p:cNvPr id="135" name="Text 133"/>
          <p:cNvSpPr/>
          <p:nvPr/>
        </p:nvSpPr>
        <p:spPr>
          <a:xfrm>
            <a:off x="7146402" y="5102352"/>
            <a:ext cx="2032071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لكل ريال ننفقه</a:t>
            </a:r>
            <a:endParaRPr lang="en-US" sz="900" dirty="0"/>
          </a:p>
        </p:txBody>
      </p:sp>
      <p:sp>
        <p:nvSpPr>
          <p:cNvPr id="136" name="Text 134"/>
          <p:cNvSpPr/>
          <p:nvPr/>
        </p:nvSpPr>
        <p:spPr>
          <a:xfrm>
            <a:off x="7146402" y="5239512"/>
            <a:ext cx="2032071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١٫٨٧ ر قيمة</a:t>
            </a:r>
            <a:endParaRPr lang="en-US" sz="1200" dirty="0"/>
          </a:p>
        </p:txBody>
      </p:sp>
      <p:sp>
        <p:nvSpPr>
          <p:cNvPr id="137" name="Shape 135"/>
          <p:cNvSpPr/>
          <p:nvPr/>
        </p:nvSpPr>
        <p:spPr>
          <a:xfrm>
            <a:off x="566928" y="5577840"/>
            <a:ext cx="11027664" cy="512064"/>
          </a:xfrm>
          <a:prstGeom prst="roundRect">
            <a:avLst>
              <a:gd name="adj" fmla="val 7143"/>
            </a:avLst>
          </a:prstGeom>
          <a:solidFill>
            <a:srgbClr val="F5831F"/>
          </a:solidFill>
          <a:ln/>
        </p:spPr>
      </p:sp>
      <p:sp>
        <p:nvSpPr>
          <p:cNvPr id="138" name="Text 136"/>
          <p:cNvSpPr/>
          <p:nvPr/>
        </p:nvSpPr>
        <p:spPr>
          <a:xfrm>
            <a:off x="749808" y="5623560"/>
            <a:ext cx="1066190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الخدمة تعطي ١٫٨٧ ريال قيمة لكل ريال ننفقه — وتملأ وحدات الخدمة الشاغرة · لكن ٣ من أعلى ١٠ محطات ديزلاً بلا وحدة خدمة أصلاً</a:t>
            </a:r>
            <a:endParaRPr lang="en-US" sz="1250" dirty="0"/>
          </a:p>
        </p:txBody>
      </p:sp>
      <p:sp>
        <p:nvSpPr>
          <p:cNvPr id="139" name="Text 137"/>
          <p:cNvSpPr/>
          <p:nvPr/>
        </p:nvSpPr>
        <p:spPr>
          <a:xfrm>
            <a:off x="566928" y="6144768"/>
            <a:ext cx="110276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95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غسلة بكلفة ١٥ ريالاً تعادل ٢١١ لتراً من الصافي — فالسقف غسلة لكل ألف لتر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539728" y="2286000"/>
            <a:ext cx="54864" cy="20116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240280"/>
            <a:ext cx="107533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500" b="1" spc="300" kern="0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القسم الثاني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566928" y="2743200"/>
            <a:ext cx="10753344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3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المنافسون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566928" y="3611880"/>
            <a:ext cx="107533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خمسة منتجات — ولكلٍّ مسيطر مختلف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74320"/>
            <a:ext cx="10113264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المنافسون حسب المنتج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01132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من يسيطر على كل منتج — وأين لا نعرف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133856"/>
            <a:ext cx="1102766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64373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 · الإدارة التجارية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45952" y="6437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9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66928" y="1243584"/>
            <a:ext cx="11027664" cy="36576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9" name="Text 7"/>
          <p:cNvSpPr/>
          <p:nvPr/>
        </p:nvSpPr>
        <p:spPr>
          <a:xfrm>
            <a:off x="9940442" y="1243584"/>
            <a:ext cx="1654150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المنتج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8065740" y="1243584"/>
            <a:ext cx="1874703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حجمنا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6521867" y="1243584"/>
            <a:ext cx="1543873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موقعنا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088270" y="1243584"/>
            <a:ext cx="1433596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المسيطر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2110801" y="1243584"/>
            <a:ext cx="2977469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ما نعرفه عنه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566928" y="1243584"/>
            <a:ext cx="1543873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حالة المسح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66928" y="1609344"/>
            <a:ext cx="11027664" cy="512064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940442" y="1609344"/>
            <a:ext cx="1654150" cy="5120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وقود أفراد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8065740" y="1609344"/>
            <a:ext cx="1874703" cy="5120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٥٠٨٫٨ مليون ريال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521867" y="1609344"/>
            <a:ext cx="1543873" cy="5120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٨١٪ من مبيعاتنا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5088270" y="1609344"/>
            <a:ext cx="1433596" cy="5120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E6E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الدريس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2110801" y="1609344"/>
            <a:ext cx="2977469" cy="5120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١٥ من ٤٠ موقعاً مرصوداً · ١٨٫٩٥٪ وطنياً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66928" y="1609344"/>
            <a:ext cx="1543873" cy="5120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ميداني — مكتمل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566928" y="2121408"/>
            <a:ext cx="11027664" cy="512064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940442" y="2121408"/>
            <a:ext cx="1654150" cy="5120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وقود شركات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8065740" y="2121408"/>
            <a:ext cx="1874703" cy="5120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١١٧٫٥ مليون ريال ديزل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521867" y="2121408"/>
            <a:ext cx="1543873" cy="5120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الدفع المؤسسي ٩٫١٪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5088270" y="2121408"/>
            <a:ext cx="1433596" cy="5120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E6E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منصات الأساطيل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2110801" y="2121408"/>
            <a:ext cx="2977469" cy="5120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سيارة ٧٫٧٥م · بترو ٤٫٢١م · جهاز خارجي ٢٤٫٤م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566928" y="2121408"/>
            <a:ext cx="1543873" cy="5120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جزئي — بلا حصص سوق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566928" y="2633472"/>
            <a:ext cx="11027664" cy="512064"/>
          </a:xfrm>
          <a:prstGeom prst="rect">
            <a:avLst/>
          </a:prstGeom>
          <a:solidFill>
            <a:srgbClr val="F2DAD4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940442" y="2633472"/>
            <a:ext cx="1654150" cy="5120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عقارات وتأجير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8065740" y="2633472"/>
            <a:ext cx="1874703" cy="5120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٦٤١ وحدة مؤجَّرة من ١٬٧٣٣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6521867" y="2633472"/>
            <a:ext cx="1543873" cy="5120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بلا قيمة إيجارية في السجل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5088270" y="2633472"/>
            <a:ext cx="1433596" cy="5120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غير معروف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2110801" y="2633472"/>
            <a:ext cx="2977469" cy="5120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لا مسح منافسين ولا جدول إيجارات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566928" y="2633472"/>
            <a:ext cx="1543873" cy="5120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مفقود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566928" y="3145536"/>
            <a:ext cx="11027664" cy="512064"/>
          </a:xfrm>
          <a:prstGeom prst="rect">
            <a:avLst/>
          </a:prstGeom>
          <a:solidFill>
            <a:srgbClr val="F2DAD4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9940442" y="3145536"/>
            <a:ext cx="1654150" cy="5120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إكسسوارات سيارات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8065740" y="3145536"/>
            <a:ext cx="1874703" cy="5120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لم تبدأ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6521867" y="3145536"/>
            <a:ext cx="1543873" cy="5120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صفر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5088270" y="3145536"/>
            <a:ext cx="1433596" cy="5120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غير معروف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2110801" y="3145536"/>
            <a:ext cx="2977469" cy="5120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لا مسح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566928" y="3145536"/>
            <a:ext cx="1543873" cy="5120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مفقود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566928" y="3657600"/>
            <a:ext cx="11027664" cy="512064"/>
          </a:xfrm>
          <a:prstGeom prst="rect">
            <a:avLst/>
          </a:prstGeom>
          <a:solidFill>
            <a:srgbClr val="F2DAD4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9940442" y="3657600"/>
            <a:ext cx="1654150" cy="5120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مساحات إعلانية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8065740" y="3657600"/>
            <a:ext cx="1874703" cy="5120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لم تبدأ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6521867" y="3657600"/>
            <a:ext cx="1543873" cy="5120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صفر</a:t>
            </a:r>
            <a:endParaRPr lang="en-US" sz="1100" dirty="0"/>
          </a:p>
        </p:txBody>
      </p:sp>
      <p:sp>
        <p:nvSpPr>
          <p:cNvPr id="47" name="Text 45"/>
          <p:cNvSpPr/>
          <p:nvPr/>
        </p:nvSpPr>
        <p:spPr>
          <a:xfrm>
            <a:off x="5088270" y="3657600"/>
            <a:ext cx="1433596" cy="5120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غير معروف</a:t>
            </a:r>
            <a:endParaRPr lang="en-US" sz="1100" dirty="0"/>
          </a:p>
        </p:txBody>
      </p:sp>
      <p:sp>
        <p:nvSpPr>
          <p:cNvPr id="48" name="Text 46"/>
          <p:cNvSpPr/>
          <p:nvPr/>
        </p:nvSpPr>
        <p:spPr>
          <a:xfrm>
            <a:off x="2110801" y="3657600"/>
            <a:ext cx="2977469" cy="5120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لا مسح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566928" y="3657600"/>
            <a:ext cx="1543873" cy="5120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مفقود</a:t>
            </a:r>
            <a:endParaRPr lang="en-US" sz="1100" dirty="0"/>
          </a:p>
        </p:txBody>
      </p:sp>
      <p:sp>
        <p:nvSpPr>
          <p:cNvPr id="50" name="Shape 48"/>
          <p:cNvSpPr/>
          <p:nvPr/>
        </p:nvSpPr>
        <p:spPr>
          <a:xfrm>
            <a:off x="8040624" y="4315968"/>
            <a:ext cx="3553968" cy="1207008"/>
          </a:xfrm>
          <a:prstGeom prst="roundRect">
            <a:avLst>
              <a:gd name="adj" fmla="val 3788"/>
            </a:avLst>
          </a:prstGeom>
          <a:solidFill>
            <a:srgbClr val="F7F4EF"/>
          </a:solidFill>
          <a:ln w="15240">
            <a:solidFill>
              <a:srgbClr val="F5831F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8132064" y="4425696"/>
            <a:ext cx="33710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 من ٥</a:t>
            </a:r>
            <a:endParaRPr lang="en-US" sz="2200" dirty="0"/>
          </a:p>
        </p:txBody>
      </p:sp>
      <p:sp>
        <p:nvSpPr>
          <p:cNvPr id="52" name="Text 50"/>
          <p:cNvSpPr/>
          <p:nvPr/>
        </p:nvSpPr>
        <p:spPr>
          <a:xfrm>
            <a:off x="8132064" y="4846320"/>
            <a:ext cx="33710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منتجات تعمل</a:t>
            </a:r>
            <a:endParaRPr lang="en-US" sz="1200" dirty="0"/>
          </a:p>
        </p:txBody>
      </p:sp>
      <p:sp>
        <p:nvSpPr>
          <p:cNvPr id="53" name="Text 51"/>
          <p:cNvSpPr/>
          <p:nvPr/>
        </p:nvSpPr>
        <p:spPr>
          <a:xfrm>
            <a:off x="8132064" y="5138928"/>
            <a:ext cx="33710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الوقود بشقّيه — والباقي لم يبدأ</a:t>
            </a:r>
            <a:endParaRPr lang="en-US" sz="1000" dirty="0"/>
          </a:p>
        </p:txBody>
      </p:sp>
      <p:sp>
        <p:nvSpPr>
          <p:cNvPr id="54" name="Shape 52"/>
          <p:cNvSpPr/>
          <p:nvPr/>
        </p:nvSpPr>
        <p:spPr>
          <a:xfrm>
            <a:off x="4303776" y="4315968"/>
            <a:ext cx="3553968" cy="1207008"/>
          </a:xfrm>
          <a:prstGeom prst="roundRect">
            <a:avLst>
              <a:gd name="adj" fmla="val 3788"/>
            </a:avLst>
          </a:prstGeom>
          <a:solidFill>
            <a:srgbClr val="F7F4EF"/>
          </a:solidFill>
          <a:ln w="15240">
            <a:solidFill>
              <a:srgbClr val="F7A94B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4395216" y="4425696"/>
            <a:ext cx="33710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7A94B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 من ٥</a:t>
            </a:r>
            <a:endParaRPr lang="en-US" sz="2200" dirty="0"/>
          </a:p>
        </p:txBody>
      </p:sp>
      <p:sp>
        <p:nvSpPr>
          <p:cNvPr id="56" name="Text 54"/>
          <p:cNvSpPr/>
          <p:nvPr/>
        </p:nvSpPr>
        <p:spPr>
          <a:xfrm>
            <a:off x="4395216" y="4846320"/>
            <a:ext cx="33710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مسح منافسين مكتمل</a:t>
            </a:r>
            <a:endParaRPr lang="en-US" sz="1200" dirty="0"/>
          </a:p>
        </p:txBody>
      </p:sp>
      <p:sp>
        <p:nvSpPr>
          <p:cNvPr id="57" name="Text 55"/>
          <p:cNvSpPr/>
          <p:nvPr/>
        </p:nvSpPr>
        <p:spPr>
          <a:xfrm>
            <a:off x="4395216" y="5138928"/>
            <a:ext cx="33710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وقود الأفراد على خمسة مواقع</a:t>
            </a:r>
            <a:endParaRPr lang="en-US" sz="1000" dirty="0"/>
          </a:p>
        </p:txBody>
      </p:sp>
      <p:sp>
        <p:nvSpPr>
          <p:cNvPr id="58" name="Shape 56"/>
          <p:cNvSpPr/>
          <p:nvPr/>
        </p:nvSpPr>
        <p:spPr>
          <a:xfrm>
            <a:off x="566928" y="4315968"/>
            <a:ext cx="3553968" cy="1207008"/>
          </a:xfrm>
          <a:prstGeom prst="roundRect">
            <a:avLst>
              <a:gd name="adj" fmla="val 3788"/>
            </a:avLst>
          </a:prstGeom>
          <a:solidFill>
            <a:srgbClr val="F2DAD4"/>
          </a:solidFill>
          <a:ln w="15240">
            <a:solidFill>
              <a:srgbClr val="C0503A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58368" y="4425696"/>
            <a:ext cx="33710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C0503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 من ٥</a:t>
            </a:r>
            <a:endParaRPr lang="en-US" sz="2200" dirty="0"/>
          </a:p>
        </p:txBody>
      </p:sp>
      <p:sp>
        <p:nvSpPr>
          <p:cNvPr id="60" name="Text 58"/>
          <p:cNvSpPr/>
          <p:nvPr/>
        </p:nvSpPr>
        <p:spPr>
          <a:xfrm>
            <a:off x="658368" y="4846320"/>
            <a:ext cx="33710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بلا معرفة تنافسية</a:t>
            </a:r>
            <a:endParaRPr lang="en-US" sz="1200" dirty="0"/>
          </a:p>
        </p:txBody>
      </p:sp>
      <p:sp>
        <p:nvSpPr>
          <p:cNvPr id="61" name="Text 59"/>
          <p:cNvSpPr/>
          <p:nvPr/>
        </p:nvSpPr>
        <p:spPr>
          <a:xfrm>
            <a:off x="658368" y="5138928"/>
            <a:ext cx="33710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العقار والإكسسوارات والإعلان</a:t>
            </a:r>
            <a:endParaRPr lang="en-US" sz="1000" dirty="0"/>
          </a:p>
        </p:txBody>
      </p:sp>
      <p:sp>
        <p:nvSpPr>
          <p:cNvPr id="62" name="Text 60"/>
          <p:cNvSpPr/>
          <p:nvPr/>
        </p:nvSpPr>
        <p:spPr>
          <a:xfrm>
            <a:off x="566928" y="6144768"/>
            <a:ext cx="110276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95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لم تُذكر أسماء منافسين في المنتجات الثلاثة لأننا لا نملك مسحاً — والفراغ مقصود لا سهو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74320"/>
            <a:ext cx="10113264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وقود الأفراد — الموقف الميداني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01132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خمسة مواقع · ٤٠ منافساً مرصوداً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133856"/>
            <a:ext cx="1102766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64373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 · الإدارة التجارية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45952" y="6437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10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66928" y="1243584"/>
            <a:ext cx="11027664" cy="36576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9" name="Text 7"/>
          <p:cNvSpPr/>
          <p:nvPr/>
        </p:nvSpPr>
        <p:spPr>
          <a:xfrm>
            <a:off x="9609612" y="1243584"/>
            <a:ext cx="1984980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المحطة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8727399" y="1243584"/>
            <a:ext cx="882213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الكود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7624633" y="1243584"/>
            <a:ext cx="1102766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تقييمنا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6191037" y="1243584"/>
            <a:ext cx="1433596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متوسط المنافس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4757440" y="1243584"/>
            <a:ext cx="1433596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منافسون داخل ٥ كم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3544397" y="1243584"/>
            <a:ext cx="1213043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أقرب منافس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1890248" y="1243584"/>
            <a:ext cx="1654150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من هو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566928" y="1243584"/>
            <a:ext cx="1323320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الكثافة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66928" y="1609344"/>
            <a:ext cx="11027664" cy="384048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609612" y="1609344"/>
            <a:ext cx="1984980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عرفات الشرائع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8727399" y="1609344"/>
            <a:ext cx="882213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MK019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7624633" y="1609344"/>
            <a:ext cx="1102766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٤٫٩★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191037" y="1609344"/>
            <a:ext cx="1433596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٣٫٦★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757440" y="1609344"/>
            <a:ext cx="1433596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٢٣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3544397" y="1609344"/>
            <a:ext cx="1213043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٤٨٨ م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1890248" y="1609344"/>
            <a:ext cx="1654150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Aldrees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566928" y="1609344"/>
            <a:ext cx="1323320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منافسة مرتفعة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566928" y="1993392"/>
            <a:ext cx="11027664" cy="384048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609612" y="1993392"/>
            <a:ext cx="1984980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عرفات الشوقية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8727399" y="1993392"/>
            <a:ext cx="882213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MK017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7624633" y="1993392"/>
            <a:ext cx="1102766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٤٫٩★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191037" y="1993392"/>
            <a:ext cx="1433596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٤٫١★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4757440" y="1993392"/>
            <a:ext cx="1433596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3544397" y="1993392"/>
            <a:ext cx="1213043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٢٬٤٥٠ م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1890248" y="1993392"/>
            <a:ext cx="1654150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محطة نوفل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566928" y="1993392"/>
            <a:ext cx="1323320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منافسة متوسطة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566928" y="2377440"/>
            <a:ext cx="11027664" cy="384048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9609612" y="2377440"/>
            <a:ext cx="1984980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الفردوس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8727399" y="2377440"/>
            <a:ext cx="882213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MK023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7624633" y="2377440"/>
            <a:ext cx="1102766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٤٫٩★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6191037" y="2377440"/>
            <a:ext cx="1433596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٣٫٦★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4757440" y="2377440"/>
            <a:ext cx="1433596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٢٨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3544397" y="2377440"/>
            <a:ext cx="1213043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٤١١ م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1890248" y="2377440"/>
            <a:ext cx="1654150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Aldrees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566928" y="2377440"/>
            <a:ext cx="1323320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منافسة مرتفعة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566928" y="2761488"/>
            <a:ext cx="11027664" cy="384048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9609612" y="2761488"/>
            <a:ext cx="1984980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النورية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8727399" y="2761488"/>
            <a:ext cx="882213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MK007</a:t>
            </a:r>
            <a:endParaRPr lang="en-US" sz="1100" dirty="0"/>
          </a:p>
        </p:txBody>
      </p:sp>
      <p:sp>
        <p:nvSpPr>
          <p:cNvPr id="47" name="Text 45"/>
          <p:cNvSpPr/>
          <p:nvPr/>
        </p:nvSpPr>
        <p:spPr>
          <a:xfrm>
            <a:off x="7624633" y="2761488"/>
            <a:ext cx="1102766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٤٫٨★</a:t>
            </a:r>
            <a:endParaRPr lang="en-US" sz="1100" dirty="0"/>
          </a:p>
        </p:txBody>
      </p:sp>
      <p:sp>
        <p:nvSpPr>
          <p:cNvPr id="48" name="Text 46"/>
          <p:cNvSpPr/>
          <p:nvPr/>
        </p:nvSpPr>
        <p:spPr>
          <a:xfrm>
            <a:off x="6191037" y="2761488"/>
            <a:ext cx="1433596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٤٫٠★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4757440" y="2761488"/>
            <a:ext cx="1433596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</a:t>
            </a:r>
            <a:endParaRPr lang="en-US" sz="1100" dirty="0"/>
          </a:p>
        </p:txBody>
      </p:sp>
      <p:sp>
        <p:nvSpPr>
          <p:cNvPr id="50" name="Text 48"/>
          <p:cNvSpPr/>
          <p:nvPr/>
        </p:nvSpPr>
        <p:spPr>
          <a:xfrm>
            <a:off x="3544397" y="2761488"/>
            <a:ext cx="1213043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٢٬١٩٤ م</a:t>
            </a:r>
            <a:endParaRPr lang="en-US" sz="1100" dirty="0"/>
          </a:p>
        </p:txBody>
      </p:sp>
      <p:sp>
        <p:nvSpPr>
          <p:cNvPr id="51" name="Text 49"/>
          <p:cNvSpPr/>
          <p:nvPr/>
        </p:nvSpPr>
        <p:spPr>
          <a:xfrm>
            <a:off x="1890248" y="2761488"/>
            <a:ext cx="1654150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محطة المملكة</a:t>
            </a:r>
            <a:endParaRPr lang="en-US" sz="1100" dirty="0"/>
          </a:p>
        </p:txBody>
      </p:sp>
      <p:sp>
        <p:nvSpPr>
          <p:cNvPr id="52" name="Text 50"/>
          <p:cNvSpPr/>
          <p:nvPr/>
        </p:nvSpPr>
        <p:spPr>
          <a:xfrm>
            <a:off x="566928" y="2761488"/>
            <a:ext cx="1323320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منافسة منخفضة</a:t>
            </a:r>
            <a:endParaRPr lang="en-US" sz="1100" dirty="0"/>
          </a:p>
        </p:txBody>
      </p:sp>
      <p:sp>
        <p:nvSpPr>
          <p:cNvPr id="53" name="Shape 51"/>
          <p:cNvSpPr/>
          <p:nvPr/>
        </p:nvSpPr>
        <p:spPr>
          <a:xfrm>
            <a:off x="566928" y="3145536"/>
            <a:ext cx="11027664" cy="384048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9609612" y="3145536"/>
            <a:ext cx="1984980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المعيصم</a:t>
            </a:r>
            <a:endParaRPr lang="en-US" sz="1100" dirty="0"/>
          </a:p>
        </p:txBody>
      </p:sp>
      <p:sp>
        <p:nvSpPr>
          <p:cNvPr id="55" name="Text 53"/>
          <p:cNvSpPr/>
          <p:nvPr/>
        </p:nvSpPr>
        <p:spPr>
          <a:xfrm>
            <a:off x="8727399" y="3145536"/>
            <a:ext cx="882213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MK002</a:t>
            </a:r>
            <a:endParaRPr lang="en-US" sz="1100" dirty="0"/>
          </a:p>
        </p:txBody>
      </p:sp>
      <p:sp>
        <p:nvSpPr>
          <p:cNvPr id="56" name="Text 54"/>
          <p:cNvSpPr/>
          <p:nvPr/>
        </p:nvSpPr>
        <p:spPr>
          <a:xfrm>
            <a:off x="7624633" y="3145536"/>
            <a:ext cx="1102766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٤٫٨★</a:t>
            </a:r>
            <a:endParaRPr lang="en-US" sz="1100" dirty="0"/>
          </a:p>
        </p:txBody>
      </p:sp>
      <p:sp>
        <p:nvSpPr>
          <p:cNvPr id="57" name="Text 55"/>
          <p:cNvSpPr/>
          <p:nvPr/>
        </p:nvSpPr>
        <p:spPr>
          <a:xfrm>
            <a:off x="6191037" y="3145536"/>
            <a:ext cx="1433596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٣٫٧★</a:t>
            </a:r>
            <a:endParaRPr lang="en-US" sz="1100" dirty="0"/>
          </a:p>
        </p:txBody>
      </p:sp>
      <p:sp>
        <p:nvSpPr>
          <p:cNvPr id="58" name="Text 56"/>
          <p:cNvSpPr/>
          <p:nvPr/>
        </p:nvSpPr>
        <p:spPr>
          <a:xfrm>
            <a:off x="4757440" y="3145536"/>
            <a:ext cx="1433596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١٨</a:t>
            </a:r>
            <a:endParaRPr lang="en-US" sz="1100" dirty="0"/>
          </a:p>
        </p:txBody>
      </p:sp>
      <p:sp>
        <p:nvSpPr>
          <p:cNvPr id="59" name="Text 57"/>
          <p:cNvSpPr/>
          <p:nvPr/>
        </p:nvSpPr>
        <p:spPr>
          <a:xfrm>
            <a:off x="3544397" y="3145536"/>
            <a:ext cx="1213043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١٨١ م</a:t>
            </a:r>
            <a:endParaRPr lang="en-US" sz="1100" dirty="0"/>
          </a:p>
        </p:txBody>
      </p:sp>
      <p:sp>
        <p:nvSpPr>
          <p:cNvPr id="60" name="Text 58"/>
          <p:cNvSpPr/>
          <p:nvPr/>
        </p:nvSpPr>
        <p:spPr>
          <a:xfrm>
            <a:off x="1890248" y="3145536"/>
            <a:ext cx="1654150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محطة المعيصم</a:t>
            </a:r>
            <a:endParaRPr lang="en-US" sz="1100" dirty="0"/>
          </a:p>
        </p:txBody>
      </p:sp>
      <p:sp>
        <p:nvSpPr>
          <p:cNvPr id="61" name="Text 59"/>
          <p:cNvSpPr/>
          <p:nvPr/>
        </p:nvSpPr>
        <p:spPr>
          <a:xfrm>
            <a:off x="566928" y="3145536"/>
            <a:ext cx="1323320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منافسة مرتفعة</a:t>
            </a:r>
            <a:endParaRPr lang="en-US" sz="1100" dirty="0"/>
          </a:p>
        </p:txBody>
      </p:sp>
      <p:sp>
        <p:nvSpPr>
          <p:cNvPr id="62" name="Shape 60"/>
          <p:cNvSpPr/>
          <p:nvPr/>
        </p:nvSpPr>
        <p:spPr>
          <a:xfrm>
            <a:off x="8040624" y="3566160"/>
            <a:ext cx="3553968" cy="1280160"/>
          </a:xfrm>
          <a:prstGeom prst="roundRect">
            <a:avLst>
              <a:gd name="adj" fmla="val 3571"/>
            </a:avLst>
          </a:prstGeom>
          <a:solidFill>
            <a:srgbClr val="D6E9E1"/>
          </a:solidFill>
          <a:ln w="15240">
            <a:solidFill>
              <a:srgbClr val="2E8B6F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8168640" y="3675888"/>
            <a:ext cx="32979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نتفوّق في كل موقع</a:t>
            </a:r>
            <a:endParaRPr lang="en-US" sz="1400" dirty="0"/>
          </a:p>
        </p:txBody>
      </p:sp>
      <p:sp>
        <p:nvSpPr>
          <p:cNvPr id="64" name="Text 62"/>
          <p:cNvSpPr/>
          <p:nvPr/>
        </p:nvSpPr>
        <p:spPr>
          <a:xfrm>
            <a:off x="8168640" y="3986784"/>
            <a:ext cx="3297936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٤٫٨ و٤٫٩ نجمة مقابل ٣٫٦ إلى ٤٫١ · و٥٧٪ من المنافسين دون أربع نجوم</a:t>
            </a:r>
            <a:endParaRPr lang="en-US" sz="1150" dirty="0"/>
          </a:p>
        </p:txBody>
      </p:sp>
      <p:sp>
        <p:nvSpPr>
          <p:cNvPr id="65" name="Shape 63"/>
          <p:cNvSpPr/>
          <p:nvPr/>
        </p:nvSpPr>
        <p:spPr>
          <a:xfrm>
            <a:off x="4303776" y="3566160"/>
            <a:ext cx="3553968" cy="1280160"/>
          </a:xfrm>
          <a:prstGeom prst="roundRect">
            <a:avLst>
              <a:gd name="adj" fmla="val 3571"/>
            </a:avLst>
          </a:prstGeom>
          <a:solidFill>
            <a:srgbClr val="F2DAD4"/>
          </a:solidFill>
          <a:ln w="15240">
            <a:solidFill>
              <a:srgbClr val="C0503A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4431792" y="3675888"/>
            <a:ext cx="32979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ونخسر بالمسافة</a:t>
            </a:r>
            <a:endParaRPr lang="en-US" sz="1400" dirty="0"/>
          </a:p>
        </p:txBody>
      </p:sp>
      <p:sp>
        <p:nvSpPr>
          <p:cNvPr id="67" name="Text 65"/>
          <p:cNvSpPr/>
          <p:nvPr/>
        </p:nvSpPr>
        <p:spPr>
          <a:xfrm>
            <a:off x="4431792" y="3986784"/>
            <a:ext cx="3297936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أقرب منافس على ١٨١ متراً في المعيصم و٤١١ في الفردوس</a:t>
            </a:r>
            <a:endParaRPr lang="en-US" sz="1150" dirty="0"/>
          </a:p>
        </p:txBody>
      </p:sp>
      <p:sp>
        <p:nvSpPr>
          <p:cNvPr id="68" name="Shape 66"/>
          <p:cNvSpPr/>
          <p:nvPr/>
        </p:nvSpPr>
        <p:spPr>
          <a:xfrm>
            <a:off x="566928" y="3566160"/>
            <a:ext cx="3553968" cy="1280160"/>
          </a:xfrm>
          <a:prstGeom prst="roundRect">
            <a:avLst>
              <a:gd name="adj" fmla="val 3571"/>
            </a:avLst>
          </a:prstGeom>
          <a:solidFill>
            <a:srgbClr val="F5F2ED"/>
          </a:solidFill>
          <a:ln w="15240">
            <a:solidFill>
              <a:srgbClr val="3E6E8E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694944" y="3675888"/>
            <a:ext cx="32979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3E6E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الدريس هو المنافس</a:t>
            </a:r>
            <a:endParaRPr lang="en-US" sz="1400" dirty="0"/>
          </a:p>
        </p:txBody>
      </p:sp>
      <p:sp>
        <p:nvSpPr>
          <p:cNvPr id="70" name="Text 68"/>
          <p:cNvSpPr/>
          <p:nvPr/>
        </p:nvSpPr>
        <p:spPr>
          <a:xfrm>
            <a:off x="694944" y="3986784"/>
            <a:ext cx="3297936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١٥ من ٤٠ موقعاً — ٣٨٪ محلياً مقابل ١٨٫٩٥٪ وطنياً</a:t>
            </a:r>
            <a:endParaRPr lang="en-US" sz="1150" dirty="0"/>
          </a:p>
        </p:txBody>
      </p:sp>
      <p:sp>
        <p:nvSpPr>
          <p:cNvPr id="71" name="Shape 69"/>
          <p:cNvSpPr/>
          <p:nvPr/>
        </p:nvSpPr>
        <p:spPr>
          <a:xfrm>
            <a:off x="566928" y="5074920"/>
            <a:ext cx="11027664" cy="512064"/>
          </a:xfrm>
          <a:prstGeom prst="roundRect">
            <a:avLst>
              <a:gd name="adj" fmla="val 7143"/>
            </a:avLst>
          </a:prstGeom>
          <a:solidFill>
            <a:srgbClr val="55565A"/>
          </a:solidFill>
          <a:ln/>
        </p:spPr>
      </p:sp>
      <p:sp>
        <p:nvSpPr>
          <p:cNvPr id="72" name="Text 70"/>
          <p:cNvSpPr/>
          <p:nvPr/>
        </p:nvSpPr>
        <p:spPr>
          <a:xfrm>
            <a:off x="749808" y="5120640"/>
            <a:ext cx="1066190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الخدمة أفضل أصلاً — فالخطة اعتراضية: لافتة ومدخل وسرعة وإبراز التقييم قبل نقطة القرار بخمسمئة متر</a:t>
            </a:r>
            <a:endParaRPr lang="en-US" sz="12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74320"/>
            <a:ext cx="10113264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المعيصم MK002 — تغيير مسار لا منافسة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01132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الحدث ٧–٨ فبراير ٢٠٢٦ · ليلة واحدة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133856"/>
            <a:ext cx="1102766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64373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 · الإدارة التجارية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45952" y="6437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11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727875" y="1846233"/>
            <a:ext cx="595494" cy="2542887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9" name="Text 7"/>
          <p:cNvSpPr/>
          <p:nvPr/>
        </p:nvSpPr>
        <p:spPr>
          <a:xfrm>
            <a:off x="5544995" y="1590201"/>
            <a:ext cx="96125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٤٢٬٦٤١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5508419" y="4434840"/>
            <a:ext cx="103440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المتوسط قبل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735385" y="2296237"/>
            <a:ext cx="595494" cy="2092883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12" name="Text 10"/>
          <p:cNvSpPr/>
          <p:nvPr/>
        </p:nvSpPr>
        <p:spPr>
          <a:xfrm>
            <a:off x="4552505" y="2040205"/>
            <a:ext cx="96125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٣٥٬٠٩٥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4515929" y="4434840"/>
            <a:ext cx="103440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 فبراير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3742895" y="2887218"/>
            <a:ext cx="595494" cy="1501902"/>
          </a:xfrm>
          <a:prstGeom prst="rect">
            <a:avLst/>
          </a:prstGeom>
          <a:solidFill>
            <a:srgbClr val="F7A94B"/>
          </a:solidFill>
          <a:ln/>
        </p:spPr>
      </p:sp>
      <p:sp>
        <p:nvSpPr>
          <p:cNvPr id="15" name="Text 13"/>
          <p:cNvSpPr/>
          <p:nvPr/>
        </p:nvSpPr>
        <p:spPr>
          <a:xfrm>
            <a:off x="3560015" y="2631186"/>
            <a:ext cx="96125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٢٥٬١٨٥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3523439" y="4434840"/>
            <a:ext cx="103440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٧ فبراير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2750405" y="3799988"/>
            <a:ext cx="595494" cy="589132"/>
          </a:xfrm>
          <a:prstGeom prst="rect">
            <a:avLst/>
          </a:prstGeom>
          <a:solidFill>
            <a:srgbClr val="C0503A"/>
          </a:solidFill>
          <a:ln/>
        </p:spPr>
      </p:sp>
      <p:sp>
        <p:nvSpPr>
          <p:cNvPr id="18" name="Text 16"/>
          <p:cNvSpPr/>
          <p:nvPr/>
        </p:nvSpPr>
        <p:spPr>
          <a:xfrm>
            <a:off x="2567525" y="3543956"/>
            <a:ext cx="96125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٩٬٨٧٩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2530949" y="4434840"/>
            <a:ext cx="103440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٨ فبراير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1757916" y="3802314"/>
            <a:ext cx="595494" cy="586806"/>
          </a:xfrm>
          <a:prstGeom prst="rect">
            <a:avLst/>
          </a:prstGeom>
          <a:solidFill>
            <a:srgbClr val="C0503A"/>
          </a:solidFill>
          <a:ln/>
        </p:spPr>
      </p:sp>
      <p:sp>
        <p:nvSpPr>
          <p:cNvPr id="21" name="Text 19"/>
          <p:cNvSpPr/>
          <p:nvPr/>
        </p:nvSpPr>
        <p:spPr>
          <a:xfrm>
            <a:off x="1575036" y="3546282"/>
            <a:ext cx="96125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٩٬٨٤٠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1538460" y="4434840"/>
            <a:ext cx="103440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٩ فبراير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765426" y="3625020"/>
            <a:ext cx="595494" cy="764100"/>
          </a:xfrm>
          <a:prstGeom prst="rect">
            <a:avLst/>
          </a:prstGeom>
          <a:solidFill>
            <a:srgbClr val="C0503A"/>
          </a:solidFill>
          <a:ln/>
        </p:spPr>
      </p:sp>
      <p:sp>
        <p:nvSpPr>
          <p:cNvPr id="24" name="Text 22"/>
          <p:cNvSpPr/>
          <p:nvPr/>
        </p:nvSpPr>
        <p:spPr>
          <a:xfrm>
            <a:off x="582546" y="3368988"/>
            <a:ext cx="96125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١٢٬٨١٣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545970" y="4434840"/>
            <a:ext cx="103440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المتوسط بعد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566928" y="4389120"/>
            <a:ext cx="5954939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27" name="Text 25"/>
          <p:cNvSpPr/>
          <p:nvPr/>
        </p:nvSpPr>
        <p:spPr>
          <a:xfrm>
            <a:off x="566928" y="1316736"/>
            <a:ext cx="5954939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لتراً يومياً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6962973" y="1280160"/>
            <a:ext cx="463161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توقيع الوصول لا المنافسة</a:t>
            </a:r>
            <a:endParaRPr lang="en-US" sz="1350" dirty="0"/>
          </a:p>
        </p:txBody>
      </p:sp>
      <p:sp>
        <p:nvSpPr>
          <p:cNvPr id="29" name="Shape 27"/>
          <p:cNvSpPr/>
          <p:nvPr/>
        </p:nvSpPr>
        <p:spPr>
          <a:xfrm>
            <a:off x="11553444" y="1645920"/>
            <a:ext cx="41148" cy="475488"/>
          </a:xfrm>
          <a:prstGeom prst="rect">
            <a:avLst/>
          </a:prstGeom>
          <a:solidFill>
            <a:srgbClr val="C0503A"/>
          </a:solidFill>
          <a:ln/>
        </p:spPr>
      </p:sp>
      <p:sp>
        <p:nvSpPr>
          <p:cNvPr id="30" name="Text 28"/>
          <p:cNvSpPr/>
          <p:nvPr/>
        </p:nvSpPr>
        <p:spPr>
          <a:xfrm>
            <a:off x="9248973" y="1645920"/>
            <a:ext cx="2208459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المعاملات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9248973" y="1865376"/>
            <a:ext cx="220845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٢٬٠٧٣ ← ٦٠١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6962973" y="1737360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0503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−٧١٪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11553444" y="2194560"/>
            <a:ext cx="41148" cy="475488"/>
          </a:xfrm>
          <a:prstGeom prst="rect">
            <a:avLst/>
          </a:prstGeom>
          <a:solidFill>
            <a:srgbClr val="C0503A"/>
          </a:solidFill>
          <a:ln/>
        </p:spPr>
      </p:sp>
      <p:sp>
        <p:nvSpPr>
          <p:cNvPr id="34" name="Text 32"/>
          <p:cNvSpPr/>
          <p:nvPr/>
        </p:nvSpPr>
        <p:spPr>
          <a:xfrm>
            <a:off x="9248973" y="2194560"/>
            <a:ext cx="2208459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اللترات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9248973" y="2414016"/>
            <a:ext cx="220845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٤٢٬٦٤١ ← ١٢٬٨١٣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6962973" y="2286000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0503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−٧٠٪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11553444" y="2743200"/>
            <a:ext cx="41148" cy="475488"/>
          </a:xfrm>
          <a:prstGeom prst="rect">
            <a:avLst/>
          </a:prstGeom>
          <a:solidFill>
            <a:srgbClr val="2E8B6F"/>
          </a:solidFill>
          <a:ln/>
        </p:spPr>
      </p:sp>
      <p:sp>
        <p:nvSpPr>
          <p:cNvPr id="38" name="Text 36"/>
          <p:cNvSpPr/>
          <p:nvPr/>
        </p:nvSpPr>
        <p:spPr>
          <a:xfrm>
            <a:off x="9248973" y="2743200"/>
            <a:ext cx="2208459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حجم التعبئة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9248973" y="2962656"/>
            <a:ext cx="220845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٢٠٫٦ ← ٢١٫٣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6962973" y="2834640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E8B6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+٣٫٦٪</a:t>
            </a:r>
            <a:endParaRPr lang="en-US" sz="1400" dirty="0"/>
          </a:p>
        </p:txBody>
      </p:sp>
      <p:sp>
        <p:nvSpPr>
          <p:cNvPr id="41" name="Shape 39"/>
          <p:cNvSpPr/>
          <p:nvPr/>
        </p:nvSpPr>
        <p:spPr>
          <a:xfrm>
            <a:off x="11553444" y="3291840"/>
            <a:ext cx="41148" cy="475488"/>
          </a:xfrm>
          <a:prstGeom prst="rect">
            <a:avLst/>
          </a:prstGeom>
          <a:solidFill>
            <a:srgbClr val="2E8B6F"/>
          </a:solidFill>
          <a:ln/>
        </p:spPr>
      </p:sp>
      <p:sp>
        <p:nvSpPr>
          <p:cNvPr id="42" name="Text 40"/>
          <p:cNvSpPr/>
          <p:nvPr/>
        </p:nvSpPr>
        <p:spPr>
          <a:xfrm>
            <a:off x="9248973" y="3291840"/>
            <a:ext cx="2208459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تقييمنا</a:t>
            </a:r>
            <a:endParaRPr lang="en-US" sz="1050" dirty="0"/>
          </a:p>
        </p:txBody>
      </p:sp>
      <p:sp>
        <p:nvSpPr>
          <p:cNvPr id="43" name="Text 41"/>
          <p:cNvSpPr/>
          <p:nvPr/>
        </p:nvSpPr>
        <p:spPr>
          <a:xfrm>
            <a:off x="9248973" y="3511296"/>
            <a:ext cx="220845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٤٫٨ مقابل ٣٫٧</a:t>
            </a:r>
            <a:endParaRPr lang="en-US" sz="1200" dirty="0"/>
          </a:p>
        </p:txBody>
      </p:sp>
      <p:sp>
        <p:nvSpPr>
          <p:cNvPr id="44" name="Text 42"/>
          <p:cNvSpPr/>
          <p:nvPr/>
        </p:nvSpPr>
        <p:spPr>
          <a:xfrm>
            <a:off x="6962973" y="3383280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E8B6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الأعلى</a:t>
            </a:r>
            <a:endParaRPr lang="en-US" sz="1400" dirty="0"/>
          </a:p>
        </p:txBody>
      </p:sp>
      <p:sp>
        <p:nvSpPr>
          <p:cNvPr id="45" name="Shape 43"/>
          <p:cNvSpPr/>
          <p:nvPr/>
        </p:nvSpPr>
        <p:spPr>
          <a:xfrm>
            <a:off x="11553444" y="3840480"/>
            <a:ext cx="41148" cy="475488"/>
          </a:xfrm>
          <a:prstGeom prst="rect">
            <a:avLst/>
          </a:prstGeom>
          <a:solidFill>
            <a:srgbClr val="2E8B6F"/>
          </a:solidFill>
          <a:ln/>
        </p:spPr>
      </p:sp>
      <p:sp>
        <p:nvSpPr>
          <p:cNvPr id="46" name="Text 44"/>
          <p:cNvSpPr/>
          <p:nvPr/>
        </p:nvSpPr>
        <p:spPr>
          <a:xfrm>
            <a:off x="9248973" y="3840480"/>
            <a:ext cx="2208459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مطابقة المشتريات</a:t>
            </a:r>
            <a:endParaRPr lang="en-US" sz="1050" dirty="0"/>
          </a:p>
        </p:txBody>
      </p:sp>
      <p:sp>
        <p:nvSpPr>
          <p:cNvPr id="47" name="Text 45"/>
          <p:cNvSpPr/>
          <p:nvPr/>
        </p:nvSpPr>
        <p:spPr>
          <a:xfrm>
            <a:off x="9248973" y="4059936"/>
            <a:ext cx="220845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+٠٫٧١٪</a:t>
            </a:r>
            <a:endParaRPr lang="en-US" sz="1200" dirty="0"/>
          </a:p>
        </p:txBody>
      </p:sp>
      <p:sp>
        <p:nvSpPr>
          <p:cNvPr id="48" name="Text 46"/>
          <p:cNvSpPr/>
          <p:nvPr/>
        </p:nvSpPr>
        <p:spPr>
          <a:xfrm>
            <a:off x="6962973" y="3931920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E8B6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سليمة</a:t>
            </a:r>
            <a:endParaRPr lang="en-US" sz="1400" dirty="0"/>
          </a:p>
        </p:txBody>
      </p:sp>
      <p:sp>
        <p:nvSpPr>
          <p:cNvPr id="49" name="Shape 47"/>
          <p:cNvSpPr/>
          <p:nvPr/>
        </p:nvSpPr>
        <p:spPr>
          <a:xfrm>
            <a:off x="6962973" y="4462272"/>
            <a:ext cx="4631619" cy="1005840"/>
          </a:xfrm>
          <a:prstGeom prst="roundRect">
            <a:avLst>
              <a:gd name="adj" fmla="val 4545"/>
            </a:avLst>
          </a:prstGeom>
          <a:solidFill>
            <a:srgbClr val="FBEEE0"/>
          </a:solidFill>
          <a:ln w="15240">
            <a:solidFill>
              <a:srgbClr val="F5831F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7109277" y="4572000"/>
            <a:ext cx="4339011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المعاملات تسقط والتعبئة تثبت — المنافس يسحب العميل الحدّي، والمدخل المغلق يمنع الجميع بالتساوي.</a:t>
            </a:r>
            <a:endParaRPr lang="en-US" sz="1200" dirty="0"/>
          </a:p>
        </p:txBody>
      </p:sp>
      <p:sp>
        <p:nvSpPr>
          <p:cNvPr id="51" name="Shape 49"/>
          <p:cNvSpPr/>
          <p:nvPr/>
        </p:nvSpPr>
        <p:spPr>
          <a:xfrm>
            <a:off x="566928" y="5623560"/>
            <a:ext cx="11027664" cy="512064"/>
          </a:xfrm>
          <a:prstGeom prst="roundRect">
            <a:avLst>
              <a:gd name="adj" fmla="val 7143"/>
            </a:avLst>
          </a:prstGeom>
          <a:solidFill>
            <a:srgbClr val="C0503A"/>
          </a:solidFill>
          <a:ln/>
        </p:spPr>
      </p:sp>
      <p:sp>
        <p:nvSpPr>
          <p:cNvPr id="52" name="Text 50"/>
          <p:cNvSpPr/>
          <p:nvPr/>
        </p:nvSpPr>
        <p:spPr>
          <a:xfrm>
            <a:off x="749808" y="5669280"/>
            <a:ext cx="1066190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الخسارة ١٬٢٤٥٬٥٠٣ ريال هامش سنوياً · والشرائع نفس التوقيع في ٤–٥ فبراير بـ٣٩٢٬٩٠٢ · ولا ثالث لهما في ٥٥ محطة</a:t>
            </a:r>
            <a:endParaRPr lang="en-US" sz="12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539728" y="2286000"/>
            <a:ext cx="54864" cy="20116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240280"/>
            <a:ext cx="107533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500" b="1" spc="300" kern="0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القسم الثالث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566928" y="2743200"/>
            <a:ext cx="10753344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3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تقسيم المحطات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566928" y="3611880"/>
            <a:ext cx="107533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نوع الموقع وفئة الإنتاجية — بمصطلحات القطاع</a:t>
            </a:r>
            <a:endParaRPr lang="en-US" sz="14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74320"/>
            <a:ext cx="10113264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خمس شرائح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01132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التصنيف من سلوك العميل: حصة الديزل ثم الدفع المؤسسي ثم الإنتاجية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133856"/>
            <a:ext cx="1102766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64373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 · الإدارة التجارية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45952" y="6437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12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66928" y="1243584"/>
            <a:ext cx="11027664" cy="36576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9" name="Text 7"/>
          <p:cNvSpPr/>
          <p:nvPr/>
        </p:nvSpPr>
        <p:spPr>
          <a:xfrm>
            <a:off x="10090820" y="1243584"/>
            <a:ext cx="150377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الشريحة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8787550" y="1243584"/>
            <a:ext cx="1303269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Site Type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7083275" y="1243584"/>
            <a:ext cx="1704275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قاعدة التصنيف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6381514" y="1243584"/>
            <a:ext cx="701760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محطات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5579503" y="1243584"/>
            <a:ext cx="80201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MLPA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4777491" y="1243584"/>
            <a:ext cx="80201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٪ الحجم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3875227" y="1243584"/>
            <a:ext cx="902263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متوسط التعبئة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3173467" y="1243584"/>
            <a:ext cx="701760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ديزل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2271203" y="1243584"/>
            <a:ext cx="902263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قيمة المعاملة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566928" y="1243584"/>
            <a:ext cx="1704275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المحرّك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566928" y="1609344"/>
            <a:ext cx="11027664" cy="420624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090820" y="1609344"/>
            <a:ext cx="1503772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الطرق السريعة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8787550" y="1609344"/>
            <a:ext cx="1303269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Highway / Transit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7083275" y="1609344"/>
            <a:ext cx="1704275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الديزل ٣٠٪ فأكثر من الحجم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381514" y="1609344"/>
            <a:ext cx="70176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١٦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5579503" y="1609344"/>
            <a:ext cx="802012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٢٤٢٫٨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4777491" y="1609344"/>
            <a:ext cx="802012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٤٤٪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3875227" y="1609344"/>
            <a:ext cx="902263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٣٣٫٠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3173467" y="1609344"/>
            <a:ext cx="70176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٤٣٪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2271203" y="1609344"/>
            <a:ext cx="902263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٦٧٫٩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566928" y="1609344"/>
            <a:ext cx="1704275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سلة التعبئة والتعاقد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566928" y="2029968"/>
            <a:ext cx="11027664" cy="420624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0090820" y="2029968"/>
            <a:ext cx="1503772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الأساطيل التجارية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8787550" y="2029968"/>
            <a:ext cx="1303269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Fleet / Commercial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7083275" y="2029968"/>
            <a:ext cx="1704275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الدفع المؤسسي ١٠٪ فأكثر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6381514" y="2029968"/>
            <a:ext cx="70176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5579503" y="2029968"/>
            <a:ext cx="802012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٣٣٫٣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4777491" y="2029968"/>
            <a:ext cx="802012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٦٪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3875227" y="2029968"/>
            <a:ext cx="902263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٢٣٫٨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3173467" y="2029968"/>
            <a:ext cx="70176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١٥٪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2271203" y="2029968"/>
            <a:ext cx="902263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٥١٫٩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566928" y="2029968"/>
            <a:ext cx="1704275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عمق الحساب المؤسسي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566928" y="2450592"/>
            <a:ext cx="11027664" cy="420624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10090820" y="2450592"/>
            <a:ext cx="1503772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حضرية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8787550" y="2450592"/>
            <a:ext cx="1303269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Urban</a:t>
            </a:r>
            <a:endParaRPr lang="en-US" sz="950" dirty="0"/>
          </a:p>
        </p:txBody>
      </p:sp>
      <p:sp>
        <p:nvSpPr>
          <p:cNvPr id="44" name="Text 42"/>
          <p:cNvSpPr/>
          <p:nvPr/>
        </p:nvSpPr>
        <p:spPr>
          <a:xfrm>
            <a:off x="7083275" y="2450592"/>
            <a:ext cx="1704275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بنزين · ٩ MLPA فأكثر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6381514" y="2450592"/>
            <a:ext cx="70176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١٢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5579503" y="2450592"/>
            <a:ext cx="802012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١٧٦٫٥</a:t>
            </a:r>
            <a:endParaRPr lang="en-US" sz="1100" dirty="0"/>
          </a:p>
        </p:txBody>
      </p:sp>
      <p:sp>
        <p:nvSpPr>
          <p:cNvPr id="47" name="Text 45"/>
          <p:cNvSpPr/>
          <p:nvPr/>
        </p:nvSpPr>
        <p:spPr>
          <a:xfrm>
            <a:off x="4777491" y="2450592"/>
            <a:ext cx="802012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٣٢٪</a:t>
            </a:r>
            <a:endParaRPr lang="en-US" sz="1100" dirty="0"/>
          </a:p>
        </p:txBody>
      </p:sp>
      <p:sp>
        <p:nvSpPr>
          <p:cNvPr id="48" name="Text 46"/>
          <p:cNvSpPr/>
          <p:nvPr/>
        </p:nvSpPr>
        <p:spPr>
          <a:xfrm>
            <a:off x="3875227" y="2450592"/>
            <a:ext cx="902263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٢٢٫٩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3173467" y="2450592"/>
            <a:ext cx="70176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٢٪</a:t>
            </a:r>
            <a:endParaRPr lang="en-US" sz="1100" dirty="0"/>
          </a:p>
        </p:txBody>
      </p:sp>
      <p:sp>
        <p:nvSpPr>
          <p:cNvPr id="50" name="Text 48"/>
          <p:cNvSpPr/>
          <p:nvPr/>
        </p:nvSpPr>
        <p:spPr>
          <a:xfrm>
            <a:off x="2271203" y="2450592"/>
            <a:ext cx="902263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٥١٫٧</a:t>
            </a:r>
            <a:endParaRPr lang="en-US" sz="1100" dirty="0"/>
          </a:p>
        </p:txBody>
      </p:sp>
      <p:sp>
        <p:nvSpPr>
          <p:cNvPr id="51" name="Text 49"/>
          <p:cNvSpPr/>
          <p:nvPr/>
        </p:nvSpPr>
        <p:spPr>
          <a:xfrm>
            <a:off x="566928" y="2450592"/>
            <a:ext cx="1704275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تغطية ساعات الذروة</a:t>
            </a:r>
            <a:endParaRPr lang="en-US" sz="1100" dirty="0"/>
          </a:p>
        </p:txBody>
      </p:sp>
      <p:sp>
        <p:nvSpPr>
          <p:cNvPr id="52" name="Shape 50"/>
          <p:cNvSpPr/>
          <p:nvPr/>
        </p:nvSpPr>
        <p:spPr>
          <a:xfrm>
            <a:off x="566928" y="2871216"/>
            <a:ext cx="11027664" cy="420624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10090820" y="2871216"/>
            <a:ext cx="1503772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الأحياء</a:t>
            </a:r>
            <a:endParaRPr lang="en-US" sz="1100" dirty="0"/>
          </a:p>
        </p:txBody>
      </p:sp>
      <p:sp>
        <p:nvSpPr>
          <p:cNvPr id="54" name="Text 52"/>
          <p:cNvSpPr/>
          <p:nvPr/>
        </p:nvSpPr>
        <p:spPr>
          <a:xfrm>
            <a:off x="8787550" y="2871216"/>
            <a:ext cx="1303269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Neighbourhood</a:t>
            </a:r>
            <a:endParaRPr lang="en-US" sz="950" dirty="0"/>
          </a:p>
        </p:txBody>
      </p:sp>
      <p:sp>
        <p:nvSpPr>
          <p:cNvPr id="55" name="Text 53"/>
          <p:cNvSpPr/>
          <p:nvPr/>
        </p:nvSpPr>
        <p:spPr>
          <a:xfrm>
            <a:off x="7083275" y="2871216"/>
            <a:ext cx="1704275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بنزين · ٤٫٥–٩ MLPA</a:t>
            </a:r>
            <a:endParaRPr lang="en-US" sz="1100" dirty="0"/>
          </a:p>
        </p:txBody>
      </p:sp>
      <p:sp>
        <p:nvSpPr>
          <p:cNvPr id="56" name="Text 54"/>
          <p:cNvSpPr/>
          <p:nvPr/>
        </p:nvSpPr>
        <p:spPr>
          <a:xfrm>
            <a:off x="6381514" y="2871216"/>
            <a:ext cx="70176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١١</a:t>
            </a:r>
            <a:endParaRPr lang="en-US" sz="1100" dirty="0"/>
          </a:p>
        </p:txBody>
      </p:sp>
      <p:sp>
        <p:nvSpPr>
          <p:cNvPr id="57" name="Text 55"/>
          <p:cNvSpPr/>
          <p:nvPr/>
        </p:nvSpPr>
        <p:spPr>
          <a:xfrm>
            <a:off x="5579503" y="2871216"/>
            <a:ext cx="802012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٧٦٫٦</a:t>
            </a:r>
            <a:endParaRPr lang="en-US" sz="1100" dirty="0"/>
          </a:p>
        </p:txBody>
      </p:sp>
      <p:sp>
        <p:nvSpPr>
          <p:cNvPr id="58" name="Text 56"/>
          <p:cNvSpPr/>
          <p:nvPr/>
        </p:nvSpPr>
        <p:spPr>
          <a:xfrm>
            <a:off x="4777491" y="2871216"/>
            <a:ext cx="802012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١٤٪</a:t>
            </a:r>
            <a:endParaRPr lang="en-US" sz="1100" dirty="0"/>
          </a:p>
        </p:txBody>
      </p:sp>
      <p:sp>
        <p:nvSpPr>
          <p:cNvPr id="59" name="Text 57"/>
          <p:cNvSpPr/>
          <p:nvPr/>
        </p:nvSpPr>
        <p:spPr>
          <a:xfrm>
            <a:off x="3875227" y="2871216"/>
            <a:ext cx="902263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٢٢٫٣</a:t>
            </a:r>
            <a:endParaRPr lang="en-US" sz="1100" dirty="0"/>
          </a:p>
        </p:txBody>
      </p:sp>
      <p:sp>
        <p:nvSpPr>
          <p:cNvPr id="60" name="Text 58"/>
          <p:cNvSpPr/>
          <p:nvPr/>
        </p:nvSpPr>
        <p:spPr>
          <a:xfrm>
            <a:off x="3173467" y="2871216"/>
            <a:ext cx="70176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١١٪</a:t>
            </a:r>
            <a:endParaRPr lang="en-US" sz="1100" dirty="0"/>
          </a:p>
        </p:txBody>
      </p:sp>
      <p:sp>
        <p:nvSpPr>
          <p:cNvPr id="61" name="Text 59"/>
          <p:cNvSpPr/>
          <p:nvPr/>
        </p:nvSpPr>
        <p:spPr>
          <a:xfrm>
            <a:off x="2271203" y="2871216"/>
            <a:ext cx="902263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٤٩٫٢</a:t>
            </a:r>
            <a:endParaRPr lang="en-US" sz="1100" dirty="0"/>
          </a:p>
        </p:txBody>
      </p:sp>
      <p:sp>
        <p:nvSpPr>
          <p:cNvPr id="62" name="Text 60"/>
          <p:cNvSpPr/>
          <p:nvPr/>
        </p:nvSpPr>
        <p:spPr>
          <a:xfrm>
            <a:off x="566928" y="2871216"/>
            <a:ext cx="1704275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التردد</a:t>
            </a:r>
            <a:endParaRPr lang="en-US" sz="1100" dirty="0"/>
          </a:p>
        </p:txBody>
      </p:sp>
      <p:sp>
        <p:nvSpPr>
          <p:cNvPr id="63" name="Shape 61"/>
          <p:cNvSpPr/>
          <p:nvPr/>
        </p:nvSpPr>
        <p:spPr>
          <a:xfrm>
            <a:off x="566928" y="3291840"/>
            <a:ext cx="11027664" cy="420624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10090820" y="3291840"/>
            <a:ext cx="1503772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محدودة الإنتاجية</a:t>
            </a:r>
            <a:endParaRPr lang="en-US" sz="1100" dirty="0"/>
          </a:p>
        </p:txBody>
      </p:sp>
      <p:sp>
        <p:nvSpPr>
          <p:cNvPr id="65" name="Text 63"/>
          <p:cNvSpPr/>
          <p:nvPr/>
        </p:nvSpPr>
        <p:spPr>
          <a:xfrm>
            <a:off x="8787550" y="3291840"/>
            <a:ext cx="1303269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Low-Throughput</a:t>
            </a:r>
            <a:endParaRPr lang="en-US" sz="950" dirty="0"/>
          </a:p>
        </p:txBody>
      </p:sp>
      <p:sp>
        <p:nvSpPr>
          <p:cNvPr id="66" name="Text 64"/>
          <p:cNvSpPr/>
          <p:nvPr/>
        </p:nvSpPr>
        <p:spPr>
          <a:xfrm>
            <a:off x="7083275" y="3291840"/>
            <a:ext cx="1704275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دون ٤٫٥ MLPA</a:t>
            </a:r>
            <a:endParaRPr lang="en-US" sz="1100" dirty="0"/>
          </a:p>
        </p:txBody>
      </p:sp>
      <p:sp>
        <p:nvSpPr>
          <p:cNvPr id="67" name="Text 65"/>
          <p:cNvSpPr/>
          <p:nvPr/>
        </p:nvSpPr>
        <p:spPr>
          <a:xfrm>
            <a:off x="6381514" y="3291840"/>
            <a:ext cx="70176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٧</a:t>
            </a:r>
            <a:endParaRPr lang="en-US" sz="1100" dirty="0"/>
          </a:p>
        </p:txBody>
      </p:sp>
      <p:sp>
        <p:nvSpPr>
          <p:cNvPr id="68" name="Text 66"/>
          <p:cNvSpPr/>
          <p:nvPr/>
        </p:nvSpPr>
        <p:spPr>
          <a:xfrm>
            <a:off x="5579503" y="3291840"/>
            <a:ext cx="802012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٢١٫٨</a:t>
            </a:r>
            <a:endParaRPr lang="en-US" sz="1100" dirty="0"/>
          </a:p>
        </p:txBody>
      </p:sp>
      <p:sp>
        <p:nvSpPr>
          <p:cNvPr id="69" name="Text 67"/>
          <p:cNvSpPr/>
          <p:nvPr/>
        </p:nvSpPr>
        <p:spPr>
          <a:xfrm>
            <a:off x="4777491" y="3291840"/>
            <a:ext cx="802012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٤٪</a:t>
            </a:r>
            <a:endParaRPr lang="en-US" sz="1100" dirty="0"/>
          </a:p>
        </p:txBody>
      </p:sp>
      <p:sp>
        <p:nvSpPr>
          <p:cNvPr id="70" name="Text 68"/>
          <p:cNvSpPr/>
          <p:nvPr/>
        </p:nvSpPr>
        <p:spPr>
          <a:xfrm>
            <a:off x="3875227" y="3291840"/>
            <a:ext cx="902263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٢٢٫٦</a:t>
            </a:r>
            <a:endParaRPr lang="en-US" sz="1100" dirty="0"/>
          </a:p>
        </p:txBody>
      </p:sp>
      <p:sp>
        <p:nvSpPr>
          <p:cNvPr id="71" name="Text 69"/>
          <p:cNvSpPr/>
          <p:nvPr/>
        </p:nvSpPr>
        <p:spPr>
          <a:xfrm>
            <a:off x="3173467" y="3291840"/>
            <a:ext cx="70176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٨٪</a:t>
            </a:r>
            <a:endParaRPr lang="en-US" sz="1100" dirty="0"/>
          </a:p>
        </p:txBody>
      </p:sp>
      <p:sp>
        <p:nvSpPr>
          <p:cNvPr id="72" name="Text 70"/>
          <p:cNvSpPr/>
          <p:nvPr/>
        </p:nvSpPr>
        <p:spPr>
          <a:xfrm>
            <a:off x="2271203" y="3291840"/>
            <a:ext cx="902263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٥٠٫٢</a:t>
            </a:r>
            <a:endParaRPr lang="en-US" sz="1100" dirty="0"/>
          </a:p>
        </p:txBody>
      </p:sp>
      <p:sp>
        <p:nvSpPr>
          <p:cNvPr id="73" name="Text 71"/>
          <p:cNvSpPr/>
          <p:nvPr/>
        </p:nvSpPr>
        <p:spPr>
          <a:xfrm>
            <a:off x="566928" y="3291840"/>
            <a:ext cx="1704275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حماية الربحية</a:t>
            </a:r>
            <a:endParaRPr lang="en-US" sz="1100" dirty="0"/>
          </a:p>
        </p:txBody>
      </p:sp>
      <p:sp>
        <p:nvSpPr>
          <p:cNvPr id="74" name="Shape 72"/>
          <p:cNvSpPr/>
          <p:nvPr/>
        </p:nvSpPr>
        <p:spPr>
          <a:xfrm>
            <a:off x="566928" y="3712464"/>
            <a:ext cx="11027664" cy="420624"/>
          </a:xfrm>
          <a:prstGeom prst="rect">
            <a:avLst/>
          </a:prstGeom>
          <a:solidFill>
            <a:srgbClr val="EDE7DE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10090820" y="3712464"/>
            <a:ext cx="1503772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الإجمالي</a:t>
            </a:r>
            <a:endParaRPr lang="en-US" sz="1100" dirty="0"/>
          </a:p>
        </p:txBody>
      </p:sp>
      <p:sp>
        <p:nvSpPr>
          <p:cNvPr id="76" name="Text 74"/>
          <p:cNvSpPr/>
          <p:nvPr/>
        </p:nvSpPr>
        <p:spPr>
          <a:xfrm>
            <a:off x="8787550" y="3712464"/>
            <a:ext cx="1303269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endParaRPr lang="en-US" sz="1100" dirty="0"/>
          </a:p>
        </p:txBody>
      </p:sp>
      <p:sp>
        <p:nvSpPr>
          <p:cNvPr id="77" name="Text 75"/>
          <p:cNvSpPr/>
          <p:nvPr/>
        </p:nvSpPr>
        <p:spPr>
          <a:xfrm>
            <a:off x="7083275" y="3712464"/>
            <a:ext cx="1704275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endParaRPr lang="en-US" sz="1100" dirty="0"/>
          </a:p>
        </p:txBody>
      </p:sp>
      <p:sp>
        <p:nvSpPr>
          <p:cNvPr id="78" name="Text 76"/>
          <p:cNvSpPr/>
          <p:nvPr/>
        </p:nvSpPr>
        <p:spPr>
          <a:xfrm>
            <a:off x="6381514" y="3712464"/>
            <a:ext cx="70176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٥٢</a:t>
            </a:r>
            <a:endParaRPr lang="en-US" sz="1100" dirty="0"/>
          </a:p>
        </p:txBody>
      </p:sp>
      <p:sp>
        <p:nvSpPr>
          <p:cNvPr id="79" name="Text 77"/>
          <p:cNvSpPr/>
          <p:nvPr/>
        </p:nvSpPr>
        <p:spPr>
          <a:xfrm>
            <a:off x="5579503" y="3712464"/>
            <a:ext cx="802012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٥٥١</a:t>
            </a:r>
            <a:endParaRPr lang="en-US" sz="1100" dirty="0"/>
          </a:p>
        </p:txBody>
      </p:sp>
      <p:sp>
        <p:nvSpPr>
          <p:cNvPr id="80" name="Text 78"/>
          <p:cNvSpPr/>
          <p:nvPr/>
        </p:nvSpPr>
        <p:spPr>
          <a:xfrm>
            <a:off x="4777491" y="3712464"/>
            <a:ext cx="802012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١٠٠٪</a:t>
            </a:r>
            <a:endParaRPr lang="en-US" sz="1100" dirty="0"/>
          </a:p>
        </p:txBody>
      </p:sp>
      <p:sp>
        <p:nvSpPr>
          <p:cNvPr id="81" name="Text 79"/>
          <p:cNvSpPr/>
          <p:nvPr/>
        </p:nvSpPr>
        <p:spPr>
          <a:xfrm>
            <a:off x="3875227" y="3712464"/>
            <a:ext cx="902263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٢٥٫٣</a:t>
            </a:r>
            <a:endParaRPr lang="en-US" sz="1100" dirty="0"/>
          </a:p>
        </p:txBody>
      </p:sp>
      <p:sp>
        <p:nvSpPr>
          <p:cNvPr id="82" name="Text 80"/>
          <p:cNvSpPr/>
          <p:nvPr/>
        </p:nvSpPr>
        <p:spPr>
          <a:xfrm>
            <a:off x="3173467" y="3712464"/>
            <a:ext cx="70176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٢٠٪</a:t>
            </a:r>
            <a:endParaRPr lang="en-US" sz="1100" dirty="0"/>
          </a:p>
        </p:txBody>
      </p:sp>
      <p:sp>
        <p:nvSpPr>
          <p:cNvPr id="83" name="Text 81"/>
          <p:cNvSpPr/>
          <p:nvPr/>
        </p:nvSpPr>
        <p:spPr>
          <a:xfrm>
            <a:off x="2271203" y="3712464"/>
            <a:ext cx="902263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٥٧٫٢</a:t>
            </a:r>
            <a:endParaRPr lang="en-US" sz="1100" dirty="0"/>
          </a:p>
        </p:txBody>
      </p:sp>
      <p:sp>
        <p:nvSpPr>
          <p:cNvPr id="84" name="Text 82"/>
          <p:cNvSpPr/>
          <p:nvPr/>
        </p:nvSpPr>
        <p:spPr>
          <a:xfrm>
            <a:off x="566928" y="3712464"/>
            <a:ext cx="1704275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endParaRPr lang="en-US" sz="1100" dirty="0"/>
          </a:p>
        </p:txBody>
      </p:sp>
      <p:sp>
        <p:nvSpPr>
          <p:cNvPr id="85" name="Text 83"/>
          <p:cNvSpPr/>
          <p:nvPr/>
        </p:nvSpPr>
        <p:spPr>
          <a:xfrm>
            <a:off x="566928" y="4023360"/>
            <a:ext cx="110276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فئة الإنتاجية — بمقياس MLPA</a:t>
            </a:r>
            <a:endParaRPr lang="en-US" sz="1350" dirty="0"/>
          </a:p>
        </p:txBody>
      </p:sp>
      <p:sp>
        <p:nvSpPr>
          <p:cNvPr id="86" name="Shape 84"/>
          <p:cNvSpPr/>
          <p:nvPr/>
        </p:nvSpPr>
        <p:spPr>
          <a:xfrm>
            <a:off x="8040624" y="4352544"/>
            <a:ext cx="3553968" cy="960120"/>
          </a:xfrm>
          <a:prstGeom prst="roundRect">
            <a:avLst>
              <a:gd name="adj" fmla="val 4762"/>
            </a:avLst>
          </a:prstGeom>
          <a:solidFill>
            <a:srgbClr val="F7F4EF"/>
          </a:solidFill>
          <a:ln w="15240">
            <a:solidFill>
              <a:srgbClr val="F5831F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8040624" y="4352544"/>
            <a:ext cx="3553968" cy="4572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88" name="Text 86"/>
          <p:cNvSpPr/>
          <p:nvPr/>
        </p:nvSpPr>
        <p:spPr>
          <a:xfrm>
            <a:off x="10405872" y="4462272"/>
            <a:ext cx="107899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فئة أ</a:t>
            </a:r>
            <a:endParaRPr lang="en-US" sz="1500" dirty="0"/>
          </a:p>
        </p:txBody>
      </p:sp>
      <p:sp>
        <p:nvSpPr>
          <p:cNvPr id="89" name="Text 87"/>
          <p:cNvSpPr/>
          <p:nvPr/>
        </p:nvSpPr>
        <p:spPr>
          <a:xfrm>
            <a:off x="8150352" y="4480560"/>
            <a:ext cx="2182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٩ MLPA فأكثر</a:t>
            </a:r>
            <a:endParaRPr lang="en-US" sz="1100" dirty="0"/>
          </a:p>
        </p:txBody>
      </p:sp>
      <p:sp>
        <p:nvSpPr>
          <p:cNvPr id="90" name="Text 88"/>
          <p:cNvSpPr/>
          <p:nvPr/>
        </p:nvSpPr>
        <p:spPr>
          <a:xfrm>
            <a:off x="8150352" y="4809744"/>
            <a:ext cx="33345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٢٣ محطة  ·  ٣٩٢٫٤ MLPA</a:t>
            </a:r>
            <a:endParaRPr lang="en-US" sz="1250" dirty="0"/>
          </a:p>
        </p:txBody>
      </p:sp>
      <p:sp>
        <p:nvSpPr>
          <p:cNvPr id="91" name="Shape 89"/>
          <p:cNvSpPr/>
          <p:nvPr/>
        </p:nvSpPr>
        <p:spPr>
          <a:xfrm>
            <a:off x="4303776" y="4352544"/>
            <a:ext cx="3553968" cy="960120"/>
          </a:xfrm>
          <a:prstGeom prst="roundRect">
            <a:avLst>
              <a:gd name="adj" fmla="val 4762"/>
            </a:avLst>
          </a:prstGeom>
          <a:solidFill>
            <a:srgbClr val="F7F4EF"/>
          </a:solidFill>
          <a:ln w="15240">
            <a:solidFill>
              <a:srgbClr val="F7A94B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4303776" y="4352544"/>
            <a:ext cx="3553968" cy="45720"/>
          </a:xfrm>
          <a:prstGeom prst="rect">
            <a:avLst/>
          </a:prstGeom>
          <a:solidFill>
            <a:srgbClr val="F7A94B"/>
          </a:solidFill>
          <a:ln/>
        </p:spPr>
      </p:sp>
      <p:sp>
        <p:nvSpPr>
          <p:cNvPr id="93" name="Text 91"/>
          <p:cNvSpPr/>
          <p:nvPr/>
        </p:nvSpPr>
        <p:spPr>
          <a:xfrm>
            <a:off x="6669024" y="4462272"/>
            <a:ext cx="107899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F7A94B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فئة ب</a:t>
            </a:r>
            <a:endParaRPr lang="en-US" sz="1500" dirty="0"/>
          </a:p>
        </p:txBody>
      </p:sp>
      <p:sp>
        <p:nvSpPr>
          <p:cNvPr id="94" name="Text 92"/>
          <p:cNvSpPr/>
          <p:nvPr/>
        </p:nvSpPr>
        <p:spPr>
          <a:xfrm>
            <a:off x="4413504" y="4480560"/>
            <a:ext cx="2182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٤٫٥ إلى ٩</a:t>
            </a:r>
            <a:endParaRPr lang="en-US" sz="1100" dirty="0"/>
          </a:p>
        </p:txBody>
      </p:sp>
      <p:sp>
        <p:nvSpPr>
          <p:cNvPr id="95" name="Text 93"/>
          <p:cNvSpPr/>
          <p:nvPr/>
        </p:nvSpPr>
        <p:spPr>
          <a:xfrm>
            <a:off x="4413504" y="4809744"/>
            <a:ext cx="33345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١٨ محطة  ·  ١٢٣٫٥ MLPA</a:t>
            </a:r>
            <a:endParaRPr lang="en-US" sz="1250" dirty="0"/>
          </a:p>
        </p:txBody>
      </p:sp>
      <p:sp>
        <p:nvSpPr>
          <p:cNvPr id="96" name="Shape 94"/>
          <p:cNvSpPr/>
          <p:nvPr/>
        </p:nvSpPr>
        <p:spPr>
          <a:xfrm>
            <a:off x="566928" y="4352544"/>
            <a:ext cx="3553968" cy="960120"/>
          </a:xfrm>
          <a:prstGeom prst="roundRect">
            <a:avLst>
              <a:gd name="adj" fmla="val 4762"/>
            </a:avLst>
          </a:prstGeom>
          <a:solidFill>
            <a:srgbClr val="F7F4EF"/>
          </a:solidFill>
          <a:ln w="15240">
            <a:solidFill>
              <a:srgbClr val="55565A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566928" y="4352544"/>
            <a:ext cx="3553968" cy="4572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98" name="Text 96"/>
          <p:cNvSpPr/>
          <p:nvPr/>
        </p:nvSpPr>
        <p:spPr>
          <a:xfrm>
            <a:off x="2932176" y="4462272"/>
            <a:ext cx="107899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فئة ج</a:t>
            </a:r>
            <a:endParaRPr lang="en-US" sz="1500" dirty="0"/>
          </a:p>
        </p:txBody>
      </p:sp>
      <p:sp>
        <p:nvSpPr>
          <p:cNvPr id="99" name="Text 97"/>
          <p:cNvSpPr/>
          <p:nvPr/>
        </p:nvSpPr>
        <p:spPr>
          <a:xfrm>
            <a:off x="676656" y="4480560"/>
            <a:ext cx="2182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دون ٤٫٥</a:t>
            </a:r>
            <a:endParaRPr lang="en-US" sz="1100" dirty="0"/>
          </a:p>
        </p:txBody>
      </p:sp>
      <p:sp>
        <p:nvSpPr>
          <p:cNvPr id="100" name="Text 98"/>
          <p:cNvSpPr/>
          <p:nvPr/>
        </p:nvSpPr>
        <p:spPr>
          <a:xfrm>
            <a:off x="676656" y="4809744"/>
            <a:ext cx="33345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١١ محطة  ·  ٣٥٫٢ MLPA</a:t>
            </a:r>
            <a:endParaRPr lang="en-US" sz="1250" dirty="0"/>
          </a:p>
        </p:txBody>
      </p:sp>
      <p:sp>
        <p:nvSpPr>
          <p:cNvPr id="101" name="Text 99"/>
          <p:cNvSpPr/>
          <p:nvPr/>
        </p:nvSpPr>
        <p:spPr>
          <a:xfrm>
            <a:off x="566928" y="6144768"/>
            <a:ext cx="110276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95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الشبكة ٥٥١ MLPA على ٥٢ محطة — متوسط ١٠٫٦ للمحطة</a:t>
            </a:r>
            <a:endParaRPr lang="en-US" sz="9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74320"/>
            <a:ext cx="10113264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القمة والقاع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01132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الإنتاجية اليومية · الترتيب يقود توزيع الجهد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133856"/>
            <a:ext cx="1102766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64373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 · الإدارة التجارية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45952" y="6437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13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6246175" y="1225296"/>
            <a:ext cx="5348417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rgbClr val="2E8B6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أعلى ٨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246175" y="1536192"/>
            <a:ext cx="5348417" cy="36576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10" name="Text 8"/>
          <p:cNvSpPr/>
          <p:nvPr/>
        </p:nvSpPr>
        <p:spPr>
          <a:xfrm>
            <a:off x="10043551" y="1536192"/>
            <a:ext cx="1551041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المحطة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9508709" y="1536192"/>
            <a:ext cx="53484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الكود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8439026" y="1536192"/>
            <a:ext cx="1069683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الشريحة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7850700" y="1536192"/>
            <a:ext cx="588326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MLPA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7262374" y="1536192"/>
            <a:ext cx="588326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معاملات/يوم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6781017" y="1536192"/>
            <a:ext cx="481358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التعبئة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246175" y="1536192"/>
            <a:ext cx="53484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المعاملة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6246175" y="1901952"/>
            <a:ext cx="5348417" cy="342900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043551" y="1901952"/>
            <a:ext cx="1551041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العمرة الجديدة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9508709" y="1901952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MK007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8439026" y="1901952"/>
            <a:ext cx="106968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الطرق السريعة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7850700" y="1901952"/>
            <a:ext cx="58832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٤٧٫٥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7262374" y="1901952"/>
            <a:ext cx="58832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٤٬٢٦١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6781017" y="1901952"/>
            <a:ext cx="481358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٣٠٫٦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6246175" y="1901952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٦٤٫٥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6246175" y="2244852"/>
            <a:ext cx="5348417" cy="342900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0043551" y="2244852"/>
            <a:ext cx="1551041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العوالي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9508709" y="2244852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MK003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8439026" y="2244852"/>
            <a:ext cx="106968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حضرية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7850700" y="2244852"/>
            <a:ext cx="58832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٣٤٫٦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7262374" y="2244852"/>
            <a:ext cx="58832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٣٬٤٩٢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6781017" y="2244852"/>
            <a:ext cx="481358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٢٧٫٢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6246175" y="2244852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٦١٫٤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6246175" y="2587752"/>
            <a:ext cx="5348417" cy="342900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0043551" y="2587752"/>
            <a:ext cx="1551041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عاصفة الصحراء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9508709" y="2587752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MK004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8439026" y="2587752"/>
            <a:ext cx="106968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الطرق السريعة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7850700" y="2587752"/>
            <a:ext cx="58832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٣١٫٣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7262374" y="2587752"/>
            <a:ext cx="58832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٢٬٢١٠</a:t>
            </a:r>
            <a:endParaRPr lang="en-US" sz="950" dirty="0"/>
          </a:p>
        </p:txBody>
      </p:sp>
      <p:sp>
        <p:nvSpPr>
          <p:cNvPr id="39" name="Text 37"/>
          <p:cNvSpPr/>
          <p:nvPr/>
        </p:nvSpPr>
        <p:spPr>
          <a:xfrm>
            <a:off x="6781017" y="2587752"/>
            <a:ext cx="481358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٣٨٫٨</a:t>
            </a:r>
            <a:endParaRPr lang="en-US" sz="950" dirty="0"/>
          </a:p>
        </p:txBody>
      </p:sp>
      <p:sp>
        <p:nvSpPr>
          <p:cNvPr id="40" name="Text 38"/>
          <p:cNvSpPr/>
          <p:nvPr/>
        </p:nvSpPr>
        <p:spPr>
          <a:xfrm>
            <a:off x="6246175" y="2587752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٨١٫١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6246175" y="2930652"/>
            <a:ext cx="5348417" cy="342900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10043551" y="2930652"/>
            <a:ext cx="1551041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طريق الليث - الفضيل</a:t>
            </a:r>
            <a:endParaRPr lang="en-US" sz="950" dirty="0"/>
          </a:p>
        </p:txBody>
      </p:sp>
      <p:sp>
        <p:nvSpPr>
          <p:cNvPr id="43" name="Text 41"/>
          <p:cNvSpPr/>
          <p:nvPr/>
        </p:nvSpPr>
        <p:spPr>
          <a:xfrm>
            <a:off x="9508709" y="2930652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MK289</a:t>
            </a:r>
            <a:endParaRPr lang="en-US" sz="950" dirty="0"/>
          </a:p>
        </p:txBody>
      </p:sp>
      <p:sp>
        <p:nvSpPr>
          <p:cNvPr id="44" name="Text 42"/>
          <p:cNvSpPr/>
          <p:nvPr/>
        </p:nvSpPr>
        <p:spPr>
          <a:xfrm>
            <a:off x="8439026" y="2930652"/>
            <a:ext cx="106968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الطرق السريعة</a:t>
            </a:r>
            <a:endParaRPr lang="en-US" sz="950" dirty="0"/>
          </a:p>
        </p:txBody>
      </p:sp>
      <p:sp>
        <p:nvSpPr>
          <p:cNvPr id="45" name="Text 43"/>
          <p:cNvSpPr/>
          <p:nvPr/>
        </p:nvSpPr>
        <p:spPr>
          <a:xfrm>
            <a:off x="7850700" y="2930652"/>
            <a:ext cx="58832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٣١٫٢</a:t>
            </a:r>
            <a:endParaRPr lang="en-US" sz="950" dirty="0"/>
          </a:p>
        </p:txBody>
      </p:sp>
      <p:sp>
        <p:nvSpPr>
          <p:cNvPr id="46" name="Text 44"/>
          <p:cNvSpPr/>
          <p:nvPr/>
        </p:nvSpPr>
        <p:spPr>
          <a:xfrm>
            <a:off x="7262374" y="2930652"/>
            <a:ext cx="58832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١٬٨٧٨</a:t>
            </a:r>
            <a:endParaRPr lang="en-US" sz="950" dirty="0"/>
          </a:p>
        </p:txBody>
      </p:sp>
      <p:sp>
        <p:nvSpPr>
          <p:cNvPr id="47" name="Text 45"/>
          <p:cNvSpPr/>
          <p:nvPr/>
        </p:nvSpPr>
        <p:spPr>
          <a:xfrm>
            <a:off x="6781017" y="2930652"/>
            <a:ext cx="481358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٤٥٫٥</a:t>
            </a:r>
            <a:endParaRPr lang="en-US" sz="950" dirty="0"/>
          </a:p>
        </p:txBody>
      </p:sp>
      <p:sp>
        <p:nvSpPr>
          <p:cNvPr id="48" name="Text 46"/>
          <p:cNvSpPr/>
          <p:nvPr/>
        </p:nvSpPr>
        <p:spPr>
          <a:xfrm>
            <a:off x="6246175" y="2930652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٨٧٫٦</a:t>
            </a:r>
            <a:endParaRPr lang="en-US" sz="950" dirty="0"/>
          </a:p>
        </p:txBody>
      </p:sp>
      <p:sp>
        <p:nvSpPr>
          <p:cNvPr id="49" name="Shape 47"/>
          <p:cNvSpPr/>
          <p:nvPr/>
        </p:nvSpPr>
        <p:spPr>
          <a:xfrm>
            <a:off x="6246175" y="3273552"/>
            <a:ext cx="5348417" cy="342900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10043551" y="3273552"/>
            <a:ext cx="1551041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الحليس - طريق الجنو</a:t>
            </a:r>
            <a:endParaRPr lang="en-US" sz="950" dirty="0"/>
          </a:p>
        </p:txBody>
      </p:sp>
      <p:sp>
        <p:nvSpPr>
          <p:cNvPr id="51" name="Text 49"/>
          <p:cNvSpPr/>
          <p:nvPr/>
        </p:nvSpPr>
        <p:spPr>
          <a:xfrm>
            <a:off x="9508709" y="3273552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MK046</a:t>
            </a:r>
            <a:endParaRPr lang="en-US" sz="950" dirty="0"/>
          </a:p>
        </p:txBody>
      </p:sp>
      <p:sp>
        <p:nvSpPr>
          <p:cNvPr id="52" name="Text 50"/>
          <p:cNvSpPr/>
          <p:nvPr/>
        </p:nvSpPr>
        <p:spPr>
          <a:xfrm>
            <a:off x="8439026" y="3273552"/>
            <a:ext cx="106968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الطرق السريعة</a:t>
            </a:r>
            <a:endParaRPr lang="en-US" sz="950" dirty="0"/>
          </a:p>
        </p:txBody>
      </p:sp>
      <p:sp>
        <p:nvSpPr>
          <p:cNvPr id="53" name="Text 51"/>
          <p:cNvSpPr/>
          <p:nvPr/>
        </p:nvSpPr>
        <p:spPr>
          <a:xfrm>
            <a:off x="7850700" y="3273552"/>
            <a:ext cx="58832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٢١٫٥</a:t>
            </a:r>
            <a:endParaRPr lang="en-US" sz="950" dirty="0"/>
          </a:p>
        </p:txBody>
      </p:sp>
      <p:sp>
        <p:nvSpPr>
          <p:cNvPr id="54" name="Text 52"/>
          <p:cNvSpPr/>
          <p:nvPr/>
        </p:nvSpPr>
        <p:spPr>
          <a:xfrm>
            <a:off x="7262374" y="3273552"/>
            <a:ext cx="58832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١٬٨٣٦</a:t>
            </a:r>
            <a:endParaRPr lang="en-US" sz="950" dirty="0"/>
          </a:p>
        </p:txBody>
      </p:sp>
      <p:sp>
        <p:nvSpPr>
          <p:cNvPr id="55" name="Text 53"/>
          <p:cNvSpPr/>
          <p:nvPr/>
        </p:nvSpPr>
        <p:spPr>
          <a:xfrm>
            <a:off x="6781017" y="3273552"/>
            <a:ext cx="481358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٣٢٫١</a:t>
            </a:r>
            <a:endParaRPr lang="en-US" sz="950" dirty="0"/>
          </a:p>
        </p:txBody>
      </p:sp>
      <p:sp>
        <p:nvSpPr>
          <p:cNvPr id="56" name="Text 54"/>
          <p:cNvSpPr/>
          <p:nvPr/>
        </p:nvSpPr>
        <p:spPr>
          <a:xfrm>
            <a:off x="6246175" y="3273552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٦٨٫٠</a:t>
            </a:r>
            <a:endParaRPr lang="en-US" sz="950" dirty="0"/>
          </a:p>
        </p:txBody>
      </p:sp>
      <p:sp>
        <p:nvSpPr>
          <p:cNvPr id="57" name="Shape 55"/>
          <p:cNvSpPr/>
          <p:nvPr/>
        </p:nvSpPr>
        <p:spPr>
          <a:xfrm>
            <a:off x="6246175" y="3616452"/>
            <a:ext cx="5348417" cy="342900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10043551" y="3616452"/>
            <a:ext cx="1551041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القادسية</a:t>
            </a:r>
            <a:endParaRPr lang="en-US" sz="950" dirty="0"/>
          </a:p>
        </p:txBody>
      </p:sp>
      <p:sp>
        <p:nvSpPr>
          <p:cNvPr id="59" name="Text 57"/>
          <p:cNvSpPr/>
          <p:nvPr/>
        </p:nvSpPr>
        <p:spPr>
          <a:xfrm>
            <a:off x="9508709" y="3616452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MK047</a:t>
            </a:r>
            <a:endParaRPr lang="en-US" sz="950" dirty="0"/>
          </a:p>
        </p:txBody>
      </p:sp>
      <p:sp>
        <p:nvSpPr>
          <p:cNvPr id="60" name="Text 58"/>
          <p:cNvSpPr/>
          <p:nvPr/>
        </p:nvSpPr>
        <p:spPr>
          <a:xfrm>
            <a:off x="8439026" y="3616452"/>
            <a:ext cx="106968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الطرق السريعة</a:t>
            </a:r>
            <a:endParaRPr lang="en-US" sz="950" dirty="0"/>
          </a:p>
        </p:txBody>
      </p:sp>
      <p:sp>
        <p:nvSpPr>
          <p:cNvPr id="61" name="Text 59"/>
          <p:cNvSpPr/>
          <p:nvPr/>
        </p:nvSpPr>
        <p:spPr>
          <a:xfrm>
            <a:off x="7850700" y="3616452"/>
            <a:ext cx="58832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١٧٫٤</a:t>
            </a:r>
            <a:endParaRPr lang="en-US" sz="950" dirty="0"/>
          </a:p>
        </p:txBody>
      </p:sp>
      <p:sp>
        <p:nvSpPr>
          <p:cNvPr id="62" name="Text 60"/>
          <p:cNvSpPr/>
          <p:nvPr/>
        </p:nvSpPr>
        <p:spPr>
          <a:xfrm>
            <a:off x="7262374" y="3616452"/>
            <a:ext cx="58832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١٬٦٨٩</a:t>
            </a:r>
            <a:endParaRPr lang="en-US" sz="950" dirty="0"/>
          </a:p>
        </p:txBody>
      </p:sp>
      <p:sp>
        <p:nvSpPr>
          <p:cNvPr id="63" name="Text 61"/>
          <p:cNvSpPr/>
          <p:nvPr/>
        </p:nvSpPr>
        <p:spPr>
          <a:xfrm>
            <a:off x="6781017" y="3616452"/>
            <a:ext cx="481358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٢٨٫٢</a:t>
            </a:r>
            <a:endParaRPr lang="en-US" sz="950" dirty="0"/>
          </a:p>
        </p:txBody>
      </p:sp>
      <p:sp>
        <p:nvSpPr>
          <p:cNvPr id="64" name="Text 62"/>
          <p:cNvSpPr/>
          <p:nvPr/>
        </p:nvSpPr>
        <p:spPr>
          <a:xfrm>
            <a:off x="6246175" y="3616452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٥٩٫٤</a:t>
            </a:r>
            <a:endParaRPr lang="en-US" sz="950" dirty="0"/>
          </a:p>
        </p:txBody>
      </p:sp>
      <p:sp>
        <p:nvSpPr>
          <p:cNvPr id="65" name="Shape 63"/>
          <p:cNvSpPr/>
          <p:nvPr/>
        </p:nvSpPr>
        <p:spPr>
          <a:xfrm>
            <a:off x="6246175" y="3959352"/>
            <a:ext cx="5348417" cy="342900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10043551" y="3959352"/>
            <a:ext cx="1551041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الشيباني</a:t>
            </a:r>
            <a:endParaRPr lang="en-US" sz="950" dirty="0"/>
          </a:p>
        </p:txBody>
      </p:sp>
      <p:sp>
        <p:nvSpPr>
          <p:cNvPr id="67" name="Text 65"/>
          <p:cNvSpPr/>
          <p:nvPr/>
        </p:nvSpPr>
        <p:spPr>
          <a:xfrm>
            <a:off x="9508709" y="3959352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MK005</a:t>
            </a:r>
            <a:endParaRPr lang="en-US" sz="950" dirty="0"/>
          </a:p>
        </p:txBody>
      </p:sp>
      <p:sp>
        <p:nvSpPr>
          <p:cNvPr id="68" name="Text 66"/>
          <p:cNvSpPr/>
          <p:nvPr/>
        </p:nvSpPr>
        <p:spPr>
          <a:xfrm>
            <a:off x="8439026" y="3959352"/>
            <a:ext cx="106968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حضرية</a:t>
            </a:r>
            <a:endParaRPr lang="en-US" sz="950" dirty="0"/>
          </a:p>
        </p:txBody>
      </p:sp>
      <p:sp>
        <p:nvSpPr>
          <p:cNvPr id="69" name="Text 67"/>
          <p:cNvSpPr/>
          <p:nvPr/>
        </p:nvSpPr>
        <p:spPr>
          <a:xfrm>
            <a:off x="7850700" y="3959352"/>
            <a:ext cx="58832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١٦٫٧</a:t>
            </a:r>
            <a:endParaRPr lang="en-US" sz="950" dirty="0"/>
          </a:p>
        </p:txBody>
      </p:sp>
      <p:sp>
        <p:nvSpPr>
          <p:cNvPr id="70" name="Text 68"/>
          <p:cNvSpPr/>
          <p:nvPr/>
        </p:nvSpPr>
        <p:spPr>
          <a:xfrm>
            <a:off x="7262374" y="3959352"/>
            <a:ext cx="58832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١٬٧٣٤</a:t>
            </a:r>
            <a:endParaRPr lang="en-US" sz="950" dirty="0"/>
          </a:p>
        </p:txBody>
      </p:sp>
      <p:sp>
        <p:nvSpPr>
          <p:cNvPr id="71" name="Text 69"/>
          <p:cNvSpPr/>
          <p:nvPr/>
        </p:nvSpPr>
        <p:spPr>
          <a:xfrm>
            <a:off x="6781017" y="3959352"/>
            <a:ext cx="481358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٢٦٫٣</a:t>
            </a:r>
            <a:endParaRPr lang="en-US" sz="950" dirty="0"/>
          </a:p>
        </p:txBody>
      </p:sp>
      <p:sp>
        <p:nvSpPr>
          <p:cNvPr id="72" name="Text 70"/>
          <p:cNvSpPr/>
          <p:nvPr/>
        </p:nvSpPr>
        <p:spPr>
          <a:xfrm>
            <a:off x="6246175" y="3959352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٥٩٫٨</a:t>
            </a:r>
            <a:endParaRPr lang="en-US" sz="950" dirty="0"/>
          </a:p>
        </p:txBody>
      </p:sp>
      <p:sp>
        <p:nvSpPr>
          <p:cNvPr id="73" name="Shape 71"/>
          <p:cNvSpPr/>
          <p:nvPr/>
        </p:nvSpPr>
        <p:spPr>
          <a:xfrm>
            <a:off x="6246175" y="4302252"/>
            <a:ext cx="5348417" cy="342900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10043551" y="4302252"/>
            <a:ext cx="1551041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النسيم</a:t>
            </a:r>
            <a:endParaRPr lang="en-US" sz="950" dirty="0"/>
          </a:p>
        </p:txBody>
      </p:sp>
      <p:sp>
        <p:nvSpPr>
          <p:cNvPr id="75" name="Text 73"/>
          <p:cNvSpPr/>
          <p:nvPr/>
        </p:nvSpPr>
        <p:spPr>
          <a:xfrm>
            <a:off x="9508709" y="4302252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MK015</a:t>
            </a:r>
            <a:endParaRPr lang="en-US" sz="950" dirty="0"/>
          </a:p>
        </p:txBody>
      </p:sp>
      <p:sp>
        <p:nvSpPr>
          <p:cNvPr id="76" name="Text 74"/>
          <p:cNvSpPr/>
          <p:nvPr/>
        </p:nvSpPr>
        <p:spPr>
          <a:xfrm>
            <a:off x="8439026" y="4302252"/>
            <a:ext cx="106968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حضرية</a:t>
            </a:r>
            <a:endParaRPr lang="en-US" sz="950" dirty="0"/>
          </a:p>
        </p:txBody>
      </p:sp>
      <p:sp>
        <p:nvSpPr>
          <p:cNvPr id="77" name="Text 75"/>
          <p:cNvSpPr/>
          <p:nvPr/>
        </p:nvSpPr>
        <p:spPr>
          <a:xfrm>
            <a:off x="7850700" y="4302252"/>
            <a:ext cx="58832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١٦٫٠</a:t>
            </a:r>
            <a:endParaRPr lang="en-US" sz="950" dirty="0"/>
          </a:p>
        </p:txBody>
      </p:sp>
      <p:sp>
        <p:nvSpPr>
          <p:cNvPr id="78" name="Text 76"/>
          <p:cNvSpPr/>
          <p:nvPr/>
        </p:nvSpPr>
        <p:spPr>
          <a:xfrm>
            <a:off x="7262374" y="4302252"/>
            <a:ext cx="58832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١٬٩٩٨</a:t>
            </a:r>
            <a:endParaRPr lang="en-US" sz="950" dirty="0"/>
          </a:p>
        </p:txBody>
      </p:sp>
      <p:sp>
        <p:nvSpPr>
          <p:cNvPr id="79" name="Text 77"/>
          <p:cNvSpPr/>
          <p:nvPr/>
        </p:nvSpPr>
        <p:spPr>
          <a:xfrm>
            <a:off x="6781017" y="4302252"/>
            <a:ext cx="481358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٢٢٫٠</a:t>
            </a:r>
            <a:endParaRPr lang="en-US" sz="950" dirty="0"/>
          </a:p>
        </p:txBody>
      </p:sp>
      <p:sp>
        <p:nvSpPr>
          <p:cNvPr id="80" name="Text 78"/>
          <p:cNvSpPr/>
          <p:nvPr/>
        </p:nvSpPr>
        <p:spPr>
          <a:xfrm>
            <a:off x="6246175" y="4302252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٤٩٫٦</a:t>
            </a:r>
            <a:endParaRPr lang="en-US" sz="950" dirty="0"/>
          </a:p>
        </p:txBody>
      </p:sp>
      <p:sp>
        <p:nvSpPr>
          <p:cNvPr id="81" name="Text 79"/>
          <p:cNvSpPr/>
          <p:nvPr/>
        </p:nvSpPr>
        <p:spPr>
          <a:xfrm>
            <a:off x="566928" y="1225296"/>
            <a:ext cx="5348417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rgbClr val="C0503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أدنى ٨</a:t>
            </a:r>
            <a:endParaRPr lang="en-US" sz="1300" dirty="0"/>
          </a:p>
        </p:txBody>
      </p:sp>
      <p:sp>
        <p:nvSpPr>
          <p:cNvPr id="82" name="Shape 80"/>
          <p:cNvSpPr/>
          <p:nvPr/>
        </p:nvSpPr>
        <p:spPr>
          <a:xfrm>
            <a:off x="566928" y="1536192"/>
            <a:ext cx="5348417" cy="36576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83" name="Text 81"/>
          <p:cNvSpPr/>
          <p:nvPr/>
        </p:nvSpPr>
        <p:spPr>
          <a:xfrm>
            <a:off x="4364304" y="1536192"/>
            <a:ext cx="1551041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المحطة</a:t>
            </a:r>
            <a:endParaRPr lang="en-US" sz="950" dirty="0"/>
          </a:p>
        </p:txBody>
      </p:sp>
      <p:sp>
        <p:nvSpPr>
          <p:cNvPr id="84" name="Text 82"/>
          <p:cNvSpPr/>
          <p:nvPr/>
        </p:nvSpPr>
        <p:spPr>
          <a:xfrm>
            <a:off x="3829462" y="1536192"/>
            <a:ext cx="53484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الكود</a:t>
            </a:r>
            <a:endParaRPr lang="en-US" sz="950" dirty="0"/>
          </a:p>
        </p:txBody>
      </p:sp>
      <p:sp>
        <p:nvSpPr>
          <p:cNvPr id="85" name="Text 83"/>
          <p:cNvSpPr/>
          <p:nvPr/>
        </p:nvSpPr>
        <p:spPr>
          <a:xfrm>
            <a:off x="2759779" y="1536192"/>
            <a:ext cx="1069683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الشريحة</a:t>
            </a:r>
            <a:endParaRPr lang="en-US" sz="950" dirty="0"/>
          </a:p>
        </p:txBody>
      </p:sp>
      <p:sp>
        <p:nvSpPr>
          <p:cNvPr id="86" name="Text 84"/>
          <p:cNvSpPr/>
          <p:nvPr/>
        </p:nvSpPr>
        <p:spPr>
          <a:xfrm>
            <a:off x="2171453" y="1536192"/>
            <a:ext cx="588326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MLPA</a:t>
            </a:r>
            <a:endParaRPr lang="en-US" sz="950" dirty="0"/>
          </a:p>
        </p:txBody>
      </p:sp>
      <p:sp>
        <p:nvSpPr>
          <p:cNvPr id="87" name="Text 85"/>
          <p:cNvSpPr/>
          <p:nvPr/>
        </p:nvSpPr>
        <p:spPr>
          <a:xfrm>
            <a:off x="1583127" y="1536192"/>
            <a:ext cx="588326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معاملات/يوم</a:t>
            </a:r>
            <a:endParaRPr lang="en-US" sz="950" dirty="0"/>
          </a:p>
        </p:txBody>
      </p:sp>
      <p:sp>
        <p:nvSpPr>
          <p:cNvPr id="88" name="Text 86"/>
          <p:cNvSpPr/>
          <p:nvPr/>
        </p:nvSpPr>
        <p:spPr>
          <a:xfrm>
            <a:off x="1101770" y="1536192"/>
            <a:ext cx="481358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التعبئة</a:t>
            </a:r>
            <a:endParaRPr lang="en-US" sz="950" dirty="0"/>
          </a:p>
        </p:txBody>
      </p:sp>
      <p:sp>
        <p:nvSpPr>
          <p:cNvPr id="89" name="Text 87"/>
          <p:cNvSpPr/>
          <p:nvPr/>
        </p:nvSpPr>
        <p:spPr>
          <a:xfrm>
            <a:off x="566928" y="1536192"/>
            <a:ext cx="53484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المعاملة</a:t>
            </a:r>
            <a:endParaRPr lang="en-US" sz="950" dirty="0"/>
          </a:p>
        </p:txBody>
      </p:sp>
      <p:sp>
        <p:nvSpPr>
          <p:cNvPr id="90" name="Shape 88"/>
          <p:cNvSpPr/>
          <p:nvPr/>
        </p:nvSpPr>
        <p:spPr>
          <a:xfrm>
            <a:off x="566928" y="1901952"/>
            <a:ext cx="5348417" cy="342900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91" name="Text 89"/>
          <p:cNvSpPr/>
          <p:nvPr/>
        </p:nvSpPr>
        <p:spPr>
          <a:xfrm>
            <a:off x="4364304" y="1901952"/>
            <a:ext cx="1551041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المركب</a:t>
            </a:r>
            <a:endParaRPr lang="en-US" sz="950" dirty="0"/>
          </a:p>
        </p:txBody>
      </p:sp>
      <p:sp>
        <p:nvSpPr>
          <p:cNvPr id="92" name="Text 90"/>
          <p:cNvSpPr/>
          <p:nvPr/>
        </p:nvSpPr>
        <p:spPr>
          <a:xfrm>
            <a:off x="3829462" y="1901952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NJ219</a:t>
            </a:r>
            <a:endParaRPr lang="en-US" sz="950" dirty="0"/>
          </a:p>
        </p:txBody>
      </p:sp>
      <p:sp>
        <p:nvSpPr>
          <p:cNvPr id="93" name="Text 91"/>
          <p:cNvSpPr/>
          <p:nvPr/>
        </p:nvSpPr>
        <p:spPr>
          <a:xfrm>
            <a:off x="2759779" y="1901952"/>
            <a:ext cx="106968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محدودة الإنتاجية</a:t>
            </a:r>
            <a:endParaRPr lang="en-US" sz="950" dirty="0"/>
          </a:p>
        </p:txBody>
      </p:sp>
      <p:sp>
        <p:nvSpPr>
          <p:cNvPr id="94" name="Text 92"/>
          <p:cNvSpPr/>
          <p:nvPr/>
        </p:nvSpPr>
        <p:spPr>
          <a:xfrm>
            <a:off x="2171453" y="1901952"/>
            <a:ext cx="58832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٢٫٣</a:t>
            </a:r>
            <a:endParaRPr lang="en-US" sz="950" dirty="0"/>
          </a:p>
        </p:txBody>
      </p:sp>
      <p:sp>
        <p:nvSpPr>
          <p:cNvPr id="95" name="Text 93"/>
          <p:cNvSpPr/>
          <p:nvPr/>
        </p:nvSpPr>
        <p:spPr>
          <a:xfrm>
            <a:off x="1583127" y="1901952"/>
            <a:ext cx="58832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٢٧٥</a:t>
            </a:r>
            <a:endParaRPr lang="en-US" sz="950" dirty="0"/>
          </a:p>
        </p:txBody>
      </p:sp>
      <p:sp>
        <p:nvSpPr>
          <p:cNvPr id="96" name="Text 94"/>
          <p:cNvSpPr/>
          <p:nvPr/>
        </p:nvSpPr>
        <p:spPr>
          <a:xfrm>
            <a:off x="1101770" y="1901952"/>
            <a:ext cx="481358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٢٢٫٥</a:t>
            </a:r>
            <a:endParaRPr lang="en-US" sz="950" dirty="0"/>
          </a:p>
        </p:txBody>
      </p:sp>
      <p:sp>
        <p:nvSpPr>
          <p:cNvPr id="97" name="Text 95"/>
          <p:cNvSpPr/>
          <p:nvPr/>
        </p:nvSpPr>
        <p:spPr>
          <a:xfrm>
            <a:off x="566928" y="1901952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٤٨٫٥</a:t>
            </a:r>
            <a:endParaRPr lang="en-US" sz="950" dirty="0"/>
          </a:p>
        </p:txBody>
      </p:sp>
      <p:sp>
        <p:nvSpPr>
          <p:cNvPr id="98" name="Shape 96"/>
          <p:cNvSpPr/>
          <p:nvPr/>
        </p:nvSpPr>
        <p:spPr>
          <a:xfrm>
            <a:off x="566928" y="2244852"/>
            <a:ext cx="5348417" cy="342900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99" name="Text 97"/>
          <p:cNvSpPr/>
          <p:nvPr/>
        </p:nvSpPr>
        <p:spPr>
          <a:xfrm>
            <a:off x="4364304" y="2244852"/>
            <a:ext cx="1551041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طريق السلام</a:t>
            </a:r>
            <a:endParaRPr lang="en-US" sz="950" dirty="0"/>
          </a:p>
        </p:txBody>
      </p:sp>
      <p:sp>
        <p:nvSpPr>
          <p:cNvPr id="100" name="Text 98"/>
          <p:cNvSpPr/>
          <p:nvPr/>
        </p:nvSpPr>
        <p:spPr>
          <a:xfrm>
            <a:off x="3829462" y="2244852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MD009</a:t>
            </a:r>
            <a:endParaRPr lang="en-US" sz="950" dirty="0"/>
          </a:p>
        </p:txBody>
      </p:sp>
      <p:sp>
        <p:nvSpPr>
          <p:cNvPr id="101" name="Text 99"/>
          <p:cNvSpPr/>
          <p:nvPr/>
        </p:nvSpPr>
        <p:spPr>
          <a:xfrm>
            <a:off x="2759779" y="2244852"/>
            <a:ext cx="106968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الطرق السريعة</a:t>
            </a:r>
            <a:endParaRPr lang="en-US" sz="950" dirty="0"/>
          </a:p>
        </p:txBody>
      </p:sp>
      <p:sp>
        <p:nvSpPr>
          <p:cNvPr id="102" name="Text 100"/>
          <p:cNvSpPr/>
          <p:nvPr/>
        </p:nvSpPr>
        <p:spPr>
          <a:xfrm>
            <a:off x="2171453" y="2244852"/>
            <a:ext cx="58832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٢٫٣</a:t>
            </a:r>
            <a:endParaRPr lang="en-US" sz="950" dirty="0"/>
          </a:p>
        </p:txBody>
      </p:sp>
      <p:sp>
        <p:nvSpPr>
          <p:cNvPr id="103" name="Text 101"/>
          <p:cNvSpPr/>
          <p:nvPr/>
        </p:nvSpPr>
        <p:spPr>
          <a:xfrm>
            <a:off x="1583127" y="2244852"/>
            <a:ext cx="58832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٢٣٣</a:t>
            </a:r>
            <a:endParaRPr lang="en-US" sz="950" dirty="0"/>
          </a:p>
        </p:txBody>
      </p:sp>
      <p:sp>
        <p:nvSpPr>
          <p:cNvPr id="104" name="Text 102"/>
          <p:cNvSpPr/>
          <p:nvPr/>
        </p:nvSpPr>
        <p:spPr>
          <a:xfrm>
            <a:off x="1101770" y="2244852"/>
            <a:ext cx="481358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٢٧٫٤</a:t>
            </a:r>
            <a:endParaRPr lang="en-US" sz="950" dirty="0"/>
          </a:p>
        </p:txBody>
      </p:sp>
      <p:sp>
        <p:nvSpPr>
          <p:cNvPr id="105" name="Text 103"/>
          <p:cNvSpPr/>
          <p:nvPr/>
        </p:nvSpPr>
        <p:spPr>
          <a:xfrm>
            <a:off x="566928" y="2244852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٥٧٫٥</a:t>
            </a:r>
            <a:endParaRPr lang="en-US" sz="950" dirty="0"/>
          </a:p>
        </p:txBody>
      </p:sp>
      <p:sp>
        <p:nvSpPr>
          <p:cNvPr id="106" name="Shape 104"/>
          <p:cNvSpPr/>
          <p:nvPr/>
        </p:nvSpPr>
        <p:spPr>
          <a:xfrm>
            <a:off x="566928" y="2587752"/>
            <a:ext cx="5348417" cy="342900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107" name="Text 105"/>
          <p:cNvSpPr/>
          <p:nvPr/>
        </p:nvSpPr>
        <p:spPr>
          <a:xfrm>
            <a:off x="4364304" y="2587752"/>
            <a:ext cx="1551041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صناعية صامطة</a:t>
            </a:r>
            <a:endParaRPr lang="en-US" sz="950" dirty="0"/>
          </a:p>
        </p:txBody>
      </p:sp>
      <p:sp>
        <p:nvSpPr>
          <p:cNvPr id="108" name="Text 106"/>
          <p:cNvSpPr/>
          <p:nvPr/>
        </p:nvSpPr>
        <p:spPr>
          <a:xfrm>
            <a:off x="3829462" y="2587752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JA060</a:t>
            </a:r>
            <a:endParaRPr lang="en-US" sz="950" dirty="0"/>
          </a:p>
        </p:txBody>
      </p:sp>
      <p:sp>
        <p:nvSpPr>
          <p:cNvPr id="109" name="Text 107"/>
          <p:cNvSpPr/>
          <p:nvPr/>
        </p:nvSpPr>
        <p:spPr>
          <a:xfrm>
            <a:off x="2759779" y="2587752"/>
            <a:ext cx="106968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محدودة الإنتاجية</a:t>
            </a:r>
            <a:endParaRPr lang="en-US" sz="950" dirty="0"/>
          </a:p>
        </p:txBody>
      </p:sp>
      <p:sp>
        <p:nvSpPr>
          <p:cNvPr id="110" name="Text 108"/>
          <p:cNvSpPr/>
          <p:nvPr/>
        </p:nvSpPr>
        <p:spPr>
          <a:xfrm>
            <a:off x="2171453" y="2587752"/>
            <a:ext cx="58832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٢٫٤</a:t>
            </a:r>
            <a:endParaRPr lang="en-US" sz="950" dirty="0"/>
          </a:p>
        </p:txBody>
      </p:sp>
      <p:sp>
        <p:nvSpPr>
          <p:cNvPr id="111" name="Text 109"/>
          <p:cNvSpPr/>
          <p:nvPr/>
        </p:nvSpPr>
        <p:spPr>
          <a:xfrm>
            <a:off x="1583127" y="2587752"/>
            <a:ext cx="58832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٤١٠</a:t>
            </a:r>
            <a:endParaRPr lang="en-US" sz="950" dirty="0"/>
          </a:p>
        </p:txBody>
      </p:sp>
      <p:sp>
        <p:nvSpPr>
          <p:cNvPr id="112" name="Text 110"/>
          <p:cNvSpPr/>
          <p:nvPr/>
        </p:nvSpPr>
        <p:spPr>
          <a:xfrm>
            <a:off x="1101770" y="2587752"/>
            <a:ext cx="481358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١٦٫٣</a:t>
            </a:r>
            <a:endParaRPr lang="en-US" sz="950" dirty="0"/>
          </a:p>
        </p:txBody>
      </p:sp>
      <p:sp>
        <p:nvSpPr>
          <p:cNvPr id="113" name="Text 111"/>
          <p:cNvSpPr/>
          <p:nvPr/>
        </p:nvSpPr>
        <p:spPr>
          <a:xfrm>
            <a:off x="566928" y="2587752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٣٤٫٩</a:t>
            </a:r>
            <a:endParaRPr lang="en-US" sz="950" dirty="0"/>
          </a:p>
        </p:txBody>
      </p:sp>
      <p:sp>
        <p:nvSpPr>
          <p:cNvPr id="114" name="Shape 112"/>
          <p:cNvSpPr/>
          <p:nvPr/>
        </p:nvSpPr>
        <p:spPr>
          <a:xfrm>
            <a:off x="566928" y="2930652"/>
            <a:ext cx="5348417" cy="342900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115" name="Text 113"/>
          <p:cNvSpPr/>
          <p:nvPr/>
        </p:nvSpPr>
        <p:spPr>
          <a:xfrm>
            <a:off x="4364304" y="2930652"/>
            <a:ext cx="1551041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الروابي - المودة</a:t>
            </a:r>
            <a:endParaRPr lang="en-US" sz="950" dirty="0"/>
          </a:p>
        </p:txBody>
      </p:sp>
      <p:sp>
        <p:nvSpPr>
          <p:cNvPr id="116" name="Text 114"/>
          <p:cNvSpPr/>
          <p:nvPr/>
        </p:nvSpPr>
        <p:spPr>
          <a:xfrm>
            <a:off x="3829462" y="2930652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JA056</a:t>
            </a:r>
            <a:endParaRPr lang="en-US" sz="950" dirty="0"/>
          </a:p>
        </p:txBody>
      </p:sp>
      <p:sp>
        <p:nvSpPr>
          <p:cNvPr id="117" name="Text 115"/>
          <p:cNvSpPr/>
          <p:nvPr/>
        </p:nvSpPr>
        <p:spPr>
          <a:xfrm>
            <a:off x="2759779" y="2930652"/>
            <a:ext cx="106968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محدودة الإنتاجية</a:t>
            </a:r>
            <a:endParaRPr lang="en-US" sz="950" dirty="0"/>
          </a:p>
        </p:txBody>
      </p:sp>
      <p:sp>
        <p:nvSpPr>
          <p:cNvPr id="118" name="Text 116"/>
          <p:cNvSpPr/>
          <p:nvPr/>
        </p:nvSpPr>
        <p:spPr>
          <a:xfrm>
            <a:off x="2171453" y="2930652"/>
            <a:ext cx="58832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٢٫٦</a:t>
            </a:r>
            <a:endParaRPr lang="en-US" sz="950" dirty="0"/>
          </a:p>
        </p:txBody>
      </p:sp>
      <p:sp>
        <p:nvSpPr>
          <p:cNvPr id="119" name="Text 117"/>
          <p:cNvSpPr/>
          <p:nvPr/>
        </p:nvSpPr>
        <p:spPr>
          <a:xfrm>
            <a:off x="1583127" y="2930652"/>
            <a:ext cx="58832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٢٨٦</a:t>
            </a:r>
            <a:endParaRPr lang="en-US" sz="950" dirty="0"/>
          </a:p>
        </p:txBody>
      </p:sp>
      <p:sp>
        <p:nvSpPr>
          <p:cNvPr id="120" name="Text 118"/>
          <p:cNvSpPr/>
          <p:nvPr/>
        </p:nvSpPr>
        <p:spPr>
          <a:xfrm>
            <a:off x="1101770" y="2930652"/>
            <a:ext cx="481358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٢٤٫٨</a:t>
            </a:r>
            <a:endParaRPr lang="en-US" sz="950" dirty="0"/>
          </a:p>
        </p:txBody>
      </p:sp>
      <p:sp>
        <p:nvSpPr>
          <p:cNvPr id="121" name="Text 119"/>
          <p:cNvSpPr/>
          <p:nvPr/>
        </p:nvSpPr>
        <p:spPr>
          <a:xfrm>
            <a:off x="566928" y="2930652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٥٣٫٣</a:t>
            </a:r>
            <a:endParaRPr lang="en-US" sz="950" dirty="0"/>
          </a:p>
        </p:txBody>
      </p:sp>
      <p:sp>
        <p:nvSpPr>
          <p:cNvPr id="122" name="Shape 120"/>
          <p:cNvSpPr/>
          <p:nvPr/>
        </p:nvSpPr>
        <p:spPr>
          <a:xfrm>
            <a:off x="566928" y="3273552"/>
            <a:ext cx="5348417" cy="342900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123" name="Text 121"/>
          <p:cNvSpPr/>
          <p:nvPr/>
        </p:nvSpPr>
        <p:spPr>
          <a:xfrm>
            <a:off x="4364304" y="3273552"/>
            <a:ext cx="1551041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العريفي</a:t>
            </a:r>
            <a:endParaRPr lang="en-US" sz="950" dirty="0"/>
          </a:p>
        </p:txBody>
      </p:sp>
      <p:sp>
        <p:nvSpPr>
          <p:cNvPr id="124" name="Text 122"/>
          <p:cNvSpPr/>
          <p:nvPr/>
        </p:nvSpPr>
        <p:spPr>
          <a:xfrm>
            <a:off x="3829462" y="3273552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HA043</a:t>
            </a:r>
            <a:endParaRPr lang="en-US" sz="950" dirty="0"/>
          </a:p>
        </p:txBody>
      </p:sp>
      <p:sp>
        <p:nvSpPr>
          <p:cNvPr id="125" name="Text 123"/>
          <p:cNvSpPr/>
          <p:nvPr/>
        </p:nvSpPr>
        <p:spPr>
          <a:xfrm>
            <a:off x="2759779" y="3273552"/>
            <a:ext cx="106968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محدودة الإنتاجية</a:t>
            </a:r>
            <a:endParaRPr lang="en-US" sz="950" dirty="0"/>
          </a:p>
        </p:txBody>
      </p:sp>
      <p:sp>
        <p:nvSpPr>
          <p:cNvPr id="126" name="Text 124"/>
          <p:cNvSpPr/>
          <p:nvPr/>
        </p:nvSpPr>
        <p:spPr>
          <a:xfrm>
            <a:off x="2171453" y="3273552"/>
            <a:ext cx="58832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٢٫٩</a:t>
            </a:r>
            <a:endParaRPr lang="en-US" sz="950" dirty="0"/>
          </a:p>
        </p:txBody>
      </p:sp>
      <p:sp>
        <p:nvSpPr>
          <p:cNvPr id="127" name="Text 125"/>
          <p:cNvSpPr/>
          <p:nvPr/>
        </p:nvSpPr>
        <p:spPr>
          <a:xfrm>
            <a:off x="1583127" y="3273552"/>
            <a:ext cx="58832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٣٢٦</a:t>
            </a:r>
            <a:endParaRPr lang="en-US" sz="950" dirty="0"/>
          </a:p>
        </p:txBody>
      </p:sp>
      <p:sp>
        <p:nvSpPr>
          <p:cNvPr id="128" name="Text 126"/>
          <p:cNvSpPr/>
          <p:nvPr/>
        </p:nvSpPr>
        <p:spPr>
          <a:xfrm>
            <a:off x="1101770" y="3273552"/>
            <a:ext cx="481358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٢٤٫١</a:t>
            </a:r>
            <a:endParaRPr lang="en-US" sz="950" dirty="0"/>
          </a:p>
        </p:txBody>
      </p:sp>
      <p:sp>
        <p:nvSpPr>
          <p:cNvPr id="129" name="Text 127"/>
          <p:cNvSpPr/>
          <p:nvPr/>
        </p:nvSpPr>
        <p:spPr>
          <a:xfrm>
            <a:off x="566928" y="3273552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٥٣٫٧</a:t>
            </a:r>
            <a:endParaRPr lang="en-US" sz="950" dirty="0"/>
          </a:p>
        </p:txBody>
      </p:sp>
      <p:sp>
        <p:nvSpPr>
          <p:cNvPr id="130" name="Shape 128"/>
          <p:cNvSpPr/>
          <p:nvPr/>
        </p:nvSpPr>
        <p:spPr>
          <a:xfrm>
            <a:off x="566928" y="3616452"/>
            <a:ext cx="5348417" cy="342900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131" name="Text 129"/>
          <p:cNvSpPr/>
          <p:nvPr/>
        </p:nvSpPr>
        <p:spPr>
          <a:xfrm>
            <a:off x="4364304" y="3616452"/>
            <a:ext cx="1551041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الكوثر</a:t>
            </a:r>
            <a:endParaRPr lang="en-US" sz="950" dirty="0"/>
          </a:p>
        </p:txBody>
      </p:sp>
      <p:sp>
        <p:nvSpPr>
          <p:cNvPr id="132" name="Text 130"/>
          <p:cNvSpPr/>
          <p:nvPr/>
        </p:nvSpPr>
        <p:spPr>
          <a:xfrm>
            <a:off x="3829462" y="3616452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MK100</a:t>
            </a:r>
            <a:endParaRPr lang="en-US" sz="950" dirty="0"/>
          </a:p>
        </p:txBody>
      </p:sp>
      <p:sp>
        <p:nvSpPr>
          <p:cNvPr id="133" name="Text 131"/>
          <p:cNvSpPr/>
          <p:nvPr/>
        </p:nvSpPr>
        <p:spPr>
          <a:xfrm>
            <a:off x="2759779" y="3616452"/>
            <a:ext cx="106968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الطرق السريعة</a:t>
            </a:r>
            <a:endParaRPr lang="en-US" sz="950" dirty="0"/>
          </a:p>
        </p:txBody>
      </p:sp>
      <p:sp>
        <p:nvSpPr>
          <p:cNvPr id="134" name="Text 132"/>
          <p:cNvSpPr/>
          <p:nvPr/>
        </p:nvSpPr>
        <p:spPr>
          <a:xfrm>
            <a:off x="2171453" y="3616452"/>
            <a:ext cx="58832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٣٫٢</a:t>
            </a:r>
            <a:endParaRPr lang="en-US" sz="950" dirty="0"/>
          </a:p>
        </p:txBody>
      </p:sp>
      <p:sp>
        <p:nvSpPr>
          <p:cNvPr id="135" name="Text 133"/>
          <p:cNvSpPr/>
          <p:nvPr/>
        </p:nvSpPr>
        <p:spPr>
          <a:xfrm>
            <a:off x="1583127" y="3616452"/>
            <a:ext cx="58832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٣٣٤</a:t>
            </a:r>
            <a:endParaRPr lang="en-US" sz="950" dirty="0"/>
          </a:p>
        </p:txBody>
      </p:sp>
      <p:sp>
        <p:nvSpPr>
          <p:cNvPr id="136" name="Text 134"/>
          <p:cNvSpPr/>
          <p:nvPr/>
        </p:nvSpPr>
        <p:spPr>
          <a:xfrm>
            <a:off x="1101770" y="3616452"/>
            <a:ext cx="481358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٢٦٫٦</a:t>
            </a:r>
            <a:endParaRPr lang="en-US" sz="950" dirty="0"/>
          </a:p>
        </p:txBody>
      </p:sp>
      <p:sp>
        <p:nvSpPr>
          <p:cNvPr id="137" name="Text 135"/>
          <p:cNvSpPr/>
          <p:nvPr/>
        </p:nvSpPr>
        <p:spPr>
          <a:xfrm>
            <a:off x="566928" y="3616452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٥٥٫٣</a:t>
            </a:r>
            <a:endParaRPr lang="en-US" sz="950" dirty="0"/>
          </a:p>
        </p:txBody>
      </p:sp>
      <p:sp>
        <p:nvSpPr>
          <p:cNvPr id="138" name="Shape 136"/>
          <p:cNvSpPr/>
          <p:nvPr/>
        </p:nvSpPr>
        <p:spPr>
          <a:xfrm>
            <a:off x="566928" y="3959352"/>
            <a:ext cx="5348417" cy="342900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139" name="Text 137"/>
          <p:cNvSpPr/>
          <p:nvPr/>
        </p:nvSpPr>
        <p:spPr>
          <a:xfrm>
            <a:off x="4364304" y="3959352"/>
            <a:ext cx="1551041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البيعة</a:t>
            </a:r>
            <a:endParaRPr lang="en-US" sz="950" dirty="0"/>
          </a:p>
        </p:txBody>
      </p:sp>
      <p:sp>
        <p:nvSpPr>
          <p:cNvPr id="140" name="Text 138"/>
          <p:cNvSpPr/>
          <p:nvPr/>
        </p:nvSpPr>
        <p:spPr>
          <a:xfrm>
            <a:off x="3829462" y="3959352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MK099</a:t>
            </a:r>
            <a:endParaRPr lang="en-US" sz="950" dirty="0"/>
          </a:p>
        </p:txBody>
      </p:sp>
      <p:sp>
        <p:nvSpPr>
          <p:cNvPr id="141" name="Text 139"/>
          <p:cNvSpPr/>
          <p:nvPr/>
        </p:nvSpPr>
        <p:spPr>
          <a:xfrm>
            <a:off x="2759779" y="3959352"/>
            <a:ext cx="106968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الأساطيل التجارية</a:t>
            </a:r>
            <a:endParaRPr lang="en-US" sz="950" dirty="0"/>
          </a:p>
        </p:txBody>
      </p:sp>
      <p:sp>
        <p:nvSpPr>
          <p:cNvPr id="142" name="Text 140"/>
          <p:cNvSpPr/>
          <p:nvPr/>
        </p:nvSpPr>
        <p:spPr>
          <a:xfrm>
            <a:off x="2171453" y="3959352"/>
            <a:ext cx="58832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٣٫٤</a:t>
            </a:r>
            <a:endParaRPr lang="en-US" sz="950" dirty="0"/>
          </a:p>
        </p:txBody>
      </p:sp>
      <p:sp>
        <p:nvSpPr>
          <p:cNvPr id="143" name="Text 141"/>
          <p:cNvSpPr/>
          <p:nvPr/>
        </p:nvSpPr>
        <p:spPr>
          <a:xfrm>
            <a:off x="1583127" y="3959352"/>
            <a:ext cx="58832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٤٥٦</a:t>
            </a:r>
            <a:endParaRPr lang="en-US" sz="950" dirty="0"/>
          </a:p>
        </p:txBody>
      </p:sp>
      <p:sp>
        <p:nvSpPr>
          <p:cNvPr id="144" name="Text 142"/>
          <p:cNvSpPr/>
          <p:nvPr/>
        </p:nvSpPr>
        <p:spPr>
          <a:xfrm>
            <a:off x="1101770" y="3959352"/>
            <a:ext cx="481358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٢٠٫٦</a:t>
            </a:r>
            <a:endParaRPr lang="en-US" sz="950" dirty="0"/>
          </a:p>
        </p:txBody>
      </p:sp>
      <p:sp>
        <p:nvSpPr>
          <p:cNvPr id="145" name="Text 143"/>
          <p:cNvSpPr/>
          <p:nvPr/>
        </p:nvSpPr>
        <p:spPr>
          <a:xfrm>
            <a:off x="566928" y="3959352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٤٦٫٥</a:t>
            </a:r>
            <a:endParaRPr lang="en-US" sz="950" dirty="0"/>
          </a:p>
        </p:txBody>
      </p:sp>
      <p:sp>
        <p:nvSpPr>
          <p:cNvPr id="146" name="Shape 144"/>
          <p:cNvSpPr/>
          <p:nvPr/>
        </p:nvSpPr>
        <p:spPr>
          <a:xfrm>
            <a:off x="566928" y="4302252"/>
            <a:ext cx="5348417" cy="342900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147" name="Text 145"/>
          <p:cNvSpPr/>
          <p:nvPr/>
        </p:nvSpPr>
        <p:spPr>
          <a:xfrm>
            <a:off x="4364304" y="4302252"/>
            <a:ext cx="1551041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جبل ثور - جوهرة الن</a:t>
            </a:r>
            <a:endParaRPr lang="en-US" sz="950" dirty="0"/>
          </a:p>
        </p:txBody>
      </p:sp>
      <p:sp>
        <p:nvSpPr>
          <p:cNvPr id="148" name="Text 146"/>
          <p:cNvSpPr/>
          <p:nvPr/>
        </p:nvSpPr>
        <p:spPr>
          <a:xfrm>
            <a:off x="3829462" y="4302252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MK323</a:t>
            </a:r>
            <a:endParaRPr lang="en-US" sz="950" dirty="0"/>
          </a:p>
        </p:txBody>
      </p:sp>
      <p:sp>
        <p:nvSpPr>
          <p:cNvPr id="149" name="Text 147"/>
          <p:cNvSpPr/>
          <p:nvPr/>
        </p:nvSpPr>
        <p:spPr>
          <a:xfrm>
            <a:off x="2759779" y="4302252"/>
            <a:ext cx="106968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محدودة الإنتاجية</a:t>
            </a:r>
            <a:endParaRPr lang="en-US" sz="950" dirty="0"/>
          </a:p>
        </p:txBody>
      </p:sp>
      <p:sp>
        <p:nvSpPr>
          <p:cNvPr id="150" name="Text 148"/>
          <p:cNvSpPr/>
          <p:nvPr/>
        </p:nvSpPr>
        <p:spPr>
          <a:xfrm>
            <a:off x="2171453" y="4302252"/>
            <a:ext cx="58832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٣٫٦</a:t>
            </a:r>
            <a:endParaRPr lang="en-US" sz="950" dirty="0"/>
          </a:p>
        </p:txBody>
      </p:sp>
      <p:sp>
        <p:nvSpPr>
          <p:cNvPr id="151" name="Text 149"/>
          <p:cNvSpPr/>
          <p:nvPr/>
        </p:nvSpPr>
        <p:spPr>
          <a:xfrm>
            <a:off x="1583127" y="4302252"/>
            <a:ext cx="58832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٤٤٢</a:t>
            </a:r>
            <a:endParaRPr lang="en-US" sz="950" dirty="0"/>
          </a:p>
        </p:txBody>
      </p:sp>
      <p:sp>
        <p:nvSpPr>
          <p:cNvPr id="152" name="Text 150"/>
          <p:cNvSpPr/>
          <p:nvPr/>
        </p:nvSpPr>
        <p:spPr>
          <a:xfrm>
            <a:off x="1101770" y="4302252"/>
            <a:ext cx="481358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٢٢٫١</a:t>
            </a:r>
            <a:endParaRPr lang="en-US" sz="950" dirty="0"/>
          </a:p>
        </p:txBody>
      </p:sp>
      <p:sp>
        <p:nvSpPr>
          <p:cNvPr id="153" name="Text 151"/>
          <p:cNvSpPr/>
          <p:nvPr/>
        </p:nvSpPr>
        <p:spPr>
          <a:xfrm>
            <a:off x="566928" y="4302252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٤٩٫٩</a:t>
            </a:r>
            <a:endParaRPr lang="en-US" sz="950" dirty="0"/>
          </a:p>
        </p:txBody>
      </p:sp>
      <p:sp>
        <p:nvSpPr>
          <p:cNvPr id="154" name="Shape 152"/>
          <p:cNvSpPr/>
          <p:nvPr/>
        </p:nvSpPr>
        <p:spPr>
          <a:xfrm>
            <a:off x="6246175" y="4846320"/>
            <a:ext cx="5348417" cy="914400"/>
          </a:xfrm>
          <a:prstGeom prst="roundRect">
            <a:avLst>
              <a:gd name="adj" fmla="val 4000"/>
            </a:avLst>
          </a:prstGeom>
          <a:solidFill>
            <a:srgbClr val="D6E9E1"/>
          </a:solidFill>
          <a:ln w="12700">
            <a:solidFill>
              <a:srgbClr val="2E8B6F"/>
            </a:solidFill>
            <a:prstDash val="solid"/>
          </a:ln>
        </p:spPr>
      </p:sp>
      <p:sp>
        <p:nvSpPr>
          <p:cNvPr id="155" name="Text 153"/>
          <p:cNvSpPr/>
          <p:nvPr/>
        </p:nvSpPr>
        <p:spPr>
          <a:xfrm>
            <a:off x="6374191" y="4937760"/>
            <a:ext cx="509238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التركّز شديد</a:t>
            </a:r>
            <a:endParaRPr lang="en-US" sz="1250" dirty="0"/>
          </a:p>
        </p:txBody>
      </p:sp>
      <p:sp>
        <p:nvSpPr>
          <p:cNvPr id="156" name="Text 154"/>
          <p:cNvSpPr/>
          <p:nvPr/>
        </p:nvSpPr>
        <p:spPr>
          <a:xfrm>
            <a:off x="6374191" y="5230368"/>
            <a:ext cx="509238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أعلى ٥ محطات تصنع ٣٠٪ من الحجم · MK007 وحدها ٤٧٫٥ MLPA</a:t>
            </a:r>
            <a:endParaRPr lang="en-US" sz="1100" dirty="0"/>
          </a:p>
        </p:txBody>
      </p:sp>
      <p:sp>
        <p:nvSpPr>
          <p:cNvPr id="157" name="Shape 155"/>
          <p:cNvSpPr/>
          <p:nvPr/>
        </p:nvSpPr>
        <p:spPr>
          <a:xfrm>
            <a:off x="566928" y="4846320"/>
            <a:ext cx="5348417" cy="914400"/>
          </a:xfrm>
          <a:prstGeom prst="roundRect">
            <a:avLst>
              <a:gd name="adj" fmla="val 4000"/>
            </a:avLst>
          </a:prstGeom>
          <a:solidFill>
            <a:srgbClr val="F2DAD4"/>
          </a:solidFill>
          <a:ln w="12700">
            <a:solidFill>
              <a:srgbClr val="C0503A"/>
            </a:solidFill>
            <a:prstDash val="solid"/>
          </a:ln>
        </p:spPr>
      </p:sp>
      <p:sp>
        <p:nvSpPr>
          <p:cNvPr id="158" name="Text 156"/>
          <p:cNvSpPr/>
          <p:nvPr/>
        </p:nvSpPr>
        <p:spPr>
          <a:xfrm>
            <a:off x="694944" y="4937760"/>
            <a:ext cx="509238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القاع ليس فشلاً</a:t>
            </a:r>
            <a:endParaRPr lang="en-US" sz="1250" dirty="0"/>
          </a:p>
        </p:txBody>
      </p:sp>
      <p:sp>
        <p:nvSpPr>
          <p:cNvPr id="159" name="Text 157"/>
          <p:cNvSpPr/>
          <p:nvPr/>
        </p:nvSpPr>
        <p:spPr>
          <a:xfrm>
            <a:off x="694944" y="5230368"/>
            <a:ext cx="509238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٧ محطات دون ٤٫٥ MLPA لا تصنع سوى ٣٫٩٪ · أولويتها التكلفة والتأجير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7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539728" y="2286000"/>
            <a:ext cx="54864" cy="20116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240280"/>
            <a:ext cx="107533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500" b="1" spc="300" kern="0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القسم الرابع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566928" y="2743200"/>
            <a:ext cx="10753344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3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خطة المبيعات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566928" y="3611880"/>
            <a:ext cx="107533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رافعتان: المعاملات ثم السلة</a:t>
            </a:r>
            <a:endParaRPr lang="en-US" sz="14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74320"/>
            <a:ext cx="10113264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المنهج — لماذا رافعتان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01132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لا نطلب من العميل أن يعبّي أكثر مما يحتاج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133856"/>
            <a:ext cx="1102766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64373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 · الإدارة التجارية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45952" y="6437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14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66928" y="1207008"/>
            <a:ext cx="11027664" cy="512064"/>
          </a:xfrm>
          <a:prstGeom prst="roundRect">
            <a:avLst>
              <a:gd name="adj" fmla="val 7143"/>
            </a:avLst>
          </a:prstGeom>
          <a:solidFill>
            <a:srgbClr val="55565A"/>
          </a:solidFill>
          <a:ln/>
        </p:spPr>
      </p:sp>
      <p:sp>
        <p:nvSpPr>
          <p:cNvPr id="9" name="Text 7"/>
          <p:cNvSpPr/>
          <p:nvPr/>
        </p:nvSpPr>
        <p:spPr>
          <a:xfrm>
            <a:off x="749808" y="1252728"/>
            <a:ext cx="1066190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الحجم  =  المعاملات  ×  متوسط حجم التعبئة        ←  الأولى تشغيلية، والثانية محكومة بمزيج الوقود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190488" y="1874520"/>
            <a:ext cx="5404104" cy="2926080"/>
          </a:xfrm>
          <a:prstGeom prst="roundRect">
            <a:avLst>
              <a:gd name="adj" fmla="val 1563"/>
            </a:avLst>
          </a:prstGeom>
          <a:solidFill>
            <a:srgbClr val="FFFFFF"/>
          </a:solidFill>
          <a:ln w="17780">
            <a:solidFill>
              <a:srgbClr val="2E8B6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190488" y="1874520"/>
            <a:ext cx="5404104" cy="512064"/>
          </a:xfrm>
          <a:prstGeom prst="rect">
            <a:avLst/>
          </a:prstGeom>
          <a:solidFill>
            <a:srgbClr val="2E8B6F"/>
          </a:solidFill>
          <a:ln/>
        </p:spPr>
      </p:sp>
      <p:sp>
        <p:nvSpPr>
          <p:cNvPr id="12" name="Text 10"/>
          <p:cNvSpPr/>
          <p:nvPr/>
        </p:nvSpPr>
        <p:spPr>
          <a:xfrm>
            <a:off x="6300216" y="1929384"/>
            <a:ext cx="51846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رافعة (أ) · المعاملات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300216" y="2487168"/>
            <a:ext cx="25374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٧٤٢ معاملة/يوم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8947404" y="2523744"/>
            <a:ext cx="25374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E8B6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٨٣٧ ألف ريال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556248" y="2926080"/>
            <a:ext cx="467258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16" name="Text 14"/>
          <p:cNvSpPr/>
          <p:nvPr/>
        </p:nvSpPr>
        <p:spPr>
          <a:xfrm>
            <a:off x="6336792" y="3035808"/>
            <a:ext cx="5111496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marL="342900" indent="-342900">
              <a:lnSpc>
                <a:spcPts val="1800"/>
              </a:lnSpc>
              <a:spcAft>
                <a:spcPts val="600"/>
              </a:spcAft>
              <a:buSzPct val="100000"/>
              <a:buChar char="▪"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نقارن شكل ساعات المحطة بشكل شريحتها</a:t>
            </a:r>
            <a:endParaRPr lang="en-US" sz="1150" dirty="0"/>
          </a:p>
          <a:p>
            <a:pPr algn="r" marL="342900" indent="-342900">
              <a:lnSpc>
                <a:spcPts val="1800"/>
              </a:lnSpc>
              <a:spcAft>
                <a:spcPts val="600"/>
              </a:spcAft>
              <a:buSzPct val="100000"/>
              <a:buChar char="▪"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نحتسب النقص في ساعات ذروتها وحدها</a:t>
            </a:r>
            <a:endParaRPr lang="en-US" sz="1150" dirty="0"/>
          </a:p>
          <a:p>
            <a:pPr algn="r" marL="342900" indent="-342900">
              <a:lnSpc>
                <a:spcPts val="1800"/>
              </a:lnSpc>
              <a:spcAft>
                <a:spcPts val="600"/>
              </a:spcAft>
              <a:buSzPct val="100000"/>
              <a:buChar char="▪"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النقص في ساعات الهدوء اختلاف طلب لا فاقد</a:t>
            </a:r>
            <a:endParaRPr lang="en-US" sz="1150" dirty="0"/>
          </a:p>
          <a:p>
            <a:pPr algn="r" marL="342900" indent="-342900">
              <a:lnSpc>
                <a:spcPts val="1800"/>
              </a:lnSpc>
              <a:spcAft>
                <a:spcPts val="600"/>
              </a:spcAft>
              <a:buSzPct val="100000"/>
              <a:buChar char="▪"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العلاج: طاقم الذروة وتوفّر المضخات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66928" y="1874520"/>
            <a:ext cx="5404104" cy="2926080"/>
          </a:xfrm>
          <a:prstGeom prst="roundRect">
            <a:avLst>
              <a:gd name="adj" fmla="val 1563"/>
            </a:avLst>
          </a:prstGeom>
          <a:solidFill>
            <a:srgbClr val="FFFFFF"/>
          </a:solidFill>
          <a:ln w="17780">
            <a:solidFill>
              <a:srgbClr val="F5831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66928" y="1874520"/>
            <a:ext cx="5404104" cy="512064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19" name="Text 17"/>
          <p:cNvSpPr/>
          <p:nvPr/>
        </p:nvSpPr>
        <p:spPr>
          <a:xfrm>
            <a:off x="676656" y="1929384"/>
            <a:ext cx="51846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رافعة (ب) · حجم التعبئة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76656" y="2487168"/>
            <a:ext cx="25374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٧٧٬٢١٩ لتر/يوم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3323844" y="2523744"/>
            <a:ext cx="25374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٣٬١٢٦ ألف ريال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932688" y="2926080"/>
            <a:ext cx="467258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23" name="Text 21"/>
          <p:cNvSpPr/>
          <p:nvPr/>
        </p:nvSpPr>
        <p:spPr>
          <a:xfrm>
            <a:off x="713232" y="3035808"/>
            <a:ext cx="5111496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marL="342900" indent="-342900">
              <a:lnSpc>
                <a:spcPts val="1800"/>
              </a:lnSpc>
              <a:spcAft>
                <a:spcPts val="600"/>
              </a:spcAft>
              <a:buSzPct val="100000"/>
              <a:buChar char="▪"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ثلثا تباين التعبئة مزيج وقود لا سلوك — R² ٠٫٦٦</a:t>
            </a:r>
            <a:endParaRPr lang="en-US" sz="1150" dirty="0"/>
          </a:p>
          <a:p>
            <a:pPr algn="r" marL="342900" indent="-342900">
              <a:lnSpc>
                <a:spcPts val="1800"/>
              </a:lnSpc>
              <a:spcAft>
                <a:spcPts val="600"/>
              </a:spcAft>
              <a:buSzPct val="100000"/>
              <a:buChar char="▪"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فالمعيار من البواقي: كم تبيع مقابل ما يفسّره مزيجك</a:t>
            </a:r>
            <a:endParaRPr lang="en-US" sz="1150" dirty="0"/>
          </a:p>
          <a:p>
            <a:pPr algn="r" marL="342900" indent="-342900">
              <a:lnSpc>
                <a:spcPts val="1800"/>
              </a:lnSpc>
              <a:spcAft>
                <a:spcPts val="600"/>
              </a:spcAft>
              <a:buSzPct val="100000"/>
              <a:buChar char="▪"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٣٤ محطة تحت ما يفسّره مزيجها</a:t>
            </a:r>
            <a:endParaRPr lang="en-US" sz="1150" dirty="0"/>
          </a:p>
          <a:p>
            <a:pPr algn="r" marL="342900" indent="-342900">
              <a:lnSpc>
                <a:spcPts val="1800"/>
              </a:lnSpc>
              <a:spcAft>
                <a:spcPts val="600"/>
              </a:spcAft>
              <a:buSzPct val="100000"/>
              <a:buChar char="▪"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نغلق ٤٠٪ من الفجوة في ستة أشهر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8040624" y="4983480"/>
            <a:ext cx="3553968" cy="868680"/>
          </a:xfrm>
          <a:prstGeom prst="roundRect">
            <a:avLst>
              <a:gd name="adj" fmla="val 4211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132064" y="5065776"/>
            <a:ext cx="33710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E8B6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٤٫٠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8132064" y="5431536"/>
            <a:ext cx="33710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مليون ريال — الفرصة المؤكَّدة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4303776" y="4983480"/>
            <a:ext cx="3553968" cy="868680"/>
          </a:xfrm>
          <a:prstGeom prst="roundRect">
            <a:avLst>
              <a:gd name="adj" fmla="val 4211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395216" y="5065776"/>
            <a:ext cx="33710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١١٫٠٩</a:t>
            </a:r>
            <a:endParaRPr lang="en-US" sz="2000" dirty="0"/>
          </a:p>
        </p:txBody>
      </p:sp>
      <p:sp>
        <p:nvSpPr>
          <p:cNvPr id="29" name="Text 27"/>
          <p:cNvSpPr/>
          <p:nvPr/>
        </p:nvSpPr>
        <p:spPr>
          <a:xfrm>
            <a:off x="4395216" y="5431536"/>
            <a:ext cx="33710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هللة لكل لتر — هامش الشبكة المشغّلة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566928" y="4983480"/>
            <a:ext cx="3553968" cy="868680"/>
          </a:xfrm>
          <a:prstGeom prst="roundRect">
            <a:avLst>
              <a:gd name="adj" fmla="val 4211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58368" y="5065776"/>
            <a:ext cx="33710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١٬٨٨٦</a:t>
            </a:r>
            <a:endParaRPr lang="en-US" sz="2000" dirty="0"/>
          </a:p>
        </p:txBody>
      </p:sp>
      <p:sp>
        <p:nvSpPr>
          <p:cNvPr id="32" name="Text 30"/>
          <p:cNvSpPr/>
          <p:nvPr/>
        </p:nvSpPr>
        <p:spPr>
          <a:xfrm>
            <a:off x="658368" y="5431536"/>
            <a:ext cx="33710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معاملة/يوم غير مؤكَّدة — تحتاج جدول عمالة بالساعة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74320"/>
            <a:ext cx="10113264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المستهدف بالشريحة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01132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بالرافعتين · وستة أشهر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133856"/>
            <a:ext cx="1102766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64373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 · الإدارة التجارية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45952" y="6437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15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66928" y="1243584"/>
            <a:ext cx="11027664" cy="36576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9" name="Text 7"/>
          <p:cNvSpPr/>
          <p:nvPr/>
        </p:nvSpPr>
        <p:spPr>
          <a:xfrm>
            <a:off x="9864762" y="1243584"/>
            <a:ext cx="1729830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الشريحة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9107962" y="1243584"/>
            <a:ext cx="756800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محطات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8243047" y="1243584"/>
            <a:ext cx="864915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التعبئة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7378132" y="1243584"/>
            <a:ext cx="864915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R² المزيج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6405103" y="1243584"/>
            <a:ext cx="973029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دون المتوقَّع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5215845" y="1243584"/>
            <a:ext cx="1189258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رفع السلة لتر/يوم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4026587" y="1243584"/>
            <a:ext cx="1189258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قيمتها (ر)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2837329" y="1243584"/>
            <a:ext cx="1189258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فاقد الذروة معاملة/يوم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1756186" y="1243584"/>
            <a:ext cx="1081144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قيمته (ر)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566928" y="1243584"/>
            <a:ext cx="1189258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الإجمالي (ر)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566928" y="1609344"/>
            <a:ext cx="11027664" cy="420624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864762" y="1609344"/>
            <a:ext cx="172983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الطرق السريعة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9107962" y="1609344"/>
            <a:ext cx="75680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١٦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243047" y="1609344"/>
            <a:ext cx="864915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٣٣٫٠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7378132" y="1609344"/>
            <a:ext cx="864915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٠٫٦٦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405103" y="1609344"/>
            <a:ext cx="973029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١١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5215845" y="1609344"/>
            <a:ext cx="1189258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+٣١٬٠٠٦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026587" y="1609344"/>
            <a:ext cx="1189258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A8681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١٬٢٥٥٬٠٥٩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2837329" y="1609344"/>
            <a:ext cx="1189258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٢٧٠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1756186" y="1609344"/>
            <a:ext cx="1081144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٣٨١٬٩٢٦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566928" y="1609344"/>
            <a:ext cx="1189258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١٬٦٣٦٬٩٨٥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566928" y="2029968"/>
            <a:ext cx="11027664" cy="420624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864762" y="2029968"/>
            <a:ext cx="172983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الأساطيل التجارية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9107962" y="2029968"/>
            <a:ext cx="75680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8243047" y="2029968"/>
            <a:ext cx="864915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٢٣٫٨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7378132" y="2029968"/>
            <a:ext cx="864915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٠٫٢٣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6405103" y="2029968"/>
            <a:ext cx="973029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5215845" y="2029968"/>
            <a:ext cx="1189258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+٥٬٣٦٥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4026587" y="2029968"/>
            <a:ext cx="1189258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A8681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٢١٧٬١٦٤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2837329" y="2029968"/>
            <a:ext cx="1189258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٤٩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1756186" y="2029968"/>
            <a:ext cx="1081144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٤٥٬٧٨٨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566928" y="2029968"/>
            <a:ext cx="1189258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٢٦٢٬٩٥١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566928" y="2450592"/>
            <a:ext cx="11027664" cy="420624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9864762" y="2450592"/>
            <a:ext cx="172983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حضرية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9107962" y="2450592"/>
            <a:ext cx="75680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١٢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8243047" y="2450592"/>
            <a:ext cx="864915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٢٢٫٩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7378132" y="2450592"/>
            <a:ext cx="864915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٠٫١٦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6405103" y="2450592"/>
            <a:ext cx="973029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٨</a:t>
            </a:r>
            <a:endParaRPr lang="en-US" sz="1100" dirty="0"/>
          </a:p>
        </p:txBody>
      </p:sp>
      <p:sp>
        <p:nvSpPr>
          <p:cNvPr id="47" name="Text 45"/>
          <p:cNvSpPr/>
          <p:nvPr/>
        </p:nvSpPr>
        <p:spPr>
          <a:xfrm>
            <a:off x="5215845" y="2450592"/>
            <a:ext cx="1189258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+٢٨٬٤٨٧</a:t>
            </a:r>
            <a:endParaRPr lang="en-US" sz="1100" dirty="0"/>
          </a:p>
        </p:txBody>
      </p:sp>
      <p:sp>
        <p:nvSpPr>
          <p:cNvPr id="48" name="Text 46"/>
          <p:cNvSpPr/>
          <p:nvPr/>
        </p:nvSpPr>
        <p:spPr>
          <a:xfrm>
            <a:off x="4026587" y="2450592"/>
            <a:ext cx="1189258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A8681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١٬١٥٣٬١٠٢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2837329" y="2450592"/>
            <a:ext cx="1189258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٢٨٤</a:t>
            </a:r>
            <a:endParaRPr lang="en-US" sz="1100" dirty="0"/>
          </a:p>
        </p:txBody>
      </p:sp>
      <p:sp>
        <p:nvSpPr>
          <p:cNvPr id="50" name="Text 48"/>
          <p:cNvSpPr/>
          <p:nvPr/>
        </p:nvSpPr>
        <p:spPr>
          <a:xfrm>
            <a:off x="1756186" y="2450592"/>
            <a:ext cx="1081144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٢٨٥٬٧٩٨</a:t>
            </a:r>
            <a:endParaRPr lang="en-US" sz="1100" dirty="0"/>
          </a:p>
        </p:txBody>
      </p:sp>
      <p:sp>
        <p:nvSpPr>
          <p:cNvPr id="51" name="Text 49"/>
          <p:cNvSpPr/>
          <p:nvPr/>
        </p:nvSpPr>
        <p:spPr>
          <a:xfrm>
            <a:off x="566928" y="2450592"/>
            <a:ext cx="1189258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١٬٤٣٨٬٩٠١</a:t>
            </a:r>
            <a:endParaRPr lang="en-US" sz="1100" dirty="0"/>
          </a:p>
        </p:txBody>
      </p:sp>
      <p:sp>
        <p:nvSpPr>
          <p:cNvPr id="52" name="Shape 50"/>
          <p:cNvSpPr/>
          <p:nvPr/>
        </p:nvSpPr>
        <p:spPr>
          <a:xfrm>
            <a:off x="566928" y="2871216"/>
            <a:ext cx="11027664" cy="420624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9864762" y="2871216"/>
            <a:ext cx="172983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الأحياء</a:t>
            </a:r>
            <a:endParaRPr lang="en-US" sz="1100" dirty="0"/>
          </a:p>
        </p:txBody>
      </p:sp>
      <p:sp>
        <p:nvSpPr>
          <p:cNvPr id="54" name="Text 52"/>
          <p:cNvSpPr/>
          <p:nvPr/>
        </p:nvSpPr>
        <p:spPr>
          <a:xfrm>
            <a:off x="9107962" y="2871216"/>
            <a:ext cx="75680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١١</a:t>
            </a:r>
            <a:endParaRPr lang="en-US" sz="1100" dirty="0"/>
          </a:p>
        </p:txBody>
      </p:sp>
      <p:sp>
        <p:nvSpPr>
          <p:cNvPr id="55" name="Text 53"/>
          <p:cNvSpPr/>
          <p:nvPr/>
        </p:nvSpPr>
        <p:spPr>
          <a:xfrm>
            <a:off x="8243047" y="2871216"/>
            <a:ext cx="864915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٢٢٫٣</a:t>
            </a:r>
            <a:endParaRPr lang="en-US" sz="1100" dirty="0"/>
          </a:p>
        </p:txBody>
      </p:sp>
      <p:sp>
        <p:nvSpPr>
          <p:cNvPr id="56" name="Text 54"/>
          <p:cNvSpPr/>
          <p:nvPr/>
        </p:nvSpPr>
        <p:spPr>
          <a:xfrm>
            <a:off x="7378132" y="2871216"/>
            <a:ext cx="864915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٠٫٠٥</a:t>
            </a:r>
            <a:endParaRPr lang="en-US" sz="1100" dirty="0"/>
          </a:p>
        </p:txBody>
      </p:sp>
      <p:sp>
        <p:nvSpPr>
          <p:cNvPr id="57" name="Text 55"/>
          <p:cNvSpPr/>
          <p:nvPr/>
        </p:nvSpPr>
        <p:spPr>
          <a:xfrm>
            <a:off x="6405103" y="2871216"/>
            <a:ext cx="973029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٧</a:t>
            </a:r>
            <a:endParaRPr lang="en-US" sz="1100" dirty="0"/>
          </a:p>
        </p:txBody>
      </p:sp>
      <p:sp>
        <p:nvSpPr>
          <p:cNvPr id="58" name="Text 56"/>
          <p:cNvSpPr/>
          <p:nvPr/>
        </p:nvSpPr>
        <p:spPr>
          <a:xfrm>
            <a:off x="5215845" y="2871216"/>
            <a:ext cx="1189258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+١٠٬٢٨٣</a:t>
            </a:r>
            <a:endParaRPr lang="en-US" sz="1100" dirty="0"/>
          </a:p>
        </p:txBody>
      </p:sp>
      <p:sp>
        <p:nvSpPr>
          <p:cNvPr id="59" name="Text 57"/>
          <p:cNvSpPr/>
          <p:nvPr/>
        </p:nvSpPr>
        <p:spPr>
          <a:xfrm>
            <a:off x="4026587" y="2871216"/>
            <a:ext cx="1189258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A8681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٤١٦٬٢٥١</a:t>
            </a:r>
            <a:endParaRPr lang="en-US" sz="1100" dirty="0"/>
          </a:p>
        </p:txBody>
      </p:sp>
      <p:sp>
        <p:nvSpPr>
          <p:cNvPr id="60" name="Text 58"/>
          <p:cNvSpPr/>
          <p:nvPr/>
        </p:nvSpPr>
        <p:spPr>
          <a:xfrm>
            <a:off x="2837329" y="2871216"/>
            <a:ext cx="1189258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١١٥</a:t>
            </a:r>
            <a:endParaRPr lang="en-US" sz="1100" dirty="0"/>
          </a:p>
        </p:txBody>
      </p:sp>
      <p:sp>
        <p:nvSpPr>
          <p:cNvPr id="61" name="Text 59"/>
          <p:cNvSpPr/>
          <p:nvPr/>
        </p:nvSpPr>
        <p:spPr>
          <a:xfrm>
            <a:off x="1756186" y="2871216"/>
            <a:ext cx="1081144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١٠١٬١٥٥</a:t>
            </a:r>
            <a:endParaRPr lang="en-US" sz="1100" dirty="0"/>
          </a:p>
        </p:txBody>
      </p:sp>
      <p:sp>
        <p:nvSpPr>
          <p:cNvPr id="62" name="Text 60"/>
          <p:cNvSpPr/>
          <p:nvPr/>
        </p:nvSpPr>
        <p:spPr>
          <a:xfrm>
            <a:off x="566928" y="2871216"/>
            <a:ext cx="1189258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٥١٧٬٤٠٦</a:t>
            </a:r>
            <a:endParaRPr lang="en-US" sz="1100" dirty="0"/>
          </a:p>
        </p:txBody>
      </p:sp>
      <p:sp>
        <p:nvSpPr>
          <p:cNvPr id="63" name="Shape 61"/>
          <p:cNvSpPr/>
          <p:nvPr/>
        </p:nvSpPr>
        <p:spPr>
          <a:xfrm>
            <a:off x="566928" y="3291840"/>
            <a:ext cx="11027664" cy="420624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9864762" y="3291840"/>
            <a:ext cx="172983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محدودة الإنتاجية</a:t>
            </a:r>
            <a:endParaRPr lang="en-US" sz="1100" dirty="0"/>
          </a:p>
        </p:txBody>
      </p:sp>
      <p:sp>
        <p:nvSpPr>
          <p:cNvPr id="65" name="Text 63"/>
          <p:cNvSpPr/>
          <p:nvPr/>
        </p:nvSpPr>
        <p:spPr>
          <a:xfrm>
            <a:off x="9107962" y="3291840"/>
            <a:ext cx="75680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٧</a:t>
            </a:r>
            <a:endParaRPr lang="en-US" sz="1100" dirty="0"/>
          </a:p>
        </p:txBody>
      </p:sp>
      <p:sp>
        <p:nvSpPr>
          <p:cNvPr id="66" name="Text 64"/>
          <p:cNvSpPr/>
          <p:nvPr/>
        </p:nvSpPr>
        <p:spPr>
          <a:xfrm>
            <a:off x="8243047" y="3291840"/>
            <a:ext cx="864915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٢٢٫٦</a:t>
            </a:r>
            <a:endParaRPr lang="en-US" sz="1100" dirty="0"/>
          </a:p>
        </p:txBody>
      </p:sp>
      <p:sp>
        <p:nvSpPr>
          <p:cNvPr id="67" name="Text 65"/>
          <p:cNvSpPr/>
          <p:nvPr/>
        </p:nvSpPr>
        <p:spPr>
          <a:xfrm>
            <a:off x="7378132" y="3291840"/>
            <a:ext cx="864915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٠٫٢٠</a:t>
            </a:r>
            <a:endParaRPr lang="en-US" sz="1100" dirty="0"/>
          </a:p>
        </p:txBody>
      </p:sp>
      <p:sp>
        <p:nvSpPr>
          <p:cNvPr id="68" name="Text 66"/>
          <p:cNvSpPr/>
          <p:nvPr/>
        </p:nvSpPr>
        <p:spPr>
          <a:xfrm>
            <a:off x="6405103" y="3291840"/>
            <a:ext cx="973029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</a:t>
            </a:r>
            <a:endParaRPr lang="en-US" sz="1100" dirty="0"/>
          </a:p>
        </p:txBody>
      </p:sp>
      <p:sp>
        <p:nvSpPr>
          <p:cNvPr id="69" name="Text 67"/>
          <p:cNvSpPr/>
          <p:nvPr/>
        </p:nvSpPr>
        <p:spPr>
          <a:xfrm>
            <a:off x="5215845" y="3291840"/>
            <a:ext cx="1189258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+٢٬٠٧٩</a:t>
            </a:r>
            <a:endParaRPr lang="en-US" sz="1100" dirty="0"/>
          </a:p>
        </p:txBody>
      </p:sp>
      <p:sp>
        <p:nvSpPr>
          <p:cNvPr id="70" name="Text 68"/>
          <p:cNvSpPr/>
          <p:nvPr/>
        </p:nvSpPr>
        <p:spPr>
          <a:xfrm>
            <a:off x="4026587" y="3291840"/>
            <a:ext cx="1189258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A8681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٨٤٬١٥١</a:t>
            </a:r>
            <a:endParaRPr lang="en-US" sz="1100" dirty="0"/>
          </a:p>
        </p:txBody>
      </p:sp>
      <p:sp>
        <p:nvSpPr>
          <p:cNvPr id="71" name="Text 69"/>
          <p:cNvSpPr/>
          <p:nvPr/>
        </p:nvSpPr>
        <p:spPr>
          <a:xfrm>
            <a:off x="2837329" y="3291840"/>
            <a:ext cx="1189258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٢٤</a:t>
            </a:r>
            <a:endParaRPr lang="en-US" sz="1100" dirty="0"/>
          </a:p>
        </p:txBody>
      </p:sp>
      <p:sp>
        <p:nvSpPr>
          <p:cNvPr id="72" name="Text 70"/>
          <p:cNvSpPr/>
          <p:nvPr/>
        </p:nvSpPr>
        <p:spPr>
          <a:xfrm>
            <a:off x="1756186" y="3291840"/>
            <a:ext cx="1081144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٢٢٬٦٤٨</a:t>
            </a:r>
            <a:endParaRPr lang="en-US" sz="1100" dirty="0"/>
          </a:p>
        </p:txBody>
      </p:sp>
      <p:sp>
        <p:nvSpPr>
          <p:cNvPr id="73" name="Text 71"/>
          <p:cNvSpPr/>
          <p:nvPr/>
        </p:nvSpPr>
        <p:spPr>
          <a:xfrm>
            <a:off x="566928" y="3291840"/>
            <a:ext cx="1189258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١٠٦٬٧٩٩</a:t>
            </a:r>
            <a:endParaRPr lang="en-US" sz="1100" dirty="0"/>
          </a:p>
        </p:txBody>
      </p:sp>
      <p:sp>
        <p:nvSpPr>
          <p:cNvPr id="74" name="Shape 72"/>
          <p:cNvSpPr/>
          <p:nvPr/>
        </p:nvSpPr>
        <p:spPr>
          <a:xfrm>
            <a:off x="566928" y="3712464"/>
            <a:ext cx="11027664" cy="420624"/>
          </a:xfrm>
          <a:prstGeom prst="rect">
            <a:avLst/>
          </a:prstGeom>
          <a:solidFill>
            <a:srgbClr val="EDE7DE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9864762" y="3712464"/>
            <a:ext cx="172983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الإجمالي</a:t>
            </a:r>
            <a:endParaRPr lang="en-US" sz="1100" dirty="0"/>
          </a:p>
        </p:txBody>
      </p:sp>
      <p:sp>
        <p:nvSpPr>
          <p:cNvPr id="76" name="Text 74"/>
          <p:cNvSpPr/>
          <p:nvPr/>
        </p:nvSpPr>
        <p:spPr>
          <a:xfrm>
            <a:off x="9107962" y="3712464"/>
            <a:ext cx="75680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٥٢</a:t>
            </a:r>
            <a:endParaRPr lang="en-US" sz="1100" dirty="0"/>
          </a:p>
        </p:txBody>
      </p:sp>
      <p:sp>
        <p:nvSpPr>
          <p:cNvPr id="77" name="Text 75"/>
          <p:cNvSpPr/>
          <p:nvPr/>
        </p:nvSpPr>
        <p:spPr>
          <a:xfrm>
            <a:off x="8243047" y="3712464"/>
            <a:ext cx="864915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٢٥٫٣</a:t>
            </a:r>
            <a:endParaRPr lang="en-US" sz="1100" dirty="0"/>
          </a:p>
        </p:txBody>
      </p:sp>
      <p:sp>
        <p:nvSpPr>
          <p:cNvPr id="78" name="Text 76"/>
          <p:cNvSpPr/>
          <p:nvPr/>
        </p:nvSpPr>
        <p:spPr>
          <a:xfrm>
            <a:off x="7378132" y="3712464"/>
            <a:ext cx="864915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—</a:t>
            </a:r>
            <a:endParaRPr lang="en-US" sz="1100" dirty="0"/>
          </a:p>
        </p:txBody>
      </p:sp>
      <p:sp>
        <p:nvSpPr>
          <p:cNvPr id="79" name="Text 77"/>
          <p:cNvSpPr/>
          <p:nvPr/>
        </p:nvSpPr>
        <p:spPr>
          <a:xfrm>
            <a:off x="6405103" y="3712464"/>
            <a:ext cx="973029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٣٤</a:t>
            </a:r>
            <a:endParaRPr lang="en-US" sz="1100" dirty="0"/>
          </a:p>
        </p:txBody>
      </p:sp>
      <p:sp>
        <p:nvSpPr>
          <p:cNvPr id="80" name="Text 78"/>
          <p:cNvSpPr/>
          <p:nvPr/>
        </p:nvSpPr>
        <p:spPr>
          <a:xfrm>
            <a:off x="5215845" y="3712464"/>
            <a:ext cx="1189258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+٧٧٬٢١٩</a:t>
            </a:r>
            <a:endParaRPr lang="en-US" sz="1100" dirty="0"/>
          </a:p>
        </p:txBody>
      </p:sp>
      <p:sp>
        <p:nvSpPr>
          <p:cNvPr id="81" name="Text 79"/>
          <p:cNvSpPr/>
          <p:nvPr/>
        </p:nvSpPr>
        <p:spPr>
          <a:xfrm>
            <a:off x="4026587" y="3712464"/>
            <a:ext cx="1189258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٣٬١٢٥٬٧٢٧</a:t>
            </a:r>
            <a:endParaRPr lang="en-US" sz="1100" dirty="0"/>
          </a:p>
        </p:txBody>
      </p:sp>
      <p:sp>
        <p:nvSpPr>
          <p:cNvPr id="82" name="Text 80"/>
          <p:cNvSpPr/>
          <p:nvPr/>
        </p:nvSpPr>
        <p:spPr>
          <a:xfrm>
            <a:off x="2837329" y="3712464"/>
            <a:ext cx="1189258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٧٤٢</a:t>
            </a:r>
            <a:endParaRPr lang="en-US" sz="1100" dirty="0"/>
          </a:p>
        </p:txBody>
      </p:sp>
      <p:sp>
        <p:nvSpPr>
          <p:cNvPr id="83" name="Text 81"/>
          <p:cNvSpPr/>
          <p:nvPr/>
        </p:nvSpPr>
        <p:spPr>
          <a:xfrm>
            <a:off x="1756186" y="3712464"/>
            <a:ext cx="1081144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٨٣٧٬٣١٦</a:t>
            </a:r>
            <a:endParaRPr lang="en-US" sz="1100" dirty="0"/>
          </a:p>
        </p:txBody>
      </p:sp>
      <p:sp>
        <p:nvSpPr>
          <p:cNvPr id="84" name="Text 82"/>
          <p:cNvSpPr/>
          <p:nvPr/>
        </p:nvSpPr>
        <p:spPr>
          <a:xfrm>
            <a:off x="566928" y="3712464"/>
            <a:ext cx="1189258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٣٬٩٦٣٬٠٤٢</a:t>
            </a:r>
            <a:endParaRPr lang="en-US" sz="1100" dirty="0"/>
          </a:p>
        </p:txBody>
      </p:sp>
      <p:sp>
        <p:nvSpPr>
          <p:cNvPr id="85" name="Text 83"/>
          <p:cNvSpPr/>
          <p:nvPr/>
        </p:nvSpPr>
        <p:spPr>
          <a:xfrm>
            <a:off x="566928" y="4023360"/>
            <a:ext cx="110276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الفعل التجاري لكل شريحة</a:t>
            </a:r>
            <a:endParaRPr lang="en-US" sz="1350" dirty="0"/>
          </a:p>
        </p:txBody>
      </p:sp>
      <p:sp>
        <p:nvSpPr>
          <p:cNvPr id="86" name="Shape 84"/>
          <p:cNvSpPr/>
          <p:nvPr/>
        </p:nvSpPr>
        <p:spPr>
          <a:xfrm>
            <a:off x="566928" y="4334256"/>
            <a:ext cx="11027664" cy="36576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87" name="Text 85"/>
          <p:cNvSpPr/>
          <p:nvPr/>
        </p:nvSpPr>
        <p:spPr>
          <a:xfrm>
            <a:off x="9830166" y="4334256"/>
            <a:ext cx="1764426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الشريحة</a:t>
            </a:r>
            <a:endParaRPr lang="en-US" sz="1000" dirty="0"/>
          </a:p>
        </p:txBody>
      </p:sp>
      <p:sp>
        <p:nvSpPr>
          <p:cNvPr id="88" name="Text 86"/>
          <p:cNvSpPr/>
          <p:nvPr/>
        </p:nvSpPr>
        <p:spPr>
          <a:xfrm>
            <a:off x="7845186" y="4334256"/>
            <a:ext cx="1984980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المحرّك</a:t>
            </a:r>
            <a:endParaRPr lang="en-US" sz="1000" dirty="0"/>
          </a:p>
        </p:txBody>
      </p:sp>
      <p:sp>
        <p:nvSpPr>
          <p:cNvPr id="89" name="Text 87"/>
          <p:cNvSpPr/>
          <p:nvPr/>
        </p:nvSpPr>
        <p:spPr>
          <a:xfrm>
            <a:off x="2331354" y="4334256"/>
            <a:ext cx="551383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الفعل</a:t>
            </a:r>
            <a:endParaRPr lang="en-US" sz="1000" dirty="0"/>
          </a:p>
        </p:txBody>
      </p:sp>
      <p:sp>
        <p:nvSpPr>
          <p:cNvPr id="90" name="Text 88"/>
          <p:cNvSpPr/>
          <p:nvPr/>
        </p:nvSpPr>
        <p:spPr>
          <a:xfrm>
            <a:off x="566928" y="4334256"/>
            <a:ext cx="1764426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صافي المعاملة</a:t>
            </a:r>
            <a:endParaRPr lang="en-US" sz="1000" dirty="0"/>
          </a:p>
        </p:txBody>
      </p:sp>
      <p:sp>
        <p:nvSpPr>
          <p:cNvPr id="91" name="Shape 89"/>
          <p:cNvSpPr/>
          <p:nvPr/>
        </p:nvSpPr>
        <p:spPr>
          <a:xfrm>
            <a:off x="566928" y="4700016"/>
            <a:ext cx="11027664" cy="310896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9830166" y="4700016"/>
            <a:ext cx="1764426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الطرق السريعة</a:t>
            </a:r>
            <a:endParaRPr lang="en-US" sz="1050" dirty="0"/>
          </a:p>
        </p:txBody>
      </p:sp>
      <p:sp>
        <p:nvSpPr>
          <p:cNvPr id="93" name="Text 91"/>
          <p:cNvSpPr/>
          <p:nvPr/>
        </p:nvSpPr>
        <p:spPr>
          <a:xfrm>
            <a:off x="7845186" y="4700016"/>
            <a:ext cx="1984980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سلة التعبئة والتعاقد</a:t>
            </a:r>
            <a:endParaRPr lang="en-US" sz="1050" dirty="0"/>
          </a:p>
        </p:txBody>
      </p:sp>
      <p:sp>
        <p:nvSpPr>
          <p:cNvPr id="94" name="Text 92"/>
          <p:cNvSpPr/>
          <p:nvPr/>
        </p:nvSpPr>
        <p:spPr>
          <a:xfrm>
            <a:off x="2331354" y="4700016"/>
            <a:ext cx="5513832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عقود ديزل متدرجة · خدمات شاحنات · ممر سريع</a:t>
            </a:r>
            <a:endParaRPr lang="en-US" sz="1050" dirty="0"/>
          </a:p>
        </p:txBody>
      </p:sp>
      <p:sp>
        <p:nvSpPr>
          <p:cNvPr id="95" name="Text 93"/>
          <p:cNvSpPr/>
          <p:nvPr/>
        </p:nvSpPr>
        <p:spPr>
          <a:xfrm>
            <a:off x="566928" y="4700016"/>
            <a:ext cx="1764426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٢٫٠٥ ر</a:t>
            </a:r>
            <a:endParaRPr lang="en-US" sz="1050" dirty="0"/>
          </a:p>
        </p:txBody>
      </p:sp>
      <p:sp>
        <p:nvSpPr>
          <p:cNvPr id="96" name="Shape 94"/>
          <p:cNvSpPr/>
          <p:nvPr/>
        </p:nvSpPr>
        <p:spPr>
          <a:xfrm>
            <a:off x="566928" y="5010912"/>
            <a:ext cx="11027664" cy="310896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97" name="Text 95"/>
          <p:cNvSpPr/>
          <p:nvPr/>
        </p:nvSpPr>
        <p:spPr>
          <a:xfrm>
            <a:off x="9830166" y="5010912"/>
            <a:ext cx="1764426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الأساطيل التجارية</a:t>
            </a:r>
            <a:endParaRPr lang="en-US" sz="1050" dirty="0"/>
          </a:p>
        </p:txBody>
      </p:sp>
      <p:sp>
        <p:nvSpPr>
          <p:cNvPr id="98" name="Text 96"/>
          <p:cNvSpPr/>
          <p:nvPr/>
        </p:nvSpPr>
        <p:spPr>
          <a:xfrm>
            <a:off x="7845186" y="5010912"/>
            <a:ext cx="1984980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عمق الحساب المؤسسي</a:t>
            </a:r>
            <a:endParaRPr lang="en-US" sz="1050" dirty="0"/>
          </a:p>
        </p:txBody>
      </p:sp>
      <p:sp>
        <p:nvSpPr>
          <p:cNvPr id="99" name="Text 97"/>
          <p:cNvSpPr/>
          <p:nvPr/>
        </p:nvSpPr>
        <p:spPr>
          <a:xfrm>
            <a:off x="2331354" y="5010912"/>
            <a:ext cx="5513832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مدير حساب · حدود ائتمان · تقرير استهلاك</a:t>
            </a:r>
            <a:endParaRPr lang="en-US" sz="1050" dirty="0"/>
          </a:p>
        </p:txBody>
      </p:sp>
      <p:sp>
        <p:nvSpPr>
          <p:cNvPr id="100" name="Text 98"/>
          <p:cNvSpPr/>
          <p:nvPr/>
        </p:nvSpPr>
        <p:spPr>
          <a:xfrm>
            <a:off x="566928" y="5010912"/>
            <a:ext cx="1764426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١٫٤٨ ر</a:t>
            </a:r>
            <a:endParaRPr lang="en-US" sz="1050" dirty="0"/>
          </a:p>
        </p:txBody>
      </p:sp>
      <p:sp>
        <p:nvSpPr>
          <p:cNvPr id="101" name="Shape 99"/>
          <p:cNvSpPr/>
          <p:nvPr/>
        </p:nvSpPr>
        <p:spPr>
          <a:xfrm>
            <a:off x="566928" y="5321808"/>
            <a:ext cx="11027664" cy="310896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9830166" y="5321808"/>
            <a:ext cx="1764426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حضرية</a:t>
            </a:r>
            <a:endParaRPr lang="en-US" sz="1050" dirty="0"/>
          </a:p>
        </p:txBody>
      </p:sp>
      <p:sp>
        <p:nvSpPr>
          <p:cNvPr id="103" name="Text 101"/>
          <p:cNvSpPr/>
          <p:nvPr/>
        </p:nvSpPr>
        <p:spPr>
          <a:xfrm>
            <a:off x="7845186" y="5321808"/>
            <a:ext cx="1984980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تغطية ساعات الذروة</a:t>
            </a:r>
            <a:endParaRPr lang="en-US" sz="1050" dirty="0"/>
          </a:p>
        </p:txBody>
      </p:sp>
      <p:sp>
        <p:nvSpPr>
          <p:cNvPr id="104" name="Text 102"/>
          <p:cNvSpPr/>
          <p:nvPr/>
        </p:nvSpPr>
        <p:spPr>
          <a:xfrm>
            <a:off x="2331354" y="5321808"/>
            <a:ext cx="5513832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طاقم الذروة · توفّر المضخات · سرعة الخدمة</a:t>
            </a:r>
            <a:endParaRPr lang="en-US" sz="1050" dirty="0"/>
          </a:p>
        </p:txBody>
      </p:sp>
      <p:sp>
        <p:nvSpPr>
          <p:cNvPr id="105" name="Text 103"/>
          <p:cNvSpPr/>
          <p:nvPr/>
        </p:nvSpPr>
        <p:spPr>
          <a:xfrm>
            <a:off x="566928" y="5321808"/>
            <a:ext cx="1764426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١٫٤٣ ر</a:t>
            </a:r>
            <a:endParaRPr lang="en-US" sz="1050" dirty="0"/>
          </a:p>
        </p:txBody>
      </p:sp>
      <p:sp>
        <p:nvSpPr>
          <p:cNvPr id="106" name="Shape 104"/>
          <p:cNvSpPr/>
          <p:nvPr/>
        </p:nvSpPr>
        <p:spPr>
          <a:xfrm>
            <a:off x="566928" y="5632704"/>
            <a:ext cx="11027664" cy="310896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107" name="Text 105"/>
          <p:cNvSpPr/>
          <p:nvPr/>
        </p:nvSpPr>
        <p:spPr>
          <a:xfrm>
            <a:off x="9830166" y="5632704"/>
            <a:ext cx="1764426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الأحياء</a:t>
            </a:r>
            <a:endParaRPr lang="en-US" sz="1050" dirty="0"/>
          </a:p>
        </p:txBody>
      </p:sp>
      <p:sp>
        <p:nvSpPr>
          <p:cNvPr id="108" name="Text 106"/>
          <p:cNvSpPr/>
          <p:nvPr/>
        </p:nvSpPr>
        <p:spPr>
          <a:xfrm>
            <a:off x="7845186" y="5632704"/>
            <a:ext cx="1984980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التردد</a:t>
            </a:r>
            <a:endParaRPr lang="en-US" sz="1050" dirty="0"/>
          </a:p>
        </p:txBody>
      </p:sp>
      <p:sp>
        <p:nvSpPr>
          <p:cNvPr id="109" name="Text 107"/>
          <p:cNvSpPr/>
          <p:nvPr/>
        </p:nvSpPr>
        <p:spPr>
          <a:xfrm>
            <a:off x="2331354" y="5632704"/>
            <a:ext cx="5513832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ساعات العمل · مزيج المستأجرين · سرعة الذروة</a:t>
            </a:r>
            <a:endParaRPr lang="en-US" sz="1050" dirty="0"/>
          </a:p>
        </p:txBody>
      </p:sp>
      <p:sp>
        <p:nvSpPr>
          <p:cNvPr id="110" name="Text 108"/>
          <p:cNvSpPr/>
          <p:nvPr/>
        </p:nvSpPr>
        <p:spPr>
          <a:xfrm>
            <a:off x="566928" y="5632704"/>
            <a:ext cx="1764426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١٫٣٩ ر</a:t>
            </a:r>
            <a:endParaRPr lang="en-US" sz="1050" dirty="0"/>
          </a:p>
        </p:txBody>
      </p:sp>
      <p:sp>
        <p:nvSpPr>
          <p:cNvPr id="111" name="Shape 109"/>
          <p:cNvSpPr/>
          <p:nvPr/>
        </p:nvSpPr>
        <p:spPr>
          <a:xfrm>
            <a:off x="566928" y="5943600"/>
            <a:ext cx="11027664" cy="310896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112" name="Text 110"/>
          <p:cNvSpPr/>
          <p:nvPr/>
        </p:nvSpPr>
        <p:spPr>
          <a:xfrm>
            <a:off x="9830166" y="5943600"/>
            <a:ext cx="1764426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محدودة الإنتاجية</a:t>
            </a:r>
            <a:endParaRPr lang="en-US" sz="1050" dirty="0"/>
          </a:p>
        </p:txBody>
      </p:sp>
      <p:sp>
        <p:nvSpPr>
          <p:cNvPr id="113" name="Text 111"/>
          <p:cNvSpPr/>
          <p:nvPr/>
        </p:nvSpPr>
        <p:spPr>
          <a:xfrm>
            <a:off x="7845186" y="5943600"/>
            <a:ext cx="1984980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حماية الربحية</a:t>
            </a:r>
            <a:endParaRPr lang="en-US" sz="1050" dirty="0"/>
          </a:p>
        </p:txBody>
      </p:sp>
      <p:sp>
        <p:nvSpPr>
          <p:cNvPr id="114" name="Text 112"/>
          <p:cNvSpPr/>
          <p:nvPr/>
        </p:nvSpPr>
        <p:spPr>
          <a:xfrm>
            <a:off x="2331354" y="5943600"/>
            <a:ext cx="5513832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ضبط العمالة · تأجير الوحدات · لا إنفاق تسويقي</a:t>
            </a:r>
            <a:endParaRPr lang="en-US" sz="1050" dirty="0"/>
          </a:p>
        </p:txBody>
      </p:sp>
      <p:sp>
        <p:nvSpPr>
          <p:cNvPr id="115" name="Text 113"/>
          <p:cNvSpPr/>
          <p:nvPr/>
        </p:nvSpPr>
        <p:spPr>
          <a:xfrm>
            <a:off x="566928" y="5943600"/>
            <a:ext cx="1764426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١٫٤١ ر</a:t>
            </a:r>
            <a:endParaRPr lang="en-US" sz="1050" dirty="0"/>
          </a:p>
        </p:txBody>
      </p:sp>
      <p:sp>
        <p:nvSpPr>
          <p:cNvPr id="116" name="Text 114"/>
          <p:cNvSpPr/>
          <p:nvPr/>
        </p:nvSpPr>
        <p:spPr>
          <a:xfrm>
            <a:off x="566928" y="6144768"/>
            <a:ext cx="110276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95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R² يقيس كم من تباين التعبئة يفسّره مزيج الوقود — كلما ارتفع قلّ ما يملكه التشغيل</a:t>
            </a:r>
            <a:endParaRPr lang="en-US" sz="9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74320"/>
            <a:ext cx="10113264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أكبر ١٢ فرصة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01132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مرتّبة بالقيمة السنوية · وهي قائمة الأولوية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133856"/>
            <a:ext cx="1102766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64373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 · الإدارة التجارية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45952" y="6437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16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66928" y="1243584"/>
            <a:ext cx="11027664" cy="36576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9" name="Text 7"/>
          <p:cNvSpPr/>
          <p:nvPr/>
        </p:nvSpPr>
        <p:spPr>
          <a:xfrm>
            <a:off x="9790065" y="1243584"/>
            <a:ext cx="1804527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المحطة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9088305" y="1243584"/>
            <a:ext cx="701760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الكود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7785035" y="1243584"/>
            <a:ext cx="1303269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الشريحة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6983023" y="1243584"/>
            <a:ext cx="80201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التعبئة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6080760" y="1243584"/>
            <a:ext cx="902263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المتوقَّع من مزيجها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5379000" y="1243584"/>
            <a:ext cx="701760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الفارق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4476736" y="1243584"/>
            <a:ext cx="902263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رفع السلة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3574473" y="1243584"/>
            <a:ext cx="902263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فاقد الذروة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2471706" y="1243584"/>
            <a:ext cx="1102766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القيمة السنوية (ر)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566928" y="1243584"/>
            <a:ext cx="1904778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الحالة المرصودة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566928" y="1609344"/>
            <a:ext cx="11027664" cy="342900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790065" y="1609344"/>
            <a:ext cx="1804527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طريق الليث - الفضيلة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9088305" y="1609344"/>
            <a:ext cx="701760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MK289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7785035" y="1609344"/>
            <a:ext cx="1303269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الطرق السريعة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6983023" y="1609344"/>
            <a:ext cx="80201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٤٥٫٥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6080760" y="16093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٥١٫١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5379000" y="1609344"/>
            <a:ext cx="701760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؜-٥٫٦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4476736" y="16093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+٦٬٧٠٨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3574473" y="16093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٢١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2471706" y="1609344"/>
            <a:ext cx="110276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٣١٠٬٣٠٠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566928" y="1609344"/>
            <a:ext cx="1904778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فاقد ذروة · سلة دون المتوقَّع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66928" y="1952244"/>
            <a:ext cx="11027664" cy="342900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790065" y="1952244"/>
            <a:ext cx="1804527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أبو وافي العمرة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9088305" y="1952244"/>
            <a:ext cx="701760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MK033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7785035" y="1952244"/>
            <a:ext cx="1303269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الطرق السريعة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983023" y="1952244"/>
            <a:ext cx="80201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٣٠٫٩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6080760" y="19522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٣٩٫٥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5379000" y="1952244"/>
            <a:ext cx="701760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؜-٨٫٦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4476736" y="19522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+٦٬٧٣٠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3574473" y="19522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١٣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2471706" y="1952244"/>
            <a:ext cx="110276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٢٨٩٬١٢٨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566928" y="1952244"/>
            <a:ext cx="1904778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سلة دون المتوقَّع · ديزل مرتفع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566928" y="2295144"/>
            <a:ext cx="11027664" cy="342900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9790065" y="2295144"/>
            <a:ext cx="1804527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الصفا - أحد المسارحة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9088305" y="2295144"/>
            <a:ext cx="701760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JA092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7785035" y="2295144"/>
            <a:ext cx="1303269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حضرية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6983023" y="2295144"/>
            <a:ext cx="80201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١٩٫٠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6080760" y="22951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٢٤٫٣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5379000" y="2295144"/>
            <a:ext cx="701760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؜-٥٫٣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4476736" y="22951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+٦٬٤٣٧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3574473" y="22951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2471706" y="2295144"/>
            <a:ext cx="110276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٢٦٤٬٦٣٧</a:t>
            </a:r>
            <a:endParaRPr lang="en-US" sz="1000" dirty="0"/>
          </a:p>
        </p:txBody>
      </p:sp>
      <p:sp>
        <p:nvSpPr>
          <p:cNvPr id="51" name="Text 49"/>
          <p:cNvSpPr/>
          <p:nvPr/>
        </p:nvSpPr>
        <p:spPr>
          <a:xfrm>
            <a:off x="566928" y="2295144"/>
            <a:ext cx="1904778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سلة دون المتوقَّع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566928" y="2638044"/>
            <a:ext cx="11027664" cy="342900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9790065" y="2638044"/>
            <a:ext cx="1804527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الفلاح - فلسطين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9088305" y="2638044"/>
            <a:ext cx="701760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MK210</a:t>
            </a:r>
            <a:endParaRPr lang="en-US" sz="1000" dirty="0"/>
          </a:p>
        </p:txBody>
      </p:sp>
      <p:sp>
        <p:nvSpPr>
          <p:cNvPr id="55" name="Text 53"/>
          <p:cNvSpPr/>
          <p:nvPr/>
        </p:nvSpPr>
        <p:spPr>
          <a:xfrm>
            <a:off x="7785035" y="2638044"/>
            <a:ext cx="1303269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الطرق السريعة</a:t>
            </a:r>
            <a:endParaRPr lang="en-US" sz="1000" dirty="0"/>
          </a:p>
        </p:txBody>
      </p:sp>
      <p:sp>
        <p:nvSpPr>
          <p:cNvPr id="56" name="Text 54"/>
          <p:cNvSpPr/>
          <p:nvPr/>
        </p:nvSpPr>
        <p:spPr>
          <a:xfrm>
            <a:off x="6983023" y="2638044"/>
            <a:ext cx="80201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٢٤٫٢</a:t>
            </a:r>
            <a:endParaRPr lang="en-US" sz="1000" dirty="0"/>
          </a:p>
        </p:txBody>
      </p:sp>
      <p:sp>
        <p:nvSpPr>
          <p:cNvPr id="57" name="Text 55"/>
          <p:cNvSpPr/>
          <p:nvPr/>
        </p:nvSpPr>
        <p:spPr>
          <a:xfrm>
            <a:off x="6080760" y="26380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٣١٫٩</a:t>
            </a:r>
            <a:endParaRPr lang="en-US" sz="1000" dirty="0"/>
          </a:p>
        </p:txBody>
      </p:sp>
      <p:sp>
        <p:nvSpPr>
          <p:cNvPr id="58" name="Text 56"/>
          <p:cNvSpPr/>
          <p:nvPr/>
        </p:nvSpPr>
        <p:spPr>
          <a:xfrm>
            <a:off x="5379000" y="2638044"/>
            <a:ext cx="701760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؜-٧٫٧</a:t>
            </a:r>
            <a:endParaRPr lang="en-US" sz="1000" dirty="0"/>
          </a:p>
        </p:txBody>
      </p:sp>
      <p:sp>
        <p:nvSpPr>
          <p:cNvPr id="59" name="Text 57"/>
          <p:cNvSpPr/>
          <p:nvPr/>
        </p:nvSpPr>
        <p:spPr>
          <a:xfrm>
            <a:off x="4476736" y="26380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+٥٬٩١٢</a:t>
            </a:r>
            <a:endParaRPr lang="en-US" sz="1000" dirty="0"/>
          </a:p>
        </p:txBody>
      </p:sp>
      <p:sp>
        <p:nvSpPr>
          <p:cNvPr id="60" name="Text 58"/>
          <p:cNvSpPr/>
          <p:nvPr/>
        </p:nvSpPr>
        <p:spPr>
          <a:xfrm>
            <a:off x="3574473" y="26380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٢١</a:t>
            </a:r>
            <a:endParaRPr lang="en-US" sz="1000" dirty="0"/>
          </a:p>
        </p:txBody>
      </p:sp>
      <p:sp>
        <p:nvSpPr>
          <p:cNvPr id="61" name="Text 59"/>
          <p:cNvSpPr/>
          <p:nvPr/>
        </p:nvSpPr>
        <p:spPr>
          <a:xfrm>
            <a:off x="2471706" y="2638044"/>
            <a:ext cx="110276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٢٦٠٬١٤٥</a:t>
            </a:r>
            <a:endParaRPr lang="en-US" sz="1000" dirty="0"/>
          </a:p>
        </p:txBody>
      </p:sp>
      <p:sp>
        <p:nvSpPr>
          <p:cNvPr id="62" name="Text 60"/>
          <p:cNvSpPr/>
          <p:nvPr/>
        </p:nvSpPr>
        <p:spPr>
          <a:xfrm>
            <a:off x="566928" y="2638044"/>
            <a:ext cx="1904778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فاقد ذروة · سلة دون المتوقَّع</a:t>
            </a:r>
            <a:endParaRPr lang="en-US" sz="900" dirty="0"/>
          </a:p>
        </p:txBody>
      </p:sp>
      <p:sp>
        <p:nvSpPr>
          <p:cNvPr id="63" name="Shape 61"/>
          <p:cNvSpPr/>
          <p:nvPr/>
        </p:nvSpPr>
        <p:spPr>
          <a:xfrm>
            <a:off x="566928" y="2980944"/>
            <a:ext cx="11027664" cy="342900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9790065" y="2980944"/>
            <a:ext cx="1804527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جنوب صبيا</a:t>
            </a:r>
            <a:endParaRPr lang="en-US" sz="1000" dirty="0"/>
          </a:p>
        </p:txBody>
      </p:sp>
      <p:sp>
        <p:nvSpPr>
          <p:cNvPr id="65" name="Text 63"/>
          <p:cNvSpPr/>
          <p:nvPr/>
        </p:nvSpPr>
        <p:spPr>
          <a:xfrm>
            <a:off x="9088305" y="2980944"/>
            <a:ext cx="701760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JA348</a:t>
            </a:r>
            <a:endParaRPr lang="en-US" sz="1000" dirty="0"/>
          </a:p>
        </p:txBody>
      </p:sp>
      <p:sp>
        <p:nvSpPr>
          <p:cNvPr id="66" name="Text 64"/>
          <p:cNvSpPr/>
          <p:nvPr/>
        </p:nvSpPr>
        <p:spPr>
          <a:xfrm>
            <a:off x="7785035" y="2980944"/>
            <a:ext cx="1303269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الأحياء</a:t>
            </a:r>
            <a:endParaRPr lang="en-US" sz="1000" dirty="0"/>
          </a:p>
        </p:txBody>
      </p:sp>
      <p:sp>
        <p:nvSpPr>
          <p:cNvPr id="67" name="Text 65"/>
          <p:cNvSpPr/>
          <p:nvPr/>
        </p:nvSpPr>
        <p:spPr>
          <a:xfrm>
            <a:off x="6983023" y="2980944"/>
            <a:ext cx="80201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١٥٫٤</a:t>
            </a:r>
            <a:endParaRPr lang="en-US" sz="1000" dirty="0"/>
          </a:p>
        </p:txBody>
      </p:sp>
      <p:sp>
        <p:nvSpPr>
          <p:cNvPr id="68" name="Text 66"/>
          <p:cNvSpPr/>
          <p:nvPr/>
        </p:nvSpPr>
        <p:spPr>
          <a:xfrm>
            <a:off x="6080760" y="29809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٢٢٫٥</a:t>
            </a:r>
            <a:endParaRPr lang="en-US" sz="1000" dirty="0"/>
          </a:p>
        </p:txBody>
      </p:sp>
      <p:sp>
        <p:nvSpPr>
          <p:cNvPr id="69" name="Text 67"/>
          <p:cNvSpPr/>
          <p:nvPr/>
        </p:nvSpPr>
        <p:spPr>
          <a:xfrm>
            <a:off x="5379000" y="2980944"/>
            <a:ext cx="701760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؜-٧٫١</a:t>
            </a:r>
            <a:endParaRPr lang="en-US" sz="1000" dirty="0"/>
          </a:p>
        </p:txBody>
      </p:sp>
      <p:sp>
        <p:nvSpPr>
          <p:cNvPr id="70" name="Text 68"/>
          <p:cNvSpPr/>
          <p:nvPr/>
        </p:nvSpPr>
        <p:spPr>
          <a:xfrm>
            <a:off x="4476736" y="29809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+٤٬٨١٧</a:t>
            </a:r>
            <a:endParaRPr lang="en-US" sz="1000" dirty="0"/>
          </a:p>
        </p:txBody>
      </p:sp>
      <p:sp>
        <p:nvSpPr>
          <p:cNvPr id="71" name="Text 69"/>
          <p:cNvSpPr/>
          <p:nvPr/>
        </p:nvSpPr>
        <p:spPr>
          <a:xfrm>
            <a:off x="3574473" y="29809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١٢</a:t>
            </a:r>
            <a:endParaRPr lang="en-US" sz="1000" dirty="0"/>
          </a:p>
        </p:txBody>
      </p:sp>
      <p:sp>
        <p:nvSpPr>
          <p:cNvPr id="72" name="Text 70"/>
          <p:cNvSpPr/>
          <p:nvPr/>
        </p:nvSpPr>
        <p:spPr>
          <a:xfrm>
            <a:off x="2471706" y="2980944"/>
            <a:ext cx="110276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٢٠٢٬٤٠٨</a:t>
            </a:r>
            <a:endParaRPr lang="en-US" sz="1000" dirty="0"/>
          </a:p>
        </p:txBody>
      </p:sp>
      <p:sp>
        <p:nvSpPr>
          <p:cNvPr id="73" name="Text 71"/>
          <p:cNvSpPr/>
          <p:nvPr/>
        </p:nvSpPr>
        <p:spPr>
          <a:xfrm>
            <a:off x="566928" y="2980944"/>
            <a:ext cx="1904778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سلة دون المتوقَّع</a:t>
            </a:r>
            <a:endParaRPr lang="en-US" sz="900" dirty="0"/>
          </a:p>
        </p:txBody>
      </p:sp>
      <p:sp>
        <p:nvSpPr>
          <p:cNvPr id="74" name="Shape 72"/>
          <p:cNvSpPr/>
          <p:nvPr/>
        </p:nvSpPr>
        <p:spPr>
          <a:xfrm>
            <a:off x="566928" y="3323844"/>
            <a:ext cx="11027664" cy="342900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9790065" y="3323844"/>
            <a:ext cx="1804527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العمرة الجديدة</a:t>
            </a:r>
            <a:endParaRPr lang="en-US" sz="1000" dirty="0"/>
          </a:p>
        </p:txBody>
      </p:sp>
      <p:sp>
        <p:nvSpPr>
          <p:cNvPr id="76" name="Text 74"/>
          <p:cNvSpPr/>
          <p:nvPr/>
        </p:nvSpPr>
        <p:spPr>
          <a:xfrm>
            <a:off x="9088305" y="3323844"/>
            <a:ext cx="701760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MK007</a:t>
            </a:r>
            <a:endParaRPr lang="en-US" sz="1000" dirty="0"/>
          </a:p>
        </p:txBody>
      </p:sp>
      <p:sp>
        <p:nvSpPr>
          <p:cNvPr id="77" name="Text 75"/>
          <p:cNvSpPr/>
          <p:nvPr/>
        </p:nvSpPr>
        <p:spPr>
          <a:xfrm>
            <a:off x="7785035" y="3323844"/>
            <a:ext cx="1303269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الطرق السريعة</a:t>
            </a:r>
            <a:endParaRPr lang="en-US" sz="1000" dirty="0"/>
          </a:p>
        </p:txBody>
      </p:sp>
      <p:sp>
        <p:nvSpPr>
          <p:cNvPr id="78" name="Text 76"/>
          <p:cNvSpPr/>
          <p:nvPr/>
        </p:nvSpPr>
        <p:spPr>
          <a:xfrm>
            <a:off x="6983023" y="3323844"/>
            <a:ext cx="80201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٣٠٫٦</a:t>
            </a:r>
            <a:endParaRPr lang="en-US" sz="1000" dirty="0"/>
          </a:p>
        </p:txBody>
      </p:sp>
      <p:sp>
        <p:nvSpPr>
          <p:cNvPr id="79" name="Text 77"/>
          <p:cNvSpPr/>
          <p:nvPr/>
        </p:nvSpPr>
        <p:spPr>
          <a:xfrm>
            <a:off x="6080760" y="33238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٢٨٫٦</a:t>
            </a:r>
            <a:endParaRPr lang="en-US" sz="1000" dirty="0"/>
          </a:p>
        </p:txBody>
      </p:sp>
      <p:sp>
        <p:nvSpPr>
          <p:cNvPr id="80" name="Text 78"/>
          <p:cNvSpPr/>
          <p:nvPr/>
        </p:nvSpPr>
        <p:spPr>
          <a:xfrm>
            <a:off x="5379000" y="3323844"/>
            <a:ext cx="701760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٢٫٠</a:t>
            </a:r>
            <a:endParaRPr lang="en-US" sz="1000" dirty="0"/>
          </a:p>
        </p:txBody>
      </p:sp>
      <p:sp>
        <p:nvSpPr>
          <p:cNvPr id="81" name="Text 79"/>
          <p:cNvSpPr/>
          <p:nvPr/>
        </p:nvSpPr>
        <p:spPr>
          <a:xfrm>
            <a:off x="4476736" y="33238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+٢٬٣٠٩</a:t>
            </a:r>
            <a:endParaRPr lang="en-US" sz="1000" dirty="0"/>
          </a:p>
        </p:txBody>
      </p:sp>
      <p:sp>
        <p:nvSpPr>
          <p:cNvPr id="82" name="Text 80"/>
          <p:cNvSpPr/>
          <p:nvPr/>
        </p:nvSpPr>
        <p:spPr>
          <a:xfrm>
            <a:off x="3574473" y="33238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٨٥</a:t>
            </a:r>
            <a:endParaRPr lang="en-US" sz="1000" dirty="0"/>
          </a:p>
        </p:txBody>
      </p:sp>
      <p:sp>
        <p:nvSpPr>
          <p:cNvPr id="83" name="Text 81"/>
          <p:cNvSpPr/>
          <p:nvPr/>
        </p:nvSpPr>
        <p:spPr>
          <a:xfrm>
            <a:off x="2471706" y="3323844"/>
            <a:ext cx="110276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١٩٨٬٤١١</a:t>
            </a:r>
            <a:endParaRPr lang="en-US" sz="1000" dirty="0"/>
          </a:p>
        </p:txBody>
      </p:sp>
      <p:sp>
        <p:nvSpPr>
          <p:cNvPr id="84" name="Text 82"/>
          <p:cNvSpPr/>
          <p:nvPr/>
        </p:nvSpPr>
        <p:spPr>
          <a:xfrm>
            <a:off x="566928" y="3323844"/>
            <a:ext cx="1904778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فاقد ذروة · سلة دون المتوقَّع</a:t>
            </a:r>
            <a:endParaRPr lang="en-US" sz="900" dirty="0"/>
          </a:p>
        </p:txBody>
      </p:sp>
      <p:sp>
        <p:nvSpPr>
          <p:cNvPr id="85" name="Shape 83"/>
          <p:cNvSpPr/>
          <p:nvPr/>
        </p:nvSpPr>
        <p:spPr>
          <a:xfrm>
            <a:off x="566928" y="3666744"/>
            <a:ext cx="11027664" cy="342900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9790065" y="3666744"/>
            <a:ext cx="1804527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الحسينية</a:t>
            </a:r>
            <a:endParaRPr lang="en-US" sz="1000" dirty="0"/>
          </a:p>
        </p:txBody>
      </p:sp>
      <p:sp>
        <p:nvSpPr>
          <p:cNvPr id="87" name="Text 85"/>
          <p:cNvSpPr/>
          <p:nvPr/>
        </p:nvSpPr>
        <p:spPr>
          <a:xfrm>
            <a:off x="9088305" y="3666744"/>
            <a:ext cx="701760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MK008</a:t>
            </a:r>
            <a:endParaRPr lang="en-US" sz="1000" dirty="0"/>
          </a:p>
        </p:txBody>
      </p:sp>
      <p:sp>
        <p:nvSpPr>
          <p:cNvPr id="88" name="Text 86"/>
          <p:cNvSpPr/>
          <p:nvPr/>
        </p:nvSpPr>
        <p:spPr>
          <a:xfrm>
            <a:off x="7785035" y="3666744"/>
            <a:ext cx="1303269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حضرية</a:t>
            </a:r>
            <a:endParaRPr lang="en-US" sz="1000" dirty="0"/>
          </a:p>
        </p:txBody>
      </p:sp>
      <p:sp>
        <p:nvSpPr>
          <p:cNvPr id="89" name="Text 87"/>
          <p:cNvSpPr/>
          <p:nvPr/>
        </p:nvSpPr>
        <p:spPr>
          <a:xfrm>
            <a:off x="6983023" y="3666744"/>
            <a:ext cx="80201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١٩٫١</a:t>
            </a:r>
            <a:endParaRPr lang="en-US" sz="1000" dirty="0"/>
          </a:p>
        </p:txBody>
      </p:sp>
      <p:sp>
        <p:nvSpPr>
          <p:cNvPr id="90" name="Text 88"/>
          <p:cNvSpPr/>
          <p:nvPr/>
        </p:nvSpPr>
        <p:spPr>
          <a:xfrm>
            <a:off x="6080760" y="36667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٢١٫٧</a:t>
            </a:r>
            <a:endParaRPr lang="en-US" sz="1000" dirty="0"/>
          </a:p>
        </p:txBody>
      </p:sp>
      <p:sp>
        <p:nvSpPr>
          <p:cNvPr id="91" name="Text 89"/>
          <p:cNvSpPr/>
          <p:nvPr/>
        </p:nvSpPr>
        <p:spPr>
          <a:xfrm>
            <a:off x="5379000" y="3666744"/>
            <a:ext cx="701760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؜-٢٫٦</a:t>
            </a:r>
            <a:endParaRPr lang="en-US" sz="1000" dirty="0"/>
          </a:p>
        </p:txBody>
      </p:sp>
      <p:sp>
        <p:nvSpPr>
          <p:cNvPr id="92" name="Text 90"/>
          <p:cNvSpPr/>
          <p:nvPr/>
        </p:nvSpPr>
        <p:spPr>
          <a:xfrm>
            <a:off x="4476736" y="36667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+٤٬٠٦٥</a:t>
            </a:r>
            <a:endParaRPr lang="en-US" sz="1000" dirty="0"/>
          </a:p>
        </p:txBody>
      </p:sp>
      <p:sp>
        <p:nvSpPr>
          <p:cNvPr id="93" name="Text 91"/>
          <p:cNvSpPr/>
          <p:nvPr/>
        </p:nvSpPr>
        <p:spPr>
          <a:xfrm>
            <a:off x="3574473" y="36667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٣٢</a:t>
            </a:r>
            <a:endParaRPr lang="en-US" sz="1000" dirty="0"/>
          </a:p>
        </p:txBody>
      </p:sp>
      <p:sp>
        <p:nvSpPr>
          <p:cNvPr id="94" name="Text 92"/>
          <p:cNvSpPr/>
          <p:nvPr/>
        </p:nvSpPr>
        <p:spPr>
          <a:xfrm>
            <a:off x="2471706" y="3666744"/>
            <a:ext cx="110276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١٨٩٬١٣٦</a:t>
            </a:r>
            <a:endParaRPr lang="en-US" sz="1000" dirty="0"/>
          </a:p>
        </p:txBody>
      </p:sp>
      <p:sp>
        <p:nvSpPr>
          <p:cNvPr id="95" name="Text 93"/>
          <p:cNvSpPr/>
          <p:nvPr/>
        </p:nvSpPr>
        <p:spPr>
          <a:xfrm>
            <a:off x="566928" y="3666744"/>
            <a:ext cx="1904778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فجوة مطابقة · فاقد ذروة</a:t>
            </a:r>
            <a:endParaRPr lang="en-US" sz="900" dirty="0"/>
          </a:p>
        </p:txBody>
      </p:sp>
      <p:sp>
        <p:nvSpPr>
          <p:cNvPr id="96" name="Shape 94"/>
          <p:cNvSpPr/>
          <p:nvPr/>
        </p:nvSpPr>
        <p:spPr>
          <a:xfrm>
            <a:off x="566928" y="4009644"/>
            <a:ext cx="11027664" cy="342900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97" name="Text 95"/>
          <p:cNvSpPr/>
          <p:nvPr/>
        </p:nvSpPr>
        <p:spPr>
          <a:xfrm>
            <a:off x="9790065" y="4009644"/>
            <a:ext cx="1804527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جبل النور</a:t>
            </a:r>
            <a:endParaRPr lang="en-US" sz="1000" dirty="0"/>
          </a:p>
        </p:txBody>
      </p:sp>
      <p:sp>
        <p:nvSpPr>
          <p:cNvPr id="98" name="Text 96"/>
          <p:cNvSpPr/>
          <p:nvPr/>
        </p:nvSpPr>
        <p:spPr>
          <a:xfrm>
            <a:off x="9088305" y="4009644"/>
            <a:ext cx="701760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MK001</a:t>
            </a:r>
            <a:endParaRPr lang="en-US" sz="1000" dirty="0"/>
          </a:p>
        </p:txBody>
      </p:sp>
      <p:sp>
        <p:nvSpPr>
          <p:cNvPr id="99" name="Text 97"/>
          <p:cNvSpPr/>
          <p:nvPr/>
        </p:nvSpPr>
        <p:spPr>
          <a:xfrm>
            <a:off x="7785035" y="4009644"/>
            <a:ext cx="1303269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حضرية</a:t>
            </a:r>
            <a:endParaRPr lang="en-US" sz="1000" dirty="0"/>
          </a:p>
        </p:txBody>
      </p:sp>
      <p:sp>
        <p:nvSpPr>
          <p:cNvPr id="100" name="Text 98"/>
          <p:cNvSpPr/>
          <p:nvPr/>
        </p:nvSpPr>
        <p:spPr>
          <a:xfrm>
            <a:off x="6983023" y="4009644"/>
            <a:ext cx="80201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١٩٫٣</a:t>
            </a:r>
            <a:endParaRPr lang="en-US" sz="1000" dirty="0"/>
          </a:p>
        </p:txBody>
      </p:sp>
      <p:sp>
        <p:nvSpPr>
          <p:cNvPr id="101" name="Text 99"/>
          <p:cNvSpPr/>
          <p:nvPr/>
        </p:nvSpPr>
        <p:spPr>
          <a:xfrm>
            <a:off x="6080760" y="40096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٢١٫٧</a:t>
            </a:r>
            <a:endParaRPr lang="en-US" sz="1000" dirty="0"/>
          </a:p>
        </p:txBody>
      </p:sp>
      <p:sp>
        <p:nvSpPr>
          <p:cNvPr id="102" name="Text 100"/>
          <p:cNvSpPr/>
          <p:nvPr/>
        </p:nvSpPr>
        <p:spPr>
          <a:xfrm>
            <a:off x="5379000" y="4009644"/>
            <a:ext cx="701760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؜-٢٫٤</a:t>
            </a:r>
            <a:endParaRPr lang="en-US" sz="1000" dirty="0"/>
          </a:p>
        </p:txBody>
      </p:sp>
      <p:sp>
        <p:nvSpPr>
          <p:cNvPr id="103" name="Text 101"/>
          <p:cNvSpPr/>
          <p:nvPr/>
        </p:nvSpPr>
        <p:spPr>
          <a:xfrm>
            <a:off x="4476736" y="40096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+٤٬٢٨٧</a:t>
            </a:r>
            <a:endParaRPr lang="en-US" sz="1000" dirty="0"/>
          </a:p>
        </p:txBody>
      </p:sp>
      <p:sp>
        <p:nvSpPr>
          <p:cNvPr id="104" name="Text 102"/>
          <p:cNvSpPr/>
          <p:nvPr/>
        </p:nvSpPr>
        <p:spPr>
          <a:xfrm>
            <a:off x="3574473" y="40096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٧</a:t>
            </a:r>
            <a:endParaRPr lang="en-US" sz="1000" dirty="0"/>
          </a:p>
        </p:txBody>
      </p:sp>
      <p:sp>
        <p:nvSpPr>
          <p:cNvPr id="105" name="Text 103"/>
          <p:cNvSpPr/>
          <p:nvPr/>
        </p:nvSpPr>
        <p:spPr>
          <a:xfrm>
            <a:off x="2471706" y="4009644"/>
            <a:ext cx="110276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١٧٨٬٨٩٧</a:t>
            </a:r>
            <a:endParaRPr lang="en-US" sz="1000" dirty="0"/>
          </a:p>
        </p:txBody>
      </p:sp>
      <p:sp>
        <p:nvSpPr>
          <p:cNvPr id="106" name="Text 104"/>
          <p:cNvSpPr/>
          <p:nvPr/>
        </p:nvSpPr>
        <p:spPr>
          <a:xfrm>
            <a:off x="566928" y="4009644"/>
            <a:ext cx="1904778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بيانات دفع مفقودة · سلة دون المتوقَّع</a:t>
            </a:r>
            <a:endParaRPr lang="en-US" sz="900" dirty="0"/>
          </a:p>
        </p:txBody>
      </p:sp>
      <p:sp>
        <p:nvSpPr>
          <p:cNvPr id="107" name="Shape 105"/>
          <p:cNvSpPr/>
          <p:nvPr/>
        </p:nvSpPr>
        <p:spPr>
          <a:xfrm>
            <a:off x="566928" y="4352544"/>
            <a:ext cx="11027664" cy="342900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108" name="Text 106"/>
          <p:cNvSpPr/>
          <p:nvPr/>
        </p:nvSpPr>
        <p:spPr>
          <a:xfrm>
            <a:off x="9790065" y="4352544"/>
            <a:ext cx="1804527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الرصيفة</a:t>
            </a:r>
            <a:endParaRPr lang="en-US" sz="1000" dirty="0"/>
          </a:p>
        </p:txBody>
      </p:sp>
      <p:sp>
        <p:nvSpPr>
          <p:cNvPr id="109" name="Text 107"/>
          <p:cNvSpPr/>
          <p:nvPr/>
        </p:nvSpPr>
        <p:spPr>
          <a:xfrm>
            <a:off x="9088305" y="4352544"/>
            <a:ext cx="701760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MK016</a:t>
            </a:r>
            <a:endParaRPr lang="en-US" sz="1000" dirty="0"/>
          </a:p>
        </p:txBody>
      </p:sp>
      <p:sp>
        <p:nvSpPr>
          <p:cNvPr id="110" name="Text 108"/>
          <p:cNvSpPr/>
          <p:nvPr/>
        </p:nvSpPr>
        <p:spPr>
          <a:xfrm>
            <a:off x="7785035" y="4352544"/>
            <a:ext cx="1303269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حضرية</a:t>
            </a:r>
            <a:endParaRPr lang="en-US" sz="1000" dirty="0"/>
          </a:p>
        </p:txBody>
      </p:sp>
      <p:sp>
        <p:nvSpPr>
          <p:cNvPr id="111" name="Text 109"/>
          <p:cNvSpPr/>
          <p:nvPr/>
        </p:nvSpPr>
        <p:spPr>
          <a:xfrm>
            <a:off x="6983023" y="4352544"/>
            <a:ext cx="80201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١٩٫٣</a:t>
            </a:r>
            <a:endParaRPr lang="en-US" sz="1000" dirty="0"/>
          </a:p>
        </p:txBody>
      </p:sp>
      <p:sp>
        <p:nvSpPr>
          <p:cNvPr id="112" name="Text 110"/>
          <p:cNvSpPr/>
          <p:nvPr/>
        </p:nvSpPr>
        <p:spPr>
          <a:xfrm>
            <a:off x="6080760" y="43525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٢١٫٧</a:t>
            </a:r>
            <a:endParaRPr lang="en-US" sz="1000" dirty="0"/>
          </a:p>
        </p:txBody>
      </p:sp>
      <p:sp>
        <p:nvSpPr>
          <p:cNvPr id="113" name="Text 111"/>
          <p:cNvSpPr/>
          <p:nvPr/>
        </p:nvSpPr>
        <p:spPr>
          <a:xfrm>
            <a:off x="5379000" y="4352544"/>
            <a:ext cx="701760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؜-٢٫٤</a:t>
            </a:r>
            <a:endParaRPr lang="en-US" sz="1000" dirty="0"/>
          </a:p>
        </p:txBody>
      </p:sp>
      <p:sp>
        <p:nvSpPr>
          <p:cNvPr id="114" name="Text 112"/>
          <p:cNvSpPr/>
          <p:nvPr/>
        </p:nvSpPr>
        <p:spPr>
          <a:xfrm>
            <a:off x="4476736" y="43525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+٣٬٦١٨</a:t>
            </a:r>
            <a:endParaRPr lang="en-US" sz="1000" dirty="0"/>
          </a:p>
        </p:txBody>
      </p:sp>
      <p:sp>
        <p:nvSpPr>
          <p:cNvPr id="115" name="Text 113"/>
          <p:cNvSpPr/>
          <p:nvPr/>
        </p:nvSpPr>
        <p:spPr>
          <a:xfrm>
            <a:off x="3574473" y="43525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</a:t>
            </a:r>
            <a:endParaRPr lang="en-US" sz="1000" dirty="0"/>
          </a:p>
        </p:txBody>
      </p:sp>
      <p:sp>
        <p:nvSpPr>
          <p:cNvPr id="116" name="Text 114"/>
          <p:cNvSpPr/>
          <p:nvPr/>
        </p:nvSpPr>
        <p:spPr>
          <a:xfrm>
            <a:off x="2471706" y="4352544"/>
            <a:ext cx="110276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١٥١٬١١١</a:t>
            </a:r>
            <a:endParaRPr lang="en-US" sz="1000" dirty="0"/>
          </a:p>
        </p:txBody>
      </p:sp>
      <p:sp>
        <p:nvSpPr>
          <p:cNvPr id="117" name="Text 115"/>
          <p:cNvSpPr/>
          <p:nvPr/>
        </p:nvSpPr>
        <p:spPr>
          <a:xfrm>
            <a:off x="566928" y="4352544"/>
            <a:ext cx="1904778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بيانات دفع مفقودة · سلة دون المتوقَّع</a:t>
            </a:r>
            <a:endParaRPr lang="en-US" sz="900" dirty="0"/>
          </a:p>
        </p:txBody>
      </p:sp>
      <p:sp>
        <p:nvSpPr>
          <p:cNvPr id="118" name="Shape 116"/>
          <p:cNvSpPr/>
          <p:nvPr/>
        </p:nvSpPr>
        <p:spPr>
          <a:xfrm>
            <a:off x="566928" y="4695444"/>
            <a:ext cx="11027664" cy="342900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119" name="Text 117"/>
          <p:cNvSpPr/>
          <p:nvPr/>
        </p:nvSpPr>
        <p:spPr>
          <a:xfrm>
            <a:off x="9790065" y="4695444"/>
            <a:ext cx="1804527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ممشى الشوقية</a:t>
            </a:r>
            <a:endParaRPr lang="en-US" sz="1000" dirty="0"/>
          </a:p>
        </p:txBody>
      </p:sp>
      <p:sp>
        <p:nvSpPr>
          <p:cNvPr id="120" name="Text 118"/>
          <p:cNvSpPr/>
          <p:nvPr/>
        </p:nvSpPr>
        <p:spPr>
          <a:xfrm>
            <a:off x="9088305" y="4695444"/>
            <a:ext cx="701760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MK020</a:t>
            </a:r>
            <a:endParaRPr lang="en-US" sz="1000" dirty="0"/>
          </a:p>
        </p:txBody>
      </p:sp>
      <p:sp>
        <p:nvSpPr>
          <p:cNvPr id="121" name="Text 119"/>
          <p:cNvSpPr/>
          <p:nvPr/>
        </p:nvSpPr>
        <p:spPr>
          <a:xfrm>
            <a:off x="7785035" y="4695444"/>
            <a:ext cx="1303269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حضرية</a:t>
            </a:r>
            <a:endParaRPr lang="en-US" sz="1000" dirty="0"/>
          </a:p>
        </p:txBody>
      </p:sp>
      <p:sp>
        <p:nvSpPr>
          <p:cNvPr id="122" name="Text 120"/>
          <p:cNvSpPr/>
          <p:nvPr/>
        </p:nvSpPr>
        <p:spPr>
          <a:xfrm>
            <a:off x="6983023" y="4695444"/>
            <a:ext cx="80201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١٩٫٢</a:t>
            </a:r>
            <a:endParaRPr lang="en-US" sz="1000" dirty="0"/>
          </a:p>
        </p:txBody>
      </p:sp>
      <p:sp>
        <p:nvSpPr>
          <p:cNvPr id="123" name="Text 121"/>
          <p:cNvSpPr/>
          <p:nvPr/>
        </p:nvSpPr>
        <p:spPr>
          <a:xfrm>
            <a:off x="6080760" y="46954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٢١٫٧</a:t>
            </a:r>
            <a:endParaRPr lang="en-US" sz="1000" dirty="0"/>
          </a:p>
        </p:txBody>
      </p:sp>
      <p:sp>
        <p:nvSpPr>
          <p:cNvPr id="124" name="Text 122"/>
          <p:cNvSpPr/>
          <p:nvPr/>
        </p:nvSpPr>
        <p:spPr>
          <a:xfrm>
            <a:off x="5379000" y="4695444"/>
            <a:ext cx="701760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؜-٢٫٥</a:t>
            </a:r>
            <a:endParaRPr lang="en-US" sz="1000" dirty="0"/>
          </a:p>
        </p:txBody>
      </p:sp>
      <p:sp>
        <p:nvSpPr>
          <p:cNvPr id="125" name="Text 123"/>
          <p:cNvSpPr/>
          <p:nvPr/>
        </p:nvSpPr>
        <p:spPr>
          <a:xfrm>
            <a:off x="4476736" y="46954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+٣٬١٩٩</a:t>
            </a:r>
            <a:endParaRPr lang="en-US" sz="1000" dirty="0"/>
          </a:p>
        </p:txBody>
      </p:sp>
      <p:sp>
        <p:nvSpPr>
          <p:cNvPr id="126" name="Text 124"/>
          <p:cNvSpPr/>
          <p:nvPr/>
        </p:nvSpPr>
        <p:spPr>
          <a:xfrm>
            <a:off x="3574473" y="46954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١٢</a:t>
            </a:r>
            <a:endParaRPr lang="en-US" sz="1000" dirty="0"/>
          </a:p>
        </p:txBody>
      </p:sp>
      <p:sp>
        <p:nvSpPr>
          <p:cNvPr id="127" name="Text 125"/>
          <p:cNvSpPr/>
          <p:nvPr/>
        </p:nvSpPr>
        <p:spPr>
          <a:xfrm>
            <a:off x="2471706" y="4695444"/>
            <a:ext cx="110276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١٣٩٬٠٥٦</a:t>
            </a:r>
            <a:endParaRPr lang="en-US" sz="1000" dirty="0"/>
          </a:p>
        </p:txBody>
      </p:sp>
      <p:sp>
        <p:nvSpPr>
          <p:cNvPr id="128" name="Text 126"/>
          <p:cNvSpPr/>
          <p:nvPr/>
        </p:nvSpPr>
        <p:spPr>
          <a:xfrm>
            <a:off x="566928" y="4695444"/>
            <a:ext cx="1904778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بيانات دفع مفقودة · سلة دون المتوقَّع</a:t>
            </a:r>
            <a:endParaRPr lang="en-US" sz="900" dirty="0"/>
          </a:p>
        </p:txBody>
      </p:sp>
      <p:sp>
        <p:nvSpPr>
          <p:cNvPr id="129" name="Shape 127"/>
          <p:cNvSpPr/>
          <p:nvPr/>
        </p:nvSpPr>
        <p:spPr>
          <a:xfrm>
            <a:off x="566928" y="5038344"/>
            <a:ext cx="11027664" cy="342900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130" name="Text 128"/>
          <p:cNvSpPr/>
          <p:nvPr/>
        </p:nvSpPr>
        <p:spPr>
          <a:xfrm>
            <a:off x="9790065" y="5038344"/>
            <a:ext cx="1804527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الجعرانة</a:t>
            </a:r>
            <a:endParaRPr lang="en-US" sz="1000" dirty="0"/>
          </a:p>
        </p:txBody>
      </p:sp>
      <p:sp>
        <p:nvSpPr>
          <p:cNvPr id="131" name="Text 129"/>
          <p:cNvSpPr/>
          <p:nvPr/>
        </p:nvSpPr>
        <p:spPr>
          <a:xfrm>
            <a:off x="9088305" y="5038344"/>
            <a:ext cx="701760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MK064</a:t>
            </a:r>
            <a:endParaRPr lang="en-US" sz="1000" dirty="0"/>
          </a:p>
        </p:txBody>
      </p:sp>
      <p:sp>
        <p:nvSpPr>
          <p:cNvPr id="132" name="Text 130"/>
          <p:cNvSpPr/>
          <p:nvPr/>
        </p:nvSpPr>
        <p:spPr>
          <a:xfrm>
            <a:off x="7785035" y="5038344"/>
            <a:ext cx="1303269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الطرق السريعة</a:t>
            </a:r>
            <a:endParaRPr lang="en-US" sz="1000" dirty="0"/>
          </a:p>
        </p:txBody>
      </p:sp>
      <p:sp>
        <p:nvSpPr>
          <p:cNvPr id="133" name="Text 131"/>
          <p:cNvSpPr/>
          <p:nvPr/>
        </p:nvSpPr>
        <p:spPr>
          <a:xfrm>
            <a:off x="6983023" y="5038344"/>
            <a:ext cx="80201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٢٤٫٥</a:t>
            </a:r>
            <a:endParaRPr lang="en-US" sz="1000" dirty="0"/>
          </a:p>
        </p:txBody>
      </p:sp>
      <p:sp>
        <p:nvSpPr>
          <p:cNvPr id="134" name="Text 132"/>
          <p:cNvSpPr/>
          <p:nvPr/>
        </p:nvSpPr>
        <p:spPr>
          <a:xfrm>
            <a:off x="6080760" y="50383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٢٨٫٦</a:t>
            </a:r>
            <a:endParaRPr lang="en-US" sz="1000" dirty="0"/>
          </a:p>
        </p:txBody>
      </p:sp>
      <p:sp>
        <p:nvSpPr>
          <p:cNvPr id="135" name="Text 133"/>
          <p:cNvSpPr/>
          <p:nvPr/>
        </p:nvSpPr>
        <p:spPr>
          <a:xfrm>
            <a:off x="5379000" y="5038344"/>
            <a:ext cx="701760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؜-٤٫١</a:t>
            </a:r>
            <a:endParaRPr lang="en-US" sz="1000" dirty="0"/>
          </a:p>
        </p:txBody>
      </p:sp>
      <p:sp>
        <p:nvSpPr>
          <p:cNvPr id="136" name="Text 134"/>
          <p:cNvSpPr/>
          <p:nvPr/>
        </p:nvSpPr>
        <p:spPr>
          <a:xfrm>
            <a:off x="4476736" y="50383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+٣٬٣٤٩</a:t>
            </a:r>
            <a:endParaRPr lang="en-US" sz="1000" dirty="0"/>
          </a:p>
        </p:txBody>
      </p:sp>
      <p:sp>
        <p:nvSpPr>
          <p:cNvPr id="137" name="Text 135"/>
          <p:cNvSpPr/>
          <p:nvPr/>
        </p:nvSpPr>
        <p:spPr>
          <a:xfrm>
            <a:off x="3574473" y="50383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</a:t>
            </a:r>
            <a:endParaRPr lang="en-US" sz="1000" dirty="0"/>
          </a:p>
        </p:txBody>
      </p:sp>
      <p:sp>
        <p:nvSpPr>
          <p:cNvPr id="138" name="Text 136"/>
          <p:cNvSpPr/>
          <p:nvPr/>
        </p:nvSpPr>
        <p:spPr>
          <a:xfrm>
            <a:off x="2471706" y="5038344"/>
            <a:ext cx="110276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١٣٨٬٩٧٨</a:t>
            </a:r>
            <a:endParaRPr lang="en-US" sz="1000" dirty="0"/>
          </a:p>
        </p:txBody>
      </p:sp>
      <p:sp>
        <p:nvSpPr>
          <p:cNvPr id="139" name="Text 137"/>
          <p:cNvSpPr/>
          <p:nvPr/>
        </p:nvSpPr>
        <p:spPr>
          <a:xfrm>
            <a:off x="566928" y="5038344"/>
            <a:ext cx="1904778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سلة دون المتوقَّع · ديزل مرتفع</a:t>
            </a:r>
            <a:endParaRPr lang="en-US" sz="900" dirty="0"/>
          </a:p>
        </p:txBody>
      </p:sp>
      <p:sp>
        <p:nvSpPr>
          <p:cNvPr id="140" name="Shape 138"/>
          <p:cNvSpPr/>
          <p:nvPr/>
        </p:nvSpPr>
        <p:spPr>
          <a:xfrm>
            <a:off x="566928" y="5381244"/>
            <a:ext cx="11027664" cy="342900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141" name="Text 139"/>
          <p:cNvSpPr/>
          <p:nvPr/>
        </p:nvSpPr>
        <p:spPr>
          <a:xfrm>
            <a:off x="9790065" y="5381244"/>
            <a:ext cx="1804527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العوالي</a:t>
            </a:r>
            <a:endParaRPr lang="en-US" sz="1000" dirty="0"/>
          </a:p>
        </p:txBody>
      </p:sp>
      <p:sp>
        <p:nvSpPr>
          <p:cNvPr id="142" name="Text 140"/>
          <p:cNvSpPr/>
          <p:nvPr/>
        </p:nvSpPr>
        <p:spPr>
          <a:xfrm>
            <a:off x="9088305" y="5381244"/>
            <a:ext cx="701760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MK003</a:t>
            </a:r>
            <a:endParaRPr lang="en-US" sz="1000" dirty="0"/>
          </a:p>
        </p:txBody>
      </p:sp>
      <p:sp>
        <p:nvSpPr>
          <p:cNvPr id="143" name="Text 141"/>
          <p:cNvSpPr/>
          <p:nvPr/>
        </p:nvSpPr>
        <p:spPr>
          <a:xfrm>
            <a:off x="7785035" y="5381244"/>
            <a:ext cx="1303269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حضرية</a:t>
            </a:r>
            <a:endParaRPr lang="en-US" sz="1000" dirty="0"/>
          </a:p>
        </p:txBody>
      </p:sp>
      <p:sp>
        <p:nvSpPr>
          <p:cNvPr id="144" name="Text 142"/>
          <p:cNvSpPr/>
          <p:nvPr/>
        </p:nvSpPr>
        <p:spPr>
          <a:xfrm>
            <a:off x="6983023" y="5381244"/>
            <a:ext cx="80201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٢٧٫٢</a:t>
            </a:r>
            <a:endParaRPr lang="en-US" sz="1000" dirty="0"/>
          </a:p>
        </p:txBody>
      </p:sp>
      <p:sp>
        <p:nvSpPr>
          <p:cNvPr id="145" name="Text 143"/>
          <p:cNvSpPr/>
          <p:nvPr/>
        </p:nvSpPr>
        <p:spPr>
          <a:xfrm>
            <a:off x="6080760" y="53812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٢١٫٧</a:t>
            </a:r>
            <a:endParaRPr lang="en-US" sz="1000" dirty="0"/>
          </a:p>
        </p:txBody>
      </p:sp>
      <p:sp>
        <p:nvSpPr>
          <p:cNvPr id="146" name="Text 144"/>
          <p:cNvSpPr/>
          <p:nvPr/>
        </p:nvSpPr>
        <p:spPr>
          <a:xfrm>
            <a:off x="5379000" y="5381244"/>
            <a:ext cx="701760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٥٫٤</a:t>
            </a:r>
            <a:endParaRPr lang="en-US" sz="1000" dirty="0"/>
          </a:p>
        </p:txBody>
      </p:sp>
      <p:sp>
        <p:nvSpPr>
          <p:cNvPr id="147" name="Text 145"/>
          <p:cNvSpPr/>
          <p:nvPr/>
        </p:nvSpPr>
        <p:spPr>
          <a:xfrm>
            <a:off x="4476736" y="53812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+٠</a:t>
            </a:r>
            <a:endParaRPr lang="en-US" sz="1000" dirty="0"/>
          </a:p>
        </p:txBody>
      </p:sp>
      <p:sp>
        <p:nvSpPr>
          <p:cNvPr id="148" name="Text 146"/>
          <p:cNvSpPr/>
          <p:nvPr/>
        </p:nvSpPr>
        <p:spPr>
          <a:xfrm>
            <a:off x="3574473" y="53812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١١٩</a:t>
            </a:r>
            <a:endParaRPr lang="en-US" sz="1000" dirty="0"/>
          </a:p>
        </p:txBody>
      </p:sp>
      <p:sp>
        <p:nvSpPr>
          <p:cNvPr id="149" name="Text 147"/>
          <p:cNvSpPr/>
          <p:nvPr/>
        </p:nvSpPr>
        <p:spPr>
          <a:xfrm>
            <a:off x="2471706" y="5381244"/>
            <a:ext cx="110276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١٣٠٬٧٥٤</a:t>
            </a:r>
            <a:endParaRPr lang="en-US" sz="1000" dirty="0"/>
          </a:p>
        </p:txBody>
      </p:sp>
      <p:sp>
        <p:nvSpPr>
          <p:cNvPr id="150" name="Text 148"/>
          <p:cNvSpPr/>
          <p:nvPr/>
        </p:nvSpPr>
        <p:spPr>
          <a:xfrm>
            <a:off x="566928" y="5381244"/>
            <a:ext cx="1904778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فاقد ذروة</a:t>
            </a:r>
            <a:endParaRPr lang="en-US" sz="900" dirty="0"/>
          </a:p>
        </p:txBody>
      </p:sp>
      <p:sp>
        <p:nvSpPr>
          <p:cNvPr id="151" name="Shape 149"/>
          <p:cNvSpPr/>
          <p:nvPr/>
        </p:nvSpPr>
        <p:spPr>
          <a:xfrm>
            <a:off x="566928" y="5779008"/>
            <a:ext cx="11027664" cy="512064"/>
          </a:xfrm>
          <a:prstGeom prst="roundRect">
            <a:avLst>
              <a:gd name="adj" fmla="val 7143"/>
            </a:avLst>
          </a:prstGeom>
          <a:solidFill>
            <a:srgbClr val="55565A"/>
          </a:solidFill>
          <a:ln/>
        </p:spPr>
      </p:sp>
      <p:sp>
        <p:nvSpPr>
          <p:cNvPr id="152" name="Text 150"/>
          <p:cNvSpPr/>
          <p:nvPr/>
        </p:nvSpPr>
        <p:spPr>
          <a:xfrm>
            <a:off x="749808" y="5824728"/>
            <a:ext cx="1066190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هذه الاثنتا عشرة تحمل ٦٢٪ من الفرصة · والعمرة الجديدة ليست فيها: تعبئتها فوق ما يفسّره مزيجها، وتغطية خزانها ٢٫٥ يوم</a:t>
            </a:r>
            <a:endParaRPr lang="en-US" sz="12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74320"/>
            <a:ext cx="10113264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من مستهدف المحطة إلى مستهدف العامل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01132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ثلاث طبقات — الوحدة «معاملة» في الأوليين والريال في الثالثة · مقيس من ٣٧٢ عاملاً في ٤٠ محطة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133856"/>
            <a:ext cx="1102766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64373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 · الإدارة التجارية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45952" y="6437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17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66928" y="1207008"/>
            <a:ext cx="110276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① الاشتقاق — العمرة الجديدة MK007 · الوردية ٠٠:٠٠–١١:٥٩ و١٢:٠٠–٢٣:٥٩ بتعريف التقرير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9198864" y="1883664"/>
            <a:ext cx="2395728" cy="731520"/>
          </a:xfrm>
          <a:prstGeom prst="roundRect">
            <a:avLst>
              <a:gd name="adj" fmla="val 6250"/>
            </a:avLst>
          </a:prstGeom>
          <a:solidFill>
            <a:srgbClr val="55565A"/>
          </a:solidFill>
          <a:ln/>
        </p:spPr>
      </p:sp>
      <p:sp>
        <p:nvSpPr>
          <p:cNvPr id="10" name="Text 8"/>
          <p:cNvSpPr/>
          <p:nvPr/>
        </p:nvSpPr>
        <p:spPr>
          <a:xfrm>
            <a:off x="9198864" y="1956816"/>
            <a:ext cx="23957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٤٬٢٦١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9198864" y="2322576"/>
            <a:ext cx="23957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D6D2C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معاملة يومياً — كل المحطة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8887968" y="1883664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◀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492240" y="1499616"/>
            <a:ext cx="2395728" cy="731520"/>
          </a:xfrm>
          <a:prstGeom prst="roundRect">
            <a:avLst>
              <a:gd name="adj" fmla="val 6250"/>
            </a:avLst>
          </a:prstGeom>
          <a:solidFill>
            <a:srgbClr val="F5F2ED"/>
          </a:solidFill>
          <a:ln w="15240">
            <a:solidFill>
              <a:srgbClr val="55565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565392" y="1545336"/>
            <a:ext cx="22494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الصباحية ٠٠:٠٠–١١:٥٩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565392" y="1746504"/>
            <a:ext cx="22494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١٬٧٠٣ معاملة ÷ ١١٫٣ عاملاً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6565392" y="2011680"/>
            <a:ext cx="22494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= ١٥١ للعامل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92240" y="2286000"/>
            <a:ext cx="2395728" cy="731520"/>
          </a:xfrm>
          <a:prstGeom prst="roundRect">
            <a:avLst>
              <a:gd name="adj" fmla="val 6250"/>
            </a:avLst>
          </a:prstGeom>
          <a:solidFill>
            <a:srgbClr val="FBEEE0"/>
          </a:solidFill>
          <a:ln w="15240">
            <a:solidFill>
              <a:srgbClr val="F5831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565392" y="2331720"/>
            <a:ext cx="22494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المسائية ١٢:٠٠–٢٣:٥٩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565392" y="2532888"/>
            <a:ext cx="22494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٢٬٥٥٨ معاملة ÷ ١٤٫٧ عاملاً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6565392" y="2798064"/>
            <a:ext cx="22494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= ١٧٤ للعامل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181344" y="1883664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◀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3785616" y="1883664"/>
            <a:ext cx="2395728" cy="731520"/>
          </a:xfrm>
          <a:prstGeom prst="roundRect">
            <a:avLst>
              <a:gd name="adj" fmla="val 6250"/>
            </a:avLst>
          </a:prstGeom>
          <a:solidFill>
            <a:srgbClr val="F5F2ED"/>
          </a:solidFill>
          <a:ln w="15240">
            <a:solidFill>
              <a:srgbClr val="C0503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858768" y="1929384"/>
            <a:ext cx="22494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الفارق — المساء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3858768" y="2130552"/>
            <a:ext cx="22494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طلب ٦٠٪ · عمل ٥٧٪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3858768" y="2395728"/>
            <a:ext cx="22494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503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عبء المسائي +١٥٪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3474720" y="1883664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◀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1078992" y="1883664"/>
            <a:ext cx="2395728" cy="731520"/>
          </a:xfrm>
          <a:prstGeom prst="roundRect">
            <a:avLst>
              <a:gd name="adj" fmla="val 6250"/>
            </a:avLst>
          </a:prstGeom>
          <a:solidFill>
            <a:srgbClr val="F5F2ED"/>
          </a:solidFill>
          <a:ln w="15240">
            <a:solidFill>
              <a:srgbClr val="2E8B6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152144" y="1929384"/>
            <a:ext cx="22494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ما نطلبه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1152144" y="2130552"/>
            <a:ext cx="22494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فاقد ساعات الذروة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1152144" y="2395728"/>
            <a:ext cx="22494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E8B6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٨٥ معاملة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566928" y="2962656"/>
            <a:ext cx="110276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② اختلال الطاقم على ٤٠ محطة — الطلب مقابل عرض العمل</a:t>
            </a:r>
            <a:endParaRPr lang="en-US" sz="1350" dirty="0"/>
          </a:p>
        </p:txBody>
      </p:sp>
      <p:sp>
        <p:nvSpPr>
          <p:cNvPr id="32" name="Shape 30"/>
          <p:cNvSpPr/>
          <p:nvPr/>
        </p:nvSpPr>
        <p:spPr>
          <a:xfrm>
            <a:off x="566928" y="3255264"/>
            <a:ext cx="11027664" cy="36576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33" name="Text 31"/>
          <p:cNvSpPr/>
          <p:nvPr/>
        </p:nvSpPr>
        <p:spPr>
          <a:xfrm>
            <a:off x="10191071" y="3255264"/>
            <a:ext cx="1403521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المحطة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9489311" y="3255264"/>
            <a:ext cx="701760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الكود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8286293" y="3255264"/>
            <a:ext cx="1203018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الشريحة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7584532" y="3255264"/>
            <a:ext cx="701760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الطاقم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6582017" y="3255264"/>
            <a:ext cx="1002515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معاملات/يوم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5479251" y="3255264"/>
            <a:ext cx="1102766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المساء من الطلب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4376485" y="3255264"/>
            <a:ext cx="1102766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المساء من العمل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3474221" y="3255264"/>
            <a:ext cx="902263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عبء الصباحي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2571958" y="3255264"/>
            <a:ext cx="902263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عبء المسائي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1569443" y="3255264"/>
            <a:ext cx="1002515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اختلال العبء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566928" y="3255264"/>
            <a:ext cx="1002515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يُنقل للمساء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66928" y="3621024"/>
            <a:ext cx="11027664" cy="301752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10191071" y="3621024"/>
            <a:ext cx="1403521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جنوب الطائف</a:t>
            </a:r>
            <a:endParaRPr lang="en-US" sz="1050" dirty="0"/>
          </a:p>
        </p:txBody>
      </p:sp>
      <p:sp>
        <p:nvSpPr>
          <p:cNvPr id="46" name="Text 44"/>
          <p:cNvSpPr/>
          <p:nvPr/>
        </p:nvSpPr>
        <p:spPr>
          <a:xfrm>
            <a:off x="9489311" y="3621024"/>
            <a:ext cx="701760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MK006</a:t>
            </a:r>
            <a:endParaRPr lang="en-US" sz="1050" dirty="0"/>
          </a:p>
        </p:txBody>
      </p:sp>
      <p:sp>
        <p:nvSpPr>
          <p:cNvPr id="47" name="Text 45"/>
          <p:cNvSpPr/>
          <p:nvPr/>
        </p:nvSpPr>
        <p:spPr>
          <a:xfrm>
            <a:off x="8286293" y="3621024"/>
            <a:ext cx="1203018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حضرية</a:t>
            </a:r>
            <a:endParaRPr lang="en-US" sz="1050" dirty="0"/>
          </a:p>
        </p:txBody>
      </p:sp>
      <p:sp>
        <p:nvSpPr>
          <p:cNvPr id="48" name="Text 46"/>
          <p:cNvSpPr/>
          <p:nvPr/>
        </p:nvSpPr>
        <p:spPr>
          <a:xfrm>
            <a:off x="7584532" y="3621024"/>
            <a:ext cx="701760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١٧</a:t>
            </a:r>
            <a:endParaRPr lang="en-US" sz="1050" dirty="0"/>
          </a:p>
        </p:txBody>
      </p:sp>
      <p:sp>
        <p:nvSpPr>
          <p:cNvPr id="49" name="Text 47"/>
          <p:cNvSpPr/>
          <p:nvPr/>
        </p:nvSpPr>
        <p:spPr>
          <a:xfrm>
            <a:off x="6582017" y="3621024"/>
            <a:ext cx="1002515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١٬٦٥٤</a:t>
            </a:r>
            <a:endParaRPr lang="en-US" sz="1050" dirty="0"/>
          </a:p>
        </p:txBody>
      </p:sp>
      <p:sp>
        <p:nvSpPr>
          <p:cNvPr id="50" name="Text 48"/>
          <p:cNvSpPr/>
          <p:nvPr/>
        </p:nvSpPr>
        <p:spPr>
          <a:xfrm>
            <a:off x="5479251" y="3621024"/>
            <a:ext cx="1102766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٦٤٪</a:t>
            </a:r>
            <a:endParaRPr lang="en-US" sz="1050" dirty="0"/>
          </a:p>
        </p:txBody>
      </p:sp>
      <p:sp>
        <p:nvSpPr>
          <p:cNvPr id="51" name="Text 49"/>
          <p:cNvSpPr/>
          <p:nvPr/>
        </p:nvSpPr>
        <p:spPr>
          <a:xfrm>
            <a:off x="4376485" y="3621024"/>
            <a:ext cx="1102766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٥٥٪</a:t>
            </a:r>
            <a:endParaRPr lang="en-US" sz="1050" dirty="0"/>
          </a:p>
        </p:txBody>
      </p:sp>
      <p:sp>
        <p:nvSpPr>
          <p:cNvPr id="52" name="Text 50"/>
          <p:cNvSpPr/>
          <p:nvPr/>
        </p:nvSpPr>
        <p:spPr>
          <a:xfrm>
            <a:off x="3474221" y="3621024"/>
            <a:ext cx="902263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٧٨</a:t>
            </a:r>
            <a:endParaRPr lang="en-US" sz="1050" dirty="0"/>
          </a:p>
        </p:txBody>
      </p:sp>
      <p:sp>
        <p:nvSpPr>
          <p:cNvPr id="53" name="Text 51"/>
          <p:cNvSpPr/>
          <p:nvPr/>
        </p:nvSpPr>
        <p:spPr>
          <a:xfrm>
            <a:off x="2571958" y="3621024"/>
            <a:ext cx="902263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١١٣</a:t>
            </a:r>
            <a:endParaRPr lang="en-US" sz="1050" dirty="0"/>
          </a:p>
        </p:txBody>
      </p:sp>
      <p:sp>
        <p:nvSpPr>
          <p:cNvPr id="54" name="Text 52"/>
          <p:cNvSpPr/>
          <p:nvPr/>
        </p:nvSpPr>
        <p:spPr>
          <a:xfrm>
            <a:off x="1569443" y="3621024"/>
            <a:ext cx="1002515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+٤٥٪</a:t>
            </a:r>
            <a:endParaRPr lang="en-US" sz="1050" dirty="0"/>
          </a:p>
        </p:txBody>
      </p:sp>
      <p:sp>
        <p:nvSpPr>
          <p:cNvPr id="55" name="Text 53"/>
          <p:cNvSpPr/>
          <p:nvPr/>
        </p:nvSpPr>
        <p:spPr>
          <a:xfrm>
            <a:off x="566928" y="3621024"/>
            <a:ext cx="1002515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+١٫٥</a:t>
            </a:r>
            <a:endParaRPr lang="en-US" sz="1050" dirty="0"/>
          </a:p>
        </p:txBody>
      </p:sp>
      <p:sp>
        <p:nvSpPr>
          <p:cNvPr id="56" name="Shape 54"/>
          <p:cNvSpPr/>
          <p:nvPr/>
        </p:nvSpPr>
        <p:spPr>
          <a:xfrm>
            <a:off x="566928" y="3922776"/>
            <a:ext cx="11027664" cy="301752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10191071" y="3922776"/>
            <a:ext cx="1403521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المركب</a:t>
            </a:r>
            <a:endParaRPr lang="en-US" sz="1050" dirty="0"/>
          </a:p>
        </p:txBody>
      </p:sp>
      <p:sp>
        <p:nvSpPr>
          <p:cNvPr id="58" name="Text 56"/>
          <p:cNvSpPr/>
          <p:nvPr/>
        </p:nvSpPr>
        <p:spPr>
          <a:xfrm>
            <a:off x="9489311" y="3922776"/>
            <a:ext cx="701760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NJ219</a:t>
            </a:r>
            <a:endParaRPr lang="en-US" sz="1050" dirty="0"/>
          </a:p>
        </p:txBody>
      </p:sp>
      <p:sp>
        <p:nvSpPr>
          <p:cNvPr id="59" name="Text 57"/>
          <p:cNvSpPr/>
          <p:nvPr/>
        </p:nvSpPr>
        <p:spPr>
          <a:xfrm>
            <a:off x="8286293" y="3922776"/>
            <a:ext cx="1203018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محدودة الإنتاجية</a:t>
            </a:r>
            <a:endParaRPr lang="en-US" sz="1050" dirty="0"/>
          </a:p>
        </p:txBody>
      </p:sp>
      <p:sp>
        <p:nvSpPr>
          <p:cNvPr id="60" name="Text 58"/>
          <p:cNvSpPr/>
          <p:nvPr/>
        </p:nvSpPr>
        <p:spPr>
          <a:xfrm>
            <a:off x="7584532" y="3922776"/>
            <a:ext cx="701760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٧</a:t>
            </a:r>
            <a:endParaRPr lang="en-US" sz="1050" dirty="0"/>
          </a:p>
        </p:txBody>
      </p:sp>
      <p:sp>
        <p:nvSpPr>
          <p:cNvPr id="61" name="Text 59"/>
          <p:cNvSpPr/>
          <p:nvPr/>
        </p:nvSpPr>
        <p:spPr>
          <a:xfrm>
            <a:off x="6582017" y="3922776"/>
            <a:ext cx="1002515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٢٧٤</a:t>
            </a:r>
            <a:endParaRPr lang="en-US" sz="1050" dirty="0"/>
          </a:p>
        </p:txBody>
      </p:sp>
      <p:sp>
        <p:nvSpPr>
          <p:cNvPr id="62" name="Text 60"/>
          <p:cNvSpPr/>
          <p:nvPr/>
        </p:nvSpPr>
        <p:spPr>
          <a:xfrm>
            <a:off x="5479251" y="3922776"/>
            <a:ext cx="1102766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٦٩٪</a:t>
            </a:r>
            <a:endParaRPr lang="en-US" sz="1050" dirty="0"/>
          </a:p>
        </p:txBody>
      </p:sp>
      <p:sp>
        <p:nvSpPr>
          <p:cNvPr id="63" name="Text 61"/>
          <p:cNvSpPr/>
          <p:nvPr/>
        </p:nvSpPr>
        <p:spPr>
          <a:xfrm>
            <a:off x="4376485" y="3922776"/>
            <a:ext cx="1102766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٥٤٪</a:t>
            </a:r>
            <a:endParaRPr lang="en-US" sz="1050" dirty="0"/>
          </a:p>
        </p:txBody>
      </p:sp>
      <p:sp>
        <p:nvSpPr>
          <p:cNvPr id="64" name="Text 62"/>
          <p:cNvSpPr/>
          <p:nvPr/>
        </p:nvSpPr>
        <p:spPr>
          <a:xfrm>
            <a:off x="3474221" y="3922776"/>
            <a:ext cx="902263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٢٦</a:t>
            </a:r>
            <a:endParaRPr lang="en-US" sz="1050" dirty="0"/>
          </a:p>
        </p:txBody>
      </p:sp>
      <p:sp>
        <p:nvSpPr>
          <p:cNvPr id="65" name="Text 63"/>
          <p:cNvSpPr/>
          <p:nvPr/>
        </p:nvSpPr>
        <p:spPr>
          <a:xfrm>
            <a:off x="2571958" y="3922776"/>
            <a:ext cx="902263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٥٠</a:t>
            </a:r>
            <a:endParaRPr lang="en-US" sz="1050" dirty="0"/>
          </a:p>
        </p:txBody>
      </p:sp>
      <p:sp>
        <p:nvSpPr>
          <p:cNvPr id="66" name="Text 64"/>
          <p:cNvSpPr/>
          <p:nvPr/>
        </p:nvSpPr>
        <p:spPr>
          <a:xfrm>
            <a:off x="1569443" y="3922776"/>
            <a:ext cx="1002515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+٩٤٪</a:t>
            </a:r>
            <a:endParaRPr lang="en-US" sz="1050" dirty="0"/>
          </a:p>
        </p:txBody>
      </p:sp>
      <p:sp>
        <p:nvSpPr>
          <p:cNvPr id="67" name="Text 65"/>
          <p:cNvSpPr/>
          <p:nvPr/>
        </p:nvSpPr>
        <p:spPr>
          <a:xfrm>
            <a:off x="566928" y="3922776"/>
            <a:ext cx="1002515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+١٫١</a:t>
            </a:r>
            <a:endParaRPr lang="en-US" sz="1050" dirty="0"/>
          </a:p>
        </p:txBody>
      </p:sp>
      <p:sp>
        <p:nvSpPr>
          <p:cNvPr id="68" name="Shape 66"/>
          <p:cNvSpPr/>
          <p:nvPr/>
        </p:nvSpPr>
        <p:spPr>
          <a:xfrm>
            <a:off x="566928" y="4224528"/>
            <a:ext cx="11027664" cy="301752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10191071" y="4224528"/>
            <a:ext cx="1403521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الحليس - طريق ال</a:t>
            </a:r>
            <a:endParaRPr lang="en-US" sz="1050" dirty="0"/>
          </a:p>
        </p:txBody>
      </p:sp>
      <p:sp>
        <p:nvSpPr>
          <p:cNvPr id="70" name="Text 68"/>
          <p:cNvSpPr/>
          <p:nvPr/>
        </p:nvSpPr>
        <p:spPr>
          <a:xfrm>
            <a:off x="9489311" y="4224528"/>
            <a:ext cx="701760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MK046</a:t>
            </a:r>
            <a:endParaRPr lang="en-US" sz="1050" dirty="0"/>
          </a:p>
        </p:txBody>
      </p:sp>
      <p:sp>
        <p:nvSpPr>
          <p:cNvPr id="71" name="Text 69"/>
          <p:cNvSpPr/>
          <p:nvPr/>
        </p:nvSpPr>
        <p:spPr>
          <a:xfrm>
            <a:off x="8286293" y="4224528"/>
            <a:ext cx="1203018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الطرق السريعة</a:t>
            </a:r>
            <a:endParaRPr lang="en-US" sz="1050" dirty="0"/>
          </a:p>
        </p:txBody>
      </p:sp>
      <p:sp>
        <p:nvSpPr>
          <p:cNvPr id="72" name="Text 70"/>
          <p:cNvSpPr/>
          <p:nvPr/>
        </p:nvSpPr>
        <p:spPr>
          <a:xfrm>
            <a:off x="7584532" y="4224528"/>
            <a:ext cx="701760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٩</a:t>
            </a:r>
            <a:endParaRPr lang="en-US" sz="1050" dirty="0"/>
          </a:p>
        </p:txBody>
      </p:sp>
      <p:sp>
        <p:nvSpPr>
          <p:cNvPr id="73" name="Text 71"/>
          <p:cNvSpPr/>
          <p:nvPr/>
        </p:nvSpPr>
        <p:spPr>
          <a:xfrm>
            <a:off x="6582017" y="4224528"/>
            <a:ext cx="1002515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١٬٨٣٥</a:t>
            </a:r>
            <a:endParaRPr lang="en-US" sz="1050" dirty="0"/>
          </a:p>
        </p:txBody>
      </p:sp>
      <p:sp>
        <p:nvSpPr>
          <p:cNvPr id="74" name="Text 72"/>
          <p:cNvSpPr/>
          <p:nvPr/>
        </p:nvSpPr>
        <p:spPr>
          <a:xfrm>
            <a:off x="5479251" y="4224528"/>
            <a:ext cx="1102766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٦٢٪</a:t>
            </a:r>
            <a:endParaRPr lang="en-US" sz="1050" dirty="0"/>
          </a:p>
        </p:txBody>
      </p:sp>
      <p:sp>
        <p:nvSpPr>
          <p:cNvPr id="75" name="Text 73"/>
          <p:cNvSpPr/>
          <p:nvPr/>
        </p:nvSpPr>
        <p:spPr>
          <a:xfrm>
            <a:off x="4376485" y="4224528"/>
            <a:ext cx="1102766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٥٠٪</a:t>
            </a:r>
            <a:endParaRPr lang="en-US" sz="1050" dirty="0"/>
          </a:p>
        </p:txBody>
      </p:sp>
      <p:sp>
        <p:nvSpPr>
          <p:cNvPr id="76" name="Text 74"/>
          <p:cNvSpPr/>
          <p:nvPr/>
        </p:nvSpPr>
        <p:spPr>
          <a:xfrm>
            <a:off x="3474221" y="4224528"/>
            <a:ext cx="902263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١٥٤</a:t>
            </a:r>
            <a:endParaRPr lang="en-US" sz="1050" dirty="0"/>
          </a:p>
        </p:txBody>
      </p:sp>
      <p:sp>
        <p:nvSpPr>
          <p:cNvPr id="77" name="Text 75"/>
          <p:cNvSpPr/>
          <p:nvPr/>
        </p:nvSpPr>
        <p:spPr>
          <a:xfrm>
            <a:off x="2571958" y="4224528"/>
            <a:ext cx="902263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٢٥٣</a:t>
            </a:r>
            <a:endParaRPr lang="en-US" sz="1050" dirty="0"/>
          </a:p>
        </p:txBody>
      </p:sp>
      <p:sp>
        <p:nvSpPr>
          <p:cNvPr id="78" name="Text 76"/>
          <p:cNvSpPr/>
          <p:nvPr/>
        </p:nvSpPr>
        <p:spPr>
          <a:xfrm>
            <a:off x="1569443" y="4224528"/>
            <a:ext cx="1002515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+٦٤٪</a:t>
            </a:r>
            <a:endParaRPr lang="en-US" sz="1050" dirty="0"/>
          </a:p>
        </p:txBody>
      </p:sp>
      <p:sp>
        <p:nvSpPr>
          <p:cNvPr id="79" name="Text 77"/>
          <p:cNvSpPr/>
          <p:nvPr/>
        </p:nvSpPr>
        <p:spPr>
          <a:xfrm>
            <a:off x="566928" y="4224528"/>
            <a:ext cx="1002515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+١٫١</a:t>
            </a:r>
            <a:endParaRPr lang="en-US" sz="1050" dirty="0"/>
          </a:p>
        </p:txBody>
      </p:sp>
      <p:sp>
        <p:nvSpPr>
          <p:cNvPr id="80" name="Shape 78"/>
          <p:cNvSpPr/>
          <p:nvPr/>
        </p:nvSpPr>
        <p:spPr>
          <a:xfrm>
            <a:off x="566928" y="4526280"/>
            <a:ext cx="11027664" cy="301752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10191071" y="4526280"/>
            <a:ext cx="1403521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النسيم</a:t>
            </a:r>
            <a:endParaRPr lang="en-US" sz="1050" dirty="0"/>
          </a:p>
        </p:txBody>
      </p:sp>
      <p:sp>
        <p:nvSpPr>
          <p:cNvPr id="82" name="Text 80"/>
          <p:cNvSpPr/>
          <p:nvPr/>
        </p:nvSpPr>
        <p:spPr>
          <a:xfrm>
            <a:off x="9489311" y="4526280"/>
            <a:ext cx="701760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MK015</a:t>
            </a:r>
            <a:endParaRPr lang="en-US" sz="1050" dirty="0"/>
          </a:p>
        </p:txBody>
      </p:sp>
      <p:sp>
        <p:nvSpPr>
          <p:cNvPr id="83" name="Text 81"/>
          <p:cNvSpPr/>
          <p:nvPr/>
        </p:nvSpPr>
        <p:spPr>
          <a:xfrm>
            <a:off x="8286293" y="4526280"/>
            <a:ext cx="1203018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حضرية</a:t>
            </a:r>
            <a:endParaRPr lang="en-US" sz="1050" dirty="0"/>
          </a:p>
        </p:txBody>
      </p:sp>
      <p:sp>
        <p:nvSpPr>
          <p:cNvPr id="84" name="Text 82"/>
          <p:cNvSpPr/>
          <p:nvPr/>
        </p:nvSpPr>
        <p:spPr>
          <a:xfrm>
            <a:off x="7584532" y="4526280"/>
            <a:ext cx="701760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١٢</a:t>
            </a:r>
            <a:endParaRPr lang="en-US" sz="1050" dirty="0"/>
          </a:p>
        </p:txBody>
      </p:sp>
      <p:sp>
        <p:nvSpPr>
          <p:cNvPr id="85" name="Text 83"/>
          <p:cNvSpPr/>
          <p:nvPr/>
        </p:nvSpPr>
        <p:spPr>
          <a:xfrm>
            <a:off x="6582017" y="4526280"/>
            <a:ext cx="1002515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١٬٩٩٧</a:t>
            </a:r>
            <a:endParaRPr lang="en-US" sz="1050" dirty="0"/>
          </a:p>
        </p:txBody>
      </p:sp>
      <p:sp>
        <p:nvSpPr>
          <p:cNvPr id="86" name="Text 84"/>
          <p:cNvSpPr/>
          <p:nvPr/>
        </p:nvSpPr>
        <p:spPr>
          <a:xfrm>
            <a:off x="5479251" y="4526280"/>
            <a:ext cx="1102766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٥٩٪</a:t>
            </a:r>
            <a:endParaRPr lang="en-US" sz="1050" dirty="0"/>
          </a:p>
        </p:txBody>
      </p:sp>
      <p:sp>
        <p:nvSpPr>
          <p:cNvPr id="87" name="Text 85"/>
          <p:cNvSpPr/>
          <p:nvPr/>
        </p:nvSpPr>
        <p:spPr>
          <a:xfrm>
            <a:off x="4376485" y="4526280"/>
            <a:ext cx="1102766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٥٠٪</a:t>
            </a:r>
            <a:endParaRPr lang="en-US" sz="1050" dirty="0"/>
          </a:p>
        </p:txBody>
      </p:sp>
      <p:sp>
        <p:nvSpPr>
          <p:cNvPr id="88" name="Text 86"/>
          <p:cNvSpPr/>
          <p:nvPr/>
        </p:nvSpPr>
        <p:spPr>
          <a:xfrm>
            <a:off x="3474221" y="4526280"/>
            <a:ext cx="902263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١٣٦</a:t>
            </a:r>
            <a:endParaRPr lang="en-US" sz="1050" dirty="0"/>
          </a:p>
        </p:txBody>
      </p:sp>
      <p:sp>
        <p:nvSpPr>
          <p:cNvPr id="89" name="Text 87"/>
          <p:cNvSpPr/>
          <p:nvPr/>
        </p:nvSpPr>
        <p:spPr>
          <a:xfrm>
            <a:off x="2571958" y="4526280"/>
            <a:ext cx="902263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١٩٦</a:t>
            </a:r>
            <a:endParaRPr lang="en-US" sz="1050" dirty="0"/>
          </a:p>
        </p:txBody>
      </p:sp>
      <p:sp>
        <p:nvSpPr>
          <p:cNvPr id="90" name="Text 88"/>
          <p:cNvSpPr/>
          <p:nvPr/>
        </p:nvSpPr>
        <p:spPr>
          <a:xfrm>
            <a:off x="1569443" y="4526280"/>
            <a:ext cx="1002515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+٤٤٪</a:t>
            </a:r>
            <a:endParaRPr lang="en-US" sz="1050" dirty="0"/>
          </a:p>
        </p:txBody>
      </p:sp>
      <p:sp>
        <p:nvSpPr>
          <p:cNvPr id="91" name="Text 89"/>
          <p:cNvSpPr/>
          <p:nvPr/>
        </p:nvSpPr>
        <p:spPr>
          <a:xfrm>
            <a:off x="566928" y="4526280"/>
            <a:ext cx="1002515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+١٫١</a:t>
            </a:r>
            <a:endParaRPr lang="en-US" sz="1050" dirty="0"/>
          </a:p>
        </p:txBody>
      </p:sp>
      <p:sp>
        <p:nvSpPr>
          <p:cNvPr id="92" name="Shape 90"/>
          <p:cNvSpPr/>
          <p:nvPr/>
        </p:nvSpPr>
        <p:spPr>
          <a:xfrm>
            <a:off x="566928" y="4828032"/>
            <a:ext cx="11027664" cy="301752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93" name="Text 91"/>
          <p:cNvSpPr/>
          <p:nvPr/>
        </p:nvSpPr>
        <p:spPr>
          <a:xfrm>
            <a:off x="10191071" y="4828032"/>
            <a:ext cx="1403521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الملك خالد</a:t>
            </a:r>
            <a:endParaRPr lang="en-US" sz="1050" dirty="0"/>
          </a:p>
        </p:txBody>
      </p:sp>
      <p:sp>
        <p:nvSpPr>
          <p:cNvPr id="94" name="Text 92"/>
          <p:cNvSpPr/>
          <p:nvPr/>
        </p:nvSpPr>
        <p:spPr>
          <a:xfrm>
            <a:off x="9489311" y="4828032"/>
            <a:ext cx="701760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MK093</a:t>
            </a:r>
            <a:endParaRPr lang="en-US" sz="1050" dirty="0"/>
          </a:p>
        </p:txBody>
      </p:sp>
      <p:sp>
        <p:nvSpPr>
          <p:cNvPr id="95" name="Text 93"/>
          <p:cNvSpPr/>
          <p:nvPr/>
        </p:nvSpPr>
        <p:spPr>
          <a:xfrm>
            <a:off x="8286293" y="4828032"/>
            <a:ext cx="1203018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الأساطيل التجارية</a:t>
            </a:r>
            <a:endParaRPr lang="en-US" sz="1050" dirty="0"/>
          </a:p>
        </p:txBody>
      </p:sp>
      <p:sp>
        <p:nvSpPr>
          <p:cNvPr id="96" name="Text 94"/>
          <p:cNvSpPr/>
          <p:nvPr/>
        </p:nvSpPr>
        <p:spPr>
          <a:xfrm>
            <a:off x="7584532" y="4828032"/>
            <a:ext cx="701760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٧</a:t>
            </a:r>
            <a:endParaRPr lang="en-US" sz="1050" dirty="0"/>
          </a:p>
        </p:txBody>
      </p:sp>
      <p:sp>
        <p:nvSpPr>
          <p:cNvPr id="97" name="Text 95"/>
          <p:cNvSpPr/>
          <p:nvPr/>
        </p:nvSpPr>
        <p:spPr>
          <a:xfrm>
            <a:off x="6582017" y="4828032"/>
            <a:ext cx="1002515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٦٨٥</a:t>
            </a:r>
            <a:endParaRPr lang="en-US" sz="1050" dirty="0"/>
          </a:p>
        </p:txBody>
      </p:sp>
      <p:sp>
        <p:nvSpPr>
          <p:cNvPr id="98" name="Text 96"/>
          <p:cNvSpPr/>
          <p:nvPr/>
        </p:nvSpPr>
        <p:spPr>
          <a:xfrm>
            <a:off x="5479251" y="4828032"/>
            <a:ext cx="1102766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٦٦٪</a:t>
            </a:r>
            <a:endParaRPr lang="en-US" sz="1050" dirty="0"/>
          </a:p>
        </p:txBody>
      </p:sp>
      <p:sp>
        <p:nvSpPr>
          <p:cNvPr id="99" name="Text 97"/>
          <p:cNvSpPr/>
          <p:nvPr/>
        </p:nvSpPr>
        <p:spPr>
          <a:xfrm>
            <a:off x="4376485" y="4828032"/>
            <a:ext cx="1102766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٥١٪</a:t>
            </a:r>
            <a:endParaRPr lang="en-US" sz="1050" dirty="0"/>
          </a:p>
        </p:txBody>
      </p:sp>
      <p:sp>
        <p:nvSpPr>
          <p:cNvPr id="100" name="Text 98"/>
          <p:cNvSpPr/>
          <p:nvPr/>
        </p:nvSpPr>
        <p:spPr>
          <a:xfrm>
            <a:off x="3474221" y="4828032"/>
            <a:ext cx="902263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٦٨</a:t>
            </a:r>
            <a:endParaRPr lang="en-US" sz="1050" dirty="0"/>
          </a:p>
        </p:txBody>
      </p:sp>
      <p:sp>
        <p:nvSpPr>
          <p:cNvPr id="101" name="Text 99"/>
          <p:cNvSpPr/>
          <p:nvPr/>
        </p:nvSpPr>
        <p:spPr>
          <a:xfrm>
            <a:off x="2571958" y="4828032"/>
            <a:ext cx="902263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١٢٦</a:t>
            </a:r>
            <a:endParaRPr lang="en-US" sz="1050" dirty="0"/>
          </a:p>
        </p:txBody>
      </p:sp>
      <p:sp>
        <p:nvSpPr>
          <p:cNvPr id="102" name="Text 100"/>
          <p:cNvSpPr/>
          <p:nvPr/>
        </p:nvSpPr>
        <p:spPr>
          <a:xfrm>
            <a:off x="1569443" y="4828032"/>
            <a:ext cx="1002515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+٨٥٪</a:t>
            </a:r>
            <a:endParaRPr lang="en-US" sz="1050" dirty="0"/>
          </a:p>
        </p:txBody>
      </p:sp>
      <p:sp>
        <p:nvSpPr>
          <p:cNvPr id="103" name="Text 101"/>
          <p:cNvSpPr/>
          <p:nvPr/>
        </p:nvSpPr>
        <p:spPr>
          <a:xfrm>
            <a:off x="566928" y="4828032"/>
            <a:ext cx="1002515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+١٫٠</a:t>
            </a:r>
            <a:endParaRPr lang="en-US" sz="1050" dirty="0"/>
          </a:p>
        </p:txBody>
      </p:sp>
      <p:sp>
        <p:nvSpPr>
          <p:cNvPr id="104" name="Text 102"/>
          <p:cNvSpPr/>
          <p:nvPr/>
        </p:nvSpPr>
        <p:spPr>
          <a:xfrm>
            <a:off x="566928" y="5175504"/>
            <a:ext cx="1102766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٣٧٢ عاملاً في ٤٠ محطة · المساء ٦٠٫٨٪ من المعاملات و٦١٫٢٪ من الإيراد · ١٧٫١ عاملاً يُنقلون من الصباح للمساء بلا توظيف · و١٥ محطة بلا عمود عامل في تصديرها</a:t>
            </a:r>
            <a:endParaRPr lang="en-US" sz="1050" dirty="0"/>
          </a:p>
        </p:txBody>
      </p:sp>
      <p:sp>
        <p:nvSpPr>
          <p:cNvPr id="105" name="Shape 103"/>
          <p:cNvSpPr/>
          <p:nvPr/>
        </p:nvSpPr>
        <p:spPr>
          <a:xfrm>
            <a:off x="8040624" y="5431536"/>
            <a:ext cx="3553968" cy="822960"/>
          </a:xfrm>
          <a:prstGeom prst="roundRect">
            <a:avLst>
              <a:gd name="adj" fmla="val 5556"/>
            </a:avLst>
          </a:prstGeom>
          <a:solidFill>
            <a:srgbClr val="F7F4EF"/>
          </a:solidFill>
          <a:ln w="15240">
            <a:solidFill>
              <a:srgbClr val="55565A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8040624" y="5431536"/>
            <a:ext cx="3553968" cy="4572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107" name="Shape 105"/>
          <p:cNvSpPr/>
          <p:nvPr/>
        </p:nvSpPr>
        <p:spPr>
          <a:xfrm>
            <a:off x="8132064" y="5532120"/>
            <a:ext cx="713232" cy="228600"/>
          </a:xfrm>
          <a:prstGeom prst="roundRect">
            <a:avLst>
              <a:gd name="adj" fmla="val 12000"/>
            </a:avLst>
          </a:prstGeom>
          <a:solidFill>
            <a:srgbClr val="55565A"/>
          </a:solidFill>
          <a:ln/>
        </p:spPr>
      </p:sp>
      <p:sp>
        <p:nvSpPr>
          <p:cNvPr id="108" name="Text 106"/>
          <p:cNvSpPr/>
          <p:nvPr/>
        </p:nvSpPr>
        <p:spPr>
          <a:xfrm>
            <a:off x="8132064" y="5532120"/>
            <a:ext cx="713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معاملة</a:t>
            </a:r>
            <a:endParaRPr lang="en-US" sz="950" dirty="0"/>
          </a:p>
        </p:txBody>
      </p:sp>
      <p:sp>
        <p:nvSpPr>
          <p:cNvPr id="109" name="Text 107"/>
          <p:cNvSpPr/>
          <p:nvPr/>
        </p:nvSpPr>
        <p:spPr>
          <a:xfrm>
            <a:off x="8955024" y="5522976"/>
            <a:ext cx="254812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الطبقة ١ · عبء الوردية</a:t>
            </a:r>
            <a:endParaRPr lang="en-US" sz="1150" dirty="0"/>
          </a:p>
        </p:txBody>
      </p:sp>
      <p:sp>
        <p:nvSpPr>
          <p:cNvPr id="110" name="Text 108"/>
          <p:cNvSpPr/>
          <p:nvPr/>
        </p:nvSpPr>
        <p:spPr>
          <a:xfrm>
            <a:off x="8132064" y="5797296"/>
            <a:ext cx="337108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معاملات الوردية ÷ عمالها. حِمل لا مستهدف — العامل لا يصنع المعاملة.</a:t>
            </a:r>
            <a:endParaRPr lang="en-US" sz="1000" dirty="0"/>
          </a:p>
        </p:txBody>
      </p:sp>
      <p:sp>
        <p:nvSpPr>
          <p:cNvPr id="111" name="Shape 109"/>
          <p:cNvSpPr/>
          <p:nvPr/>
        </p:nvSpPr>
        <p:spPr>
          <a:xfrm>
            <a:off x="4303776" y="5431536"/>
            <a:ext cx="3553968" cy="822960"/>
          </a:xfrm>
          <a:prstGeom prst="roundRect">
            <a:avLst>
              <a:gd name="adj" fmla="val 5556"/>
            </a:avLst>
          </a:prstGeom>
          <a:solidFill>
            <a:srgbClr val="F7F4EF"/>
          </a:solidFill>
          <a:ln w="15240">
            <a:solidFill>
              <a:srgbClr val="F5831F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4303776" y="5431536"/>
            <a:ext cx="3553968" cy="4572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113" name="Shape 111"/>
          <p:cNvSpPr/>
          <p:nvPr/>
        </p:nvSpPr>
        <p:spPr>
          <a:xfrm>
            <a:off x="4395216" y="5532120"/>
            <a:ext cx="713232" cy="228600"/>
          </a:xfrm>
          <a:prstGeom prst="roundRect">
            <a:avLst>
              <a:gd name="adj" fmla="val 12000"/>
            </a:avLst>
          </a:prstGeom>
          <a:solidFill>
            <a:srgbClr val="F5831F"/>
          </a:solidFill>
          <a:ln/>
        </p:spPr>
      </p:sp>
      <p:sp>
        <p:nvSpPr>
          <p:cNvPr id="114" name="Text 112"/>
          <p:cNvSpPr/>
          <p:nvPr/>
        </p:nvSpPr>
        <p:spPr>
          <a:xfrm>
            <a:off x="4395216" y="5532120"/>
            <a:ext cx="713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معاملة</a:t>
            </a:r>
            <a:endParaRPr lang="en-US" sz="950" dirty="0"/>
          </a:p>
        </p:txBody>
      </p:sp>
      <p:sp>
        <p:nvSpPr>
          <p:cNvPr id="115" name="Text 113"/>
          <p:cNvSpPr/>
          <p:nvPr/>
        </p:nvSpPr>
        <p:spPr>
          <a:xfrm>
            <a:off x="5218176" y="5522976"/>
            <a:ext cx="254812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الطبقة ٢ · مستهدف الوردية</a:t>
            </a:r>
            <a:endParaRPr lang="en-US" sz="1150" dirty="0"/>
          </a:p>
        </p:txBody>
      </p:sp>
      <p:sp>
        <p:nvSpPr>
          <p:cNvPr id="116" name="Text 114"/>
          <p:cNvSpPr/>
          <p:nvPr/>
        </p:nvSpPr>
        <p:spPr>
          <a:xfrm>
            <a:off x="4395216" y="5797296"/>
            <a:ext cx="337108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ما تفقده المحطة في ساعات ذروتها. هذا وحده ما يُطالَب به.</a:t>
            </a:r>
            <a:endParaRPr lang="en-US" sz="1000" dirty="0"/>
          </a:p>
        </p:txBody>
      </p:sp>
      <p:sp>
        <p:nvSpPr>
          <p:cNvPr id="117" name="Shape 115"/>
          <p:cNvSpPr/>
          <p:nvPr/>
        </p:nvSpPr>
        <p:spPr>
          <a:xfrm>
            <a:off x="566928" y="5431536"/>
            <a:ext cx="3553968" cy="822960"/>
          </a:xfrm>
          <a:prstGeom prst="roundRect">
            <a:avLst>
              <a:gd name="adj" fmla="val 5556"/>
            </a:avLst>
          </a:prstGeom>
          <a:solidFill>
            <a:srgbClr val="F7F4EF"/>
          </a:solidFill>
          <a:ln w="15240">
            <a:solidFill>
              <a:srgbClr val="2E8B6F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566928" y="5431536"/>
            <a:ext cx="3553968" cy="45720"/>
          </a:xfrm>
          <a:prstGeom prst="rect">
            <a:avLst/>
          </a:prstGeom>
          <a:solidFill>
            <a:srgbClr val="2E8B6F"/>
          </a:solidFill>
          <a:ln/>
        </p:spPr>
      </p:sp>
      <p:sp>
        <p:nvSpPr>
          <p:cNvPr id="119" name="Shape 117"/>
          <p:cNvSpPr/>
          <p:nvPr/>
        </p:nvSpPr>
        <p:spPr>
          <a:xfrm>
            <a:off x="658368" y="5532120"/>
            <a:ext cx="713232" cy="228600"/>
          </a:xfrm>
          <a:prstGeom prst="roundRect">
            <a:avLst>
              <a:gd name="adj" fmla="val 12000"/>
            </a:avLst>
          </a:prstGeom>
          <a:solidFill>
            <a:srgbClr val="2E8B6F"/>
          </a:solidFill>
          <a:ln/>
        </p:spPr>
      </p:sp>
      <p:sp>
        <p:nvSpPr>
          <p:cNvPr id="120" name="Text 118"/>
          <p:cNvSpPr/>
          <p:nvPr/>
        </p:nvSpPr>
        <p:spPr>
          <a:xfrm>
            <a:off x="658368" y="5532120"/>
            <a:ext cx="713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ريال</a:t>
            </a:r>
            <a:endParaRPr lang="en-US" sz="950" dirty="0"/>
          </a:p>
        </p:txBody>
      </p:sp>
      <p:sp>
        <p:nvSpPr>
          <p:cNvPr id="121" name="Text 119"/>
          <p:cNvSpPr/>
          <p:nvPr/>
        </p:nvSpPr>
        <p:spPr>
          <a:xfrm>
            <a:off x="1481328" y="5522976"/>
            <a:ext cx="254812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الطبقة ٣ · الحافز</a:t>
            </a:r>
            <a:endParaRPr lang="en-US" sz="1150" dirty="0"/>
          </a:p>
        </p:txBody>
      </p:sp>
      <p:sp>
        <p:nvSpPr>
          <p:cNvPr id="122" name="Text 120"/>
          <p:cNvSpPr/>
          <p:nvPr/>
        </p:nvSpPr>
        <p:spPr>
          <a:xfrm>
            <a:off x="658368" y="5797296"/>
            <a:ext cx="337108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لترات إضافية × هامش المحطة × نسبة · بوابة جودة وسقف ١٠٠ ريال.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74320"/>
            <a:ext cx="10113264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نموذج الحافز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01132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يُدفع من هامش اللتر الإضافي — لا من ميزانية منفصلة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133856"/>
            <a:ext cx="1102766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64373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 · الإدارة التجارية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45952" y="6437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18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66928" y="1243584"/>
            <a:ext cx="5734385" cy="566928"/>
          </a:xfrm>
          <a:prstGeom prst="roundRect">
            <a:avLst>
              <a:gd name="adj" fmla="val 6452"/>
            </a:avLst>
          </a:prstGeom>
          <a:solidFill>
            <a:srgbClr val="FBEEE0"/>
          </a:solidFill>
          <a:ln w="12700">
            <a:solidFill>
              <a:srgbClr val="F5831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13232" y="1280160"/>
            <a:ext cx="5441777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اللترات فوق الأساس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713232" y="1527048"/>
            <a:ext cx="5441777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الفارق بين إنتاج العامل وأساس ورديته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66928" y="1901952"/>
            <a:ext cx="5734385" cy="566928"/>
          </a:xfrm>
          <a:prstGeom prst="roundRect">
            <a:avLst>
              <a:gd name="adj" fmla="val 6452"/>
            </a:avLst>
          </a:prstGeom>
          <a:solidFill>
            <a:srgbClr val="FBEEE0"/>
          </a:solidFill>
          <a:ln w="12700">
            <a:solidFill>
              <a:srgbClr val="F5831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13232" y="1938528"/>
            <a:ext cx="5441777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× هامش المحطة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713232" y="2185416"/>
            <a:ext cx="5441777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١٠٫١٥ إلى ١٣٫١١ هللة — لكل محطة رقمها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66928" y="2560320"/>
            <a:ext cx="5734385" cy="566928"/>
          </a:xfrm>
          <a:prstGeom prst="roundRect">
            <a:avLst>
              <a:gd name="adj" fmla="val 6452"/>
            </a:avLst>
          </a:prstGeom>
          <a:solidFill>
            <a:srgbClr val="FBEEE0"/>
          </a:solidFill>
          <a:ln w="12700">
            <a:solidFill>
              <a:srgbClr val="F5831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13232" y="2596896"/>
            <a:ext cx="5441777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× نسبة المشاركة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713232" y="2843784"/>
            <a:ext cx="5441777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حصة العامل من الهامش الإضافي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66928" y="3218688"/>
            <a:ext cx="5734385" cy="566928"/>
          </a:xfrm>
          <a:prstGeom prst="roundRect">
            <a:avLst>
              <a:gd name="adj" fmla="val 6452"/>
            </a:avLst>
          </a:prstGeom>
          <a:solidFill>
            <a:srgbClr val="F2DAD4"/>
          </a:solidFill>
          <a:ln w="12700">
            <a:solidFill>
              <a:srgbClr val="C0503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13232" y="3255264"/>
            <a:ext cx="5441777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بوابة الجودة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713232" y="3502152"/>
            <a:ext cx="5441777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غير مستوفاة ← صفر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66928" y="3877056"/>
            <a:ext cx="5734385" cy="566928"/>
          </a:xfrm>
          <a:prstGeom prst="roundRect">
            <a:avLst>
              <a:gd name="adj" fmla="val 6452"/>
            </a:avLst>
          </a:prstGeom>
          <a:solidFill>
            <a:srgbClr val="F2DAD4"/>
          </a:solidFill>
          <a:ln w="12700">
            <a:solidFill>
              <a:srgbClr val="C0503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13232" y="3913632"/>
            <a:ext cx="5441777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بوابة المحطة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713232" y="4160520"/>
            <a:ext cx="5441777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صافيها سالب ← صفر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566928" y="4535424"/>
            <a:ext cx="5734385" cy="566928"/>
          </a:xfrm>
          <a:prstGeom prst="roundRect">
            <a:avLst>
              <a:gd name="adj" fmla="val 6452"/>
            </a:avLst>
          </a:prstGeom>
          <a:solidFill>
            <a:srgbClr val="F2DAD4"/>
          </a:solidFill>
          <a:ln w="12700">
            <a:solidFill>
              <a:srgbClr val="C0503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13232" y="4572000"/>
            <a:ext cx="5441777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سقف ١٠٠ ريال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713232" y="4818888"/>
            <a:ext cx="5441777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شهرياً لكل عامل — معتمد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6632143" y="1207008"/>
            <a:ext cx="496244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سقف المكافأة في أي حملة</a:t>
            </a:r>
            <a:endParaRPr lang="en-US" sz="1350" dirty="0"/>
          </a:p>
        </p:txBody>
      </p:sp>
      <p:sp>
        <p:nvSpPr>
          <p:cNvPr id="27" name="Shape 25"/>
          <p:cNvSpPr/>
          <p:nvPr/>
        </p:nvSpPr>
        <p:spPr>
          <a:xfrm>
            <a:off x="6632143" y="1536192"/>
            <a:ext cx="4962449" cy="36576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28" name="Text 26"/>
          <p:cNvSpPr/>
          <p:nvPr/>
        </p:nvSpPr>
        <p:spPr>
          <a:xfrm>
            <a:off x="9907359" y="1536192"/>
            <a:ext cx="1687233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الشريحة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815621" y="1536192"/>
            <a:ext cx="1091739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+معاملة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7723882" y="1536192"/>
            <a:ext cx="1091739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+٢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6632143" y="1536192"/>
            <a:ext cx="1091739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+٣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6632143" y="1901952"/>
            <a:ext cx="4962449" cy="329184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9907359" y="1901952"/>
            <a:ext cx="1687233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الطرق السريعة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8815621" y="1901952"/>
            <a:ext cx="1091739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٢٫٠٥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7723882" y="1901952"/>
            <a:ext cx="1091739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٤٫١١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6632143" y="1901952"/>
            <a:ext cx="1091739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٦٫١٦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6632143" y="2231136"/>
            <a:ext cx="4962449" cy="329184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9907359" y="2231136"/>
            <a:ext cx="1687233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الأساطيل التجارية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8815621" y="2231136"/>
            <a:ext cx="1091739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١٫٤٨</a:t>
            </a:r>
            <a:endParaRPr lang="en-US" sz="1050" dirty="0"/>
          </a:p>
        </p:txBody>
      </p:sp>
      <p:sp>
        <p:nvSpPr>
          <p:cNvPr id="40" name="Text 38"/>
          <p:cNvSpPr/>
          <p:nvPr/>
        </p:nvSpPr>
        <p:spPr>
          <a:xfrm>
            <a:off x="7723882" y="2231136"/>
            <a:ext cx="1091739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٢٫٩٦</a:t>
            </a:r>
            <a:endParaRPr lang="en-US" sz="1050" dirty="0"/>
          </a:p>
        </p:txBody>
      </p:sp>
      <p:sp>
        <p:nvSpPr>
          <p:cNvPr id="41" name="Text 39"/>
          <p:cNvSpPr/>
          <p:nvPr/>
        </p:nvSpPr>
        <p:spPr>
          <a:xfrm>
            <a:off x="6632143" y="2231136"/>
            <a:ext cx="1091739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٤٫٤٤</a:t>
            </a:r>
            <a:endParaRPr lang="en-US" sz="1050" dirty="0"/>
          </a:p>
        </p:txBody>
      </p:sp>
      <p:sp>
        <p:nvSpPr>
          <p:cNvPr id="42" name="Shape 40"/>
          <p:cNvSpPr/>
          <p:nvPr/>
        </p:nvSpPr>
        <p:spPr>
          <a:xfrm>
            <a:off x="6632143" y="2560320"/>
            <a:ext cx="4962449" cy="329184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9907359" y="2560320"/>
            <a:ext cx="1687233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حضرية</a:t>
            </a:r>
            <a:endParaRPr lang="en-US" sz="1050" dirty="0"/>
          </a:p>
        </p:txBody>
      </p:sp>
      <p:sp>
        <p:nvSpPr>
          <p:cNvPr id="44" name="Text 42"/>
          <p:cNvSpPr/>
          <p:nvPr/>
        </p:nvSpPr>
        <p:spPr>
          <a:xfrm>
            <a:off x="8815621" y="2560320"/>
            <a:ext cx="1091739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١٫٤٣</a:t>
            </a:r>
            <a:endParaRPr lang="en-US" sz="1050" dirty="0"/>
          </a:p>
        </p:txBody>
      </p:sp>
      <p:sp>
        <p:nvSpPr>
          <p:cNvPr id="45" name="Text 43"/>
          <p:cNvSpPr/>
          <p:nvPr/>
        </p:nvSpPr>
        <p:spPr>
          <a:xfrm>
            <a:off x="7723882" y="2560320"/>
            <a:ext cx="1091739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٢٫٨٦</a:t>
            </a:r>
            <a:endParaRPr lang="en-US" sz="1050" dirty="0"/>
          </a:p>
        </p:txBody>
      </p:sp>
      <p:sp>
        <p:nvSpPr>
          <p:cNvPr id="46" name="Text 44"/>
          <p:cNvSpPr/>
          <p:nvPr/>
        </p:nvSpPr>
        <p:spPr>
          <a:xfrm>
            <a:off x="6632143" y="2560320"/>
            <a:ext cx="1091739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٤٫٢٩</a:t>
            </a:r>
            <a:endParaRPr lang="en-US" sz="1050" dirty="0"/>
          </a:p>
        </p:txBody>
      </p:sp>
      <p:sp>
        <p:nvSpPr>
          <p:cNvPr id="47" name="Shape 45"/>
          <p:cNvSpPr/>
          <p:nvPr/>
        </p:nvSpPr>
        <p:spPr>
          <a:xfrm>
            <a:off x="6632143" y="2889504"/>
            <a:ext cx="4962449" cy="329184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9907359" y="2889504"/>
            <a:ext cx="1687233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الأحياء</a:t>
            </a:r>
            <a:endParaRPr lang="en-US" sz="1050" dirty="0"/>
          </a:p>
        </p:txBody>
      </p:sp>
      <p:sp>
        <p:nvSpPr>
          <p:cNvPr id="49" name="Text 47"/>
          <p:cNvSpPr/>
          <p:nvPr/>
        </p:nvSpPr>
        <p:spPr>
          <a:xfrm>
            <a:off x="8815621" y="2889504"/>
            <a:ext cx="1091739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١٫٣٩</a:t>
            </a:r>
            <a:endParaRPr lang="en-US" sz="1050" dirty="0"/>
          </a:p>
        </p:txBody>
      </p:sp>
      <p:sp>
        <p:nvSpPr>
          <p:cNvPr id="50" name="Text 48"/>
          <p:cNvSpPr/>
          <p:nvPr/>
        </p:nvSpPr>
        <p:spPr>
          <a:xfrm>
            <a:off x="7723882" y="2889504"/>
            <a:ext cx="1091739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٢٫٧٨</a:t>
            </a:r>
            <a:endParaRPr lang="en-US" sz="1050" dirty="0"/>
          </a:p>
        </p:txBody>
      </p:sp>
      <p:sp>
        <p:nvSpPr>
          <p:cNvPr id="51" name="Text 49"/>
          <p:cNvSpPr/>
          <p:nvPr/>
        </p:nvSpPr>
        <p:spPr>
          <a:xfrm>
            <a:off x="6632143" y="2889504"/>
            <a:ext cx="1091739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٤٫١٦</a:t>
            </a:r>
            <a:endParaRPr lang="en-US" sz="1050" dirty="0"/>
          </a:p>
        </p:txBody>
      </p:sp>
      <p:sp>
        <p:nvSpPr>
          <p:cNvPr id="52" name="Shape 50"/>
          <p:cNvSpPr/>
          <p:nvPr/>
        </p:nvSpPr>
        <p:spPr>
          <a:xfrm>
            <a:off x="6632143" y="3218688"/>
            <a:ext cx="4962449" cy="329184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9907359" y="3218688"/>
            <a:ext cx="1687233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محدودة الإنتاجية</a:t>
            </a:r>
            <a:endParaRPr lang="en-US" sz="1050" dirty="0"/>
          </a:p>
        </p:txBody>
      </p:sp>
      <p:sp>
        <p:nvSpPr>
          <p:cNvPr id="54" name="Text 52"/>
          <p:cNvSpPr/>
          <p:nvPr/>
        </p:nvSpPr>
        <p:spPr>
          <a:xfrm>
            <a:off x="8815621" y="3218688"/>
            <a:ext cx="1091739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١٫٤١</a:t>
            </a:r>
            <a:endParaRPr lang="en-US" sz="1050" dirty="0"/>
          </a:p>
        </p:txBody>
      </p:sp>
      <p:sp>
        <p:nvSpPr>
          <p:cNvPr id="55" name="Text 53"/>
          <p:cNvSpPr/>
          <p:nvPr/>
        </p:nvSpPr>
        <p:spPr>
          <a:xfrm>
            <a:off x="7723882" y="3218688"/>
            <a:ext cx="1091739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٢٫٨٢</a:t>
            </a:r>
            <a:endParaRPr lang="en-US" sz="1050" dirty="0"/>
          </a:p>
        </p:txBody>
      </p:sp>
      <p:sp>
        <p:nvSpPr>
          <p:cNvPr id="56" name="Text 54"/>
          <p:cNvSpPr/>
          <p:nvPr/>
        </p:nvSpPr>
        <p:spPr>
          <a:xfrm>
            <a:off x="6632143" y="3218688"/>
            <a:ext cx="1091739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٤٫٢٣</a:t>
            </a:r>
            <a:endParaRPr lang="en-US" sz="1050" dirty="0"/>
          </a:p>
        </p:txBody>
      </p:sp>
      <p:sp>
        <p:nvSpPr>
          <p:cNvPr id="57" name="Text 55"/>
          <p:cNvSpPr/>
          <p:nvPr/>
        </p:nvSpPr>
        <p:spPr>
          <a:xfrm>
            <a:off x="6632143" y="3493008"/>
            <a:ext cx="496244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ما يمرّ وما لا يمرّ</a:t>
            </a:r>
            <a:endParaRPr lang="en-US" sz="1250" dirty="0"/>
          </a:p>
        </p:txBody>
      </p:sp>
      <p:sp>
        <p:nvSpPr>
          <p:cNvPr id="58" name="Shape 56"/>
          <p:cNvSpPr/>
          <p:nvPr/>
        </p:nvSpPr>
        <p:spPr>
          <a:xfrm>
            <a:off x="6632143" y="3822192"/>
            <a:ext cx="4962449" cy="347472"/>
          </a:xfrm>
          <a:prstGeom prst="roundRect">
            <a:avLst>
              <a:gd name="adj" fmla="val 7895"/>
            </a:avLst>
          </a:prstGeom>
          <a:solidFill>
            <a:srgbClr val="D6E9E1"/>
          </a:solidFill>
          <a:ln/>
        </p:spPr>
      </p:sp>
      <p:sp>
        <p:nvSpPr>
          <p:cNvPr id="59" name="Text 57"/>
          <p:cNvSpPr/>
          <p:nvPr/>
        </p:nvSpPr>
        <p:spPr>
          <a:xfrm>
            <a:off x="6723583" y="3822192"/>
            <a:ext cx="320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✓</a:t>
            </a:r>
            <a:endParaRPr lang="en-US" sz="1300" dirty="0"/>
          </a:p>
        </p:txBody>
      </p:sp>
      <p:sp>
        <p:nvSpPr>
          <p:cNvPr id="60" name="Text 58"/>
          <p:cNvSpPr/>
          <p:nvPr/>
        </p:nvSpPr>
        <p:spPr>
          <a:xfrm>
            <a:off x="7089343" y="3822192"/>
            <a:ext cx="3499409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علبة مناديل</a:t>
            </a:r>
            <a:endParaRPr lang="en-US" sz="1150" dirty="0"/>
          </a:p>
        </p:txBody>
      </p:sp>
      <p:sp>
        <p:nvSpPr>
          <p:cNvPr id="61" name="Text 59"/>
          <p:cNvSpPr/>
          <p:nvPr/>
        </p:nvSpPr>
        <p:spPr>
          <a:xfrm>
            <a:off x="10634472" y="3822192"/>
            <a:ext cx="868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٠٫٦٢ ر</a:t>
            </a:r>
            <a:endParaRPr lang="en-US" sz="1150" dirty="0"/>
          </a:p>
        </p:txBody>
      </p:sp>
      <p:sp>
        <p:nvSpPr>
          <p:cNvPr id="62" name="Shape 60"/>
          <p:cNvSpPr/>
          <p:nvPr/>
        </p:nvSpPr>
        <p:spPr>
          <a:xfrm>
            <a:off x="6632143" y="4224528"/>
            <a:ext cx="4962449" cy="347472"/>
          </a:xfrm>
          <a:prstGeom prst="roundRect">
            <a:avLst>
              <a:gd name="adj" fmla="val 7895"/>
            </a:avLst>
          </a:prstGeom>
          <a:solidFill>
            <a:srgbClr val="D6E9E1"/>
          </a:solidFill>
          <a:ln/>
        </p:spPr>
      </p:sp>
      <p:sp>
        <p:nvSpPr>
          <p:cNvPr id="63" name="Text 61"/>
          <p:cNvSpPr/>
          <p:nvPr/>
        </p:nvSpPr>
        <p:spPr>
          <a:xfrm>
            <a:off x="6723583" y="4224528"/>
            <a:ext cx="320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✓</a:t>
            </a:r>
            <a:endParaRPr lang="en-US" sz="1300" dirty="0"/>
          </a:p>
        </p:txBody>
      </p:sp>
      <p:sp>
        <p:nvSpPr>
          <p:cNvPr id="64" name="Text 62"/>
          <p:cNvSpPr/>
          <p:nvPr/>
        </p:nvSpPr>
        <p:spPr>
          <a:xfrm>
            <a:off x="7089343" y="4224528"/>
            <a:ext cx="3499409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قارورة ماء</a:t>
            </a:r>
            <a:endParaRPr lang="en-US" sz="1150" dirty="0"/>
          </a:p>
        </p:txBody>
      </p:sp>
      <p:sp>
        <p:nvSpPr>
          <p:cNvPr id="65" name="Text 63"/>
          <p:cNvSpPr/>
          <p:nvPr/>
        </p:nvSpPr>
        <p:spPr>
          <a:xfrm>
            <a:off x="10634472" y="4224528"/>
            <a:ext cx="868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١٫٥٠ ر</a:t>
            </a:r>
            <a:endParaRPr lang="en-US" sz="1150" dirty="0"/>
          </a:p>
        </p:txBody>
      </p:sp>
      <p:sp>
        <p:nvSpPr>
          <p:cNvPr id="66" name="Shape 64"/>
          <p:cNvSpPr/>
          <p:nvPr/>
        </p:nvSpPr>
        <p:spPr>
          <a:xfrm>
            <a:off x="6632143" y="4626864"/>
            <a:ext cx="4962449" cy="347472"/>
          </a:xfrm>
          <a:prstGeom prst="roundRect">
            <a:avLst>
              <a:gd name="adj" fmla="val 7895"/>
            </a:avLst>
          </a:prstGeom>
          <a:solidFill>
            <a:srgbClr val="F2DAD4"/>
          </a:solidFill>
          <a:ln/>
        </p:spPr>
      </p:sp>
      <p:sp>
        <p:nvSpPr>
          <p:cNvPr id="67" name="Text 65"/>
          <p:cNvSpPr/>
          <p:nvPr/>
        </p:nvSpPr>
        <p:spPr>
          <a:xfrm>
            <a:off x="6723583" y="4626864"/>
            <a:ext cx="320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✕</a:t>
            </a:r>
            <a:endParaRPr lang="en-US" sz="1300" dirty="0"/>
          </a:p>
        </p:txBody>
      </p:sp>
      <p:sp>
        <p:nvSpPr>
          <p:cNvPr id="68" name="Text 66"/>
          <p:cNvSpPr/>
          <p:nvPr/>
        </p:nvSpPr>
        <p:spPr>
          <a:xfrm>
            <a:off x="7089343" y="4626864"/>
            <a:ext cx="3499409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قهوة</a:t>
            </a:r>
            <a:endParaRPr lang="en-US" sz="1150" dirty="0"/>
          </a:p>
        </p:txBody>
      </p:sp>
      <p:sp>
        <p:nvSpPr>
          <p:cNvPr id="69" name="Text 67"/>
          <p:cNvSpPr/>
          <p:nvPr/>
        </p:nvSpPr>
        <p:spPr>
          <a:xfrm>
            <a:off x="10634472" y="4626864"/>
            <a:ext cx="868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٤٫٠٠ ر</a:t>
            </a:r>
            <a:endParaRPr lang="en-US" sz="1150" dirty="0"/>
          </a:p>
        </p:txBody>
      </p:sp>
      <p:sp>
        <p:nvSpPr>
          <p:cNvPr id="70" name="Shape 68"/>
          <p:cNvSpPr/>
          <p:nvPr/>
        </p:nvSpPr>
        <p:spPr>
          <a:xfrm>
            <a:off x="6632143" y="5029200"/>
            <a:ext cx="4962449" cy="347472"/>
          </a:xfrm>
          <a:prstGeom prst="roundRect">
            <a:avLst>
              <a:gd name="adj" fmla="val 7895"/>
            </a:avLst>
          </a:prstGeom>
          <a:solidFill>
            <a:srgbClr val="F2DAD4"/>
          </a:solidFill>
          <a:ln/>
        </p:spPr>
      </p:sp>
      <p:sp>
        <p:nvSpPr>
          <p:cNvPr id="71" name="Text 69"/>
          <p:cNvSpPr/>
          <p:nvPr/>
        </p:nvSpPr>
        <p:spPr>
          <a:xfrm>
            <a:off x="6723583" y="5029200"/>
            <a:ext cx="320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✕</a:t>
            </a:r>
            <a:endParaRPr lang="en-US" sz="1300" dirty="0"/>
          </a:p>
        </p:txBody>
      </p:sp>
      <p:sp>
        <p:nvSpPr>
          <p:cNvPr id="72" name="Text 70"/>
          <p:cNvSpPr/>
          <p:nvPr/>
        </p:nvSpPr>
        <p:spPr>
          <a:xfrm>
            <a:off x="7089343" y="5029200"/>
            <a:ext cx="3499409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 لترات بنزين</a:t>
            </a:r>
            <a:endParaRPr lang="en-US" sz="1150" dirty="0"/>
          </a:p>
        </p:txBody>
      </p:sp>
      <p:sp>
        <p:nvSpPr>
          <p:cNvPr id="73" name="Text 71"/>
          <p:cNvSpPr/>
          <p:nvPr/>
        </p:nvSpPr>
        <p:spPr>
          <a:xfrm>
            <a:off x="10634472" y="5029200"/>
            <a:ext cx="868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١١٫٠٠ ر</a:t>
            </a:r>
            <a:endParaRPr lang="en-US" sz="1150" dirty="0"/>
          </a:p>
        </p:txBody>
      </p:sp>
      <p:sp>
        <p:nvSpPr>
          <p:cNvPr id="74" name="Shape 72"/>
          <p:cNvSpPr/>
          <p:nvPr/>
        </p:nvSpPr>
        <p:spPr>
          <a:xfrm>
            <a:off x="6632143" y="5431536"/>
            <a:ext cx="4962449" cy="347472"/>
          </a:xfrm>
          <a:prstGeom prst="roundRect">
            <a:avLst>
              <a:gd name="adj" fmla="val 7895"/>
            </a:avLst>
          </a:prstGeom>
          <a:solidFill>
            <a:srgbClr val="F2DAD4"/>
          </a:solidFill>
          <a:ln/>
        </p:spPr>
      </p:sp>
      <p:sp>
        <p:nvSpPr>
          <p:cNvPr id="75" name="Text 73"/>
          <p:cNvSpPr/>
          <p:nvPr/>
        </p:nvSpPr>
        <p:spPr>
          <a:xfrm>
            <a:off x="6723583" y="5431536"/>
            <a:ext cx="320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✕</a:t>
            </a:r>
            <a:endParaRPr lang="en-US" sz="1300" dirty="0"/>
          </a:p>
        </p:txBody>
      </p:sp>
      <p:sp>
        <p:nvSpPr>
          <p:cNvPr id="76" name="Text 74"/>
          <p:cNvSpPr/>
          <p:nvPr/>
        </p:nvSpPr>
        <p:spPr>
          <a:xfrm>
            <a:off x="7089343" y="5431536"/>
            <a:ext cx="3499409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غسيل مجاني</a:t>
            </a:r>
            <a:endParaRPr lang="en-US" sz="1150" dirty="0"/>
          </a:p>
        </p:txBody>
      </p:sp>
      <p:sp>
        <p:nvSpPr>
          <p:cNvPr id="77" name="Text 75"/>
          <p:cNvSpPr/>
          <p:nvPr/>
        </p:nvSpPr>
        <p:spPr>
          <a:xfrm>
            <a:off x="10634472" y="5431536"/>
            <a:ext cx="868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٢٥٫٠٠ ر</a:t>
            </a:r>
            <a:endParaRPr lang="en-US" sz="1150" dirty="0"/>
          </a:p>
        </p:txBody>
      </p:sp>
      <p:sp>
        <p:nvSpPr>
          <p:cNvPr id="78" name="Shape 76"/>
          <p:cNvSpPr/>
          <p:nvPr/>
        </p:nvSpPr>
        <p:spPr>
          <a:xfrm>
            <a:off x="566928" y="5852160"/>
            <a:ext cx="11027664" cy="512064"/>
          </a:xfrm>
          <a:prstGeom prst="roundRect">
            <a:avLst>
              <a:gd name="adj" fmla="val 7143"/>
            </a:avLst>
          </a:prstGeom>
          <a:solidFill>
            <a:srgbClr val="55565A"/>
          </a:solidFill>
          <a:ln/>
        </p:spPr>
      </p:sp>
      <p:sp>
        <p:nvSpPr>
          <p:cNvPr id="79" name="Text 77"/>
          <p:cNvSpPr/>
          <p:nvPr/>
        </p:nvSpPr>
        <p:spPr>
          <a:xfrm>
            <a:off x="749808" y="5897880"/>
            <a:ext cx="1066190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القاعدة: أي مكافأة فوق ١٫٦ ريال لكل معاملة إضافية تُموَّل من معلن أو مستأجر — لا من هامش الوقود</a:t>
            </a:r>
            <a:endParaRPr lang="en-US" sz="12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7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539728" y="2286000"/>
            <a:ext cx="54864" cy="20116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240280"/>
            <a:ext cx="107533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500" b="1" spc="300" kern="0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القسم الخامس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566928" y="2743200"/>
            <a:ext cx="10753344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3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التأجير والحملات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566928" y="3611880"/>
            <a:ext cx="107533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باقات تُباع · وحملات تُطلقها حالة مرصودة</a:t>
            </a:r>
            <a:endParaRPr lang="en-US" sz="14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74320"/>
            <a:ext cx="10113264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الوحدات التأجيرية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01132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سجل ١٨٦ محطة · الوحدة كشك أو محل أو درايف ثرو أو مغسلة أو سوبرماركت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133856"/>
            <a:ext cx="1102766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64373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 · الإدارة التجارية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45952" y="6437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19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8961120" y="1243584"/>
            <a:ext cx="2633472" cy="1371600"/>
          </a:xfrm>
          <a:prstGeom prst="roundRect">
            <a:avLst>
              <a:gd name="adj" fmla="val 3333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961120" y="1243584"/>
            <a:ext cx="2633472" cy="4572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10" name="Text 8"/>
          <p:cNvSpPr/>
          <p:nvPr/>
        </p:nvSpPr>
        <p:spPr>
          <a:xfrm>
            <a:off x="9034272" y="1389888"/>
            <a:ext cx="24871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١٬٧٣٣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9052560" y="1975104"/>
            <a:ext cx="24505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وحدة مسجّلة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9052560" y="2249424"/>
            <a:ext cx="2450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١٨٦ محطة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6163056" y="1243584"/>
            <a:ext cx="2633472" cy="1371600"/>
          </a:xfrm>
          <a:prstGeom prst="roundRect">
            <a:avLst>
              <a:gd name="adj" fmla="val 3333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163056" y="1243584"/>
            <a:ext cx="2633472" cy="4572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15" name="Text 13"/>
          <p:cNvSpPr/>
          <p:nvPr/>
        </p:nvSpPr>
        <p:spPr>
          <a:xfrm>
            <a:off x="6236208" y="1389888"/>
            <a:ext cx="24871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٦٤١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6254496" y="1975104"/>
            <a:ext cx="24505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مؤجَّرة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254496" y="2249424"/>
            <a:ext cx="2450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٣٧٪ إشغال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3364992" y="1243584"/>
            <a:ext cx="2633472" cy="1371600"/>
          </a:xfrm>
          <a:prstGeom prst="roundRect">
            <a:avLst>
              <a:gd name="adj" fmla="val 3333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364992" y="1243584"/>
            <a:ext cx="2633472" cy="45720"/>
          </a:xfrm>
          <a:prstGeom prst="rect">
            <a:avLst/>
          </a:prstGeom>
          <a:solidFill>
            <a:srgbClr val="C0503A"/>
          </a:solidFill>
          <a:ln/>
        </p:spPr>
      </p:sp>
      <p:sp>
        <p:nvSpPr>
          <p:cNvPr id="20" name="Text 18"/>
          <p:cNvSpPr/>
          <p:nvPr/>
        </p:nvSpPr>
        <p:spPr>
          <a:xfrm>
            <a:off x="3438144" y="1389888"/>
            <a:ext cx="24871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C0503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١٬٠٨٩</a:t>
            </a:r>
            <a:endParaRPr lang="en-US" sz="2800" dirty="0"/>
          </a:p>
        </p:txBody>
      </p:sp>
      <p:sp>
        <p:nvSpPr>
          <p:cNvPr id="21" name="Text 19"/>
          <p:cNvSpPr/>
          <p:nvPr/>
        </p:nvSpPr>
        <p:spPr>
          <a:xfrm>
            <a:off x="3456432" y="1975104"/>
            <a:ext cx="24505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شاغرة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3456432" y="2249424"/>
            <a:ext cx="2450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الفرصة المباشرة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66928" y="1243584"/>
            <a:ext cx="2633472" cy="1371600"/>
          </a:xfrm>
          <a:prstGeom prst="roundRect">
            <a:avLst>
              <a:gd name="adj" fmla="val 3333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66928" y="1243584"/>
            <a:ext cx="2633472" cy="45720"/>
          </a:xfrm>
          <a:prstGeom prst="rect">
            <a:avLst/>
          </a:prstGeom>
          <a:solidFill>
            <a:srgbClr val="C0503A"/>
          </a:solidFill>
          <a:ln/>
        </p:spPr>
      </p:sp>
      <p:sp>
        <p:nvSpPr>
          <p:cNvPr id="25" name="Text 23"/>
          <p:cNvSpPr/>
          <p:nvPr/>
        </p:nvSpPr>
        <p:spPr>
          <a:xfrm>
            <a:off x="640080" y="1389888"/>
            <a:ext cx="24871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C0503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٢٥٪</a:t>
            </a:r>
            <a:endParaRPr lang="en-US" sz="2800" dirty="0"/>
          </a:p>
        </p:txBody>
      </p:sp>
      <p:sp>
        <p:nvSpPr>
          <p:cNvPr id="26" name="Text 24"/>
          <p:cNvSpPr/>
          <p:nvPr/>
        </p:nvSpPr>
        <p:spPr>
          <a:xfrm>
            <a:off x="658368" y="1975104"/>
            <a:ext cx="24505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إشغال المحلات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658368" y="2249424"/>
            <a:ext cx="2450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٧٦٤ محلاً — المنتج العالق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566928" y="2798064"/>
            <a:ext cx="661659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الشغور في ثلاث فئات — ولكلٍّ باقتها</a:t>
            </a:r>
            <a:endParaRPr lang="en-US" sz="1350" dirty="0"/>
          </a:p>
        </p:txBody>
      </p:sp>
      <p:sp>
        <p:nvSpPr>
          <p:cNvPr id="29" name="Shape 27"/>
          <p:cNvSpPr/>
          <p:nvPr/>
        </p:nvSpPr>
        <p:spPr>
          <a:xfrm>
            <a:off x="566928" y="3108960"/>
            <a:ext cx="6616598" cy="36576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30" name="Text 28"/>
          <p:cNvSpPr/>
          <p:nvPr/>
        </p:nvSpPr>
        <p:spPr>
          <a:xfrm>
            <a:off x="5992539" y="3108960"/>
            <a:ext cx="1190988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الفئة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5330879" y="3108960"/>
            <a:ext cx="661660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محطات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4404555" y="3108960"/>
            <a:ext cx="926324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وحدات شاغرة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2948903" y="3108960"/>
            <a:ext cx="145565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الباقة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566928" y="3108960"/>
            <a:ext cx="2381975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لماذا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566928" y="3474720"/>
            <a:ext cx="6616598" cy="384048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992539" y="3474720"/>
            <a:ext cx="1190988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مشغّلة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5330879" y="3474720"/>
            <a:ext cx="661660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٥٢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4404555" y="3474720"/>
            <a:ext cx="926324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١٣١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2948903" y="3474720"/>
            <a:ext cx="1455652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نسبة من المبيعات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566928" y="3474720"/>
            <a:ext cx="2381975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الحركة معلومة وقابلة للقياس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566928" y="3858768"/>
            <a:ext cx="6616598" cy="384048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92539" y="3858768"/>
            <a:ext cx="1190988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تحت التنفيذ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5330879" y="3858768"/>
            <a:ext cx="661660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٤٣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4404555" y="3858768"/>
            <a:ext cx="926324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٦٨٩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2948903" y="3858768"/>
            <a:ext cx="1455652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التدريج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566928" y="3858768"/>
            <a:ext cx="2381975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الحركة تبدأ من صفر وتنمو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566928" y="4242816"/>
            <a:ext cx="6616598" cy="384048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992539" y="4242816"/>
            <a:ext cx="1190988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امتياز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5330879" y="4242816"/>
            <a:ext cx="661660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٩١</a:t>
            </a:r>
            <a:endParaRPr lang="en-US" sz="1100" dirty="0"/>
          </a:p>
        </p:txBody>
      </p:sp>
      <p:sp>
        <p:nvSpPr>
          <p:cNvPr id="50" name="Text 48"/>
          <p:cNvSpPr/>
          <p:nvPr/>
        </p:nvSpPr>
        <p:spPr>
          <a:xfrm>
            <a:off x="4404555" y="4242816"/>
            <a:ext cx="926324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٢٦٩</a:t>
            </a:r>
            <a:endParaRPr lang="en-US" sz="1100" dirty="0"/>
          </a:p>
        </p:txBody>
      </p:sp>
      <p:sp>
        <p:nvSpPr>
          <p:cNvPr id="51" name="Text 49"/>
          <p:cNvSpPr/>
          <p:nvPr/>
        </p:nvSpPr>
        <p:spPr>
          <a:xfrm>
            <a:off x="2948903" y="4242816"/>
            <a:ext cx="1455652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المسوّق الخارجي</a:t>
            </a:r>
            <a:endParaRPr lang="en-US" sz="1100" dirty="0"/>
          </a:p>
        </p:txBody>
      </p:sp>
      <p:sp>
        <p:nvSpPr>
          <p:cNvPr id="52" name="Text 50"/>
          <p:cNvSpPr/>
          <p:nvPr/>
        </p:nvSpPr>
        <p:spPr>
          <a:xfrm>
            <a:off x="566928" y="4242816"/>
            <a:ext cx="2381975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لا فريق لنا هناك</a:t>
            </a:r>
            <a:endParaRPr lang="en-US" sz="1100" dirty="0"/>
          </a:p>
        </p:txBody>
      </p:sp>
      <p:sp>
        <p:nvSpPr>
          <p:cNvPr id="53" name="Text 51"/>
          <p:cNvSpPr/>
          <p:nvPr/>
        </p:nvSpPr>
        <p:spPr>
          <a:xfrm>
            <a:off x="7514356" y="2798064"/>
            <a:ext cx="408023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أكبر الفرص</a:t>
            </a:r>
            <a:endParaRPr lang="en-US" sz="1350" dirty="0"/>
          </a:p>
        </p:txBody>
      </p:sp>
      <p:sp>
        <p:nvSpPr>
          <p:cNvPr id="54" name="Shape 52"/>
          <p:cNvSpPr/>
          <p:nvPr/>
        </p:nvSpPr>
        <p:spPr>
          <a:xfrm>
            <a:off x="7514356" y="3108960"/>
            <a:ext cx="4080236" cy="36576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55" name="Text 53"/>
          <p:cNvSpPr/>
          <p:nvPr/>
        </p:nvSpPr>
        <p:spPr>
          <a:xfrm>
            <a:off x="9962498" y="3108960"/>
            <a:ext cx="1632094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المحطة</a:t>
            </a:r>
            <a:endParaRPr lang="en-US" sz="1000" dirty="0"/>
          </a:p>
        </p:txBody>
      </p:sp>
      <p:sp>
        <p:nvSpPr>
          <p:cNvPr id="56" name="Text 54"/>
          <p:cNvSpPr/>
          <p:nvPr/>
        </p:nvSpPr>
        <p:spPr>
          <a:xfrm>
            <a:off x="9237122" y="3108960"/>
            <a:ext cx="725375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الكود</a:t>
            </a:r>
            <a:endParaRPr lang="en-US" sz="1000" dirty="0"/>
          </a:p>
        </p:txBody>
      </p:sp>
      <p:sp>
        <p:nvSpPr>
          <p:cNvPr id="57" name="Text 55"/>
          <p:cNvSpPr/>
          <p:nvPr/>
        </p:nvSpPr>
        <p:spPr>
          <a:xfrm>
            <a:off x="8511747" y="3108960"/>
            <a:ext cx="725375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شاغرة</a:t>
            </a:r>
            <a:endParaRPr lang="en-US" sz="1000" dirty="0"/>
          </a:p>
        </p:txBody>
      </p:sp>
      <p:sp>
        <p:nvSpPr>
          <p:cNvPr id="58" name="Text 56"/>
          <p:cNvSpPr/>
          <p:nvPr/>
        </p:nvSpPr>
        <p:spPr>
          <a:xfrm>
            <a:off x="7514356" y="3108960"/>
            <a:ext cx="997391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الفئة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7514356" y="3474720"/>
            <a:ext cx="4080236" cy="384048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9962498" y="3474720"/>
            <a:ext cx="1632094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محطة حلي</a:t>
            </a:r>
            <a:endParaRPr lang="en-US" sz="1050" dirty="0"/>
          </a:p>
        </p:txBody>
      </p:sp>
      <p:sp>
        <p:nvSpPr>
          <p:cNvPr id="61" name="Text 59"/>
          <p:cNvSpPr/>
          <p:nvPr/>
        </p:nvSpPr>
        <p:spPr>
          <a:xfrm>
            <a:off x="9237122" y="3474720"/>
            <a:ext cx="725375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MK036</a:t>
            </a:r>
            <a:endParaRPr lang="en-US" sz="1050" dirty="0"/>
          </a:p>
        </p:txBody>
      </p:sp>
      <p:sp>
        <p:nvSpPr>
          <p:cNvPr id="62" name="Text 60"/>
          <p:cNvSpPr/>
          <p:nvPr/>
        </p:nvSpPr>
        <p:spPr>
          <a:xfrm>
            <a:off x="8511747" y="3474720"/>
            <a:ext cx="725375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٩٢</a:t>
            </a:r>
            <a:endParaRPr lang="en-US" sz="1050" dirty="0"/>
          </a:p>
        </p:txBody>
      </p:sp>
      <p:sp>
        <p:nvSpPr>
          <p:cNvPr id="63" name="Text 61"/>
          <p:cNvSpPr/>
          <p:nvPr/>
        </p:nvSpPr>
        <p:spPr>
          <a:xfrm>
            <a:off x="7514356" y="3474720"/>
            <a:ext cx="997391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تحت التنفيذ</a:t>
            </a:r>
            <a:endParaRPr lang="en-US" sz="1050" dirty="0"/>
          </a:p>
        </p:txBody>
      </p:sp>
      <p:sp>
        <p:nvSpPr>
          <p:cNvPr id="64" name="Shape 62"/>
          <p:cNvSpPr/>
          <p:nvPr/>
        </p:nvSpPr>
        <p:spPr>
          <a:xfrm>
            <a:off x="7514356" y="3858768"/>
            <a:ext cx="4080236" cy="384048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9962498" y="3858768"/>
            <a:ext cx="1632094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القديه</a:t>
            </a:r>
            <a:endParaRPr lang="en-US" sz="1050" dirty="0"/>
          </a:p>
        </p:txBody>
      </p:sp>
      <p:sp>
        <p:nvSpPr>
          <p:cNvPr id="66" name="Text 64"/>
          <p:cNvSpPr/>
          <p:nvPr/>
        </p:nvSpPr>
        <p:spPr>
          <a:xfrm>
            <a:off x="9237122" y="3858768"/>
            <a:ext cx="725375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RY073</a:t>
            </a:r>
            <a:endParaRPr lang="en-US" sz="1050" dirty="0"/>
          </a:p>
        </p:txBody>
      </p:sp>
      <p:sp>
        <p:nvSpPr>
          <p:cNvPr id="67" name="Text 65"/>
          <p:cNvSpPr/>
          <p:nvPr/>
        </p:nvSpPr>
        <p:spPr>
          <a:xfrm>
            <a:off x="8511747" y="3858768"/>
            <a:ext cx="725375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٥٩</a:t>
            </a:r>
            <a:endParaRPr lang="en-US" sz="1050" dirty="0"/>
          </a:p>
        </p:txBody>
      </p:sp>
      <p:sp>
        <p:nvSpPr>
          <p:cNvPr id="68" name="Text 66"/>
          <p:cNvSpPr/>
          <p:nvPr/>
        </p:nvSpPr>
        <p:spPr>
          <a:xfrm>
            <a:off x="7514356" y="3858768"/>
            <a:ext cx="997391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تحت التنفيذ</a:t>
            </a:r>
            <a:endParaRPr lang="en-US" sz="1050" dirty="0"/>
          </a:p>
        </p:txBody>
      </p:sp>
      <p:sp>
        <p:nvSpPr>
          <p:cNvPr id="69" name="Shape 67"/>
          <p:cNvSpPr/>
          <p:nvPr/>
        </p:nvSpPr>
        <p:spPr>
          <a:xfrm>
            <a:off x="7514356" y="4242816"/>
            <a:ext cx="4080236" cy="384048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9962498" y="4242816"/>
            <a:ext cx="1632094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الخمرة</a:t>
            </a:r>
            <a:endParaRPr lang="en-US" sz="1050" dirty="0"/>
          </a:p>
        </p:txBody>
      </p:sp>
      <p:sp>
        <p:nvSpPr>
          <p:cNvPr id="71" name="Text 69"/>
          <p:cNvSpPr/>
          <p:nvPr/>
        </p:nvSpPr>
        <p:spPr>
          <a:xfrm>
            <a:off x="9237122" y="4242816"/>
            <a:ext cx="725375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MK104</a:t>
            </a:r>
            <a:endParaRPr lang="en-US" sz="1050" dirty="0"/>
          </a:p>
        </p:txBody>
      </p:sp>
      <p:sp>
        <p:nvSpPr>
          <p:cNvPr id="72" name="Text 70"/>
          <p:cNvSpPr/>
          <p:nvPr/>
        </p:nvSpPr>
        <p:spPr>
          <a:xfrm>
            <a:off x="8511747" y="4242816"/>
            <a:ext cx="725375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٤٧</a:t>
            </a:r>
            <a:endParaRPr lang="en-US" sz="1050" dirty="0"/>
          </a:p>
        </p:txBody>
      </p:sp>
      <p:sp>
        <p:nvSpPr>
          <p:cNvPr id="73" name="Text 71"/>
          <p:cNvSpPr/>
          <p:nvPr/>
        </p:nvSpPr>
        <p:spPr>
          <a:xfrm>
            <a:off x="7514356" y="4242816"/>
            <a:ext cx="997391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تحت التنفيذ</a:t>
            </a:r>
            <a:endParaRPr lang="en-US" sz="1050" dirty="0"/>
          </a:p>
        </p:txBody>
      </p:sp>
      <p:sp>
        <p:nvSpPr>
          <p:cNvPr id="74" name="Shape 72"/>
          <p:cNvSpPr/>
          <p:nvPr/>
        </p:nvSpPr>
        <p:spPr>
          <a:xfrm>
            <a:off x="7514356" y="4626864"/>
            <a:ext cx="4080236" cy="384048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9962498" y="4626864"/>
            <a:ext cx="1632094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الريان</a:t>
            </a:r>
            <a:endParaRPr lang="en-US" sz="1050" dirty="0"/>
          </a:p>
        </p:txBody>
      </p:sp>
      <p:sp>
        <p:nvSpPr>
          <p:cNvPr id="76" name="Text 74"/>
          <p:cNvSpPr/>
          <p:nvPr/>
        </p:nvSpPr>
        <p:spPr>
          <a:xfrm>
            <a:off x="9237122" y="4626864"/>
            <a:ext cx="725375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MK057</a:t>
            </a:r>
            <a:endParaRPr lang="en-US" sz="1050" dirty="0"/>
          </a:p>
        </p:txBody>
      </p:sp>
      <p:sp>
        <p:nvSpPr>
          <p:cNvPr id="77" name="Text 75"/>
          <p:cNvSpPr/>
          <p:nvPr/>
        </p:nvSpPr>
        <p:spPr>
          <a:xfrm>
            <a:off x="8511747" y="4626864"/>
            <a:ext cx="725375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٤٣</a:t>
            </a:r>
            <a:endParaRPr lang="en-US" sz="1050" dirty="0"/>
          </a:p>
        </p:txBody>
      </p:sp>
      <p:sp>
        <p:nvSpPr>
          <p:cNvPr id="78" name="Text 76"/>
          <p:cNvSpPr/>
          <p:nvPr/>
        </p:nvSpPr>
        <p:spPr>
          <a:xfrm>
            <a:off x="7514356" y="4626864"/>
            <a:ext cx="997391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تحت التنفيذ</a:t>
            </a:r>
            <a:endParaRPr lang="en-US" sz="1050" dirty="0"/>
          </a:p>
        </p:txBody>
      </p:sp>
      <p:sp>
        <p:nvSpPr>
          <p:cNvPr id="79" name="Shape 77"/>
          <p:cNvSpPr/>
          <p:nvPr/>
        </p:nvSpPr>
        <p:spPr>
          <a:xfrm>
            <a:off x="7514356" y="5010912"/>
            <a:ext cx="4080236" cy="384048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9962498" y="5010912"/>
            <a:ext cx="1632094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مدينة الملك عبد ال</a:t>
            </a:r>
            <a:endParaRPr lang="en-US" sz="1050" dirty="0"/>
          </a:p>
        </p:txBody>
      </p:sp>
      <p:sp>
        <p:nvSpPr>
          <p:cNvPr id="81" name="Text 79"/>
          <p:cNvSpPr/>
          <p:nvPr/>
        </p:nvSpPr>
        <p:spPr>
          <a:xfrm>
            <a:off x="9237122" y="5010912"/>
            <a:ext cx="725375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MK045</a:t>
            </a:r>
            <a:endParaRPr lang="en-US" sz="1050" dirty="0"/>
          </a:p>
        </p:txBody>
      </p:sp>
      <p:sp>
        <p:nvSpPr>
          <p:cNvPr id="82" name="Text 80"/>
          <p:cNvSpPr/>
          <p:nvPr/>
        </p:nvSpPr>
        <p:spPr>
          <a:xfrm>
            <a:off x="8511747" y="5010912"/>
            <a:ext cx="725375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٣٩</a:t>
            </a:r>
            <a:endParaRPr lang="en-US" sz="1050" dirty="0"/>
          </a:p>
        </p:txBody>
      </p:sp>
      <p:sp>
        <p:nvSpPr>
          <p:cNvPr id="83" name="Text 81"/>
          <p:cNvSpPr/>
          <p:nvPr/>
        </p:nvSpPr>
        <p:spPr>
          <a:xfrm>
            <a:off x="7514356" y="5010912"/>
            <a:ext cx="997391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تحت التنفيذ</a:t>
            </a:r>
            <a:endParaRPr lang="en-US" sz="1050" dirty="0"/>
          </a:p>
        </p:txBody>
      </p:sp>
      <p:sp>
        <p:nvSpPr>
          <p:cNvPr id="84" name="Shape 82"/>
          <p:cNvSpPr/>
          <p:nvPr/>
        </p:nvSpPr>
        <p:spPr>
          <a:xfrm>
            <a:off x="566928" y="5486400"/>
            <a:ext cx="11027664" cy="512064"/>
          </a:xfrm>
          <a:prstGeom prst="roundRect">
            <a:avLst>
              <a:gd name="adj" fmla="val 7143"/>
            </a:avLst>
          </a:prstGeom>
          <a:solidFill>
            <a:srgbClr val="55565A"/>
          </a:solidFill>
          <a:ln/>
        </p:spPr>
      </p:sp>
      <p:sp>
        <p:nvSpPr>
          <p:cNvPr id="85" name="Text 83"/>
          <p:cNvSpPr/>
          <p:nvPr/>
        </p:nvSpPr>
        <p:spPr>
          <a:xfrm>
            <a:off x="749808" y="5532120"/>
            <a:ext cx="1066190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الشبكة العاملة إشغالها ٧٩٪ — لا أزمة شغور فيها · الشغور الحقيقي في تحت التنفيذ والامتياز</a:t>
            </a:r>
            <a:endParaRPr lang="en-US" sz="1250" dirty="0"/>
          </a:p>
        </p:txBody>
      </p:sp>
      <p:sp>
        <p:nvSpPr>
          <p:cNvPr id="86" name="Text 84"/>
          <p:cNvSpPr/>
          <p:nvPr/>
        </p:nvSpPr>
        <p:spPr>
          <a:xfrm>
            <a:off x="566928" y="6144768"/>
            <a:ext cx="110276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95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محطة حلي MK036: ٩٢ وحدة وصفر مؤجّر — لا سوق مستأجرين محلياً بهذا الحجم · والسجل بلا قيمة إيجارية</a:t>
            </a:r>
            <a:endParaRPr lang="en-US" sz="9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74320"/>
            <a:ext cx="10113264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باقات التأجير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01132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منتج يُباع — لا حملة تُطلق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133856"/>
            <a:ext cx="1102766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64373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 · الإدارة التجارية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45952" y="6437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20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66928" y="1243584"/>
            <a:ext cx="11027664" cy="36576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9" name="Text 7"/>
          <p:cNvSpPr/>
          <p:nvPr/>
        </p:nvSpPr>
        <p:spPr>
          <a:xfrm>
            <a:off x="9940442" y="1243584"/>
            <a:ext cx="1654150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الباقة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8947953" y="1243584"/>
            <a:ext cx="992490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الحالة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6742420" y="1243584"/>
            <a:ext cx="2205533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لمن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3213567" y="1243584"/>
            <a:ext cx="352885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ما هي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566928" y="1243584"/>
            <a:ext cx="2646639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ما تحتاجه لتُطبَّق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66928" y="1609344"/>
            <a:ext cx="11027664" cy="475488"/>
          </a:xfrm>
          <a:prstGeom prst="rect">
            <a:avLst/>
          </a:prstGeom>
          <a:solidFill>
            <a:srgbClr val="D6E9E1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940442" y="1609344"/>
            <a:ext cx="1654150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نسبة من المبيعات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8947953" y="1609344"/>
            <a:ext cx="992490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قائمة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742420" y="1609344"/>
            <a:ext cx="2205533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المشغّلة — ١٣١ وحدة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3213567" y="1609344"/>
            <a:ext cx="3528852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إيجار أساسي منخفض + نسبة من مبيعات المستأجر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566928" y="1609344"/>
            <a:ext cx="2646639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ربط نقاط بيع المستأجر أو إقرار مُدقَّق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66928" y="2084832"/>
            <a:ext cx="11027664" cy="475488"/>
          </a:xfrm>
          <a:prstGeom prst="rect">
            <a:avLst/>
          </a:prstGeom>
          <a:solidFill>
            <a:srgbClr val="D6E9E1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940442" y="2084832"/>
            <a:ext cx="1654150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التدريج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947953" y="2084832"/>
            <a:ext cx="992490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قائمة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742420" y="2084832"/>
            <a:ext cx="2205533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تحت التنفيذ — ٦٨٩ وحدة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3213567" y="2084832"/>
            <a:ext cx="3528852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سنة أولى مخفّضة ترتفع تدريجياً مع نمو الحركة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566928" y="2084832"/>
            <a:ext cx="2646639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جدول افتتاحات معتمد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566928" y="2560320"/>
            <a:ext cx="11027664" cy="475488"/>
          </a:xfrm>
          <a:prstGeom prst="rect">
            <a:avLst/>
          </a:prstGeom>
          <a:solidFill>
            <a:srgbClr val="D6E9E1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940442" y="2560320"/>
            <a:ext cx="1654150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المسوّق الخارجي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8947953" y="2560320"/>
            <a:ext cx="992490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قائمة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6742420" y="2560320"/>
            <a:ext cx="2205533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الامتياز — ٢٦٩ وحدة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3213567" y="2560320"/>
            <a:ext cx="3528852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عمولة على العقد المُوقَّع لا على العرض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566928" y="2560320"/>
            <a:ext cx="2646639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قائمة وحدات بأسعارها + عقد وساطة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566928" y="3035808"/>
            <a:ext cx="11027664" cy="475488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9940442" y="3035808"/>
            <a:ext cx="1654150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حد أدنى ونسبة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8947953" y="3035808"/>
            <a:ext cx="992490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A8681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مقترحة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6742420" y="3035808"/>
            <a:ext cx="2205533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المشغّلة — بديل النسبة الصافية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3213567" y="3035808"/>
            <a:ext cx="3528852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أرضية ثابتة تمنع تعطيل الوحدة + نسبة فوق حد المبيعات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566928" y="3035808"/>
            <a:ext cx="2646639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قرار تسعير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566928" y="3511296"/>
            <a:ext cx="11027664" cy="475488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9940442" y="3511296"/>
            <a:ext cx="1654150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إيجار مقابل تجهيز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8947953" y="3511296"/>
            <a:ext cx="992490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A8681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مقترحة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6742420" y="3511296"/>
            <a:ext cx="2205533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تحت التنفيذ — أكبر مخزون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3213567" y="3511296"/>
            <a:ext cx="3528852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المستأجر يجهّز ويُخصم من الإيجار على سنتين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566928" y="3511296"/>
            <a:ext cx="2646639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سقف كلفة تجهيز معتمد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566928" y="3986784"/>
            <a:ext cx="11027664" cy="475488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9940442" y="3986784"/>
            <a:ext cx="1654150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ترخيص إشغال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8947953" y="3986784"/>
            <a:ext cx="992490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A8681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مقترحة</a:t>
            </a:r>
            <a:endParaRPr lang="en-US" sz="1100" dirty="0"/>
          </a:p>
        </p:txBody>
      </p:sp>
      <p:sp>
        <p:nvSpPr>
          <p:cNvPr id="47" name="Text 45"/>
          <p:cNvSpPr/>
          <p:nvPr/>
        </p:nvSpPr>
        <p:spPr>
          <a:xfrm>
            <a:off x="6742420" y="3986784"/>
            <a:ext cx="2205533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٥٧٢ محلاً عالقاً</a:t>
            </a:r>
            <a:endParaRPr lang="en-US" sz="1100" dirty="0"/>
          </a:p>
        </p:txBody>
      </p:sp>
      <p:sp>
        <p:nvSpPr>
          <p:cNvPr id="48" name="Text 46"/>
          <p:cNvSpPr/>
          <p:nvPr/>
        </p:nvSpPr>
        <p:spPr>
          <a:xfrm>
            <a:off x="3213567" y="3986784"/>
            <a:ext cx="3528852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رسم شهري لعربة أو صرّاف أو خزانة — لا عقد إيجار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566928" y="3986784"/>
            <a:ext cx="2646639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نموذج ترخيص قابل للإلغاء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566928" y="4462272"/>
            <a:ext cx="11027664" cy="475488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9940442" y="4462272"/>
            <a:ext cx="1654150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المستأجر الرئيسي</a:t>
            </a:r>
            <a:endParaRPr lang="en-US" sz="1100" dirty="0"/>
          </a:p>
        </p:txBody>
      </p:sp>
      <p:sp>
        <p:nvSpPr>
          <p:cNvPr id="52" name="Text 50"/>
          <p:cNvSpPr/>
          <p:nvPr/>
        </p:nvSpPr>
        <p:spPr>
          <a:xfrm>
            <a:off x="8947953" y="4462272"/>
            <a:ext cx="992490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A8681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مقترحة</a:t>
            </a:r>
            <a:endParaRPr lang="en-US" sz="1100" dirty="0"/>
          </a:p>
        </p:txBody>
      </p:sp>
      <p:sp>
        <p:nvSpPr>
          <p:cNvPr id="53" name="Text 51"/>
          <p:cNvSpPr/>
          <p:nvPr/>
        </p:nvSpPr>
        <p:spPr>
          <a:xfrm>
            <a:off x="6742420" y="4462272"/>
            <a:ext cx="2205533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حلي MK036 — ٩٢ وحدة صفر مؤجّر</a:t>
            </a:r>
            <a:endParaRPr lang="en-US" sz="1100" dirty="0"/>
          </a:p>
        </p:txBody>
      </p:sp>
      <p:sp>
        <p:nvSpPr>
          <p:cNvPr id="54" name="Text 52"/>
          <p:cNvSpPr/>
          <p:nvPr/>
        </p:nvSpPr>
        <p:spPr>
          <a:xfrm>
            <a:off x="3213567" y="4462272"/>
            <a:ext cx="3528852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مشغّل واحد يأخذ كل الوحدات ويؤجّر من الباطن</a:t>
            </a:r>
            <a:endParaRPr lang="en-US" sz="1100" dirty="0"/>
          </a:p>
        </p:txBody>
      </p:sp>
      <p:sp>
        <p:nvSpPr>
          <p:cNvPr id="55" name="Text 53"/>
          <p:cNvSpPr/>
          <p:nvPr/>
        </p:nvSpPr>
        <p:spPr>
          <a:xfrm>
            <a:off x="566928" y="4462272"/>
            <a:ext cx="2646639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قرار سعر إجمالي</a:t>
            </a:r>
            <a:endParaRPr lang="en-US" sz="1000" dirty="0"/>
          </a:p>
        </p:txBody>
      </p:sp>
      <p:sp>
        <p:nvSpPr>
          <p:cNvPr id="56" name="Shape 54"/>
          <p:cNvSpPr/>
          <p:nvPr/>
        </p:nvSpPr>
        <p:spPr>
          <a:xfrm>
            <a:off x="566928" y="4937760"/>
            <a:ext cx="11027664" cy="475488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9940442" y="4937760"/>
            <a:ext cx="1654150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الموسمي</a:t>
            </a:r>
            <a:endParaRPr lang="en-US" sz="1100" dirty="0"/>
          </a:p>
        </p:txBody>
      </p:sp>
      <p:sp>
        <p:nvSpPr>
          <p:cNvPr id="58" name="Text 56"/>
          <p:cNvSpPr/>
          <p:nvPr/>
        </p:nvSpPr>
        <p:spPr>
          <a:xfrm>
            <a:off x="8947953" y="4937760"/>
            <a:ext cx="992490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A8681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مقترحة</a:t>
            </a:r>
            <a:endParaRPr lang="en-US" sz="1100" dirty="0"/>
          </a:p>
        </p:txBody>
      </p:sp>
      <p:sp>
        <p:nvSpPr>
          <p:cNvPr id="59" name="Text 57"/>
          <p:cNvSpPr/>
          <p:nvPr/>
        </p:nvSpPr>
        <p:spPr>
          <a:xfrm>
            <a:off x="6742420" y="4937760"/>
            <a:ext cx="2205533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مكة والجموم والطائف — ٢١٤ وحدة</a:t>
            </a:r>
            <a:endParaRPr lang="en-US" sz="1100" dirty="0"/>
          </a:p>
        </p:txBody>
      </p:sp>
      <p:sp>
        <p:nvSpPr>
          <p:cNvPr id="60" name="Text 58"/>
          <p:cNvSpPr/>
          <p:nvPr/>
        </p:nvSpPr>
        <p:spPr>
          <a:xfrm>
            <a:off x="3213567" y="4937760"/>
            <a:ext cx="3528852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عقد شهرين بسعر مرتفع لموسم الحج والعمرة</a:t>
            </a:r>
            <a:endParaRPr lang="en-US" sz="1100" dirty="0"/>
          </a:p>
        </p:txBody>
      </p:sp>
      <p:sp>
        <p:nvSpPr>
          <p:cNvPr id="61" name="Text 59"/>
          <p:cNvSpPr/>
          <p:nvPr/>
        </p:nvSpPr>
        <p:spPr>
          <a:xfrm>
            <a:off x="566928" y="4937760"/>
            <a:ext cx="2646639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نموذج عقد قصير</a:t>
            </a:r>
            <a:endParaRPr lang="en-US" sz="1000" dirty="0"/>
          </a:p>
        </p:txBody>
      </p:sp>
      <p:sp>
        <p:nvSpPr>
          <p:cNvPr id="62" name="Shape 60"/>
          <p:cNvSpPr/>
          <p:nvPr/>
        </p:nvSpPr>
        <p:spPr>
          <a:xfrm>
            <a:off x="566928" y="5440680"/>
            <a:ext cx="11027664" cy="512064"/>
          </a:xfrm>
          <a:prstGeom prst="roundRect">
            <a:avLst>
              <a:gd name="adj" fmla="val 7143"/>
            </a:avLst>
          </a:prstGeom>
          <a:solidFill>
            <a:srgbClr val="55565A"/>
          </a:solidFill>
          <a:ln/>
        </p:spPr>
      </p:sp>
      <p:sp>
        <p:nvSpPr>
          <p:cNvPr id="63" name="Text 61"/>
          <p:cNvSpPr/>
          <p:nvPr/>
        </p:nvSpPr>
        <p:spPr>
          <a:xfrm>
            <a:off x="749808" y="5486400"/>
            <a:ext cx="1066190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الأخضر ثلاث باقات قائمة اليوم · والباقي مقترح يحتاج قرار تسعير أو نموذج عقد — لا موارد جديدة</a:t>
            </a:r>
            <a:endParaRPr lang="en-US" sz="1250" dirty="0"/>
          </a:p>
        </p:txBody>
      </p:sp>
      <p:sp>
        <p:nvSpPr>
          <p:cNvPr id="64" name="Text 62"/>
          <p:cNvSpPr/>
          <p:nvPr/>
        </p:nvSpPr>
        <p:spPr>
          <a:xfrm>
            <a:off x="566928" y="6144768"/>
            <a:ext cx="110276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95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جدول الإيجارات الحالية والمستهدفة لكل نوع وحدة ومدينة شرط لتسعير أي باقة</a:t>
            </a:r>
            <a:endParaRPr lang="en-US" sz="9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74320"/>
            <a:ext cx="10113264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التطبيق — قناة الأفراد ومحطات الأحياء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01132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يبدأ أول ديسمبر ٢٠٢٦ في محطات مكة · محفظة وبرنامج ولاء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133856"/>
            <a:ext cx="1102766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64373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 · الإدارة التجارية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45952" y="6437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21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8961120" y="1243584"/>
            <a:ext cx="2633472" cy="1371600"/>
          </a:xfrm>
          <a:prstGeom prst="roundRect">
            <a:avLst>
              <a:gd name="adj" fmla="val 3333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961120" y="1243584"/>
            <a:ext cx="2633472" cy="4572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10" name="Text 8"/>
          <p:cNvSpPr/>
          <p:nvPr/>
        </p:nvSpPr>
        <p:spPr>
          <a:xfrm>
            <a:off x="9034272" y="1389888"/>
            <a:ext cx="24871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٢١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9052560" y="1975104"/>
            <a:ext cx="24505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محطة في مكة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9052560" y="2249424"/>
            <a:ext cx="2450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قاعدة الإطلاق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6163056" y="1243584"/>
            <a:ext cx="2633472" cy="1371600"/>
          </a:xfrm>
          <a:prstGeom prst="roundRect">
            <a:avLst>
              <a:gd name="adj" fmla="val 3333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163056" y="1243584"/>
            <a:ext cx="2633472" cy="4572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15" name="Text 13"/>
          <p:cNvSpPr/>
          <p:nvPr/>
        </p:nvSpPr>
        <p:spPr>
          <a:xfrm>
            <a:off x="6236208" y="1389888"/>
            <a:ext cx="24871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٢٥٦٫٥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6254496" y="1975104"/>
            <a:ext cx="24505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MLPA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254496" y="2249424"/>
            <a:ext cx="2450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٤٧٪ من حجم الشبكة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3364992" y="1243584"/>
            <a:ext cx="2633472" cy="1371600"/>
          </a:xfrm>
          <a:prstGeom prst="roundRect">
            <a:avLst>
              <a:gd name="adj" fmla="val 3333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364992" y="1243584"/>
            <a:ext cx="2633472" cy="4572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20" name="Text 18"/>
          <p:cNvSpPr/>
          <p:nvPr/>
        </p:nvSpPr>
        <p:spPr>
          <a:xfrm>
            <a:off x="3438144" y="1389888"/>
            <a:ext cx="24871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١٠٫٠</a:t>
            </a:r>
            <a:endParaRPr lang="en-US" sz="2800" dirty="0"/>
          </a:p>
        </p:txBody>
      </p:sp>
      <p:sp>
        <p:nvSpPr>
          <p:cNvPr id="21" name="Text 19"/>
          <p:cNvSpPr/>
          <p:nvPr/>
        </p:nvSpPr>
        <p:spPr>
          <a:xfrm>
            <a:off x="3456432" y="1975104"/>
            <a:ext cx="24505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مليون معاملة سنوياً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3456432" y="2249424"/>
            <a:ext cx="2450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٢٧٬٣٧٠ يومياً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66928" y="1243584"/>
            <a:ext cx="2633472" cy="1371600"/>
          </a:xfrm>
          <a:prstGeom prst="roundRect">
            <a:avLst>
              <a:gd name="adj" fmla="val 3333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66928" y="1243584"/>
            <a:ext cx="2633472" cy="45720"/>
          </a:xfrm>
          <a:prstGeom prst="rect">
            <a:avLst/>
          </a:prstGeom>
          <a:solidFill>
            <a:srgbClr val="2E8B6F"/>
          </a:solidFill>
          <a:ln/>
        </p:spPr>
      </p:sp>
      <p:sp>
        <p:nvSpPr>
          <p:cNvPr id="25" name="Text 23"/>
          <p:cNvSpPr/>
          <p:nvPr/>
        </p:nvSpPr>
        <p:spPr>
          <a:xfrm>
            <a:off x="640080" y="1389888"/>
            <a:ext cx="24871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E8B6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١٫٨٤</a:t>
            </a:r>
            <a:endParaRPr lang="en-US" sz="2800" dirty="0"/>
          </a:p>
        </p:txBody>
      </p:sp>
      <p:sp>
        <p:nvSpPr>
          <p:cNvPr id="26" name="Text 24"/>
          <p:cNvSpPr/>
          <p:nvPr/>
        </p:nvSpPr>
        <p:spPr>
          <a:xfrm>
            <a:off x="658368" y="1975104"/>
            <a:ext cx="24505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ريال صافي المعاملة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658368" y="2249424"/>
            <a:ext cx="2450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سقف ما يحتمله الولاء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566928" y="2798064"/>
            <a:ext cx="110276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الأداتان — اقتصادهما متعاكس</a:t>
            </a:r>
            <a:endParaRPr lang="en-US" sz="1350" dirty="0"/>
          </a:p>
        </p:txBody>
      </p:sp>
      <p:sp>
        <p:nvSpPr>
          <p:cNvPr id="29" name="Shape 27"/>
          <p:cNvSpPr/>
          <p:nvPr/>
        </p:nvSpPr>
        <p:spPr>
          <a:xfrm>
            <a:off x="6190488" y="3108960"/>
            <a:ext cx="5404104" cy="1920240"/>
          </a:xfrm>
          <a:prstGeom prst="roundRect">
            <a:avLst>
              <a:gd name="adj" fmla="val 2381"/>
            </a:avLst>
          </a:prstGeom>
          <a:solidFill>
            <a:srgbClr val="FFFFFF"/>
          </a:solidFill>
          <a:ln w="17780">
            <a:solidFill>
              <a:srgbClr val="2E8B6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190488" y="3108960"/>
            <a:ext cx="5404104" cy="457200"/>
          </a:xfrm>
          <a:prstGeom prst="rect">
            <a:avLst/>
          </a:prstGeom>
          <a:solidFill>
            <a:srgbClr val="2E8B6F"/>
          </a:solidFill>
          <a:ln/>
        </p:spPr>
      </p:sp>
      <p:sp>
        <p:nvSpPr>
          <p:cNvPr id="31" name="Text 29"/>
          <p:cNvSpPr/>
          <p:nvPr/>
        </p:nvSpPr>
        <p:spPr>
          <a:xfrm>
            <a:off x="9582912" y="3163824"/>
            <a:ext cx="190195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المحفظة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6300216" y="3172968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تكسب لنا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9674352" y="3675888"/>
            <a:ext cx="18105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وفر رسوم البطاقة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6300216" y="3694176"/>
            <a:ext cx="33009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٢٤٦ إلى ٦١٥ ألف ريال لو تحوّل ٢٠٪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9674352" y="4114800"/>
            <a:ext cx="18105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عائم نقدي</a:t>
            </a:r>
            <a:endParaRPr lang="en-US" sz="1150" dirty="0"/>
          </a:p>
        </p:txBody>
      </p:sp>
      <p:sp>
        <p:nvSpPr>
          <p:cNvPr id="36" name="Text 34"/>
          <p:cNvSpPr/>
          <p:nvPr/>
        </p:nvSpPr>
        <p:spPr>
          <a:xfrm>
            <a:off x="6300216" y="4133088"/>
            <a:ext cx="33009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رصيد مدفوع مقدماً — وتكلفة تحوّل للمنافس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9674352" y="4553712"/>
            <a:ext cx="18105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هوية ١٠٠٪</a:t>
            </a:r>
            <a:endParaRPr lang="en-US" sz="1150" dirty="0"/>
          </a:p>
        </p:txBody>
      </p:sp>
      <p:sp>
        <p:nvSpPr>
          <p:cNvPr id="38" name="Text 36"/>
          <p:cNvSpPr/>
          <p:nvPr/>
        </p:nvSpPr>
        <p:spPr>
          <a:xfrm>
            <a:off x="6300216" y="4572000"/>
            <a:ext cx="33009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كل معاملة محفظة معروفة الصاحب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566928" y="3108960"/>
            <a:ext cx="5404104" cy="1920240"/>
          </a:xfrm>
          <a:prstGeom prst="roundRect">
            <a:avLst>
              <a:gd name="adj" fmla="val 2381"/>
            </a:avLst>
          </a:prstGeom>
          <a:solidFill>
            <a:srgbClr val="FFFFFF"/>
          </a:solidFill>
          <a:ln w="17780">
            <a:solidFill>
              <a:srgbClr val="C0503A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566928" y="3108960"/>
            <a:ext cx="5404104" cy="457200"/>
          </a:xfrm>
          <a:prstGeom prst="rect">
            <a:avLst/>
          </a:prstGeom>
          <a:solidFill>
            <a:srgbClr val="C0503A"/>
          </a:solidFill>
          <a:ln/>
        </p:spPr>
      </p:sp>
      <p:sp>
        <p:nvSpPr>
          <p:cNvPr id="41" name="Text 39"/>
          <p:cNvSpPr/>
          <p:nvPr/>
        </p:nvSpPr>
        <p:spPr>
          <a:xfrm>
            <a:off x="3959352" y="3163824"/>
            <a:ext cx="190195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برنامج الولاء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676656" y="3172968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يكلّفنا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4050792" y="3675888"/>
            <a:ext cx="18105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استرداد ٠٫٥٪</a:t>
            </a:r>
            <a:endParaRPr lang="en-US" sz="1150" dirty="0"/>
          </a:p>
        </p:txBody>
      </p:sp>
      <p:sp>
        <p:nvSpPr>
          <p:cNvPr id="44" name="Text 42"/>
          <p:cNvSpPr/>
          <p:nvPr/>
        </p:nvSpPr>
        <p:spPr>
          <a:xfrm>
            <a:off x="676656" y="3694176"/>
            <a:ext cx="33009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٠٫٢٨ ر = ١٥٪ من صافي المعاملة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4050792" y="4114800"/>
            <a:ext cx="18105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استرداد ١٪</a:t>
            </a:r>
            <a:endParaRPr lang="en-US" sz="1150" dirty="0"/>
          </a:p>
        </p:txBody>
      </p:sp>
      <p:sp>
        <p:nvSpPr>
          <p:cNvPr id="46" name="Text 44"/>
          <p:cNvSpPr/>
          <p:nvPr/>
        </p:nvSpPr>
        <p:spPr>
          <a:xfrm>
            <a:off x="676656" y="4133088"/>
            <a:ext cx="33009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٠٫٥٦ ر = ٣٠٪ من الصافي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4050792" y="4553712"/>
            <a:ext cx="18105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استرداد ٢٪</a:t>
            </a:r>
            <a:endParaRPr lang="en-US" sz="1150" dirty="0"/>
          </a:p>
        </p:txBody>
      </p:sp>
      <p:sp>
        <p:nvSpPr>
          <p:cNvPr id="48" name="Text 46"/>
          <p:cNvSpPr/>
          <p:nvPr/>
        </p:nvSpPr>
        <p:spPr>
          <a:xfrm>
            <a:off x="676656" y="4572000"/>
            <a:ext cx="33009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١٫١٢ ر = ٦١٪ من الصافي — مرفوض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566928" y="5193792"/>
            <a:ext cx="11027664" cy="512064"/>
          </a:xfrm>
          <a:prstGeom prst="roundRect">
            <a:avLst>
              <a:gd name="adj" fmla="val 7143"/>
            </a:avLst>
          </a:prstGeom>
          <a:solidFill>
            <a:srgbClr val="F5831F"/>
          </a:solidFill>
          <a:ln/>
        </p:spPr>
      </p:sp>
      <p:sp>
        <p:nvSpPr>
          <p:cNvPr id="50" name="Text 48"/>
          <p:cNvSpPr/>
          <p:nvPr/>
        </p:nvSpPr>
        <p:spPr>
          <a:xfrm>
            <a:off x="749808" y="5239512"/>
            <a:ext cx="1066190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مبدأ التصميم: الاسترداد يُموَّل من وفر رسوم البطاقة لا من هامش الوقود — عند ٠٫٥٪ يكاد يغطّي نفسه</a:t>
            </a:r>
            <a:endParaRPr lang="en-US" sz="1250" dirty="0"/>
          </a:p>
        </p:txBody>
      </p:sp>
      <p:sp>
        <p:nvSpPr>
          <p:cNvPr id="51" name="Text 49"/>
          <p:cNvSpPr/>
          <p:nvPr/>
        </p:nvSpPr>
        <p:spPr>
          <a:xfrm>
            <a:off x="566928" y="6144768"/>
            <a:ext cx="110276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95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رسوم البطاقة الفعلية تحتاج تأكيد المالية — هي التي تحدد سقف الاسترداد</a:t>
            </a:r>
            <a:endParaRPr lang="en-US" sz="9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74320"/>
            <a:ext cx="10113264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التطبيق — أربع قواعد قبل الإطلاق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01132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تُثبَّت الآن، لا بعد ديسمبر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133856"/>
            <a:ext cx="1102766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64373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 · الإدارة التجارية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45952" y="6437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22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6181344" y="1243584"/>
            <a:ext cx="5413248" cy="2084832"/>
          </a:xfrm>
          <a:prstGeom prst="roundRect">
            <a:avLst>
              <a:gd name="adj" fmla="val 2193"/>
            </a:avLst>
          </a:prstGeom>
          <a:solidFill>
            <a:srgbClr val="F7F4EF"/>
          </a:solidFill>
          <a:ln w="16510">
            <a:solidFill>
              <a:srgbClr val="F5831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027664" y="1389888"/>
            <a:ext cx="402336" cy="402336"/>
          </a:xfrm>
          <a:prstGeom prst="ellipse">
            <a:avLst/>
          </a:prstGeom>
          <a:solidFill>
            <a:srgbClr val="F5831F"/>
          </a:solidFill>
          <a:ln/>
        </p:spPr>
      </p:sp>
      <p:sp>
        <p:nvSpPr>
          <p:cNvPr id="10" name="Text 8"/>
          <p:cNvSpPr/>
          <p:nvPr/>
        </p:nvSpPr>
        <p:spPr>
          <a:xfrm>
            <a:off x="11027664" y="1426464"/>
            <a:ext cx="4023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1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309360" y="1408176"/>
            <a:ext cx="462686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كافئ التردد لا الإنفاق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309360" y="1810512"/>
            <a:ext cx="5157216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الاسترداد على الفاتورة يدفع ثمن حجم كان سيأتي بلا مكافأة. المكافأة على الزيارة السادسة في الشهر تدفع ثمن الزيارة الإضافية وحدها.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309360" y="2852928"/>
            <a:ext cx="5157216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14" name="Text 12"/>
          <p:cNvSpPr/>
          <p:nvPr/>
        </p:nvSpPr>
        <p:spPr>
          <a:xfrm>
            <a:off x="6309360" y="2926080"/>
            <a:ext cx="515721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سقفها ١٫٨٤ ريال — صافي المعاملة في مكة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66928" y="1243584"/>
            <a:ext cx="5413248" cy="2084832"/>
          </a:xfrm>
          <a:prstGeom prst="roundRect">
            <a:avLst>
              <a:gd name="adj" fmla="val 2193"/>
            </a:avLst>
          </a:prstGeom>
          <a:solidFill>
            <a:srgbClr val="F7F4EF"/>
          </a:solidFill>
          <a:ln w="16510">
            <a:solidFill>
              <a:srgbClr val="2E8B6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413248" y="1389888"/>
            <a:ext cx="402336" cy="402336"/>
          </a:xfrm>
          <a:prstGeom prst="ellipse">
            <a:avLst/>
          </a:prstGeom>
          <a:solidFill>
            <a:srgbClr val="2E8B6F"/>
          </a:solidFill>
          <a:ln/>
        </p:spPr>
      </p:sp>
      <p:sp>
        <p:nvSpPr>
          <p:cNvPr id="17" name="Text 15"/>
          <p:cNvSpPr/>
          <p:nvPr/>
        </p:nvSpPr>
        <p:spPr>
          <a:xfrm>
            <a:off x="5413248" y="1426464"/>
            <a:ext cx="4023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2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94944" y="1408176"/>
            <a:ext cx="462686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المحفظة تموّل الولاء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694944" y="1810512"/>
            <a:ext cx="5157216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وفر رسوم البطاقة ٢٤٦ إلى ٦١٥ ألف ريال عند تحوّل ٢٠٪. الاسترداد ٠٫٥٪ على الحجم المتحوّل يكلّف ٣٠٧ ألفاً — فيغطّي نفسه تقريباً.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694944" y="2852928"/>
            <a:ext cx="5157216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21" name="Text 19"/>
          <p:cNvSpPr/>
          <p:nvPr/>
        </p:nvSpPr>
        <p:spPr>
          <a:xfrm>
            <a:off x="694944" y="2926080"/>
            <a:ext cx="515721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2E8B6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الشرط: رسوم البطاقة ٠٫٥٪ فأعلى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181344" y="3529584"/>
            <a:ext cx="5413248" cy="2084832"/>
          </a:xfrm>
          <a:prstGeom prst="roundRect">
            <a:avLst>
              <a:gd name="adj" fmla="val 2193"/>
            </a:avLst>
          </a:prstGeom>
          <a:solidFill>
            <a:srgbClr val="F7F4EF"/>
          </a:solidFill>
          <a:ln w="16510">
            <a:solidFill>
              <a:srgbClr val="3E6E8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027664" y="3675888"/>
            <a:ext cx="402336" cy="402336"/>
          </a:xfrm>
          <a:prstGeom prst="ellipse">
            <a:avLst/>
          </a:prstGeom>
          <a:solidFill>
            <a:srgbClr val="3E6E8E"/>
          </a:solidFill>
          <a:ln/>
        </p:spPr>
      </p:sp>
      <p:sp>
        <p:nvSpPr>
          <p:cNvPr id="24" name="Text 22"/>
          <p:cNvSpPr/>
          <p:nvPr/>
        </p:nvSpPr>
        <p:spPr>
          <a:xfrm>
            <a:off x="11027664" y="3712464"/>
            <a:ext cx="4023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3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6309360" y="3694176"/>
            <a:ext cx="462686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الهوية أولاً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6309360" y="4096512"/>
            <a:ext cx="5157216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٣٦٪ من الإيراد بلا هوية عميل. كل معاملة محفظة تُغلق هذه الفجوة عند مصدرها — وهذا أثمن ما في التطبيق.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6309360" y="5138928"/>
            <a:ext cx="5157216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28" name="Text 26"/>
          <p:cNvSpPr/>
          <p:nvPr/>
        </p:nvSpPr>
        <p:spPr>
          <a:xfrm>
            <a:off x="6309360" y="5212080"/>
            <a:ext cx="515721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3E6E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المؤشر الأول: نسبة المعاملات المعرَّفة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566928" y="3529584"/>
            <a:ext cx="5413248" cy="2084832"/>
          </a:xfrm>
          <a:prstGeom prst="roundRect">
            <a:avLst>
              <a:gd name="adj" fmla="val 2193"/>
            </a:avLst>
          </a:prstGeom>
          <a:solidFill>
            <a:srgbClr val="F7F4EF"/>
          </a:solidFill>
          <a:ln w="16510">
            <a:solidFill>
              <a:srgbClr val="55565A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413248" y="3675888"/>
            <a:ext cx="402336" cy="402336"/>
          </a:xfrm>
          <a:prstGeom prst="ellipse">
            <a:avLst/>
          </a:prstGeom>
          <a:solidFill>
            <a:srgbClr val="55565A"/>
          </a:solidFill>
          <a:ln/>
        </p:spPr>
      </p:sp>
      <p:sp>
        <p:nvSpPr>
          <p:cNvPr id="31" name="Text 29"/>
          <p:cNvSpPr/>
          <p:nvPr/>
        </p:nvSpPr>
        <p:spPr>
          <a:xfrm>
            <a:off x="5413248" y="3712464"/>
            <a:ext cx="4023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4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694944" y="3694176"/>
            <a:ext cx="462686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اربطه بالحملات لا بجانبه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694944" y="4096512"/>
            <a:ext cx="5157216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علبة المناديل بلا التطبيق تُوزَّع على من كان سيتجاوز العتبة أصلاً. مع التطبيق تُستهدف لمن تعبئته دون معدّله هو.</a:t>
            </a:r>
            <a:endParaRPr lang="en-US" sz="1150" dirty="0"/>
          </a:p>
        </p:txBody>
      </p:sp>
      <p:sp>
        <p:nvSpPr>
          <p:cNvPr id="34" name="Shape 32"/>
          <p:cNvSpPr/>
          <p:nvPr/>
        </p:nvSpPr>
        <p:spPr>
          <a:xfrm>
            <a:off x="694944" y="5138928"/>
            <a:ext cx="5157216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35" name="Text 33"/>
          <p:cNvSpPr/>
          <p:nvPr/>
        </p:nvSpPr>
        <p:spPr>
          <a:xfrm>
            <a:off x="694944" y="5212080"/>
            <a:ext cx="515721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ومكافأة المستأجر تُوصَّل بكلفة صفر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566928" y="5852160"/>
            <a:ext cx="11027664" cy="512064"/>
          </a:xfrm>
          <a:prstGeom prst="roundRect">
            <a:avLst>
              <a:gd name="adj" fmla="val 7143"/>
            </a:avLst>
          </a:prstGeom>
          <a:solidFill>
            <a:srgbClr val="55565A"/>
          </a:solidFill>
          <a:ln/>
        </p:spPr>
      </p:sp>
      <p:sp>
        <p:nvSpPr>
          <p:cNvPr id="37" name="Text 35"/>
          <p:cNvSpPr/>
          <p:nvPr/>
        </p:nvSpPr>
        <p:spPr>
          <a:xfrm>
            <a:off x="749808" y="5897880"/>
            <a:ext cx="1066190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مكة قاعدة إطلاق لا تجربة: ٢١ محطة و٤٧٪ من حجم الشبكة — فما يُثبَّت هنا يُعمَّم لا يُراجَع</a:t>
            </a:r>
            <a:endParaRPr lang="en-US" sz="12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74320"/>
            <a:ext cx="10113264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هدية علبة المناديل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01132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٦٢ هللة للعلبة · عند تعبئة بخمسين ريالاً فأكثر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133856"/>
            <a:ext cx="1102766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64373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 · الإدارة التجارية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45952" y="6437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23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8961120" y="1243584"/>
            <a:ext cx="2633472" cy="1371600"/>
          </a:xfrm>
          <a:prstGeom prst="roundRect">
            <a:avLst>
              <a:gd name="adj" fmla="val 3333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961120" y="1243584"/>
            <a:ext cx="2633472" cy="4572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10" name="Text 8"/>
          <p:cNvSpPr/>
          <p:nvPr/>
        </p:nvSpPr>
        <p:spPr>
          <a:xfrm>
            <a:off x="9034272" y="1389888"/>
            <a:ext cx="24871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٦٢ هللة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9052560" y="1975104"/>
            <a:ext cx="24505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كلفة العلبة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9052560" y="2249424"/>
            <a:ext cx="2450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مؤكَّدة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6163056" y="1243584"/>
            <a:ext cx="2633472" cy="1371600"/>
          </a:xfrm>
          <a:prstGeom prst="roundRect">
            <a:avLst>
              <a:gd name="adj" fmla="val 3333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163056" y="1243584"/>
            <a:ext cx="2633472" cy="4572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15" name="Text 13"/>
          <p:cNvSpPr/>
          <p:nvPr/>
        </p:nvSpPr>
        <p:spPr>
          <a:xfrm>
            <a:off x="6236208" y="1389888"/>
            <a:ext cx="24871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٥٠ ريالاً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6254496" y="1975104"/>
            <a:ext cx="24505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العتبة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254496" y="2249424"/>
            <a:ext cx="2450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قرار الإدارة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3364992" y="1243584"/>
            <a:ext cx="2633472" cy="1371600"/>
          </a:xfrm>
          <a:prstGeom prst="roundRect">
            <a:avLst>
              <a:gd name="adj" fmla="val 3333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364992" y="1243584"/>
            <a:ext cx="2633472" cy="45720"/>
          </a:xfrm>
          <a:prstGeom prst="rect">
            <a:avLst/>
          </a:prstGeom>
          <a:solidFill>
            <a:srgbClr val="C0503A"/>
          </a:solidFill>
          <a:ln/>
        </p:spPr>
      </p:sp>
      <p:sp>
        <p:nvSpPr>
          <p:cNvPr id="20" name="Text 18"/>
          <p:cNvSpPr/>
          <p:nvPr/>
        </p:nvSpPr>
        <p:spPr>
          <a:xfrm>
            <a:off x="3438144" y="1389888"/>
            <a:ext cx="24871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C0503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٤٤٪</a:t>
            </a:r>
            <a:endParaRPr lang="en-US" sz="2800" dirty="0"/>
          </a:p>
        </p:txBody>
      </p:sp>
      <p:sp>
        <p:nvSpPr>
          <p:cNvPr id="21" name="Text 19"/>
          <p:cNvSpPr/>
          <p:nvPr/>
        </p:nvSpPr>
        <p:spPr>
          <a:xfrm>
            <a:off x="3456432" y="1975104"/>
            <a:ext cx="24505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من صافي التعبئة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3456432" y="2249424"/>
            <a:ext cx="2450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كانت ٣٢٪ عند ٤٥ هللة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66928" y="1243584"/>
            <a:ext cx="2633472" cy="1371600"/>
          </a:xfrm>
          <a:prstGeom prst="roundRect">
            <a:avLst>
              <a:gd name="adj" fmla="val 3333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66928" y="1243584"/>
            <a:ext cx="2633472" cy="45720"/>
          </a:xfrm>
          <a:prstGeom prst="rect">
            <a:avLst/>
          </a:prstGeom>
          <a:solidFill>
            <a:srgbClr val="C0503A"/>
          </a:solidFill>
          <a:ln/>
        </p:spPr>
      </p:sp>
      <p:sp>
        <p:nvSpPr>
          <p:cNvPr id="25" name="Text 23"/>
          <p:cNvSpPr/>
          <p:nvPr/>
        </p:nvSpPr>
        <p:spPr>
          <a:xfrm>
            <a:off x="640080" y="1389888"/>
            <a:ext cx="24871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C0503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١٠٫٠ لتر</a:t>
            </a:r>
            <a:endParaRPr lang="en-US" sz="2800" dirty="0"/>
          </a:p>
        </p:txBody>
      </p:sp>
      <p:sp>
        <p:nvSpPr>
          <p:cNvPr id="26" name="Text 24"/>
          <p:cNvSpPr/>
          <p:nvPr/>
        </p:nvSpPr>
        <p:spPr>
          <a:xfrm>
            <a:off x="658368" y="1975104"/>
            <a:ext cx="24505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تعادل الهدية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658368" y="2249424"/>
            <a:ext cx="2450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٢١٫٩ ريالاً إضافية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6190488" y="2798064"/>
            <a:ext cx="5404104" cy="1371600"/>
          </a:xfrm>
          <a:prstGeom prst="roundRect">
            <a:avLst>
              <a:gd name="adj" fmla="val 3333"/>
            </a:avLst>
          </a:prstGeom>
          <a:solidFill>
            <a:srgbClr val="F2DAD4"/>
          </a:solidFill>
          <a:ln w="15240">
            <a:solidFill>
              <a:srgbClr val="C0503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336792" y="2898648"/>
            <a:ext cx="511149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المشكلة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336792" y="3218688"/>
            <a:ext cx="5111496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متوسط فاتورتنا ٥٧٫١٨ ريالاً — فوق العتبة. العلبة تذهب لمن كان سيتجاوزها بلا حملة، وتأكل ٤٤٪ من صافي تعبئته.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566928" y="2798064"/>
            <a:ext cx="5404104" cy="1371600"/>
          </a:xfrm>
          <a:prstGeom prst="roundRect">
            <a:avLst>
              <a:gd name="adj" fmla="val 3333"/>
            </a:avLst>
          </a:prstGeom>
          <a:solidFill>
            <a:srgbClr val="D6E9E1"/>
          </a:solidFill>
          <a:ln w="15240">
            <a:solidFill>
              <a:srgbClr val="2E8B6F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13232" y="2898648"/>
            <a:ext cx="511149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الحل — من منتجنا الخامس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713232" y="3218688"/>
            <a:ext cx="5111496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العلبة مساحة إعلانية. بريال للوجه عند ١٠٪ من المعاملات: دخل ١٥٦٬٥١٨ مقابل كلفة ٩٧٬٠٤١ شهرياً = صافي ٧١٤ ألف ريال سنوياً. ودون ٠٫٦٢ ريال للوجه تصير الهدية كلفة صافية.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566928" y="4352544"/>
            <a:ext cx="110276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شروط الإطلاق</a:t>
            </a:r>
            <a:endParaRPr lang="en-US" sz="1350" dirty="0"/>
          </a:p>
        </p:txBody>
      </p:sp>
      <p:sp>
        <p:nvSpPr>
          <p:cNvPr id="35" name="Shape 33"/>
          <p:cNvSpPr/>
          <p:nvPr/>
        </p:nvSpPr>
        <p:spPr>
          <a:xfrm>
            <a:off x="8961120" y="4663440"/>
            <a:ext cx="2633472" cy="960120"/>
          </a:xfrm>
          <a:prstGeom prst="roundRect">
            <a:avLst>
              <a:gd name="adj" fmla="val 3810"/>
            </a:avLst>
          </a:prstGeom>
          <a:solidFill>
            <a:srgbClr val="F7F4EF"/>
          </a:solidFill>
          <a:ln w="12700">
            <a:solidFill>
              <a:srgbClr val="F5831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8961120" y="4663440"/>
            <a:ext cx="2633472" cy="4572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7" name="Text 35"/>
          <p:cNvSpPr/>
          <p:nvPr/>
        </p:nvSpPr>
        <p:spPr>
          <a:xfrm>
            <a:off x="9052560" y="4773168"/>
            <a:ext cx="24505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مشروطة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9052560" y="5084064"/>
            <a:ext cx="24505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٣٤ محطة دون المتوقَّع فقط — لا الشبكة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6163056" y="4663440"/>
            <a:ext cx="2633472" cy="960120"/>
          </a:xfrm>
          <a:prstGeom prst="roundRect">
            <a:avLst>
              <a:gd name="adj" fmla="val 3810"/>
            </a:avLst>
          </a:prstGeom>
          <a:solidFill>
            <a:srgbClr val="F7F4EF"/>
          </a:solidFill>
          <a:ln w="12700">
            <a:solidFill>
              <a:srgbClr val="F5831F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6163056" y="4663440"/>
            <a:ext cx="2633472" cy="4572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41" name="Text 39"/>
          <p:cNvSpPr/>
          <p:nvPr/>
        </p:nvSpPr>
        <p:spPr>
          <a:xfrm>
            <a:off x="6254496" y="4773168"/>
            <a:ext cx="24505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مسقوفة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6254496" y="5084064"/>
            <a:ext cx="24505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عدد يومي محدد لكل محطة</a:t>
            </a:r>
            <a:endParaRPr lang="en-US" sz="1050" dirty="0"/>
          </a:p>
        </p:txBody>
      </p:sp>
      <p:sp>
        <p:nvSpPr>
          <p:cNvPr id="43" name="Shape 41"/>
          <p:cNvSpPr/>
          <p:nvPr/>
        </p:nvSpPr>
        <p:spPr>
          <a:xfrm>
            <a:off x="3364992" y="4663440"/>
            <a:ext cx="2633472" cy="960120"/>
          </a:xfrm>
          <a:prstGeom prst="roundRect">
            <a:avLst>
              <a:gd name="adj" fmla="val 3810"/>
            </a:avLst>
          </a:prstGeom>
          <a:solidFill>
            <a:srgbClr val="F7F4EF"/>
          </a:solidFill>
          <a:ln w="12700">
            <a:solidFill>
              <a:srgbClr val="F5831F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3364992" y="4663440"/>
            <a:ext cx="2633472" cy="4572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45" name="Text 43"/>
          <p:cNvSpPr/>
          <p:nvPr/>
        </p:nvSpPr>
        <p:spPr>
          <a:xfrm>
            <a:off x="3456432" y="4773168"/>
            <a:ext cx="24505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ممولة</a:t>
            </a:r>
            <a:endParaRPr lang="en-US" sz="1400" dirty="0"/>
          </a:p>
        </p:txBody>
      </p:sp>
      <p:sp>
        <p:nvSpPr>
          <p:cNvPr id="46" name="Text 44"/>
          <p:cNvSpPr/>
          <p:nvPr/>
        </p:nvSpPr>
        <p:spPr>
          <a:xfrm>
            <a:off x="3456432" y="5084064"/>
            <a:ext cx="24505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وجه العلبة مبيع لمعلن قبل الطباعة</a:t>
            </a:r>
            <a:endParaRPr lang="en-US" sz="1050" dirty="0"/>
          </a:p>
        </p:txBody>
      </p:sp>
      <p:sp>
        <p:nvSpPr>
          <p:cNvPr id="47" name="Shape 45"/>
          <p:cNvSpPr/>
          <p:nvPr/>
        </p:nvSpPr>
        <p:spPr>
          <a:xfrm>
            <a:off x="566928" y="4663440"/>
            <a:ext cx="2633472" cy="960120"/>
          </a:xfrm>
          <a:prstGeom prst="roundRect">
            <a:avLst>
              <a:gd name="adj" fmla="val 3810"/>
            </a:avLst>
          </a:prstGeom>
          <a:solidFill>
            <a:srgbClr val="F7F4EF"/>
          </a:solidFill>
          <a:ln w="12700">
            <a:solidFill>
              <a:srgbClr val="F5831F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566928" y="4663440"/>
            <a:ext cx="2633472" cy="4572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49" name="Text 47"/>
          <p:cNvSpPr/>
          <p:nvPr/>
        </p:nvSpPr>
        <p:spPr>
          <a:xfrm>
            <a:off x="658368" y="4773168"/>
            <a:ext cx="24505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مقيسة</a:t>
            </a:r>
            <a:endParaRPr lang="en-US" sz="1400" dirty="0"/>
          </a:p>
        </p:txBody>
      </p:sp>
      <p:sp>
        <p:nvSpPr>
          <p:cNvPr id="50" name="Text 48"/>
          <p:cNvSpPr/>
          <p:nvPr/>
        </p:nvSpPr>
        <p:spPr>
          <a:xfrm>
            <a:off x="658368" y="5084064"/>
            <a:ext cx="24505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التعبئة قبل وبعد — ٤ أسابيع أو تُوقَف</a:t>
            </a:r>
            <a:endParaRPr lang="en-US" sz="1050" dirty="0"/>
          </a:p>
        </p:txBody>
      </p:sp>
      <p:sp>
        <p:nvSpPr>
          <p:cNvPr id="51" name="Text 49"/>
          <p:cNvSpPr/>
          <p:nvPr/>
        </p:nvSpPr>
        <p:spPr>
          <a:xfrm>
            <a:off x="566928" y="6144768"/>
            <a:ext cx="110276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95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المطلوب لإقرارها: سعر المساحة الإعلانية على العلبة</a:t>
            </a:r>
            <a:endParaRPr lang="en-US" sz="9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74320"/>
            <a:ext cx="10113264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مصفوفة الأحداث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01132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الحالة تُرصد من البيانات — ولكل حالة فعل واحد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133856"/>
            <a:ext cx="1102766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64373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 · الإدارة التجارية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45952" y="6437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24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66928" y="1243584"/>
            <a:ext cx="11027664" cy="36576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9" name="Text 7"/>
          <p:cNvSpPr/>
          <p:nvPr/>
        </p:nvSpPr>
        <p:spPr>
          <a:xfrm>
            <a:off x="8947953" y="1243584"/>
            <a:ext cx="2646639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الحالة المرصودة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852696" y="1243584"/>
            <a:ext cx="2095256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الفعل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1779971" y="1243584"/>
            <a:ext cx="5072725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كيف يُنفَّذ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66928" y="1243584"/>
            <a:ext cx="1213043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التصنيف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66928" y="1609344"/>
            <a:ext cx="11027664" cy="374904"/>
          </a:xfrm>
          <a:prstGeom prst="rect">
            <a:avLst/>
          </a:prstGeom>
          <a:solidFill>
            <a:srgbClr val="F2DAD4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947953" y="1609344"/>
            <a:ext cx="2646639" cy="37490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فجوة مطابقة تتجاوز ٥٪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6852696" y="1609344"/>
            <a:ext cx="2095256" cy="37490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تحقيق ورقابة — لا حملة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1779971" y="1609344"/>
            <a:ext cx="5072725" cy="37490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جرد خزانات · معايرة عدادات · مطابقة إشعارات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566928" y="1609344"/>
            <a:ext cx="1213043" cy="37490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رقابة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66928" y="1984248"/>
            <a:ext cx="11027664" cy="374904"/>
          </a:xfrm>
          <a:prstGeom prst="rect">
            <a:avLst/>
          </a:prstGeom>
          <a:solidFill>
            <a:srgbClr val="F2DAD4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47953" y="1984248"/>
            <a:ext cx="2646639" cy="37490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تغيير مسار أو مدخل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6852696" y="1984248"/>
            <a:ext cx="2095256" cy="37490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هندسة وصول — لا حملة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1779971" y="1984248"/>
            <a:ext cx="5072725" cy="37490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تصحيح المدخل على الخرائط · لافتة على المسار · إعادة تحجيم العمالة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566928" y="1984248"/>
            <a:ext cx="1213043" cy="37490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وصول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566928" y="2359152"/>
            <a:ext cx="11027664" cy="374904"/>
          </a:xfrm>
          <a:prstGeom prst="rect">
            <a:avLst/>
          </a:prstGeom>
          <a:solidFill>
            <a:srgbClr val="F2DAD4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947953" y="2359152"/>
            <a:ext cx="2646639" cy="37490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وسيلة الدفع غير مسجّلة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6852696" y="2359152"/>
            <a:ext cx="2095256" cy="37490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تفعيل النظام قبل أي حملة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1779971" y="2359152"/>
            <a:ext cx="5072725" cy="37490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ضبط نقاط البيع · تدريب الوردية · مؤشر في حافز العامل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566928" y="2359152"/>
            <a:ext cx="1213043" cy="37490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بيانات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566928" y="2734056"/>
            <a:ext cx="11027664" cy="374904"/>
          </a:xfrm>
          <a:prstGeom prst="rect">
            <a:avLst/>
          </a:prstGeom>
          <a:solidFill>
            <a:srgbClr val="F2DAD4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947953" y="2734056"/>
            <a:ext cx="2646639" cy="37490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تغطية خزان دون ٤ أيام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6852696" y="2734056"/>
            <a:ext cx="2095256" cy="37490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تأمين الإمداد قبل رفع الطلب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1779971" y="2734056"/>
            <a:ext cx="5072725" cy="37490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حد أدنى تعاقدي · ناقل بديل · دراسة خزان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566928" y="2734056"/>
            <a:ext cx="1213043" cy="37490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إمداد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566928" y="3108960"/>
            <a:ext cx="11027664" cy="374904"/>
          </a:xfrm>
          <a:prstGeom prst="rect">
            <a:avLst/>
          </a:prstGeom>
          <a:solidFill>
            <a:srgbClr val="F2DAD4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8947953" y="3108960"/>
            <a:ext cx="2646639" cy="37490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نقدي المحطة فوق ٧٠٪ · الوسيط ٤٠٪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6852696" y="3108960"/>
            <a:ext cx="2095256" cy="37490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فحص نقاط البيع أولاً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1779971" y="3108960"/>
            <a:ext cx="5072725" cy="37490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اختبار قارئ البطاقة · مطابقة تسليم النقد · المحفظة تُطلق هنا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566928" y="3108960"/>
            <a:ext cx="1213043" cy="37490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رقابة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566928" y="3483864"/>
            <a:ext cx="11027664" cy="374904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8947953" y="3483864"/>
            <a:ext cx="2646639" cy="37490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فاقد في ساعات الذروة</a:t>
            </a:r>
            <a:endParaRPr lang="en-US" sz="1050" dirty="0"/>
          </a:p>
        </p:txBody>
      </p:sp>
      <p:sp>
        <p:nvSpPr>
          <p:cNvPr id="40" name="Text 38"/>
          <p:cNvSpPr/>
          <p:nvPr/>
        </p:nvSpPr>
        <p:spPr>
          <a:xfrm>
            <a:off x="6852696" y="3483864"/>
            <a:ext cx="2095256" cy="37490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تغطية لا حملة</a:t>
            </a:r>
            <a:endParaRPr lang="en-US" sz="1050" dirty="0"/>
          </a:p>
        </p:txBody>
      </p:sp>
      <p:sp>
        <p:nvSpPr>
          <p:cNvPr id="41" name="Text 39"/>
          <p:cNvSpPr/>
          <p:nvPr/>
        </p:nvSpPr>
        <p:spPr>
          <a:xfrm>
            <a:off x="1779971" y="3483864"/>
            <a:ext cx="5072725" cy="37490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طاقم الذروة · فحص المضخات · تدرّج التسليم</a:t>
            </a:r>
            <a:endParaRPr lang="en-US" sz="1050" dirty="0"/>
          </a:p>
        </p:txBody>
      </p:sp>
      <p:sp>
        <p:nvSpPr>
          <p:cNvPr id="42" name="Text 40"/>
          <p:cNvSpPr/>
          <p:nvPr/>
        </p:nvSpPr>
        <p:spPr>
          <a:xfrm>
            <a:off x="566928" y="3483864"/>
            <a:ext cx="1213043" cy="37490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معاملات</a:t>
            </a:r>
            <a:endParaRPr lang="en-US" sz="1050" dirty="0"/>
          </a:p>
        </p:txBody>
      </p:sp>
      <p:sp>
        <p:nvSpPr>
          <p:cNvPr id="43" name="Shape 41"/>
          <p:cNvSpPr/>
          <p:nvPr/>
        </p:nvSpPr>
        <p:spPr>
          <a:xfrm>
            <a:off x="566928" y="3858768"/>
            <a:ext cx="11027664" cy="374904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8947953" y="3858768"/>
            <a:ext cx="2646639" cy="37490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عبء المسائية يفوق الصباحية</a:t>
            </a:r>
            <a:endParaRPr lang="en-US" sz="1050" dirty="0"/>
          </a:p>
        </p:txBody>
      </p:sp>
      <p:sp>
        <p:nvSpPr>
          <p:cNvPr id="45" name="Text 43"/>
          <p:cNvSpPr/>
          <p:nvPr/>
        </p:nvSpPr>
        <p:spPr>
          <a:xfrm>
            <a:off x="6852696" y="3858768"/>
            <a:ext cx="2095256" cy="37490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نقل طاقم لا توظيف</a:t>
            </a:r>
            <a:endParaRPr lang="en-US" sz="1050" dirty="0"/>
          </a:p>
        </p:txBody>
      </p:sp>
      <p:sp>
        <p:nvSpPr>
          <p:cNvPr id="46" name="Text 44"/>
          <p:cNvSpPr/>
          <p:nvPr/>
        </p:nvSpPr>
        <p:spPr>
          <a:xfrm>
            <a:off x="1779971" y="3858768"/>
            <a:ext cx="5072725" cy="37490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إعادة جدولة المناوبات · مستهدف وردية لا محطة</a:t>
            </a:r>
            <a:endParaRPr lang="en-US" sz="1050" dirty="0"/>
          </a:p>
        </p:txBody>
      </p:sp>
      <p:sp>
        <p:nvSpPr>
          <p:cNvPr id="47" name="Text 45"/>
          <p:cNvSpPr/>
          <p:nvPr/>
        </p:nvSpPr>
        <p:spPr>
          <a:xfrm>
            <a:off x="566928" y="3858768"/>
            <a:ext cx="1213043" cy="37490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عمالة</a:t>
            </a:r>
            <a:endParaRPr lang="en-US" sz="1050" dirty="0"/>
          </a:p>
        </p:txBody>
      </p:sp>
      <p:sp>
        <p:nvSpPr>
          <p:cNvPr id="48" name="Shape 46"/>
          <p:cNvSpPr/>
          <p:nvPr/>
        </p:nvSpPr>
        <p:spPr>
          <a:xfrm>
            <a:off x="566928" y="4233672"/>
            <a:ext cx="11027664" cy="374904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8947953" y="4233672"/>
            <a:ext cx="2646639" cy="37490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تعبئة دون ما يفسّره مزيجها</a:t>
            </a:r>
            <a:endParaRPr lang="en-US" sz="1050" dirty="0"/>
          </a:p>
        </p:txBody>
      </p:sp>
      <p:sp>
        <p:nvSpPr>
          <p:cNvPr id="50" name="Text 48"/>
          <p:cNvSpPr/>
          <p:nvPr/>
        </p:nvSpPr>
        <p:spPr>
          <a:xfrm>
            <a:off x="6852696" y="4233672"/>
            <a:ext cx="2095256" cy="37490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رفع السلة</a:t>
            </a:r>
            <a:endParaRPr lang="en-US" sz="1050" dirty="0"/>
          </a:p>
        </p:txBody>
      </p:sp>
      <p:sp>
        <p:nvSpPr>
          <p:cNvPr id="51" name="Text 49"/>
          <p:cNvSpPr/>
          <p:nvPr/>
        </p:nvSpPr>
        <p:spPr>
          <a:xfrm>
            <a:off x="1779971" y="4233672"/>
            <a:ext cx="5072725" cy="37490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علبة المناديل عند العتبة · نص موحّد · لوحة عند المضخة</a:t>
            </a:r>
            <a:endParaRPr lang="en-US" sz="1050" dirty="0"/>
          </a:p>
        </p:txBody>
      </p:sp>
      <p:sp>
        <p:nvSpPr>
          <p:cNvPr id="52" name="Text 50"/>
          <p:cNvSpPr/>
          <p:nvPr/>
        </p:nvSpPr>
        <p:spPr>
          <a:xfrm>
            <a:off x="566928" y="4233672"/>
            <a:ext cx="1213043" cy="37490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سلة</a:t>
            </a:r>
            <a:endParaRPr lang="en-US" sz="1050" dirty="0"/>
          </a:p>
        </p:txBody>
      </p:sp>
      <p:sp>
        <p:nvSpPr>
          <p:cNvPr id="53" name="Shape 51"/>
          <p:cNvSpPr/>
          <p:nvPr/>
        </p:nvSpPr>
        <p:spPr>
          <a:xfrm>
            <a:off x="566928" y="4608576"/>
            <a:ext cx="11027664" cy="374904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8947953" y="4608576"/>
            <a:ext cx="2646639" cy="37490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حصة الديزل ٣٠٪ فأكثر</a:t>
            </a:r>
            <a:endParaRPr lang="en-US" sz="1050" dirty="0"/>
          </a:p>
        </p:txBody>
      </p:sp>
      <p:sp>
        <p:nvSpPr>
          <p:cNvPr id="55" name="Text 53"/>
          <p:cNvSpPr/>
          <p:nvPr/>
        </p:nvSpPr>
        <p:spPr>
          <a:xfrm>
            <a:off x="6852696" y="4608576"/>
            <a:ext cx="2095256" cy="37490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تعاقد أساطيل</a:t>
            </a:r>
            <a:endParaRPr lang="en-US" sz="1050" dirty="0"/>
          </a:p>
        </p:txBody>
      </p:sp>
      <p:sp>
        <p:nvSpPr>
          <p:cNvPr id="56" name="Text 54"/>
          <p:cNvSpPr/>
          <p:nvPr/>
        </p:nvSpPr>
        <p:spPr>
          <a:xfrm>
            <a:off x="1779971" y="4608576"/>
            <a:ext cx="5072725" cy="37490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حصر ناقلي المنطقة · سعر متدرج · تسجيل في التطبيق</a:t>
            </a:r>
            <a:endParaRPr lang="en-US" sz="1050" dirty="0"/>
          </a:p>
        </p:txBody>
      </p:sp>
      <p:sp>
        <p:nvSpPr>
          <p:cNvPr id="57" name="Text 55"/>
          <p:cNvSpPr/>
          <p:nvPr/>
        </p:nvSpPr>
        <p:spPr>
          <a:xfrm>
            <a:off x="566928" y="4608576"/>
            <a:ext cx="1213043" cy="37490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أساطيل</a:t>
            </a:r>
            <a:endParaRPr lang="en-US" sz="1050" dirty="0"/>
          </a:p>
        </p:txBody>
      </p:sp>
      <p:sp>
        <p:nvSpPr>
          <p:cNvPr id="58" name="Shape 56"/>
          <p:cNvSpPr/>
          <p:nvPr/>
        </p:nvSpPr>
        <p:spPr>
          <a:xfrm>
            <a:off x="566928" y="4983480"/>
            <a:ext cx="11027664" cy="374904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8947953" y="4983480"/>
            <a:ext cx="2646639" cy="37490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عشر وحدات شاغرة فأكثر</a:t>
            </a:r>
            <a:endParaRPr lang="en-US" sz="1050" dirty="0"/>
          </a:p>
        </p:txBody>
      </p:sp>
      <p:sp>
        <p:nvSpPr>
          <p:cNvPr id="60" name="Text 58"/>
          <p:cNvSpPr/>
          <p:nvPr/>
        </p:nvSpPr>
        <p:spPr>
          <a:xfrm>
            <a:off x="6852696" y="4983480"/>
            <a:ext cx="2095256" cy="37490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باقة تأجير حسب الفئة</a:t>
            </a:r>
            <a:endParaRPr lang="en-US" sz="1050" dirty="0"/>
          </a:p>
        </p:txBody>
      </p:sp>
      <p:sp>
        <p:nvSpPr>
          <p:cNvPr id="61" name="Text 59"/>
          <p:cNvSpPr/>
          <p:nvPr/>
        </p:nvSpPr>
        <p:spPr>
          <a:xfrm>
            <a:off x="1779971" y="4983480"/>
            <a:ext cx="5072725" cy="37490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التدريج لتحت التنفيذ · النسبة للمشغّلة · المسوّق للامتياز</a:t>
            </a:r>
            <a:endParaRPr lang="en-US" sz="1050" dirty="0"/>
          </a:p>
        </p:txBody>
      </p:sp>
      <p:sp>
        <p:nvSpPr>
          <p:cNvPr id="62" name="Text 60"/>
          <p:cNvSpPr/>
          <p:nvPr/>
        </p:nvSpPr>
        <p:spPr>
          <a:xfrm>
            <a:off x="566928" y="4983480"/>
            <a:ext cx="1213043" cy="37490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تأجير</a:t>
            </a:r>
            <a:endParaRPr lang="en-US" sz="1050" dirty="0"/>
          </a:p>
        </p:txBody>
      </p:sp>
      <p:sp>
        <p:nvSpPr>
          <p:cNvPr id="63" name="Shape 61"/>
          <p:cNvSpPr/>
          <p:nvPr/>
        </p:nvSpPr>
        <p:spPr>
          <a:xfrm>
            <a:off x="566928" y="5468112"/>
            <a:ext cx="11027664" cy="512064"/>
          </a:xfrm>
          <a:prstGeom prst="roundRect">
            <a:avLst>
              <a:gd name="adj" fmla="val 7143"/>
            </a:avLst>
          </a:prstGeom>
          <a:solidFill>
            <a:srgbClr val="C0503A"/>
          </a:solidFill>
          <a:ln/>
        </p:spPr>
      </p:sp>
      <p:sp>
        <p:nvSpPr>
          <p:cNvPr id="64" name="Text 62"/>
          <p:cNvSpPr/>
          <p:nvPr/>
        </p:nvSpPr>
        <p:spPr>
          <a:xfrm>
            <a:off x="749808" y="5513832"/>
            <a:ext cx="1066190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الأحمر خمس بوابات: محطة عليها إحداها لا تدخل أي حملة قبل إقفالها — وإلا أنفقنا على قياس لا نثق به</a:t>
            </a:r>
            <a:endParaRPr lang="en-US" sz="12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7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539728" y="2286000"/>
            <a:ext cx="54864" cy="20116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240280"/>
            <a:ext cx="107533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500" b="1" spc="300" kern="0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القسم السادس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566928" y="2743200"/>
            <a:ext cx="10753344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3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التنفيذ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566928" y="3611880"/>
            <a:ext cx="107533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ثلاث موجات وبوابة بين كل اثنتين</a:t>
            </a:r>
            <a:endParaRPr lang="en-US" sz="14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74320"/>
            <a:ext cx="10113264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خارطة ٩٠ يوماً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01132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لا تبدأ موجة قبل إقفال بوابة سابقتها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133856"/>
            <a:ext cx="1102766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64373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 · الإدارة التجارية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45952" y="6437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25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8052816" y="1225296"/>
            <a:ext cx="3541776" cy="4023360"/>
          </a:xfrm>
          <a:prstGeom prst="roundRect">
            <a:avLst>
              <a:gd name="adj" fmla="val 1291"/>
            </a:avLst>
          </a:prstGeom>
          <a:solidFill>
            <a:srgbClr val="FFFFFF"/>
          </a:solidFill>
          <a:ln w="17780">
            <a:solidFill>
              <a:srgbClr val="C0503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052816" y="1225296"/>
            <a:ext cx="3541776" cy="731520"/>
          </a:xfrm>
          <a:prstGeom prst="rect">
            <a:avLst/>
          </a:prstGeom>
          <a:solidFill>
            <a:srgbClr val="C0503A"/>
          </a:solidFill>
          <a:ln/>
        </p:spPr>
      </p:sp>
      <p:sp>
        <p:nvSpPr>
          <p:cNvPr id="10" name="Text 8"/>
          <p:cNvSpPr/>
          <p:nvPr/>
        </p:nvSpPr>
        <p:spPr>
          <a:xfrm>
            <a:off x="8144256" y="1271016"/>
            <a:ext cx="3358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أول ٣٠ يوماً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8144256" y="1563624"/>
            <a:ext cx="33588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الإقفال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8180832" y="2084832"/>
            <a:ext cx="3285744" cy="3017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marL="342900" indent="-342900">
              <a:lnSpc>
                <a:spcPts val="17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تحقيق MK008 وRY024</a:t>
            </a:r>
            <a:endParaRPr lang="en-US" sz="1100" dirty="0"/>
          </a:p>
          <a:p>
            <a:pPr algn="r" marL="342900" indent="-342900">
              <a:lnSpc>
                <a:spcPts val="17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تفعيل تسجيل الدفع في ١٨ محطة</a:t>
            </a:r>
            <a:endParaRPr lang="en-US" sz="1100" dirty="0"/>
          </a:p>
          <a:p>
            <a:pPr algn="r" marL="342900" indent="-342900">
              <a:lnSpc>
                <a:spcPts val="17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تصحيح مداخل المعيصم والشرائع على الخرائط</a:t>
            </a:r>
            <a:endParaRPr lang="en-US" sz="1100" dirty="0"/>
          </a:p>
          <a:p>
            <a:pPr algn="r" marL="342900" indent="-342900">
              <a:lnSpc>
                <a:spcPts val="17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توحيد أسماء المحطات على الكود</a:t>
            </a:r>
            <a:endParaRPr lang="en-US" sz="1100" dirty="0"/>
          </a:p>
          <a:p>
            <a:pPr algn="r" marL="342900" indent="-342900">
              <a:lnSpc>
                <a:spcPts val="17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جدول عمالة بالساعة لكل محطة</a:t>
            </a:r>
            <a:endParaRPr lang="en-US" sz="1100" dirty="0"/>
          </a:p>
          <a:p>
            <a:pPr algn="r" marL="342900" indent="-342900">
              <a:lnSpc>
                <a:spcPts val="17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جدول إيجارات لكل نوع وحدة</a:t>
            </a:r>
            <a:endParaRPr lang="en-US" sz="1100" dirty="0"/>
          </a:p>
          <a:p>
            <a:pPr algn="r" marL="342900" indent="-342900">
              <a:lnSpc>
                <a:spcPts val="17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مسح منافسي العقار والإكسسوارات والإعلان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309872" y="1225296"/>
            <a:ext cx="3541776" cy="4023360"/>
          </a:xfrm>
          <a:prstGeom prst="roundRect">
            <a:avLst>
              <a:gd name="adj" fmla="val 1291"/>
            </a:avLst>
          </a:prstGeom>
          <a:solidFill>
            <a:srgbClr val="FFFFFF"/>
          </a:solidFill>
          <a:ln w="17780">
            <a:solidFill>
              <a:srgbClr val="F5831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309872" y="1225296"/>
            <a:ext cx="3541776" cy="73152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15" name="Text 13"/>
          <p:cNvSpPr/>
          <p:nvPr/>
        </p:nvSpPr>
        <p:spPr>
          <a:xfrm>
            <a:off x="4401312" y="1271016"/>
            <a:ext cx="3358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اليوم ٣١ إلى ٦٠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4401312" y="1563624"/>
            <a:ext cx="33588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الإطلاق المحدود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4437888" y="2084832"/>
            <a:ext cx="3285744" cy="3017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marL="342900" indent="-342900">
              <a:lnSpc>
                <a:spcPts val="17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المستهدف في أعلى ١٢ محطة</a:t>
            </a:r>
            <a:endParaRPr lang="en-US" sz="1100" dirty="0"/>
          </a:p>
          <a:p>
            <a:pPr algn="r" marL="342900" indent="-342900">
              <a:lnSpc>
                <a:spcPts val="17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طاقم الذروة في محطات فاقد الذروة</a:t>
            </a:r>
            <a:endParaRPr lang="en-US" sz="1100" dirty="0"/>
          </a:p>
          <a:p>
            <a:pPr algn="r" marL="342900" indent="-342900">
              <a:lnSpc>
                <a:spcPts val="17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علبة المناديل في ٤ محطات بعد بيع المساحة</a:t>
            </a:r>
            <a:endParaRPr lang="en-US" sz="1100" dirty="0"/>
          </a:p>
          <a:p>
            <a:pPr algn="r" marL="342900" indent="-342900">
              <a:lnSpc>
                <a:spcPts val="17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تعاقد أساطيل في ٣ محاور طريق</a:t>
            </a:r>
            <a:endParaRPr lang="en-US" sz="1100" dirty="0"/>
          </a:p>
          <a:p>
            <a:pPr algn="r" marL="342900" indent="-342900">
              <a:lnSpc>
                <a:spcPts val="17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باقة التدريج في ٣ محطات تحت التنفيذ</a:t>
            </a:r>
            <a:endParaRPr lang="en-US" sz="1100" dirty="0"/>
          </a:p>
          <a:p>
            <a:pPr algn="r" marL="342900" indent="-342900">
              <a:lnSpc>
                <a:spcPts val="17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المستأجر الرئيسي لحلي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66928" y="1225296"/>
            <a:ext cx="3541776" cy="4023360"/>
          </a:xfrm>
          <a:prstGeom prst="roundRect">
            <a:avLst>
              <a:gd name="adj" fmla="val 1291"/>
            </a:avLst>
          </a:prstGeom>
          <a:solidFill>
            <a:srgbClr val="FFFFFF"/>
          </a:solidFill>
          <a:ln w="17780">
            <a:solidFill>
              <a:srgbClr val="2E8B6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66928" y="1225296"/>
            <a:ext cx="3541776" cy="731520"/>
          </a:xfrm>
          <a:prstGeom prst="rect">
            <a:avLst/>
          </a:prstGeom>
          <a:solidFill>
            <a:srgbClr val="2E8B6F"/>
          </a:solidFill>
          <a:ln/>
        </p:spPr>
      </p:sp>
      <p:sp>
        <p:nvSpPr>
          <p:cNvPr id="20" name="Text 18"/>
          <p:cNvSpPr/>
          <p:nvPr/>
        </p:nvSpPr>
        <p:spPr>
          <a:xfrm>
            <a:off x="658368" y="1271016"/>
            <a:ext cx="3358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اليوم ٦١ إلى ٩٠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658368" y="1563624"/>
            <a:ext cx="33588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التعميم المشروط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694944" y="2084832"/>
            <a:ext cx="3285744" cy="3017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marL="342900" indent="-342900">
              <a:lnSpc>
                <a:spcPts val="17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تعميم ما أثبت أثره ٤ أسابيع</a:t>
            </a:r>
            <a:endParaRPr lang="en-US" sz="1100" dirty="0"/>
          </a:p>
          <a:p>
            <a:pPr algn="r" marL="342900" indent="-342900">
              <a:lnSpc>
                <a:spcPts val="17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حافز العامل على الشبكة المؤهَّلة</a:t>
            </a:r>
            <a:endParaRPr lang="en-US" sz="1100" dirty="0"/>
          </a:p>
          <a:p>
            <a:pPr algn="r" marL="342900" indent="-342900">
              <a:lnSpc>
                <a:spcPts val="17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باقات التأجير على كل الفئات</a:t>
            </a:r>
            <a:endParaRPr lang="en-US" sz="1100" dirty="0"/>
          </a:p>
          <a:p>
            <a:pPr algn="r" marL="342900" indent="-342900">
              <a:lnSpc>
                <a:spcPts val="17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إعادة تحجيم عمالة المعيصم</a:t>
            </a:r>
            <a:endParaRPr lang="en-US" sz="1100" dirty="0"/>
          </a:p>
          <a:p>
            <a:pPr algn="r" marL="342900" indent="-342900">
              <a:lnSpc>
                <a:spcPts val="17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تثبيت مؤشرات التطبيق قبل إطلاقه أول ديسمبر</a:t>
            </a:r>
            <a:endParaRPr lang="en-US" sz="1100" dirty="0"/>
          </a:p>
          <a:p>
            <a:pPr algn="r" marL="342900" indent="-342900">
              <a:lnSpc>
                <a:spcPts val="17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مراجعة المستهدف على الأداء الفعلي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566928" y="5413248"/>
            <a:ext cx="11027664" cy="512064"/>
          </a:xfrm>
          <a:prstGeom prst="roundRect">
            <a:avLst>
              <a:gd name="adj" fmla="val 7143"/>
            </a:avLst>
          </a:prstGeom>
          <a:solidFill>
            <a:srgbClr val="55565A"/>
          </a:solidFill>
          <a:ln/>
        </p:spPr>
      </p:sp>
      <p:sp>
        <p:nvSpPr>
          <p:cNvPr id="24" name="Text 22"/>
          <p:cNvSpPr/>
          <p:nvPr/>
        </p:nvSpPr>
        <p:spPr>
          <a:xfrm>
            <a:off x="749808" y="5458968"/>
            <a:ext cx="1066190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بوابة الثانية: لا حملة في محطة لم تُقفل حالتها الرقابية · بوابة الثالثة: لا تعميم لآلية لم ترفع رقمها في ٤ أسابيع</a:t>
            </a:r>
            <a:endParaRPr lang="en-US" sz="125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74320"/>
            <a:ext cx="10113264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لوحة المتابعة الشهرية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01132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ثمانية مؤشرات في صفحة واحدة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133856"/>
            <a:ext cx="1102766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64373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 · الإدارة التجارية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45952" y="6437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26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8961120" y="1225296"/>
            <a:ext cx="2633472" cy="1133856"/>
          </a:xfrm>
          <a:prstGeom prst="roundRect">
            <a:avLst>
              <a:gd name="adj" fmla="val 4032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961120" y="1225296"/>
            <a:ext cx="2633472" cy="4572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10" name="Text 8"/>
          <p:cNvSpPr/>
          <p:nvPr/>
        </p:nvSpPr>
        <p:spPr>
          <a:xfrm>
            <a:off x="9052560" y="1335024"/>
            <a:ext cx="24505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أساسي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9052560" y="1609344"/>
            <a:ext cx="24505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فاقد ساعات الذروة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9052560" y="1975104"/>
            <a:ext cx="24505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معاملة/يوم — الهدف صفر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163056" y="1225296"/>
            <a:ext cx="2633472" cy="1133856"/>
          </a:xfrm>
          <a:prstGeom prst="roundRect">
            <a:avLst>
              <a:gd name="adj" fmla="val 4032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163056" y="1225296"/>
            <a:ext cx="2633472" cy="4572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15" name="Text 13"/>
          <p:cNvSpPr/>
          <p:nvPr/>
        </p:nvSpPr>
        <p:spPr>
          <a:xfrm>
            <a:off x="6254496" y="1335024"/>
            <a:ext cx="24505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أساسي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254496" y="1609344"/>
            <a:ext cx="24505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متوسط حجم التعبئة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254496" y="1975104"/>
            <a:ext cx="24505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مقابل ما يفسّره المزيج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364992" y="1225296"/>
            <a:ext cx="2633472" cy="1133856"/>
          </a:xfrm>
          <a:prstGeom prst="roundRect">
            <a:avLst>
              <a:gd name="adj" fmla="val 4032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364992" y="1225296"/>
            <a:ext cx="2633472" cy="45720"/>
          </a:xfrm>
          <a:prstGeom prst="rect">
            <a:avLst/>
          </a:prstGeom>
          <a:solidFill>
            <a:srgbClr val="C0503A"/>
          </a:solidFill>
          <a:ln/>
        </p:spPr>
      </p:sp>
      <p:sp>
        <p:nvSpPr>
          <p:cNvPr id="20" name="Text 18"/>
          <p:cNvSpPr/>
          <p:nvPr/>
        </p:nvSpPr>
        <p:spPr>
          <a:xfrm>
            <a:off x="3456432" y="1335024"/>
            <a:ext cx="24505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C0503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بوابة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3456432" y="1609344"/>
            <a:ext cx="24505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تسجيل وسيلة الدفع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3456432" y="1975104"/>
            <a:ext cx="24505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من ٦٤٪ إلى ٩٥٪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66928" y="1225296"/>
            <a:ext cx="2633472" cy="1133856"/>
          </a:xfrm>
          <a:prstGeom prst="roundRect">
            <a:avLst>
              <a:gd name="adj" fmla="val 4032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66928" y="1225296"/>
            <a:ext cx="2633472" cy="45720"/>
          </a:xfrm>
          <a:prstGeom prst="rect">
            <a:avLst/>
          </a:prstGeom>
          <a:solidFill>
            <a:srgbClr val="C0503A"/>
          </a:solidFill>
          <a:ln/>
        </p:spPr>
      </p:sp>
      <p:sp>
        <p:nvSpPr>
          <p:cNvPr id="25" name="Text 23"/>
          <p:cNvSpPr/>
          <p:nvPr/>
        </p:nvSpPr>
        <p:spPr>
          <a:xfrm>
            <a:off x="658368" y="1335024"/>
            <a:ext cx="24505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C0503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بوابة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658368" y="1609344"/>
            <a:ext cx="24505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فجوة المشتريات والمبيعات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658368" y="1975104"/>
            <a:ext cx="24505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±١٪ لكل محطة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8961120" y="2523744"/>
            <a:ext cx="2633472" cy="1133856"/>
          </a:xfrm>
          <a:prstGeom prst="roundRect">
            <a:avLst>
              <a:gd name="adj" fmla="val 4032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961120" y="2523744"/>
            <a:ext cx="2633472" cy="45720"/>
          </a:xfrm>
          <a:prstGeom prst="rect">
            <a:avLst/>
          </a:prstGeom>
          <a:solidFill>
            <a:srgbClr val="F7A94B"/>
          </a:solidFill>
          <a:ln/>
        </p:spPr>
      </p:sp>
      <p:sp>
        <p:nvSpPr>
          <p:cNvPr id="30" name="Text 28"/>
          <p:cNvSpPr/>
          <p:nvPr/>
        </p:nvSpPr>
        <p:spPr>
          <a:xfrm>
            <a:off x="9052560" y="2633472"/>
            <a:ext cx="24505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7A94B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ضابط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9052560" y="2907792"/>
            <a:ext cx="24505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الحافز ÷ الهامش الإضافي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9052560" y="3273552"/>
            <a:ext cx="24505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١٥٪ فأقل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6163056" y="2523744"/>
            <a:ext cx="2633472" cy="1133856"/>
          </a:xfrm>
          <a:prstGeom prst="roundRect">
            <a:avLst>
              <a:gd name="adj" fmla="val 4032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163056" y="2523744"/>
            <a:ext cx="2633472" cy="4572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5" name="Text 33"/>
          <p:cNvSpPr/>
          <p:nvPr/>
        </p:nvSpPr>
        <p:spPr>
          <a:xfrm>
            <a:off x="6254496" y="2633472"/>
            <a:ext cx="24505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نمو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6254496" y="2907792"/>
            <a:ext cx="24505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إشغال الوحدات بالفئة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6254496" y="3273552"/>
            <a:ext cx="24505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مشغّلة · تحت تنفيذ · امتياز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3364992" y="2523744"/>
            <a:ext cx="2633472" cy="1133856"/>
          </a:xfrm>
          <a:prstGeom prst="roundRect">
            <a:avLst>
              <a:gd name="adj" fmla="val 4032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364992" y="2523744"/>
            <a:ext cx="2633472" cy="4572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40" name="Text 38"/>
          <p:cNvSpPr/>
          <p:nvPr/>
        </p:nvSpPr>
        <p:spPr>
          <a:xfrm>
            <a:off x="3456432" y="2633472"/>
            <a:ext cx="24505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نمو</a:t>
            </a:r>
            <a:endParaRPr lang="en-US" sz="950" dirty="0"/>
          </a:p>
        </p:txBody>
      </p:sp>
      <p:sp>
        <p:nvSpPr>
          <p:cNvPr id="41" name="Text 39"/>
          <p:cNvSpPr/>
          <p:nvPr/>
        </p:nvSpPr>
        <p:spPr>
          <a:xfrm>
            <a:off x="3456432" y="2907792"/>
            <a:ext cx="24505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حصة الأساطيل الرقمية</a:t>
            </a:r>
            <a:endParaRPr lang="en-US" sz="1200" dirty="0"/>
          </a:p>
        </p:txBody>
      </p:sp>
      <p:sp>
        <p:nvSpPr>
          <p:cNvPr id="42" name="Text 40"/>
          <p:cNvSpPr/>
          <p:nvPr/>
        </p:nvSpPr>
        <p:spPr>
          <a:xfrm>
            <a:off x="3456432" y="3273552"/>
            <a:ext cx="24505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من ١٫٩٪ صعوداً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566928" y="2523744"/>
            <a:ext cx="2633472" cy="1133856"/>
          </a:xfrm>
          <a:prstGeom prst="roundRect">
            <a:avLst>
              <a:gd name="adj" fmla="val 4032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566928" y="2523744"/>
            <a:ext cx="2633472" cy="45720"/>
          </a:xfrm>
          <a:prstGeom prst="rect">
            <a:avLst/>
          </a:prstGeom>
          <a:solidFill>
            <a:srgbClr val="3E6E8E"/>
          </a:solidFill>
          <a:ln/>
        </p:spPr>
      </p:sp>
      <p:sp>
        <p:nvSpPr>
          <p:cNvPr id="45" name="Text 43"/>
          <p:cNvSpPr/>
          <p:nvPr/>
        </p:nvSpPr>
        <p:spPr>
          <a:xfrm>
            <a:off x="658368" y="2633472"/>
            <a:ext cx="24505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E6E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مخاطر</a:t>
            </a:r>
            <a:endParaRPr lang="en-US" sz="950" dirty="0"/>
          </a:p>
        </p:txBody>
      </p:sp>
      <p:sp>
        <p:nvSpPr>
          <p:cNvPr id="46" name="Text 44"/>
          <p:cNvSpPr/>
          <p:nvPr/>
        </p:nvSpPr>
        <p:spPr>
          <a:xfrm>
            <a:off x="658368" y="2907792"/>
            <a:ext cx="24505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تغطية الخزان</a:t>
            </a:r>
            <a:endParaRPr lang="en-US" sz="1200" dirty="0"/>
          </a:p>
        </p:txBody>
      </p:sp>
      <p:sp>
        <p:nvSpPr>
          <p:cNvPr id="47" name="Text 45"/>
          <p:cNvSpPr/>
          <p:nvPr/>
        </p:nvSpPr>
        <p:spPr>
          <a:xfrm>
            <a:off x="658368" y="3273552"/>
            <a:ext cx="24505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أيام — تنبيه دون ٤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566928" y="3986784"/>
            <a:ext cx="110276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ما نحتاجه من الإدارات</a:t>
            </a:r>
            <a:endParaRPr lang="en-US" sz="1350" dirty="0"/>
          </a:p>
        </p:txBody>
      </p:sp>
      <p:sp>
        <p:nvSpPr>
          <p:cNvPr id="49" name="Shape 47"/>
          <p:cNvSpPr/>
          <p:nvPr/>
        </p:nvSpPr>
        <p:spPr>
          <a:xfrm>
            <a:off x="11558016" y="4361688"/>
            <a:ext cx="36576" cy="292608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50" name="Text 48"/>
          <p:cNvSpPr/>
          <p:nvPr/>
        </p:nvSpPr>
        <p:spPr>
          <a:xfrm>
            <a:off x="9902952" y="4315968"/>
            <a:ext cx="1554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العمليات</a:t>
            </a:r>
            <a:endParaRPr lang="en-US" sz="1200" dirty="0"/>
          </a:p>
        </p:txBody>
      </p:sp>
      <p:sp>
        <p:nvSpPr>
          <p:cNvPr id="51" name="Text 49"/>
          <p:cNvSpPr/>
          <p:nvPr/>
        </p:nvSpPr>
        <p:spPr>
          <a:xfrm>
            <a:off x="566928" y="4315968"/>
            <a:ext cx="919886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جدول المناوبات الفعلي — الورديتان مقيستان، والجدول المعتمد ليس عندنا</a:t>
            </a:r>
            <a:endParaRPr lang="en-US" sz="1150" dirty="0"/>
          </a:p>
        </p:txBody>
      </p:sp>
      <p:sp>
        <p:nvSpPr>
          <p:cNvPr id="52" name="Shape 50"/>
          <p:cNvSpPr/>
          <p:nvPr/>
        </p:nvSpPr>
        <p:spPr>
          <a:xfrm>
            <a:off x="11558016" y="4709160"/>
            <a:ext cx="36576" cy="292608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53" name="Text 51"/>
          <p:cNvSpPr/>
          <p:nvPr/>
        </p:nvSpPr>
        <p:spPr>
          <a:xfrm>
            <a:off x="9902952" y="4663440"/>
            <a:ext cx="1554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تقنية المعلومات</a:t>
            </a:r>
            <a:endParaRPr lang="en-US" sz="1200" dirty="0"/>
          </a:p>
        </p:txBody>
      </p:sp>
      <p:sp>
        <p:nvSpPr>
          <p:cNvPr id="54" name="Text 52"/>
          <p:cNvSpPr/>
          <p:nvPr/>
        </p:nvSpPr>
        <p:spPr>
          <a:xfrm>
            <a:off x="566928" y="4663440"/>
            <a:ext cx="919886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عمود العامل في تصدير ١٥ محطة · وإلغاء الحسابات غير الشخصية</a:t>
            </a:r>
            <a:endParaRPr lang="en-US" sz="1150" dirty="0"/>
          </a:p>
        </p:txBody>
      </p:sp>
      <p:sp>
        <p:nvSpPr>
          <p:cNvPr id="55" name="Shape 53"/>
          <p:cNvSpPr/>
          <p:nvPr/>
        </p:nvSpPr>
        <p:spPr>
          <a:xfrm>
            <a:off x="11558016" y="5056632"/>
            <a:ext cx="36576" cy="292608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56" name="Text 54"/>
          <p:cNvSpPr/>
          <p:nvPr/>
        </p:nvSpPr>
        <p:spPr>
          <a:xfrm>
            <a:off x="9902952" y="5010912"/>
            <a:ext cx="1554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العقار</a:t>
            </a:r>
            <a:endParaRPr lang="en-US" sz="1200" dirty="0"/>
          </a:p>
        </p:txBody>
      </p:sp>
      <p:sp>
        <p:nvSpPr>
          <p:cNvPr id="57" name="Text 55"/>
          <p:cNvSpPr/>
          <p:nvPr/>
        </p:nvSpPr>
        <p:spPr>
          <a:xfrm>
            <a:off x="566928" y="5010912"/>
            <a:ext cx="919886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جدول الإيجار لكل نوع وحدة — لتسعير الباقات</a:t>
            </a:r>
            <a:endParaRPr lang="en-US" sz="1150" dirty="0"/>
          </a:p>
        </p:txBody>
      </p:sp>
      <p:sp>
        <p:nvSpPr>
          <p:cNvPr id="58" name="Shape 56"/>
          <p:cNvSpPr/>
          <p:nvPr/>
        </p:nvSpPr>
        <p:spPr>
          <a:xfrm>
            <a:off x="11558016" y="5404104"/>
            <a:ext cx="36576" cy="292608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59" name="Text 57"/>
          <p:cNvSpPr/>
          <p:nvPr/>
        </p:nvSpPr>
        <p:spPr>
          <a:xfrm>
            <a:off x="9902952" y="5358384"/>
            <a:ext cx="1554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المالية</a:t>
            </a:r>
            <a:endParaRPr lang="en-US" sz="1200" dirty="0"/>
          </a:p>
        </p:txBody>
      </p:sp>
      <p:sp>
        <p:nvSpPr>
          <p:cNvPr id="60" name="Text 58"/>
          <p:cNvSpPr/>
          <p:nvPr/>
        </p:nvSpPr>
        <p:spPr>
          <a:xfrm>
            <a:off x="566928" y="5358384"/>
            <a:ext cx="919886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رسوم البطاقة الفعلية — تقرر إن كانت المحفظة تموّل الولاء</a:t>
            </a:r>
            <a:endParaRPr lang="en-US" sz="1150" dirty="0"/>
          </a:p>
        </p:txBody>
      </p:sp>
      <p:sp>
        <p:nvSpPr>
          <p:cNvPr id="61" name="Shape 59"/>
          <p:cNvSpPr/>
          <p:nvPr/>
        </p:nvSpPr>
        <p:spPr>
          <a:xfrm>
            <a:off x="11558016" y="5751576"/>
            <a:ext cx="36576" cy="292608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62" name="Text 60"/>
          <p:cNvSpPr/>
          <p:nvPr/>
        </p:nvSpPr>
        <p:spPr>
          <a:xfrm>
            <a:off x="9902952" y="5705856"/>
            <a:ext cx="1554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التسويق</a:t>
            </a:r>
            <a:endParaRPr lang="en-US" sz="1200" dirty="0"/>
          </a:p>
        </p:txBody>
      </p:sp>
      <p:sp>
        <p:nvSpPr>
          <p:cNvPr id="63" name="Text 61"/>
          <p:cNvSpPr/>
          <p:nvPr/>
        </p:nvSpPr>
        <p:spPr>
          <a:xfrm>
            <a:off x="566928" y="5705856"/>
            <a:ext cx="919886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سعر المساحة الإعلانية على علبة المناديل</a:t>
            </a:r>
            <a:endParaRPr lang="en-US" sz="1150" dirty="0"/>
          </a:p>
        </p:txBody>
      </p:sp>
      <p:sp>
        <p:nvSpPr>
          <p:cNvPr id="64" name="Shape 62"/>
          <p:cNvSpPr/>
          <p:nvPr/>
        </p:nvSpPr>
        <p:spPr>
          <a:xfrm>
            <a:off x="11558016" y="6099048"/>
            <a:ext cx="36576" cy="292608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65" name="Text 63"/>
          <p:cNvSpPr/>
          <p:nvPr/>
        </p:nvSpPr>
        <p:spPr>
          <a:xfrm>
            <a:off x="9902952" y="6053328"/>
            <a:ext cx="1554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التطوير</a:t>
            </a:r>
            <a:endParaRPr lang="en-US" sz="1200" dirty="0"/>
          </a:p>
        </p:txBody>
      </p:sp>
      <p:sp>
        <p:nvSpPr>
          <p:cNvPr id="66" name="Text 64"/>
          <p:cNvSpPr/>
          <p:nvPr/>
        </p:nvSpPr>
        <p:spPr>
          <a:xfrm>
            <a:off x="566928" y="6053328"/>
            <a:ext cx="919886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مسح منافسي العقار والإكسسوارات والإعلان</a:t>
            </a:r>
            <a:endParaRPr lang="en-US" sz="115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55565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00584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9582912" y="45720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9582912" y="91440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spc="200" kern="0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DARB FUEL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6928" y="2606040"/>
            <a:ext cx="1102766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00" spc="300" kern="0" dirty="0">
                <a:solidFill>
                  <a:srgbClr val="F7A94B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الإدارة التجارية · درب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66928" y="2971800"/>
            <a:ext cx="11027664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القرار المطلوب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566928" y="3977640"/>
            <a:ext cx="1102766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500" dirty="0">
                <a:solidFill>
                  <a:srgbClr val="D6D2C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اعتماد المستهدف برافعتين · إقفال ثغرة البيانات قبل الإنفاق · مسح المنافسين في المنتجات الثلاثة المجهولة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8485632" y="4937760"/>
            <a:ext cx="3108960" cy="32004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5120640"/>
            <a:ext cx="1102766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الفرصة المؤكَّدة ٣٬٩٦٣٬٠٤٢ ريال سنوياً — ٧٤٢ معاملة و٧٧٬٢١٩ لتراً يومياً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34</Slides>
  <Notes>34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34</vt:i4>
      </vt:variant>
    </vt:vector>
  </HeadingPairs>
  <TitlesOfParts>
    <vt:vector size="3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تحليل المنافذ وخطة المبيعات</dc:title>
  <dc:subject>PptxGenJS Presentation</dc:subject>
  <dc:creator>الإدارة التجارية — درب</dc:creator>
  <cp:lastModifiedBy>الإدارة التجارية — درب</cp:lastModifiedBy>
  <cp:revision>1</cp:revision>
  <dcterms:created xsi:type="dcterms:W3CDTF">2026-09-08T07:56:54Z</dcterms:created>
  <dcterms:modified xsi:type="dcterms:W3CDTF">2026-09-08T07:56:54Z</dcterms:modified>
</cp:coreProperties>
</file>