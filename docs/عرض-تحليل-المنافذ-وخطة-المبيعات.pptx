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المنافسين في ثلاثة منتجات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١١٫٤٤ هللة  ←  ناقص التشغيل ٤٫٣٤  =  صافي ٧٫١٠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١٫١٧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١٫١٦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إنفاقاً إضافياً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 على أساس الشبكة كلها · لو كان على المشغّلة وحدها فهو ٩٫٢٤ هللة والصافي ٢٫٢٠ — سؤال معلَّق للمالية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٧٫٨٪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١٠٫٥٪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١٠٫٨٪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٩٫٣٪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٦٫١٠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٥٫١٠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٤٫١٠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٢٫١٠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· ١٨٫٩٥٪ وطنياً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٩٫١٪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منصات الأساطيل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٧٫٧٥م · بترو ٤٫٢١م · جهاز خارجي ٢٤٫٤م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جزئي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قيمة إيجارية في السجل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 منافسين ولا جدول إيجارات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منافسين مكتمل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على خمسة مواقع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معرفة تنافسية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تُذكر أسماء منافسين في المنتجات الثلاثة لأننا لا نملك مسحاً — والفراغ مقصود لا سهو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الدفع المؤسسي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٧٦٫٦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٨٦٤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٧٧٬٢١٩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١٬٢٩٤٬٦٦٩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٣٩٣٬٩٧٩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١٬٦٨٨٬٦٤٨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+٥٬٣٦٥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٢٢٤٬٠١٧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٤٧٬٢٣٣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٢٧١٬٢٥٠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١٬١٨٩٬٤٩٤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٢٩٤٬٨١٨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١٬٤٨٤٬٣١٢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٠٫٠٥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+١٠٬٢٨٣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٤٢٩٬٣٨٨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١١٥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١٠٤٬٣٤٨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٥٣٣٬٧٣٦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+٢٬٠٧٩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٨٦٬٨٠٧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٢٣٬٣٦٣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١١٠٬١٧٠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+٧٧٬٢١٩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٣٬٢٢٤٬٣٧٥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٨٦٣٬٧٤١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٤٬٠٨٨٬١١٦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٣٢٠٬٠٩٣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٢٩٨٬٢٥٣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٢٧٢٬٩٨٩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٢٦٨٬٣٥٦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؜-٧٫١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+٤٬٨١٧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٢٠٨٬٧٩٦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٢٠٤٬٦٧٣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١٩٥٬١٠٦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١٨٤٬٥٤٣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١٥٥٬٨٨٠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١٤٣٬٤٤٤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١٤٣٬٣٦٤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١٣٤٬٨٨١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٦٢٪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 ٦ص – ٦م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 معاملة ÷ ١١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١٩٠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٦م – ٦ص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 معاملة ÷ ٩ عمال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٢٤٢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٥١٪ من الطلب · ٤٥٪ من الطاقم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 +٢٧٪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وردية المساء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الأرقام — كلها بالمعاملة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9988622" y="3255264"/>
            <a:ext cx="16059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32104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47328" y="3255264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المحطة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76681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صباحاً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0603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مساءً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742451" y="3255264"/>
            <a:ext cx="9635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 ص / م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7180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601157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744640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3255264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اليومي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3621024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88622" y="3621024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132104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47328" y="3621024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776681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0603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42451" y="3621024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/ 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7180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١٩٠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601157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744640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+٢٧٪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66928" y="3621024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66928" y="3927348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88622" y="3927348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132104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7847328" y="3927348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١٬٢٦٩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776681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٥٦٧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70603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742451" y="3927348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/ 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67180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601157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744640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927348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4233672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88622" y="4233672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132104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847328" y="4233672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776681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70603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٤٣٦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4742451" y="4233672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367180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2601157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٢١٨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744640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233672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4539996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988622" y="4539996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9132104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847328" y="4539996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6776681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٣٥٧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570603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٤٣٤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742451" y="4539996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67180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2601157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744640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+٢٢٪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66928" y="4539996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66928" y="4846320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988622" y="4846320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132104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7847328" y="4846320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٤٤٣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6776681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١٩٤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570603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4742451" y="4846320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367180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2601157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١٢٤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1744640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+٢٨٪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4846320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0" name="Shape 98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03" name="Text 101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07" name="Text 105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09" name="Text 107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15" name="Text 113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٤٫٦٨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٧٫٠٢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٥٫٠٦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٣٫١٦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٤٫٧٥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٣٫٢١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٤٫٨٢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التشغيل أول ديسمبر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٣٠٬٨٥٦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الحضرية والأحياء — سوقه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قاعدته المحتملة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هوية عميل اليوم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التطبيقات اليوم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وكلها أساطيل لا أفراد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481328"/>
          </a:xfrm>
          <a:prstGeom prst="roundRect">
            <a:avLst>
              <a:gd name="adj" fmla="val 308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89504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لا نبني عليه القرار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336792" y="3200400"/>
            <a:ext cx="5111496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التردد وحده يعطي ٢٩ إلى ٢٨٧ ألف ريال سنوياً حسب التبني — رقم متواضع أمام كلفة تطبيق وتشغيله.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481328"/>
          </a:xfrm>
          <a:prstGeom prst="roundRect">
            <a:avLst>
              <a:gd name="adj" fmla="val 3086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89504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وما نبنيه عليه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13232" y="3200400"/>
            <a:ext cx="5111496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الهوية. التطبيق يحوّل ٣٦٪ من الإيراد من مجهول إلى عميل معروف — وهو ما يجعل كل حملة قابلة للاستهداف والقياس.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462272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يفتحه — ولا يُفتح بغيره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773168"/>
            <a:ext cx="2633472" cy="1005840"/>
          </a:xfrm>
          <a:prstGeom prst="roundRect">
            <a:avLst>
              <a:gd name="adj" fmla="val 3636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773168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8828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استهداف المناديل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052560" y="5175504"/>
            <a:ext cx="2450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بدل كل من تجاوز ٥٠ ريالاً، فقط من تعبئته دون معدّله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63056" y="4773168"/>
            <a:ext cx="2633472" cy="1005840"/>
          </a:xfrm>
          <a:prstGeom prst="roundRect">
            <a:avLst>
              <a:gd name="adj" fmla="val 3636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773168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8828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مكافأة المستأجر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254496" y="5175504"/>
            <a:ext cx="2450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توصيلها بكلفة صفر — لا طباعة ولا كوبون ورقي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364992" y="4773168"/>
            <a:ext cx="2633472" cy="1005840"/>
          </a:xfrm>
          <a:prstGeom prst="roundRect">
            <a:avLst>
              <a:gd name="adj" fmla="val 3636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773168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8828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قياس التردد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3456432" y="5175504"/>
            <a:ext cx="2450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الوحيد الذي لا نقيسه اليوم إطلاقاً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6928" y="4773168"/>
            <a:ext cx="2633472" cy="1005840"/>
          </a:xfrm>
          <a:prstGeom prst="roundRect">
            <a:avLst>
              <a:gd name="adj" fmla="val 3636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773168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88289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محرّك الأحياء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58368" y="5175504"/>
            <a:ext cx="24505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 هو محرّك الشريحة — والتطبيق أداته الوحيدة الرخيصة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يلزم تثبيته قبل الإطلاق: هل يتضمن الدفع · وبأي عملة يكافئ · وهل يربط المستأجرين · وفي كم محطة يبدأ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إضافية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ولا ترفع سلة أحد.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٧٠٬٤٣٣ شهرياً = صافي ١٫٠٣ مليون سنوياً.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118994" y="1243584"/>
            <a:ext cx="247559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68450" y="1243584"/>
            <a:ext cx="22505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17254" y="1243584"/>
            <a:ext cx="49511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8994" y="160934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68450" y="160934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17254" y="160934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8994" y="208483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68450" y="208483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17254" y="208483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208483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18994" y="256032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68450" y="256032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17254" y="256032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56032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18994" y="3035808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68450" y="3035808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17254" y="3035808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3035808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8994" y="3511296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68450" y="3511296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17254" y="3511296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511296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18994" y="398678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68450" y="398678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917254" y="398678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98678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18994" y="446227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68450" y="446227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17254" y="446227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446227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18994" y="493776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868450" y="493776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917254" y="493776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93776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4" name="Text 52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أربع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799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342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342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 — لتعميم مستهدف الوردية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8231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73659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73659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1846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1389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1389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 «مصاريف التشغيل» تغطي الامتياز؟ الجواب يقلب صافي اللتر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58698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54126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54126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98932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94360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مسح المنافسين في المنتجات الثلاثة المجهولة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٤٬٠٨٨٬١١٦ ريال سنوياً — ٧٤٢ معاملة و٧٧٬٢١٩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2026-08-25T20:04:47Z</dcterms:created>
  <dcterms:modified xsi:type="dcterms:W3CDTF">2026-08-25T20:04:47Z</dcterms:modified>
</cp:coreProperties>
</file>