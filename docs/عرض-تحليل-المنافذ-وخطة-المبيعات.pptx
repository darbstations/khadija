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٣٬٨٤٦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تسعير المنتجات الثلاثة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· مسح أسعار · جرد أسطح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١١٫٠٩ هللة  ←  ناقص التشغيل ٤٫٨٦  =  صافي ٦٫٢٣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٠٫٧١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١٫٣٥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١٫٧٣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إنفاقاً إضافياً — تعذَّر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 الإضافية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تُغطَّى بزيارة لا بتعبئة أكبر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 والتشغيل مقيسان من دفاتر ٢٦ محطة مشغّلة في الربع الثاني ٢٠٢٦ — لا موزَّعين من قائمة الدخل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+٤٫٦٪ — أبطأ من المبيعات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٠٫٠٩ نقطة تحت الربع الأول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يصحّح ثوابت الخطة — من موزَّعة إلى مقيسة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416001" y="3108960"/>
            <a:ext cx="1649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91179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كنت أستعمله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66358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المقيس فعلياً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1652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549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المصدر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6001" y="3474720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مجمل الربح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91179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66358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116524" y="3474720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−٠٫٣٥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← من دفاتر المحطات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66928" y="3895344"/>
            <a:ext cx="7498812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16001" y="3895344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المصاريف التشغيلية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91179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٤٫٣٤ هللة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66358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16524" y="3895344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+٠٫٥٢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3895344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موزَّعة على كل الشبكة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4315968"/>
            <a:ext cx="7498812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16001" y="4315968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91179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٧٫١٠ هللة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166358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116524" y="4315968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−٠٫٨٧ (−١٢٪)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4315968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 مكافأة ينزل بنفس النسبة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ذهب النمو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+٨٫٥٪ والصافي +٤٫٦٪ فقط. المصاريف التشغيلية ارتفعت ١٤٫١٪ — من ٢٫٢٦ إلى ٢٫٥٨ مليون — وأكبر بنودها الكهرباء والمياه.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٥٫٢٣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٣٫٢٣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١٫٢٣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 من جوار محطاتنا · تقييمه ٣٫٧٧★ مقابل ٤٫٨٦ لنا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المنصّات ٣٫٠٪ من المسجَّل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١١٫٩٦ مليون ريال بفاتورة ١٥٦٫٥٠ — ثلاثة أضعاف النقدي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 مقيسة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٣٧٪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في الحي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٢٥٪ إشغالاً · وما لا بديل له ٤٤٪ فأعلى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جدول إيجارات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تبيع على أرضنا بإيجار لا هامش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مسح أسعار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١٫٥٧ مليون معاملة شهرياً جمهورٌ لا يُباع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جرد وسعر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عُرِف مُسيطرها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لكلٍّ منافس مختلف ومقياس مختلف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سعر سوق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نعرف من هو — ولا نعرف بكم يبيع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 في المنتجات الثلاثة استُنتج من بياناتنا لا من مسحٍ خارجي — والناقص سعره لا هويّته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من حولنا، وهل يفسّر نتيجتنا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 منافساً مرصوداً من ٧٩ داخل ٥ كم · خرائط جوجل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من يحيط بنا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039749" y="1481328"/>
            <a:ext cx="126156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العلامة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966" y="1481328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مرات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20840" y="1481328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18026" y="1481328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868" y="1481328"/>
            <a:ext cx="8601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المسافة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1239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تقييمها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المراجعات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9749" y="184708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08966" y="184708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20840" y="184708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18026" y="184708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868" y="184708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١٬٥١٧ 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1239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٣٫٧٧★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57984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9749" y="2157984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مستقلة/أخرى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8966" y="2157984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20840" y="2157984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18026" y="2157984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57868" y="2157984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١٬٩٦٧ 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1239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٣٫٨٨★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9749" y="2468880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بتروجين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8966" y="2468880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720840" y="2468880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18026" y="2468880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٩٢٣ 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057868" y="2468880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١٬١٦٥ 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31239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٣٫٤٠★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79776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9749" y="2779776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ساسكو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08966" y="2779776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720840" y="2779776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918026" y="2779776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١٬٧٠١ 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057868" y="2779776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١٬٨٠٦ م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31239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٤٫٠٠★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90672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9749" y="3090672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أومكو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408966" y="3090672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720840" y="3090672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18026" y="3090672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١٬٧٥٥ م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057868" y="3090672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٢٬١١٦ 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31239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٣٫٢٠★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١٠٨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401568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39749" y="340156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نفط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08966" y="340156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720840" y="340156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918026" y="340156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٦٩٥ م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057868" y="340156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١٬٠٣٨ م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31239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٣٫٠٠★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632143" y="1188720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وميزتنا ثابتة — والنتيجة ليست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632143" y="1481328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04355" y="1481328"/>
            <a:ext cx="129023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الموقع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9659237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نحن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063743" y="1481328"/>
            <a:ext cx="5954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هم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69000" y="1481328"/>
            <a:ext cx="6947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23882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عددهم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632143" y="1481328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نمونا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32143" y="1847088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04355" y="1847088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59237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063743" y="1847088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369000" y="1847088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23882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6632143" y="1847088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−٢٥٪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632143" y="2157984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04355" y="2157984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659237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9063743" y="2157984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369000" y="2157984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7723882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6632143" y="2157984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632143" y="2468880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304355" y="2468880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659237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9063743" y="2468880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369000" y="2468880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723882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632143" y="2468880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−١٢٪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632143" y="2779776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304355" y="2779776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659237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9063743" y="2779776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369000" y="2779776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7723882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6632143" y="2779776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−٢٢٪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6632143" y="3090672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04355" y="3090672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9659237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063743" y="3090672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369000" y="3090672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+١٫١٠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723882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6632143" y="3090672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−٥٣٪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6632143" y="3401568"/>
            <a:ext cx="4962449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778447" y="3511296"/>
            <a:ext cx="4669841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ميزتنا ١٫١٥ نجمة على المواقع الخمسة جميعاً، والنمو يمتد من ٧٪ إلى −٥٣٪. الثابت لا يفسّر المتغيّر — فالمنافس ليس ما يحرّك أرقامنا.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566928" y="45720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وحين يكون السعر منظَّماً تُحسم المنافسة بالخدمة — وشكاوانا تقول أين نقف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950610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57925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</a:t>
            </a:r>
            <a:endParaRPr lang="en-US" sz="1900" dirty="0"/>
          </a:p>
        </p:txBody>
      </p:sp>
      <p:sp>
        <p:nvSpPr>
          <p:cNvPr id="113" name="Text 111"/>
          <p:cNvSpPr/>
          <p:nvPr/>
        </p:nvSpPr>
        <p:spPr>
          <a:xfrm>
            <a:off x="957925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سلوك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7271309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344461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900" dirty="0"/>
          </a:p>
        </p:txBody>
      </p:sp>
      <p:sp>
        <p:nvSpPr>
          <p:cNvPr id="116" name="Text 114"/>
          <p:cNvSpPr/>
          <p:nvPr/>
        </p:nvSpPr>
        <p:spPr>
          <a:xfrm>
            <a:off x="7344461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5036515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09667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19" name="Text 117"/>
          <p:cNvSpPr/>
          <p:nvPr/>
        </p:nvSpPr>
        <p:spPr>
          <a:xfrm>
            <a:off x="5109667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ثقة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280172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87487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22" name="Text 120"/>
          <p:cNvSpPr/>
          <p:nvPr/>
        </p:nvSpPr>
        <p:spPr>
          <a:xfrm>
            <a:off x="287487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رفض خدمة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566928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0080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900" dirty="0"/>
          </a:p>
        </p:txBody>
      </p:sp>
      <p:sp>
        <p:nvSpPr>
          <p:cNvPr id="125" name="Text 123"/>
          <p:cNvSpPr/>
          <p:nvPr/>
        </p:nvSpPr>
        <p:spPr>
          <a:xfrm>
            <a:off x="640080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خطأ تعبئة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١٠٣ شكوى — ٦٦٪ منها خدمة لا سعر (و٣٥ بلا تصنيف) · فالخطة اعتراضية: مدخل ولافتة وسرعة، لا مطاردة سعر لا نملكه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المنافس منصّة لا محطة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حساب الأسطول يملك تعبئته · تصنيف بحجم السلة لا بالاسم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قنوات الدفع — والسلة هي التي تفضح القناة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78271" y="1481328"/>
            <a:ext cx="18163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91687" y="1481328"/>
            <a:ext cx="168658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الإيراد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24052" y="1481328"/>
            <a:ext cx="11676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67205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69833" y="1481328"/>
            <a:ext cx="12973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2986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19460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يملكها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8271" y="184708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مسجَّلة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1687" y="184708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٢٢٦٬٣١٢٬١٧٨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24052" y="184708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67205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٤٬٠٧٢٬١٨١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069833" y="184708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2986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مجهولة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4884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78271" y="214884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1687" y="214884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١٨٤٬٥٥٨٬٦١٥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924052" y="214884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٢٩٫٥٪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67205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٣٬٥٥٤٬٤٤٥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69833" y="214884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512986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4884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5059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8271" y="2450592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(مدى)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91687" y="2450592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١٧٩٬٢٣٦٬٣٠٣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24052" y="2450592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67205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٢٬٨٠٥٬٣١٤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69833" y="2450592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٦٣٫٨٩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512986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50592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52344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78271" y="2752344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خارجي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1687" y="2752344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٢٤٬٤٠٥٬٦٥٥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24052" y="2752344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367205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٤٤٧٬٧٦٤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069833" y="2752344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٥٤٫٥١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512986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52344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54096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778271" y="3054096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سيارة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91687" y="3054096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٧٬٧٥١٬١٧٣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924052" y="3054096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67205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٥١٬٩٢٦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069833" y="3054096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١٤٩٫٢٧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12986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54096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355848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78271" y="335584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بترو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1687" y="335584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٤٬٢٠٥٬٤٨٣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924052" y="335584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367205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٢٤٬٤٧٣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069833" y="335584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١٧١٫٨٤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512986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35584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3657600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778271" y="365760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ذكية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091687" y="365760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٨٬٠٠٩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924052" y="365760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367205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١٦٦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069833" y="365760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٤٨٫٢٤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2512986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66928" y="365760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040624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32064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١٥٦٫٥٠ ريالاً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8132064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فاتورة المنصّة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132064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أضعاف النقدي ٥١٫٩٢ — هذه تعبئة أسطول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303776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95216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4395216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المنصّات من المسجَّل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4395216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١١٬٩٥٦٬٦٥٦ ريالاً عبر سيارة وبترو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66928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8368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معاملات</a:t>
            </a:r>
            <a:endParaRPr lang="en-US" sz="1900" dirty="0"/>
          </a:p>
        </p:txBody>
      </p:sp>
      <p:sp>
        <p:nvSpPr>
          <p:cNvPr id="83" name="Text 81"/>
          <p:cNvSpPr/>
          <p:nvPr/>
        </p:nvSpPr>
        <p:spPr>
          <a:xfrm>
            <a:off x="658368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658368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٣١٨ ريالاً — لا موقع لنا في القناة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120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قائمة الصيد — ديزل ثقيل بلا أي علاقة رقمية: ٧ محطات · ٢٥٬٨٤٢٬٠٧١ ريالاً · ١٤٬٣٩١٬٢٠٥ لتراً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1011326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16812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16812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م ريال</a:t>
            </a:r>
            <a:endParaRPr lang="en-US" sz="1250" dirty="0"/>
          </a:p>
        </p:txBody>
      </p:sp>
      <p:sp>
        <p:nvSpPr>
          <p:cNvPr id="89" name="Text 87"/>
          <p:cNvSpPr/>
          <p:nvPr/>
        </p:nvSpPr>
        <p:spPr>
          <a:xfrm>
            <a:off x="1016812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2220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57707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57707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 م ريال</a:t>
            </a:r>
            <a:endParaRPr lang="en-US" sz="1250" dirty="0"/>
          </a:p>
        </p:txBody>
      </p:sp>
      <p:sp>
        <p:nvSpPr>
          <p:cNvPr id="93" name="Text 91"/>
          <p:cNvSpPr/>
          <p:nvPr/>
        </p:nvSpPr>
        <p:spPr>
          <a:xfrm>
            <a:off x="857707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931152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86016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6986016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م ريال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6986016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340096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94960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394960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394960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749040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03904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3803904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5" name="Text 103"/>
          <p:cNvSpPr/>
          <p:nvPr/>
        </p:nvSpPr>
        <p:spPr>
          <a:xfrm>
            <a:off x="3803904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15798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21284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العزيزية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21284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 م ريال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21284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MK072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62179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م ريال</a:t>
            </a:r>
            <a:endParaRPr lang="en-US" sz="1250" dirty="0"/>
          </a:p>
        </p:txBody>
      </p:sp>
      <p:sp>
        <p:nvSpPr>
          <p:cNvPr id="113" name="Text 111"/>
          <p:cNvSpPr/>
          <p:nvPr/>
        </p:nvSpPr>
        <p:spPr>
          <a:xfrm>
            <a:off x="62179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والتأجير — بديل المستأجر هو المنافس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 وحدة في ١٨٦ محطة · إشغال ٣٧٫٠٪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لكل نوع وحدة بديلٌ مختلف — والإشغال يقيس قوّته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271272" y="1481328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الوحدة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27878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العدد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8629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9380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481328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الإشغال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4813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خارج المحطة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847088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71272" y="184708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أسواق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7878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629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9380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184708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٥٠٫٩٪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184708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بقالة الحي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194560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71272" y="2194560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أكشاك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878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8629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380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2194560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٤٨٫٤٪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194560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عربة أو كشك في ساحة تجارية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542032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1272" y="2542032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سيّاقة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7878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8629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9380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542032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٤٤٫٥٪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2542032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بديل: نافذة السيّاقة تحتاج مسار سيارات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2889504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1272" y="2889504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مغاسل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7878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8629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9380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80760" y="2889504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٤٤٫٠٪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889504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مغسلة حي مستقلة — لكن بلا حركة مرور مضمونة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236976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71272" y="3236976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أخرى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7878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8629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380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80760" y="3236976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٢٦٫١٪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236976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66928" y="3584448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71272" y="358444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محلات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27878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8629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9380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80760" y="358444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58444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 على شارع الحي — أوفر إيجاراً وأقرب للسكن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190488" y="4041648"/>
            <a:ext cx="5404104" cy="1225296"/>
          </a:xfrm>
          <a:prstGeom prst="roundRect">
            <a:avLst>
              <a:gd name="adj" fmla="val 373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142232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وحده يخسر أمام بديله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462272"/>
            <a:ext cx="51114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٢٥٫١٪ إشغالاً و٥٧٢ شاغراً — لأن جاره في الحي أرخص وأقرب للسكن. أمّا أسواق والسيّاقة والمغسلة فبلا بديل داخل الساحة، وإشغالها ٥٠٫٩٪ فأعلى. البيع يبدأ من هنا لا من المحل.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4041648"/>
            <a:ext cx="5404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والمنافس الحقيقي داخلي — لا أحد يبيع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566928" y="437083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94944" y="437083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2512405" y="437083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 وحدة · ١٣١ شاغرة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056632" y="437083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٧٨٫٩٪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66928" y="473659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94944" y="473659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512405" y="473659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 وحدة · ٦٨٩ شاغرة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056632" y="473659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١٢٫٨٪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928" y="510235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94944" y="510235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12405" y="510235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٣٠٨ وحدة · ٢٦٩ شاغرة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056632" y="510235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١٢٫٧٪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66928" y="555955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560527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٧٨٫٩٪ إشغالاً والامتياز ١٢٫٧٪ — الفارق ليس سوقاً بل غياب مالكٍ للبيع · وهذا ما تعالجه الباقات لا خفض الإيجار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ورقة اكتتاب الوحدة — الإيجار من دفتر المستأجر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الوحدة وصولٌ إلى تيّار حركة · وقيمتها ما يحوّله المستأجر منه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أربعة مُدخَلات لدفتره — واثنان عندنا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47404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8844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38844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المارّة بالوحدة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38844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 لكل محطة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53912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45352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الذروة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منحنى ٢٤ ساعة لكل محطة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60420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1860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51860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تحويل الشكل من التيّار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51860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صيغة — مطعم · مقهى · مغسلة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8368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المستأجر وهامشه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المستأجرين شهرياً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والمُدخَل الأول وحده يفرز الشغور — ٢٣ محطة · المدى ٤٣ ضعفاً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2907792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7" name="Text 25"/>
          <p:cNvSpPr/>
          <p:nvPr/>
        </p:nvSpPr>
        <p:spPr>
          <a:xfrm>
            <a:off x="9609612" y="2907792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727399" y="2907792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14356" y="2907792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2186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وحداتها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2937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الشاغرة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426610" y="2907792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103291" y="2907792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وحدة شاغرة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2907792"/>
            <a:ext cx="25363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3273552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327355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الحليس(طريق الجنوب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727399" y="327355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14356" y="327355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2186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2937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6610" y="327355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103291" y="327355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٩١٨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27355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566160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356616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27399" y="356616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14356" y="356616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2186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52937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426610" y="356616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103291" y="356616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356616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3858768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85876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 العمرة الج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727399" y="385876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14356" y="385876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2186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52937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26610" y="385876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103291" y="385876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66928" y="385876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66928" y="4151376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9612" y="4151376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جعرانة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727399" y="4151376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514356" y="4151376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52186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52937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426610" y="4151376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١٬١٢٣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3103291" y="4151376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٣٧٤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4151376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66928" y="4443984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609612" y="4443984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طريق السيل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727399" y="4443984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514356" y="4443984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52186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52937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426610" y="4443984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٧٣٧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3103291" y="4443984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443984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736592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09612" y="473659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- الروابي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727399" y="473659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473659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52186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52937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4426610" y="473659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3103291" y="473659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66928" y="473659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566928" y="5029200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609612" y="502920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727399" y="502920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514356" y="502920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52186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552937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4426610" y="502920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3103291" y="502920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502920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566928" y="5321808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9612" y="532180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727399" y="532180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514356" y="532180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652186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52937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4426610" y="532180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3103291" y="532180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566928" y="532180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19048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3679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 ١٤ وحدة على ٧٣٧ زيارة — عرضٌ يفوق حركته. هذه ليست مشكلة تأجير بل مشكلة تحجيم.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56692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1323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والتغطية ١٣٪ فقط: ١٣٩ من ١٬٠٨٩ وحدة شاغرة نملك مُدخَلها الأول · ٦٨٩ تحت التنفيذ تُكتتب بمحطة نظيرة، و٢٦٩ امتياز تحتاج طلب بيانات.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الإكسسوارات والمساحات — منتجان بلا خط أساس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يُدَّعى مسحٌ لم يُجرَ · وهذا ما نعرفه اليوم بالقياس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9048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1171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 — ثم أسواق قطع الغيار خارج المحطة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1171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مؤجَّرة تبيع الخدمة على أرضنا اليوم، ونأخذ إيجاراً لا هامشاً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1171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مغسلة و٥٧٢ محلاً شاغرة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41171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منتجات وأسعار المنافس في ثلاثة أحياء · وقرار: نبيع أم نؤجّر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8815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 — والمعلن يشتري منهم لا منّا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8815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١.٥٧ مليون معاملة شهرياً جمهورٌ لا يُباع، ووجه علبة المناديل أول سطح مسعَّر عندنا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8815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واجهات المظلات والمضخات وشاشات نقاط البيع — بلا جرد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8815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 لكل محطة · وسعر السوق للوجه الواحد شهرياً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49011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المطلوب — أسبوعان لكلٍّ منهما، ويُقفل ثلاثة أخماس الجهل التنافسي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961120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أحياء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عيّنة المسح لكل منتج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63056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وأسعار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يبيعه المنافس وبكم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64992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6432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56432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كم وجهاً إعلانياً نملك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الوجه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— ليُسعَّر المخزون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تطبيقات الأسطول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 ٢٪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٥١٫٨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٢٧٫٠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٢٣٫١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٧١٧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٨١٥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٧٤٬٨٧٤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٣٬٠٣١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١٬٩٣٥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١٬٢٥٥٬٠٥٩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٣٨١٬٩٢٦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١٬٦٣٦٬٩٨٥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+١٬٩٥٢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٧٩٬٠١٤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٣٠٬٧١٦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١٠٩٬٧٣٠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١٬١٥٣٬١٠٢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٢٨٥٬٧٩٨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١٬٤٣٨٬٩٠١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٢٣٫٥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٠٫٠٢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+١٠٬٧٧٣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٤٣٦٬٠٧٨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٩١٬١٩٤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٥٢٧٬٢٧١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٢٣٫١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+٢٬٦٥٧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١٠٧٬٥٤٤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٢٥٬٥٠٠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١٣٣٬٠٤٤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+٧٤٬٨٧٤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٣٬٠٣٠٬٧٩٦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٧١٧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٨١٥٬١٣٤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٣٬٨٤٥٬٩٣٠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١٫٤٦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١٫٤٤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٣١٠٬٣٠٠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٢٨٩٬١٢٨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٢٦٤٬٦٣٧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٢٦٠٬١٤٥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٢٣٫٤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؜-٨٫٠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+٥٬٥٦٣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٢٣٣٬٦٠٧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١٩٨٬٤١١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١٨٩٬١٣٦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١٧٨٬٨٩٧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١٥١٬١١١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١٣٩٬٠٥٦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١٣٨٬٩٧٨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١٣٠٬٧٥٤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٦٥٪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٦٫١٦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٣٫٩٨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١٫٤٦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٢٫٩٣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٤٫٣٩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١٫٤٤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٢٫٨٨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٤٫٣١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صافي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٣٢٪ عند ٤٥ هللة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٤٤٪ من صافي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تطبيقات الأسطول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٣٫٠٪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تسعير المنتجات الثلاثة غير المسعَّرة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٣٬٨٤٥٬٩٣٠ ريال سنوياً — ٧١٧ معاملة و٧٤٬٨٧٤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2026-09-09T09:37:22Z</dcterms:created>
  <dcterms:modified xsi:type="dcterms:W3CDTF">2026-09-09T09:37:22Z</dcterms:modified>
</cp:coreProperties>
</file>