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الخطة مبنية على بيانات 55 محطة للنصف الأول 2026، وقوائم دخل فعلية، وبيانات توريد وعمالة وشكاوى.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الميزان السالب محسوب على 41 محطة لها بيانات نمو: 13 هابطة تفوق أثر 17 صاعدة.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العقار والإكسسوارات لا سلسلة مسيطرة — وهما أضعف منافذنا وأقلّها منافسة.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خفض المصاريف محدود: 88% من المصاريف إهلاك غير نقدي، والنقدي 0.94 هللة لكل لتر.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الحدثان اكتُشفا بعد شهور من وقوعهما — بتحليل لاحق لا بنظام إنذار. هذه الفجوة أهم من الحدثين نفسيهما.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المعيار الحاكم: عمولة المنصة لكل لتر مقابل تكلفة المندوب لكل لتر — يُراجع كل ربع.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التمويل وإهلاك حق الاستخدام يلتهمان 63% من دخل الإيجار في العمرة و106% في الشرايع — وهما ثابتان.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قرار من هذه الستة يفتح تنفيذاً مستقلاً — والتجريبي يسبق التعميم في الوقود والتأجير معاً.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spc="3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الإدارة التجارية — درب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الخطة التجارية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منافذ بيع · أربع قنوات · نماذج تنفيذ مبنية على بيانات الشبكة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عرض على الإدارة التنفيذية   ·   النصف الأول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أين نقف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55 محطة · 1 يناير – 30 يونيو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1.27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مليار ريال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إيراد سنوي مُطبَّع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588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2900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لتر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سنوي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−43.8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21792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ريال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صافي الميزان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600200"/>
            <a:ext cx="2606040" cy="1691640"/>
          </a:xfrm>
          <a:prstGeom prst="roundRect">
            <a:avLst>
              <a:gd name="adj" fmla="val 3243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006840" y="244144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إشغال الوحدات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وحدة شاغرة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حقائق تحكم الخطة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11210544" y="4169664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11480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سعر الوقود مقنَّن — فالربح يأتي من الحجم والخدمة لا من السعر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1210544" y="4736592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681728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المصاريف النقدية 0.94 هللة لكل لتر — لا مجال للتحسين عبر خفض التكلفة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1210544" y="5303520"/>
            <a:ext cx="219456" cy="21945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248656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التمويل والإهلاك على الوحدات مدفوعان — فالوحدة الشاغرة تكلفة لا فرصة ضائعة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الإطار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منافذ — والوقود قناتان مختلفتان تماماً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2606040" cy="56692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أفراد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كل مشغّلي المحطات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تدريب العمالة على سرعة الخدمة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مستهدف لكل محطة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حافز لكل عامل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مصاريف المحطة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29000" y="1554480"/>
            <a:ext cx="2606040" cy="566928"/>
          </a:xfrm>
          <a:prstGeom prst="rect">
            <a:avLst/>
          </a:prstGeom>
          <a:solidFill>
            <a:srgbClr val="2A3F7A"/>
          </a:solidFill>
          <a:ln/>
        </p:spPr>
      </p:sp>
      <p:sp>
        <p:nvSpPr>
          <p:cNvPr id="11" name="Text 9"/>
          <p:cNvSpPr/>
          <p:nvPr/>
        </p:nvSpPr>
        <p:spPr>
          <a:xfrm>
            <a:off x="353872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شركات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6616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بترو آب · واعي · المنصات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6616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مندوب أساطيل الحج والعمرة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خصم هللة لكل لتر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الرفع على سيارة آب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الاشتراك في كل منصة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554480"/>
            <a:ext cx="2606040" cy="566928"/>
          </a:xfrm>
          <a:prstGeom prst="rect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/>
          <p:nvPr/>
        </p:nvSpPr>
        <p:spPr>
          <a:xfrm>
            <a:off x="632764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العقار والتأجير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5508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الوسطاء العقاريون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شبكة وسطاء بعمولة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مغسلة وسوبرماركت مع كل افتتاح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حصر الوحدات وتصنيفها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606040" cy="42062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006840" y="1554480"/>
            <a:ext cx="2606040" cy="566928"/>
          </a:xfrm>
          <a:prstGeom prst="rect">
            <a:avLst/>
          </a:prstGeom>
          <a:solidFill>
            <a:srgbClr val="C79A2E"/>
          </a:solidFill>
          <a:ln/>
        </p:spPr>
      </p:sp>
      <p:sp>
        <p:nvSpPr>
          <p:cNvPr id="21" name="Text 19"/>
          <p:cNvSpPr/>
          <p:nvPr/>
        </p:nvSpPr>
        <p:spPr>
          <a:xfrm>
            <a:off x="9116568" y="1627632"/>
            <a:ext cx="2386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الإكسسوارات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0" y="224028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المسيطر: أصحاب محلات التجزئة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0" y="2788920"/>
            <a:ext cx="2331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التعاقد مع التجزئة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بيع ومساحة في التطبيق</a:t>
            </a:r>
            <a:endParaRPr lang="en-US" sz="12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من المبيعات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المنافسون حسب المنفذ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يسيطر · وبماذا · وردّنا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554480"/>
                <a:gridCol w="2011680"/>
                <a:gridCol w="237744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المنافس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المنفذ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الحجم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مصدر السيطرة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الردّ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أفراد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1,383 محطة · 18.95%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الانتشار وسرعة الضمّ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المنافسة على الخدمة لا السعر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ساسكو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أفراد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~683 محطة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النمو بالاستحواذ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تحسين تجربة المحطة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بترو آب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ألف مركبة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ملكية العلاقة بلا أصول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اشتراك كنقطة قبول + تعاقد مباشر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واعي — 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شبكة الدريس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شريحة في فوهة المضخة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خصم هللة يفوق الميزة التقنية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سيارة آب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وقود · شركات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2,500+ محطة قبول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منصة وشبكة معاً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شراكة قائمة — رفع أساطيلنا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الوسطاء العقاريون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عقار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سوق مجزّأ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قائمة المستأجرين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التحالف لا المنافسة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محلات التجزئة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إكسسوارات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سوق مجزّأ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المخزون والخبرة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التعاقد — مساحة مقابل نسبة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قناة الأفراد المنافس مشغّل محطات والسلاح تجربة الخدمة · وفي الشركات المنافس منصة والسلاح السعر والعقد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قناة الأفراد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يبحث عن سرعة الخدمة — والأداة مستهدف وحافز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486400" cy="2286000"/>
          </a:xfrm>
          <a:prstGeom prst="roundRect">
            <a:avLst>
              <a:gd name="adj" fmla="val 24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تقوله الشكاوى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0" y="219456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الشكاوى عن العامل مباشرة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0" y="26974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شكاوى أكبر محطة: بطء وسلوك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32004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صفر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68680" y="32461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استبدال أو إيقاف من 58 شكوى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46520" y="1554480"/>
            <a:ext cx="5074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أثر خطة الحافز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75120" y="21945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مستهدف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75120" y="25786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لترات إضافية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675120" y="257860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+23.9 مليون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75120" y="2962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الحافز الموزّع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75120" y="29626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 ألف ريال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75120" y="334670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الربح الصافي للشركة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334670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2.7 مليون ريال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آلية الحافز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11228832" y="457200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5262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من هامش اللتر الإضافي — لا مبلغ ثابت · فلا يُصرف إلا إذا تحقق النمو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1228832" y="507492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0292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مستهدف معلن لكل محطة يراه العامل شهرياً ويقيس موقعه منه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1228832" y="5577840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321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يُربط بمؤشر الخدمة أيضاً — الشكاوى وزمن التعبئة — لا بالحجم وحده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تشخيص فقدان الحركة — مكة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بيانات يناير – 4 أغسطس 2026 · السبب مؤكَّد ميدانياً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280160"/>
                <a:gridCol w="173736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المحطة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زيارات يناير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يونيو–يوليو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التغيّر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لتر/زيارة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السبب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MK002 المعيصم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2,163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 ← 20.9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تغيّر مسار الطريق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MK019 الشرايع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26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 ← 23.2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منافس فتح قبلنا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MK072 العزيزية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2,778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2,488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79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موسمي — تعافت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MK007 العمرة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4,266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6E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31.7 ← 29.0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موسمي — عادت لمستواها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MK017 عرفات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1,391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6E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 ← 20.8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820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نمو — المرجع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80560"/>
            <a:ext cx="5394960" cy="1737360"/>
          </a:xfrm>
          <a:prstGeom prst="roundRect">
            <a:avLst>
              <a:gd name="adj" fmla="val 3158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6112" y="459028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تثبته البيانات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96112" y="4956048"/>
            <a:ext cx="4846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سلة العميل ثابتة — الفقد في عدد العملاء لا سلوكهم</a:t>
            </a:r>
            <a:endParaRPr lang="en-US" sz="1250" dirty="0"/>
          </a:p>
          <a:p>
            <a:pPr algn="r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سقوط 60% و53% في شهر واحد = حدث خارجي بتاريخ</a:t>
            </a:r>
            <a:endParaRPr lang="en-US" sz="1250" dirty="0"/>
          </a:p>
          <a:p>
            <a:pPr algn="r"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الخدمة والمضخات والتسعير — كلها مستبعَدة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355080" y="4480560"/>
            <a:ext cx="516636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0" y="459028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الأثر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0" y="49560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2,013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6583680" y="5614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زيارة مفقودة يومياً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0" y="49560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15.7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8229600" y="5614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لتر سنوياً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875520" y="4956048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800" dirty="0"/>
          </a:p>
        </p:txBody>
      </p:sp>
      <p:sp>
        <p:nvSpPr>
          <p:cNvPr id="15" name="Text 12"/>
          <p:cNvSpPr/>
          <p:nvPr/>
        </p:nvSpPr>
        <p:spPr>
          <a:xfrm>
            <a:off x="9875520" y="56144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ريال هامش سنوياً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الردّ على فقدان الحركة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حالة تستدعي ردّاً مختلفاً — والفرق بينهما جوهري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520440" cy="42976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54480"/>
            <a:ext cx="3520440" cy="53035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1848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المعيصم — تغيّر المسار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فقد دائم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31546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العميل لم يعد يمرّ — ولا يُسترد بسعر ولا خدمة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التحويل من ممرّ إلى وجهة: مغسلة وسوبرماركت ومطعم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تحجيم العمالة والمصاريف على الحركة الجديدة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5257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المؤشر: إيراد غير وقودي لكل زيارة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554480"/>
            <a:ext cx="3520440" cy="42976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554480"/>
            <a:ext cx="3520440" cy="530352"/>
          </a:xfrm>
          <a:prstGeom prst="rect">
            <a:avLst/>
          </a:prstGeom>
          <a:solidFill>
            <a:srgbClr val="C79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434840" y="161848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الشرايع — منافس قبلنا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22128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9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قابل للاسترداد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2651760"/>
            <a:ext cx="31546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المنافس يعترض العميل قبل وصوله إلينا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سبب للتجاوز: عرض أو خدمة لا توجد عنده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لافتات مبكرة قبل نقطة اعتراضه · وتعاقد مع الأساطيل المارّة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5257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المؤشر: الزيارات اليومية مقابل خط الأساس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554480"/>
            <a:ext cx="3520440" cy="429768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0" y="1554480"/>
            <a:ext cx="3520440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8138160" y="1618488"/>
            <a:ext cx="3337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الشبكة — الدرس العام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83880" y="22128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مخاطرة قائمة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0" y="2651760"/>
            <a:ext cx="31546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حدثان كلّفانا 2.1 مليون ريال واكتُشفا بعد شهور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تنبيه آلي عند انخفاض الزيارات الأسبوعية أكثر من 15%</a:t>
            </a:r>
            <a:endParaRPr lang="en-US" sz="1200" dirty="0"/>
          </a:p>
          <a:p>
            <a:pPr algn="r"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مسح ربعي للمنافسين وأعمال الطرق حول كل محطة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0" y="5257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المؤشر: زمن اكتشاف الحدث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الأولوية: نظام الإنذار المبكر قبل أي مبادرة أخرى — فما لا يُكتشف لا يُعالَج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الوقود · قناة الشركات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مندوب أساطيل · خصم هللة لكل لتر · الاشتراك في كل منصة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3736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١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مندوب أساطيل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حصر أساطيل الحج والعمرة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3872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خصم هللة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3872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سعر تفضيلي مقابل التزام حجم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٣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2764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سيارة آب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2764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أساطيلنا على الشراكة القائمة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06840" y="1554480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04120" y="171907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101041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116568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منصة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9116568" y="25603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بترو آب · Fleet Plus كنقطة قبول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429000"/>
            <a:ext cx="10881360" cy="2377440"/>
          </a:xfrm>
          <a:prstGeom prst="roundRect">
            <a:avLst>
              <a:gd name="adj" fmla="val 2308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4400" y="3611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اقتصاديات خصم الهللة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1440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13.36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91440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الهامش قبل الخصم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(هللة/لتر)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6616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12.36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356616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الهامش بعد الخصم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7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3800" dirty="0"/>
          </a:p>
        </p:txBody>
      </p:sp>
      <p:sp>
        <p:nvSpPr>
          <p:cNvPr id="31" name="Text 29"/>
          <p:cNvSpPr/>
          <p:nvPr/>
        </p:nvSpPr>
        <p:spPr>
          <a:xfrm>
            <a:off x="621792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نمو التعادل المطلوب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69680" y="411480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3800" dirty="0"/>
          </a:p>
        </p:txBody>
      </p:sp>
      <p:sp>
        <p:nvSpPr>
          <p:cNvPr id="33" name="Text 31"/>
          <p:cNvSpPr/>
          <p:nvPr/>
        </p:nvSpPr>
        <p:spPr>
          <a:xfrm>
            <a:off x="8869680" y="47731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مليون لتر ديزل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سوق الأساطيل المتاح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الحجم يمرّ في محطاتنا اليوم بلا عقد — فالتعاقد تثبيت لا اكتساب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العقار والتأجير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الوحدة الشاغرة تكلفة لا فرصة ضائعة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669280" cy="2651760"/>
          </a:xfrm>
          <a:prstGeom prst="roundRect">
            <a:avLst>
              <a:gd name="adj" fmla="val 2069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العمولة مقابل الشغور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96112" y="21031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مثال: إيجار سنوي 120 ألف · تكلفة ثابتة 45 ألف · شغور 8 أشهر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9611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110,000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9611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خسارة الشغور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7919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6,000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67919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عمولة الوسيط 5%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62272" y="25146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462272" y="317296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المبرَّر للعمولة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1554480"/>
            <a:ext cx="48920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معيار افتتاح المحطة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مغسلة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إلزامي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0" y="2651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سوبرماركت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قهوة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58000" y="3108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موصى به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0" y="35661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خدمات سيارات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0" y="3566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موصى به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الوسطاء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1228832" y="4937760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89204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الوسيط يملك قائمة المستأجرين الباحثين — ونحن لا نملكها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1228832" y="5413248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36752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العمولة تكلفة متغيرة تُدفع عند الإشغال فقط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228832" y="5888736"/>
            <a:ext cx="201168" cy="20116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843016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محطة تحت الإنشاء — التعاقد قبل الافتتاح أرخص من ملء محطة عاملة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الإكسسوارات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التعاقد مع التجزئة — مساحة بيع ومساحة في التطبيق مقابل نسبة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330952" y="185623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6" name="Text 4"/>
          <p:cNvSpPr/>
          <p:nvPr/>
        </p:nvSpPr>
        <p:spPr>
          <a:xfrm>
            <a:off x="533095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187452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تشغيل ذاتي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35000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المخزون البطيء والمرتجعات على الشريك — والتجزئة تملك الخبرة والمورّد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54512" y="185623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11" name="Text 9"/>
          <p:cNvSpPr/>
          <p:nvPr/>
        </p:nvSpPr>
        <p:spPr>
          <a:xfrm>
            <a:off x="1095451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9672" y="187452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مساحتان لا واحدة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19672" y="235000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مساحة بيع داخل المحطة · ومساحة في التطبيق تُوسّع سوق الشريك خارجها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30952" y="395935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6112" y="397764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نسبة لا إيجار ثابت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96112" y="445312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 أدنى مضمون يحمي عائدنا · والنسبة ترفع سقفه مع نمو الشريك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370332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54512" y="3959352"/>
            <a:ext cx="402336" cy="402336"/>
          </a:xfrm>
          <a:prstGeom prst="ellipse">
            <a:avLst/>
          </a:prstGeom>
          <a:solidFill>
            <a:srgbClr val="C79A2E"/>
          </a:solidFill>
          <a:ln/>
        </p:spPr>
      </p:sp>
      <p:sp>
        <p:nvSpPr>
          <p:cNvPr id="21" name="Text 19"/>
          <p:cNvSpPr/>
          <p:nvPr/>
        </p:nvSpPr>
        <p:spPr>
          <a:xfrm>
            <a:off x="1095451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9672" y="397764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شرط البيانات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19672" y="4453128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مشاركة بيانات المبيعات شرط أساسي — بدونها لا يمكن التحقق من النسبة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مجزّأ بلا سلسلة مسيطرة — وهذا المنفذ لا يحتاج استثماراً بل ملء وحدات شاغرة قائمة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النموذج التجريبي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محطات · قياس قبل التعميم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الوقود — المرجع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عرفات الشوقية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MK017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+6.9%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4124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1,290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مضخات · 9 عمال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تفعل المحطة الناجحة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600200"/>
            <a:ext cx="3520440" cy="50292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445312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الوقود — الهدف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بن درويش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8056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MK023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056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−12.1%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54456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807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مضخات · 7 عمال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 زيارة لكل مضخة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0020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600200"/>
            <a:ext cx="3520440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8156448" y="1664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المستأجرون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83880" y="2240280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النورية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183880" y="262432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MK007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2926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أعلى حركة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247888" y="352044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4,236 زيارة يومياً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إيجار 3,887 ألف ريال</a:t>
            </a:r>
            <a:endParaRPr lang="en-US" sz="1200" dirty="0"/>
          </a:p>
          <a:p>
            <a:pPr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حملات وقياس أثرها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0292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C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513892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هذا التصميم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6112" y="5468112"/>
            <a:ext cx="103692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820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محطتا الوقود في نفس المنطقة والنمط والمزيج وطريقة الدفع — فالفارق في النمو لا يُفسَّر بالموقع ولا المنتج ولا نوع العميل، بل بما نستطيع تغييره: الخدمة والطاقة.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المطلوب من الإدارة التنفيذية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17936" y="1490472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10917936" y="1490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١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0" y="1426464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الحافز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426464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الحافز من هامش اللتر الإضافي ومعدل النمو المستهدف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084832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17936" y="2203704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10917936" y="2203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٢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412480" y="2139696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خصم الهللة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2139696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الحد الأدنى للحجم الذي يستحق الخصم وآلية الائتمان والفوترة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798064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17936" y="2916936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5" name="Text 13"/>
          <p:cNvSpPr/>
          <p:nvPr/>
        </p:nvSpPr>
        <p:spPr>
          <a:xfrm>
            <a:off x="10917936" y="2916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٣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2852928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تعيين مندوب الأساطيل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2852928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وظيفة مخصصة لأساطيل الحج والعمرة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511296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17936" y="3630168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10917936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٤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12480" y="3566160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اعتماد عمولة الوسطاء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3566160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العمولة وسقفها — الحد المبرَّر يصل 92% من الإيجار السنوي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224528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17936" y="4343400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10917936" y="4343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٥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0" y="4279392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معيار الافتتاح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2960" y="4279392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إلزام المغسلة والسوبرماركت مع كل محطة جديدة — 52 محطة تحت الإنشاء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37760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17936" y="5056632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/>
          <p:nvPr/>
        </p:nvSpPr>
        <p:spPr>
          <a:xfrm>
            <a:off x="10917936" y="50566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٦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0" y="4992624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إطلاق التجريبي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992624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محطات لثلاثة أشهر قبل التعميم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5650992"/>
            <a:ext cx="10881360" cy="603504"/>
          </a:xfrm>
          <a:prstGeom prst="roundRect">
            <a:avLst>
              <a:gd name="adj" fmla="val 7576"/>
            </a:avLst>
          </a:prstGeom>
          <a:solidFill>
            <a:srgbClr val="2A3A6B"/>
          </a:solidFill>
          <a:ln w="12700">
            <a:solidFill>
              <a:srgbClr val="3C4E8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917936" y="5769864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10917936" y="57698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٧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8412480" y="5705856"/>
            <a:ext cx="2331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نظام الإنذار المبكر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705856"/>
            <a:ext cx="7406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تنبيه أسبوعي عند تراجع الزيارات — حدثان كلّفانا 2.1 مليون ريال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2026-08-06T07:53:15Z</dcterms:created>
  <dcterms:modified xsi:type="dcterms:W3CDTF">2026-08-06T07:53:15Z</dcterms:modified>
</cp:coreProperties>
</file>