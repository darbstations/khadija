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الخطة مبنية على بيانات 55 محطة للنصف الأول 2026، وقوائم دخل فعلية، وبيانات توريد وعمالة وشكاوى.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الميزان السالب محسوب على 41 محطة لها بيانات نمو: 13 هابطة تفوق أثر 17 صاعدة.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العقار والإكسسوارات لا سلسلة مسيطرة — وهما أضعف منافذنا وأقلّها منافسة.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خفض المصاريف محدود: 88% من المصاريف إهلاك غير نقدي، والنقدي 0.94 هللة لكل لتر. سقف الـ100 ريال لا يقيّد على مستوى الشبكة (578 ألف سقفاً مقابل 479 ألف مستحقة) — يقيّد المتميزين أفراداً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المعيصم وحدها متوازنة لأن ذروتها 5 إلى 7 مساءً لا بعد التاسعة. الوردية الصباحية 6 ص إلى 6 م والمسائية 6 م إلى 6 ص، والحصص من عدد الزيارات الفعلي.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الحدثان اكتُشفا بعد شهور من وقوعهما — بتحليل لاحق لا بنظام إنذار. هذه الفجوة أهم من الحدثين نفسيهما.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المعيار الحاكم: عمولة المنصة لكل لتر مقابل تكلفة المندوب لكل لتر — يُراجع كل ربع.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التمويل وإهلاك حق الاستخدام يلتهمان 63% من دخل الإيجار في العمرة و106% في الشرايع — وهما ثابتان.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الحافز اعتُمد بسقف 100 ريال — والسقف لا يقيّد على مستوى الشبكة بل يقيّد المتميزين أفراداً. إعادة توزيع الورديات بند جديد نشأ من بيانات المطابقة التشغيلية.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التجارية — درب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الخطة التجارية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منافذ بيع · أربع قنوات · نماذج تنفيذ مبنية على بيانات الشبكة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على الإدارة التنفيذية   ·   النصف الأول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أين نقف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55 محطة · 1 يناير – 30 يونيو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مليار ريال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سنوي مُطبَّع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9000" y="2441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مليون لتر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سنوي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−43.8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441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مليون ريال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الميزان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06840" y="2441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إشغال الوحدات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وحدة شاغرة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ثلاث حقائق تحكم الخطة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210544" y="4169664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الوقود مقنَّن — فالربح يأتي من الحجم والخدمة لا من السعر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210544" y="473659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8172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المصاريف النقدية 0.94 هللة لكل لتر — لا مجال للتحسين عبر خفض التكلفة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210544" y="5303520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48656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التمويل والإهلاك على الوحدات مدفوعان — فالوحدة الشاغرة تكلفة لا فرصة ضائعة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الإطار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منافذ — والوقود قناتان مختلفتان تماماً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60604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الوقود · أفراد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المسيطر: كل مشغّلي المحطات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العمالة على سرعة الخدمة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مستهدف لكل محطة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حافز لكل عامل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مصاريف المحطة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2606040" cy="566928"/>
          </a:xfrm>
          <a:prstGeom prst="rect">
            <a:avLst/>
          </a:prstGeom>
          <a:solidFill>
            <a:srgbClr val="2A3F7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627632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الوقود · شركات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المسيطر: بترو آب · واعي · المنصات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مندوب أساطيل الحج والعمرة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هللة لكل لتر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الرفع على سيارة آب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الاشتراك في كل منصة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606040" cy="566928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627632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العقار والتأجير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المسيطر: الوسطاء العقاريون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وسطاء بعمولة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مغسلة وسوبرماركت مع كل افتتاح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حصر الوحدات وتصنيفها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554480"/>
            <a:ext cx="2606040" cy="566928"/>
          </a:xfrm>
          <a:prstGeom prst="rect">
            <a:avLst/>
          </a:prstGeom>
          <a:solidFill>
            <a:srgbClr val="C7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16568" y="1627632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الإكسسوارات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المسيطر: أصحاب محلات التجزئة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27889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التعاقد مع التجزئة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بيع ومساحة في التطبيق</a:t>
            </a:r>
            <a:endParaRPr lang="en-US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من المبيعات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المنافسون حسب المنفذ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يسيطر · وبماذا · وردّنا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2011680"/>
                <a:gridCol w="2377440"/>
                <a:gridCol w="2834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المنافس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المنفذ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الحجم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مصدر السيطرة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الردّ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الدريس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وقود · أفراد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1,383 محطة · 18.95%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الانتشار وسرعة الضمّ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المنافسة على الخدمة لا السعر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ساسكو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وقود · أفراد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~683 محطة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النمو بالاستحواذ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تحسين تجربة المحطة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بترو آب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وقود · شركات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ألف مركبة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ملكية العلاقة بلا أصول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اشتراك كنقطة قبول + تعاقد مباشر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واعي — الدريس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وقود · شركات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شبكة الدريس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شريحة في فوهة المضخة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خصم هللة يفوق الميزة التقنية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سيارة آب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وقود · شركات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2,500+ محطة قبول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منصة وشبكة معاً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شراكة قائمة — رفع أساطيلنا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الوسطاء العقاريون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عقار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سوق مجزّأ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قائمة المستأجرين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التحالف لا المنافسة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محلات التجزئة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إكسسوارات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سوق مجزّأ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المخزون والخبرة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التعاقد — مساحة مقابل نسبة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قناة الأفراد المنافس مشغّل محطات والسلاح تجربة الخدمة · وفي الشركات المنافس منصة والسلاح السعر والعقد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الوقود · قناة الأفراد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 يبحث عن سرعة الخدمة — والأداة مستهدف وحافز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تقوله الشكاوى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الشكاوى عن العامل مباشرة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2697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شكاوى أكبر محطة: بطء وسلوك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32004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صفر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استبدال أو إيقاف من 58 شكوى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554480"/>
            <a:ext cx="5074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أثر خطة الحافز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مستهدف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لترات إضافية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25786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+23.9 مليون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962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الحافز الموزّع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9626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ألف ريال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346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 الصافي للشركة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3346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2.7 مليون ريال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آلية الحافز — كما اعتُمدت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1228832" y="457200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26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من هامش اللتر الإضافي بسقف 100 ريال شهرياً لكل عامل — لا مبلغ ثابت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228832" y="50749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29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الأساس يُشتق من حصة وردية العامل من الزيارات ÷ عدد عمالها — لا يُقدَّر يدوياً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228832" y="557784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جودة تحجب الحافز كاملاً: شكوى مثبتة أو زمن تعبئة أو غياب في الذروة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مطابقة الوردية مع الطلب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العمالة موزّعة نصفين — والطلب ليس نصفين · بيانات 212 يوماً فعلياً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737360"/>
                <a:gridCol w="1828800"/>
                <a:gridCol w="182880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المحطة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زيارات المساء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عمالة المساء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حِمل عامل الصباح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حِمل عامل المساء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الفارق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MK019 عرفات الشرايع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MK007 النورية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MK017 عرفات الشوقية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MK023 بن درويش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MK002 المعيصم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يعنيه هذا للحافز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590288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أساس موحّد يظلم عامل المساء ويكافئ عامل الصباح على جهد أقل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لذلك يُشتق خط الأساس من حصة الوردية — لا من متوسط المحطة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الاشتقاق يجعل 5% نمو تعني الجهد نفسه على الورديتين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0"/>
            <a:ext cx="5166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11112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يمكن تنفيذه فعلاً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11112" y="4590288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النورية وحدها فيها عمالة تكفي لنقل عامل كامل (20 عاملاً)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البقية فجوتها أقل من عامل — الحل مواعيد الدخول لا العدد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تكديس الدخول بين 8 و10 مساءً يغطي الذروة بلا تكلفة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ذروة الزيارات 21:00 و22:00 في أربع محطات — والعمالة تُوزَّع كأن الطلب متساوٍ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تشخيص فقدان الحركة — مكة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يناير – 4 أغسطس 2026 · السبب مؤكَّد ميدانياً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280160"/>
                <a:gridCol w="17373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المحطة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زيارات يناير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يونيو–يوليو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التغيّر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لتر/زيارة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السبب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MK002 المعيصم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2,163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 ← 20.9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تغيّر مسار الطريق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MK019 الشرايع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 ← 23.2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منافس فتح قبلنا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MK072 العزيزية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موسمي — تعافت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MK007 العمرة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31.7 ← 29.0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موسمي — عادت لمستواها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MK017 عرفات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 ← 20.8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نمو — المرجع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تثبته البيانات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95604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سلة العميل ثابتة — الفقد في عدد العملاء لا سلوكهم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سقوط 60% و53% في شهر واحد = حدث خارجي بتاريخ</a:t>
            </a:r>
            <a:endParaRPr lang="en-US" sz="125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الخدمة والمضخات والتسعير — كلها مستبعَدة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4480560"/>
            <a:ext cx="51663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الأثر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0" y="49560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2,013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583680" y="56144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مفقودة يومياً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49560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229600" y="56144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مليون لتر سنوياً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875520" y="49560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9875520" y="56144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مليون ريال هامش سنوياً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الردّ على فقدان الحركة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حالة تستدعي ردّاً مختلفاً — والفرق بينهما جوهري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2976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520440" cy="53035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المعيصم — تغيّر المسار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فقد دائم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 لم يعد يمرّ — ولا يُسترد بسعر ولا خدمة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من ممرّ إلى وجهة: مغسلة وسوبرماركت ومطعم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تحجيم العمالة والمصاريف على الحركة الجديدة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إيراد غير وقودي لكل زيارة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42976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54480"/>
            <a:ext cx="3520440" cy="530352"/>
          </a:xfrm>
          <a:prstGeom prst="rect">
            <a:avLst/>
          </a:prstGeom>
          <a:solidFill>
            <a:srgbClr val="C7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618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الشرايع — منافس قبلنا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12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للاسترداد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 يعترض العميل قبل وصوله إلينا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للتجاوز: عرض أو خدمة لا توجد عنده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لافتات مبكرة قبل نقطة اعتراضه · وتعاقد مع الأساطيل المارّة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الزيارات اليومية مقابل خط الأساس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554480"/>
            <a:ext cx="352044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618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الشبكة — الدرس العام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212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مخاطرة قائمة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حدثان كلّفانا 2.1 مليون ريال واكتُشفا بعد شهور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آلي عند انخفاض الزيارات الأسبوعية أكثر من 15%</a:t>
            </a:r>
            <a:endParaRPr lang="en-US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ربعي للمنافسين وأعمال الطرق حول كل محطة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زمن اكتشاف الحدث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الأولوية: نظام الإنذار المبكر قبل أي مبادرة أخرى — فما لا يُكتشف لا يُعالَج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الوقود · قناة الشركات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مندوب أساطيل · خصم هللة لكل لتر · الاشتراك في كل منصة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7190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مندوب أساطيل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حصر أساطيل الحج والعمرة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190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خصم هللة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3872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تفضيلي مقابل التزام حجم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17190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٣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2764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سيارة آب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2764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أساطيلنا على الشراكة القائمة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4120" y="17190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1656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كل منصة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1656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بترو آب · Fleet Plus كنقطة قبول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429000"/>
            <a:ext cx="10881360" cy="237744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اقتصاديات خصم الهللة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4400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13.36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14400" y="4773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الهامش قبل الخصم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(هللة/لتر)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12.36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3566160" y="4773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الهامش بعد الخصم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217920" y="4773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التعادل المطلوب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869680" y="4773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مليون لتر ديزل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الأساطيل المتاح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 يمرّ في محطاتنا اليوم بلا عقد — فالتعاقد تثبيت لا اكتساب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العقار والتأجير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الشاغرة تكلفة لا فرصة ضائعة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669280" cy="2651760"/>
          </a:xfrm>
          <a:prstGeom prst="roundRect">
            <a:avLst>
              <a:gd name="adj" fmla="val 206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العمولة مقابل الشغور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إيجار سنوي 120 ألف · تكلفة ثابتة 45 ألف · شغور 8 أشهر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5146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110,000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96112" y="31729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خسارة الشغور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9192" y="25146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79192" y="31729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الوسيط 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62272" y="25146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62272" y="31729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 المبرَّر للعمولة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48920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معيار افتتاح المحطة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مغسلة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سوبرماركت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قهوة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موصى به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سيارات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موصى به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الوسطاء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1228832" y="4937760"/>
            <a:ext cx="201168" cy="20116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920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الوسيط يملك قائمة المستأجرين الباحثين — ونحن لا نملكها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228832" y="5413248"/>
            <a:ext cx="201168" cy="20116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3675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العمولة تكلفة متغيرة تُدفع عند الإشغال فقط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228832" y="5888736"/>
            <a:ext cx="201168" cy="20116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84301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محطة تحت الإنشاء — التعاقد قبل الافتتاح أرخص من ملء محطة عاملة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الإكسسوارات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التعاقد مع التجزئة — مساحة بيع ومساحة في التطبيق مقابل نسبة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0952" y="1856232"/>
            <a:ext cx="402336" cy="40233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6" name="Text 4"/>
          <p:cNvSpPr/>
          <p:nvPr/>
        </p:nvSpPr>
        <p:spPr>
          <a:xfrm>
            <a:off x="5330952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8745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تشغيل ذاتي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35000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المخزون البطيء والمرتجعات على الشريك — والتجزئة تملك الخبرة والمورّد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54512" y="1856232"/>
            <a:ext cx="402336" cy="40233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54512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18745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مساحتان لا واحدة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9672" y="235000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بيع داخل المحطة · ومساحة في التطبيق تُوسّع سوق الشريك خارجها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30952" y="3959352"/>
            <a:ext cx="402336" cy="40233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330952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39776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نسبة لا إيجار ثابت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" y="445312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 أدنى مضمون يحمي عائدنا · والنسبة ترفع سقفه مع نمو الشريك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54512" y="3959352"/>
            <a:ext cx="402336" cy="40233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954512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39776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شرط البيانات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19672" y="445312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بيانات المبيعات شرط أساسي — بدونها لا يمكن التحقق من النسبة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مجزّأ بلا سلسلة مسيطرة — وهذا المنفذ لا يحتاج استثماراً بل ملء وحدات شاغرة قائمة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النموذج التجريبي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محطات · قياس قبل التعميم · متوسط 212 يوماً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3520440" cy="5029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الوقود — المرجع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عرفات الشوقية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MK017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1,269 زيارة يومياً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مضخات · 3+3 على المضخات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 المحطة الناجحة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00200"/>
            <a:ext cx="3520440" cy="5029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الوقود — الهدف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بن درويش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80560" y="2624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MK023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926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−12.1%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44568" y="35204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زيارة يومياً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مضخات · 2+2 على المضخات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 زيارة لكل مضخة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600200"/>
            <a:ext cx="3520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156448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المستأجرون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2240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النورية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183880" y="2624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MK007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2926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أعلى حركة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47888" y="35204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4,261 زيارة يومياً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إيجار 3,887 ألف ريال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حملات وقياس أثرها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C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6112" y="5138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هذا التصميم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5468112"/>
            <a:ext cx="10369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8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محطتا الوقود في نفس المنطقة والنمط والمزيج وطريقة الدفع — فالفارق في النمو لا يُفسَّر بالموقع ولا المنتج ولا نوع العميل، بل بما نستطيع تغييره: الخدمة والطاقة.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المطلوب من الإدارة التنفيذية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واحد اعتُمد — وستة ما زالت مطلوبة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1F4D3A"/>
          </a:solidFill>
          <a:ln w="12700">
            <a:solidFill>
              <a:srgbClr val="3578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7936" y="1691640"/>
            <a:ext cx="347472" cy="347472"/>
          </a:xfrm>
          <a:prstGeom prst="ellipse">
            <a:avLst/>
          </a:prstGeom>
          <a:solidFill>
            <a:srgbClr val="7BD4A8"/>
          </a:solidFill>
          <a:ln/>
        </p:spPr>
      </p:sp>
      <p:sp>
        <p:nvSpPr>
          <p:cNvPr id="6" name="Text 4"/>
          <p:cNvSpPr/>
          <p:nvPr/>
        </p:nvSpPr>
        <p:spPr>
          <a:xfrm>
            <a:off x="10917936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16184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الحافز — معتمد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9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من هامش اللتر الإضافي بسقف 100 ريال شهرياً · نمو مستهدف 5%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2585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7936" y="23774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0917936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3042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خصم الهللة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3042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 الأدنى للحجم الذي يستحق الخصم وآلية الائتمان والفوترة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17936" y="30632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17936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9900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تعيين مندوب الأساطيل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29900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وظيفة مخصصة لأساطيل الحج والعمرة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301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7936" y="37490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917936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36758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عمولة الوسطاء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6758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العمولة وسقفها — الحد المبرَّر يصل 92% من الإيجار السنوي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159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17936" y="44348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10917936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3616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معيار الافتتاح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3616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 المغسلة والسوبرماركت مع كل محطة جديدة — 52 محطة تحت الإنشاء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0017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17936" y="51206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10917936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50474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إعادة توزيع الورديات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50474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عامل للمساء في النورية · وتعديل مواعيد الدخول في الباقي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68756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3A6B"/>
          </a:solidFill>
          <a:ln w="12700">
            <a:solidFill>
              <a:srgbClr val="3C4E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17936" y="5806440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10917936" y="5806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573328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الإنذار المبكر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73328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أسبوعي عند تراجع الزيارات — حدثان كلّفانا 2.1 مليون ريال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2026-08-12T13:45:23Z</dcterms:created>
  <dcterms:modified xsi:type="dcterms:W3CDTF">2026-08-12T13:45:23Z</dcterms:modified>
</cp:coreProperties>
</file>