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الخطة مبنية على بيانات 55 محطة للنصف الأول 2026، وقوائم دخل فعلية، وبيانات توريد وعمالة وشكاوى.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الميزان السالب محسوب على 41 محطة لها بيانات نمو: 13 هابطة تفوق أثر 17 صاعدة.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العقار والإكسسوارات لا سلسلة مسيطرة — وهما أضعف منافذنا وأقلّها منافسة.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خفض المصاريف محدود: 88% من المصاريف إهلاك غير نقدي، والنقدي 0.94 هللة لكل لتر.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المعيار الحاكم: عمولة المنصة لكل لتر مقابل تكلفة المندوب لكل لتر — يُراجع كل ربع.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التمويل وإهلاك حق الاستخدام يلتهمان 63% من دخل الإيجار في العمرة و106% في الشرايع — وهما ثابتان.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قرار من هذه الستة يفتح تنفيذاً مستقلاً — والتجريبي يسبق التعميم في الوقود والتأجير معاً.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الإدارة التجارية — درب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الخطة التجارية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5204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منافذ بيع · أربع قنوات · نماذج تنفيذ مبنية على بيانات الشبكة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على الإدارة التنفيذية   ·   النصف الأول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أين نقف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55 محطة · 1 يناير – 30 يونيو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1.27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441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مليار ريال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إيراد سنوي مُطبَّع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60020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588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429000" y="2441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مليون لتر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حجم سنوي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−43.8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217920" y="2441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مليون ريال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صافي الميزان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160020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9006840" y="2441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إشغال الوحدات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وحدة شاغرة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657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ثلاث حقائق تحكم الخطة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11210544" y="4169664"/>
            <a:ext cx="219456" cy="21945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11480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سعر الوقود مقنَّن — فالربح يأتي من الحجم والخدمة لا من السعر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1210544" y="4736592"/>
            <a:ext cx="219456" cy="21945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681728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المصاريف النقدية 0.94 هللة لكل لتر — لا مجال للتحسين عبر خفض التكلفة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1210544" y="5303520"/>
            <a:ext cx="219456" cy="21945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248656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التمويل والإهلاك على الوحدات مدفوعان — فالوحدة الشاغرة تكلفة لا فرصة ضائعة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الإطار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منافذ — والوقود قناتان مختلفتان تماماً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606040" cy="42062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260604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27632"/>
            <a:ext cx="2386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الوقود · أفراد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المسيطر: كل مشغّلي المحطات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2331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تدريب العمالة على سرعة الخدمة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مستهدف لكل محطة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حافز لكل عامل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خفض مصاريف المحطة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554480"/>
            <a:ext cx="2606040" cy="42062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554480"/>
            <a:ext cx="2606040" cy="566928"/>
          </a:xfrm>
          <a:prstGeom prst="rect">
            <a:avLst/>
          </a:prstGeom>
          <a:solidFill>
            <a:srgbClr val="2A3F7A"/>
          </a:solidFill>
          <a:ln/>
        </p:spPr>
      </p:sp>
      <p:sp>
        <p:nvSpPr>
          <p:cNvPr id="11" name="Text 9"/>
          <p:cNvSpPr/>
          <p:nvPr/>
        </p:nvSpPr>
        <p:spPr>
          <a:xfrm>
            <a:off x="3538728" y="1627632"/>
            <a:ext cx="2386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الوقود · شركات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6160" y="22402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المسيطر: بترو آب · واعي · المنصات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66160" y="2788920"/>
            <a:ext cx="2331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مندوب أساطيل الحج والعمرة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خصم هللة لكل لتر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الرفع على سيارة آب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الاشتراك في كل منصة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554480"/>
            <a:ext cx="2606040" cy="42062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554480"/>
            <a:ext cx="2606040" cy="566928"/>
          </a:xfrm>
          <a:prstGeom prst="rect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/>
          <p:nvPr/>
        </p:nvSpPr>
        <p:spPr>
          <a:xfrm>
            <a:off x="6327648" y="1627632"/>
            <a:ext cx="2386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العقار والتأجير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55080" y="22402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المسيطر: الوسطاء العقاريون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788920"/>
            <a:ext cx="2331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شبكة وسطاء بعمولة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مغسلة وسوبرماركت مع كل افتتاح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حصر الوحدات وتصنيفها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06840" y="1554480"/>
            <a:ext cx="2606040" cy="42062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554480"/>
            <a:ext cx="2606040" cy="566928"/>
          </a:xfrm>
          <a:prstGeom prst="rect">
            <a:avLst/>
          </a:prstGeom>
          <a:solidFill>
            <a:srgbClr val="C79A2E"/>
          </a:solidFill>
          <a:ln/>
        </p:spPr>
      </p:sp>
      <p:sp>
        <p:nvSpPr>
          <p:cNvPr id="21" name="Text 19"/>
          <p:cNvSpPr/>
          <p:nvPr/>
        </p:nvSpPr>
        <p:spPr>
          <a:xfrm>
            <a:off x="9116568" y="1627632"/>
            <a:ext cx="2386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الإكسسوارات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0" y="22402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المسيطر: أصحاب محلات التجزئة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0" y="2788920"/>
            <a:ext cx="2331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التعاقد مع التجزئة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مساحة بيع ومساحة في التطبيق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من المبيعات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المنافسون حسب المنفذ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يسيطر · وبماذا · وردّنا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554480"/>
                <a:gridCol w="2011680"/>
                <a:gridCol w="237744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المنافس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المنفذ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الحجم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مصدر السيطرة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الردّ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الدريس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وقود · أفراد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1,383 محطة · 18.95%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الانتشار وسرعة الضمّ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المنافسة على الخدمة لا السعر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ساسكو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وقود · أفراد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~683 محطة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النمو بالاستحواذ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تحسين تجربة المحطة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بترو آب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وقود · شركات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ألف مركبة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ملكية العلاقة بلا أصول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اشتراك كنقطة قبول + تعاقد مباشر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واعي — الدريس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وقود · شركات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شبكة الدريس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شريحة في فوهة المضخة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خصم هللة يفوق الميزة التقنية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سيارة آب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وقود · شركات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2,500+ محطة قبول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منصة وشبكة معاً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شراكة قائمة — رفع أساطيلنا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الوسطاء العقاريون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عقار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سوق مجزّأ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قائمة المستأجرين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التحالف لا المنافسة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محلات التجزئة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إكسسوارات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سوق مجزّأ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المخزون والخبرة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التعاقد — مساحة مقابل نسبة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قناة الأفراد المنافس مشغّل محطات والسلاح تجربة الخدمة · وفي الشركات المنافس منصة والسلاح السعر والعقد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الوقود · قناة الأفراد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العميل يبحث عن سرعة الخدمة — والأداة مستهدف وحافز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486400" cy="2286000"/>
          </a:xfrm>
          <a:prstGeom prst="roundRect">
            <a:avLst>
              <a:gd name="adj" fmla="val 2400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تقوله الشكاوى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0" y="21945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الشكاوى عن العامل مباشرة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0" y="2697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شكاوى أكبر محطة: بطء وسلوك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0" y="320040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صفر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68680" y="32461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استبدال أو إيقاف من 58 شكوى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46520" y="1554480"/>
            <a:ext cx="507492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أثر خطة الحافز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75120" y="21945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 مستهدف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75120" y="21945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25786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لترات إضافية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675120" y="25786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+23.9 مليون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29626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الحافز الموزّع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675120" y="29626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 ألف ريال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33467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الربح الصافي للشركة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675120" y="334670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2.7 مليون ريال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آلية الحافز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11228832" y="457200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526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من هامش اللتر الإضافي — لا مبلغ ثابت · فلا يُصرف إلا إذا تحقق النمو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1228832" y="507492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0292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مستهدف معلن لكل محطة يراه العامل شهرياً ويقيس موقعه منه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11228832" y="557784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321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يُربط بمؤشر الخدمة أيضاً — الشكاوى وزمن التعبئة — لا بالحجم وحده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الوقود · قناة الشركات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مندوب أساطيل · خصم هللة لكل لتر · الاشتراك في كل منصة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37360" y="171907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73736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١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مندوب أساطيل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حصر أساطيل الحج والعمرة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55448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71907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38728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خصم هللة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538728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سعر تفضيلي مقابل التزام حجم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55448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0" y="171907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٣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27648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سيارة آب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327648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رفع أساطيلنا على الشراكة القائمة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06840" y="155448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104120" y="171907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101041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116568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كل منصة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116568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بترو آب · Fleet Plus كنقطة قبول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429000"/>
            <a:ext cx="10881360" cy="2377440"/>
          </a:xfrm>
          <a:prstGeom prst="roundRect">
            <a:avLst>
              <a:gd name="adj" fmla="val 2308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3611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اقتصاديات خصم الهللة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14400" y="41148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13.36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914400" y="47731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الهامش قبل الخصم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(هللة/لتر)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566160" y="41148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12.36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3566160" y="47731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الهامش بعد الخصم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41148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79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8%</a:t>
            </a:r>
            <a:endParaRPr lang="en-US" sz="3800" dirty="0"/>
          </a:p>
        </p:txBody>
      </p:sp>
      <p:sp>
        <p:nvSpPr>
          <p:cNvPr id="31" name="Text 29"/>
          <p:cNvSpPr/>
          <p:nvPr/>
        </p:nvSpPr>
        <p:spPr>
          <a:xfrm>
            <a:off x="6217920" y="47731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 التعادل المطلوب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869680" y="41148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</a:t>
            </a:r>
            <a:endParaRPr lang="en-US" sz="3800" dirty="0"/>
          </a:p>
        </p:txBody>
      </p:sp>
      <p:sp>
        <p:nvSpPr>
          <p:cNvPr id="33" name="Text 31"/>
          <p:cNvSpPr/>
          <p:nvPr/>
        </p:nvSpPr>
        <p:spPr>
          <a:xfrm>
            <a:off x="8869680" y="47731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مليون لتر ديزل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سوق الأساطيل المتاح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الحجم يمرّ في محطاتنا اليوم بلا عقد — فالتعاقد تثبيت لا اكتساب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العقار والتأجير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الوحدة الشاغرة تكلفة لا فرصة ضائعة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669280" cy="2651760"/>
          </a:xfrm>
          <a:prstGeom prst="roundRect">
            <a:avLst>
              <a:gd name="adj" fmla="val 2069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7373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العمولة مقابل الشغور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96112" y="21031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مثال: إيجار سنوي 120 ألف · تكلفة ثابتة 45 ألف · شغور 8 أشهر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96112" y="25146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110,000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96112" y="31729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خسارة الشغور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79192" y="25146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6,000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679192" y="31729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عمولة الوسيط 5%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62272" y="25146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462272" y="31729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 المبرَّر للعمولة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0" y="1554480"/>
            <a:ext cx="48920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1737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معيار افتتاح المحطة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5800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مغسلة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5800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إلزامي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0" y="2651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سوبرماركت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858000" y="2651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إلزامي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قهوة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858000" y="3108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موصى به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0" y="3566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خدمات سيارات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58000" y="3566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موصى به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4348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الوسطاء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11228832" y="4937760"/>
            <a:ext cx="201168" cy="20116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89204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الوسيط يملك قائمة المستأجرين الباحثين — ونحن لا نملكها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1228832" y="5413248"/>
            <a:ext cx="201168" cy="20116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536752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العمولة تكلفة متغيرة تُدفع عند الإشغال فقط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11228832" y="5888736"/>
            <a:ext cx="201168" cy="20116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843016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محطة تحت الإنشاء — التعاقد قبل الافتتاح أرخص من ملء محطة عاملة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الإكسسوارات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التعاقد مع التجزئة — مساحة بيع ومساحة في التطبيق مقابل نسبة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330952" y="1856232"/>
            <a:ext cx="402336" cy="402336"/>
          </a:xfrm>
          <a:prstGeom prst="ellipse">
            <a:avLst/>
          </a:prstGeom>
          <a:solidFill>
            <a:srgbClr val="C79A2E"/>
          </a:solidFill>
          <a:ln/>
        </p:spPr>
      </p:sp>
      <p:sp>
        <p:nvSpPr>
          <p:cNvPr id="6" name="Text 4"/>
          <p:cNvSpPr/>
          <p:nvPr/>
        </p:nvSpPr>
        <p:spPr>
          <a:xfrm>
            <a:off x="533095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96112" y="187452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لا تشغيل ذاتي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2350008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المخزون البطيء والمرتجعات على الشريك — والتجزئة تملك الخبرة والمورّد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954512" y="1856232"/>
            <a:ext cx="402336" cy="402336"/>
          </a:xfrm>
          <a:prstGeom prst="ellipse">
            <a:avLst/>
          </a:prstGeom>
          <a:solidFill>
            <a:srgbClr val="C79A2E"/>
          </a:solidFill>
          <a:ln/>
        </p:spPr>
      </p:sp>
      <p:sp>
        <p:nvSpPr>
          <p:cNvPr id="11" name="Text 9"/>
          <p:cNvSpPr/>
          <p:nvPr/>
        </p:nvSpPr>
        <p:spPr>
          <a:xfrm>
            <a:off x="1095451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9672" y="187452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مساحتان لا واحدة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19672" y="2350008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مساحة بيع داخل المحطة · ومساحة في التطبيق تُوسّع سوق الشريك خارجها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30952" y="3959352"/>
            <a:ext cx="402336" cy="402336"/>
          </a:xfrm>
          <a:prstGeom prst="ellipse">
            <a:avLst/>
          </a:prstGeom>
          <a:solidFill>
            <a:srgbClr val="C79A2E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6112" y="397764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نسبة لا إيجار ثابت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96112" y="4453128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 أدنى مضمون يحمي عائدنا · والنسبة ترفع سقفه مع نمو الشريك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370332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954512" y="3959352"/>
            <a:ext cx="402336" cy="402336"/>
          </a:xfrm>
          <a:prstGeom prst="ellipse">
            <a:avLst/>
          </a:prstGeom>
          <a:solidFill>
            <a:srgbClr val="C79A2E"/>
          </a:solidFill>
          <a:ln/>
        </p:spPr>
      </p:sp>
      <p:sp>
        <p:nvSpPr>
          <p:cNvPr id="21" name="Text 19"/>
          <p:cNvSpPr/>
          <p:nvPr/>
        </p:nvSpPr>
        <p:spPr>
          <a:xfrm>
            <a:off x="10954512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19672" y="397764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شرط البيانات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519672" y="4453128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مشاركة بيانات المبيعات شرط أساسي — بدونها لا يمكن التحقق من النسبة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السوق مجزّأ بلا سلسلة مسيطرة — وهذا المنفذ لا يحتاج استثماراً بل ملء وحدات شاغرة قائمة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النموذج التجريبي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محطات · قياس قبل التعميم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3520440" cy="502920"/>
          </a:xfrm>
          <a:prstGeom prst="rect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64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الوقود — المرجع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عرفات الشوقية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26243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MK017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926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+6.9%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41248" y="352044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1,290 زيارة يومياً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مضخات · 9 عمال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تفعل المحطة الناجحة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60020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1600200"/>
            <a:ext cx="3520440" cy="50292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3" name="Text 11"/>
          <p:cNvSpPr/>
          <p:nvPr/>
        </p:nvSpPr>
        <p:spPr>
          <a:xfrm>
            <a:off x="4453128" y="1664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الوقود — الهدف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2402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بن درويش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480560" y="26243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MK023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80560" y="2926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−12.1%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44568" y="352044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807 زيارة يومياً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مضخات · 7 عمال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 زيارة لكل مضخة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60020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0" y="1600200"/>
            <a:ext cx="35204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8156448" y="1664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المستأجرون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83880" y="22402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النورية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183880" y="26243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MK007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83880" y="2926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أعلى حركة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247888" y="352044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4,236 زيارة يومياً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إيجار 3,887 ألف ريال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حملات وقياس أثرها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0292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96112" y="51389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هذا التصميم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96112" y="5468112"/>
            <a:ext cx="103692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محطتا الوقود في نفس المنطقة والنمط والمزيج وطريقة الدفع — فالفارق في النمو لا يُفسَّر بالموقع ولا المنتج ولا نوع العميل، بل بما نستطيع تغييره: الخدمة والطاقة.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المطلوب من الإدارة التنفيذية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99648" y="1572768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/>
          <p:nvPr/>
        </p:nvSpPr>
        <p:spPr>
          <a:xfrm>
            <a:off x="1089964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١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اعتماد الحافز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50876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الحافز من هامش اللتر الإضافي ومعدل النمو المستهدف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203704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99648" y="2359152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10899648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٢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412480" y="22951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اعتماد خصم الهللة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2295144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 الأدنى للحجم الذي يستحق الخصم وآلية الائتمان والفوترة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2990088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99648" y="3145536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1089964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٣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12480" y="30815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تعيين مندوب الأساطيل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3081528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وظيفة مخصصة لأساطيل الحج والعمرة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776472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899648" y="3931920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10899648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12480" y="386791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اعتماد عمولة الوسطاء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3867912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العمولة وسقفها — الحد المبرَّر يصل 92% من الإيجار السنوي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562856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99648" y="4718304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1089964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٥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12480" y="465429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معيار الافتتاح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" y="4654296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إلزام المغسلة والسوبرماركت مع كل محطة جديدة — 52 محطة تحت الإنشاء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349240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899648" y="5504688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8"/>
          <p:cNvSpPr/>
          <p:nvPr/>
        </p:nvSpPr>
        <p:spPr>
          <a:xfrm>
            <a:off x="1089964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٦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12480" y="54406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إطلاق التجريبي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22960" y="544068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محطات لثلاثة أشهر قبل التعميم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2026-08-05T13:02:21Z</dcterms:created>
  <dcterms:modified xsi:type="dcterms:W3CDTF">2026-08-05T13:02:21Z</dcterms:modified>
</cp:coreProperties>
</file>